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241a708-dd82-29d7-33ae-f5fcedb450f2}">
          <p14:sldIdLst>
            <p14:sldId id="256"/>
          </p14:sldIdLst>
        </p14:section>
        <p14:section name="One engineer" id="{c854cb3e-fea0-a2a3-dfb7-0ca708a9ece6}">
          <p14:sldIdLst>
            <p14:sldId id="257"/>
            <p14:sldId id="258"/>
            <p14:sldId id="259"/>
            <p14:sldId id="260"/>
          </p14:sldIdLst>
        </p14:section>
        <p14:section name="Sharing work" id="{617700a2-6ec7-931b-a3e1-6336be19e5b1}">
          <p14:sldIdLst>
            <p14:sldId id="261"/>
            <p14:sldId id="262"/>
          </p14:sldIdLst>
        </p14:section>
        <p14:section name="A network of agents" id="{53699e57-241c-ad06-0367-279725442c32}">
          <p14:sldIdLst>
            <p14:sldId id="263"/>
            <p14:sldId id="264"/>
          </p14:sldIdLst>
        </p14:section>
        <p14:section name="Where we are" id="{08f173c2-ddf4-58f1-259f-b050c341f250}">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128"/>
                </a:solidFill>
                <a:latin typeface="+mn-lt"/>
              </a:defRPr>
            </a:pPr>
            <a:r>
              <a:rPr sz="1400" b="0" i="0" u="none" strike="noStrike">
                <a:solidFill>
                  <a:srgbClr val="1C2128"/>
                </a:solidFill>
                <a:latin typeface="+mn-lt"/>
              </a:rPr>
              <a:t>Same task (E7, 9 steps): cost in US$</a:t>
            </a:r>
          </a:p>
        </c:rich>
      </c:tx>
      <c:layout/>
      <c:overlay val="0"/>
    </c:title>
    <c:autoTitleDeleted val="0"/>
    <c:plotArea>
      <c:layout/>
      <c:barChart>
        <c:barDir val="col"/>
        <c:grouping val="clustered"/>
        <c:varyColors val="0"/>
        <c:ser>
          <c:idx val="0"/>
          <c:order val="0"/>
          <c:tx>
            <c:strRef>
              <c:f>Sheet1!$B$1</c:f>
              <c:strCache>
                <c:ptCount val="1"/>
                <c:pt idx="0">
                  <c:v>Cost of the run</c:v>
                </c:pt>
              </c:strCache>
            </c:strRef>
          </c:tx>
          <c:spPr>
            <a:solidFill>
              <a:srgbClr val="6B7B8C"/>
            </a:solidFill>
            <a:effectLst/>
          </c:spPr>
          <c:invertIfNegative val="0"/>
          <c:dLbls>
            <c:numFmt formatCode="$0.000" sourceLinked="0"/>
            <c:txPr>
              <a:bodyPr/>
              <a:lstStyle/>
              <a:p>
                <a:pPr>
                  <a:defRPr b="0" i="0" strike="noStrike" sz="1300" u="none">
                    <a:solidFill>
                      <a:srgbClr val="1C2128"/>
                    </a:solidFill>
                    <a:latin typeface="+mn-lt"/>
                  </a:defRPr>
                </a:pPr>
              </a:p>
            </c:txPr>
            <c:showLegendKey val="0"/>
            <c:showVal val="1"/>
            <c:showCatName val="0"/>
            <c:showSerName val="0"/>
            <c:showPercent val="0"/>
            <c:showBubbleSize val="0"/>
            <c:showLeaderLines val="0"/>
          </c:dLbls>
          <c:dPt>
            <c:idx val="0"/>
            <c:invertIfNegative val="0"/>
            <c:bubble3D val="0"/>
            <c:spPr>
              <a:solidFill>
                <a:srgbClr val="6B7B8C"/>
              </a:solidFill>
              <a:effectLst/>
            </c:spPr>
          </c:dPt>
          <c:dPt>
            <c:idx val="1"/>
            <c:invertIfNegative val="0"/>
            <c:bubble3D val="0"/>
            <c:spPr>
              <a:solidFill>
                <a:srgbClr val="2A9D8F"/>
              </a:solidFill>
              <a:effectLst/>
            </c:spPr>
          </c:dPt>
          <c:cat>
            <c:multiLvlStrRef>
              <c:f>Sheet1!$A$2:$A$3</c:f>
              <c:multiLvlStrCache>
                <c:ptCount val="2"/>
                <c:lvl>
                  <c:pt idx="0">
                    <c:v>Fresh session each step</c:v>
                  </c:pt>
                  <c:pt idx="1">
                    <c:v>Warm session carried over</c:v>
                  </c:pt>
                </c:lvl>
              </c:multiLvlStrCache>
            </c:multiLvlStrRef>
          </c:cat>
          <c:val>
            <c:numRef>
              <c:f>Sheet1!$B$2:$B$3</c:f>
              <c:numCache>
                <c:formatCode>General</c:formatCode>
                <c:ptCount val="2"/>
                <c:pt idx="0">
                  <c:v>0.191</c:v>
                </c:pt>
                <c:pt idx="1">
                  <c:v>0.131</c:v>
                </c:pt>
              </c:numCache>
            </c:numRef>
          </c:val>
        </c:ser>
        <c:dLbls>
          <c:numFmt formatCode="$0.000" sourceLinked="0"/>
          <c:txPr>
            <a:bodyPr/>
            <a:lstStyle/>
            <a:p>
              <a:pPr>
                <a:defRPr b="0" i="0" strike="noStrike" sz="1300" u="none">
                  <a:solidFill>
                    <a:srgbClr val="1C21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4F"/>
                </a:solidFill>
                <a:latin typeface="+mn-lt"/>
              </a:defRPr>
            </a:pPr>
            <a:endParaRPr lang="en-US"/>
          </a:p>
        </c:txPr>
        <c:crossAx val="2094734552"/>
        <c:crosses val="autoZero"/>
        <c:auto val="1"/>
        <c:lblAlgn val="ctr"/>
        <c:noMultiLvlLbl val="1"/>
      </c:catAx>
      <c:valAx>
        <c:axId val="2094734552"/>
        <c:scaling>
          <c:orientation val="minMax"/>
          <c:max val="0.2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in three steps. First, what is hard for one engineer running several agents at once, and how work-packet handles it today: most of that is built and in use. Second, what is hard about sharing agent work with a colleague, and the designed features that make a packet something you can hand over. Third, the network: agents that share what they found and ask each other questions, without going around anyone's permissions. It ends with where we are and the roadmap, including where else this technique could go inside an engineering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day of one engineer who already uses agents well. Each agent is fast. The overhead moved to the person: remembering which of six sessions is waiting for an answer, deciding when a session is too long and should be compacted or restarted, attaching to each window to see progress, and reading a monthly bill or a quota bar that does not say which task used it or what to change. Work that should recur, like nightly regression triage or a weekly dependency bump, needs cron plus glue plus remembering where the previous run left off. The root cause is that the session is the unit of work, and sessions are disposable.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packet is a directory. memento.md is the next instruction; state holds the plan, open questions and findings; work holds git clones with one commit per step; the journal records every step, hand-off and its cost; each step folder keeps the prompt, transcript, summary and metrics. The executor runs one step at a time with claude -p (other harnesses are surveyed), commits it, and reads the step's resume line to decide when to run it next. A packet has one owner at a time, you or the runner, and control moves by hand-off. One daemon per user runs everything and serves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pain from slide 2 maps to something built. The board (wpk dash) shows every packet's state, grouped on boards, with a live view of the running step. New task, Compose and a shell in the browser replace most terminal windows, and Open in VS Code works both on the desktop over Remote-SSH and in the browser. Context controls C1 to C4 are built and measured: a PostToolUse hook tells the model to finish the item, write hand-off files and stop when it reaches the step's context budget; a step that follows within the cache TTL resumes the warm session. Structured questions show as Needs you and are answered from the board; notes reach a packet at any time. wpk stats reports tokens, cost and the subscription's weekly quota per project, packet and step, and its advice rules name a setting to change. Scheduled resumption is in the packet format: resume now, at a time, or on a schedule. About 466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step's meta.json records tokens split by cache read, cache write and output, context per call, cost, and the subscription quota reading where the account has one. The chart is experiment E7, the same nine-step task run twice: carrying the warm session over between steps cost $0.131 instead of $0.191 and took 75 seconds instead of about 110. The numbers on the right are from dvs-enh, a real project: almost all context came from the cache, input outweighs output about a hundred to one, and 13% of tokens went on failed attempts. wpk stats has advice rules with a minimum sample of 30 steps; each piece of advice prints the numbers that triggered it. For an engineering manager, this is the first view of agent spend per task rather than per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up dvs-enh for an agent took eleven hand steps, most of them about finding things and knowing rules (docs/setup.md). When the work moves to a colleague, the setup is repeated and the context is retyped. The data question is the blocker in an internal environment: a transcript can contain anything the agent read, so people either share everything or nothing. CI failures are the most common hand-over and the slowest: someone rebuilds the environment at the right revision before anyone can debug. Asking for help means pasting context into chat, and the answer is lost there. Managers get status from stand-up, not from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of sharing is the packet. Export writes a bundle under a profile: full for your own hosts, team for a colleague, report for another organization. The core tier (plan, journal, memento) always goes; transcripts default out and are fetched only on approval; export lists every file before anything leaves, and a secret scan runs first. Links connect two daemons directly, so a small team needs no server; the hub adds org sign-in, policy, audit and CI intake. Assign transfers ownership. Consult sends copies; each reply comes back with answers and changes, which the owner applies or forwards to the agent. The received packet runs under the recipient's account with the recipient's limits. Setup is the part that exists today: wpk doctor and the setup wizard. The rest is designed in docs/product.md, releases R4 to R6.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social layer in docs/social.md. Findings are small Markdown files the agent writes in state/findings while it works: a claim, its scope (repos, tool versions, tags), the evidence (packet, steps, commit) and optionally a verify command that exits 0 while the claim holds. They are indexed locally in a signed SQLite FTS file. Snapshots of that index travel over links at the share level each entry allows, and the hub merges them into an organization snapshot. Agents search through an MCP tool before they ask. A question goes to an audience, and the sender's daemon attaches the search it already did, so the receiver sees what was ruled out. Questions written by an agent are drafts until the owner approves them: agents never message strangers on their own. An accepted answer is credited; one whose check passes becomes a finding in the asker's packet. Inside a company, the valuable outcome is 'we have seen this before', routed to the person who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what makes this acceptable inside an engineering organization. Inbound traffic goes through a five-stage pipeline: a deterministic gate, a file queue, a triage model that runs a few times a day with no tools, no private data and no outbound channel, then a person who sees one batch, and only then, optionally, an agent in a new packet with its own budget. That keeps private data, untrusted content and an outbound channel from ever meeting in one unsupervised context: the 'lethal trifecta'. Permissions are never widened: an answer is computed by the answerer's daemon over what the answerer can see, and every index entry carries the share level and the source's permissions, as Glean does. Received work runs under the recipient's account. Links and the hub hold summaries and bundles, never credentials or shells. No metrics about people: the stats are about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brainstorm beyond the release plan, each built from pieces already designed. Regression triage: the CI bundle plus a search of the organization's findings attaches likely causes before anyone opens the failure, across projects rather than inside one tool. Findings with verify commands can be re-checked on a schedule as tools and repos move; that is verified knowledge built from work, not curation. The journal already has steps, commits, cost and summaries, so a weekly status note (and the public weekly post, K0) is a digest plus a short edit. Spend: per-task costs make team budgets and model comparisons possible on real work. Vendor support: a report bundle with a smoke check is a reproducing testcase; an agent-driven HDL testcase reducer would shrink it, and the vendor's progress comes back to the customer's board. Hand-off across sites is the same as hand-off between people. Finished packets become templates. And the hub's merged index is the organization's knowledge layer for any MCP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and tested: the packet format and its checker, the step executor with atomic commits and crash recovery, scheduled resumption, projects, the web board with its actions and live view, New task, Compose and the browser shell, VS Code links, the context controls, the Claude Code harness adapter with stats and advice, the setup checker and wizard, and the board on a tailnet using the tailnet login. The live checks so far are E7 (three runs on the board for $0.48) and the dvs-enh trial; fw-uart16550 is the next long-running candidate. Everything about moving work between people, and the social layer, is designed in docs/product.md and docs/social.md but not built. Much of the recent work is not yet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follows the scales: each release is usable alone and ends with a live check on real work. Now: make one engineer's daily use trustworthy (R1, R2) and start the weekly post from the journal, which needs nothing from anyone else and doubles as status reporting inside a team. Next: jobs and the API, so regressions and builds wake packets, and R4, the flagship: a CI failure becomes a packet that reproduces at the right revision; findings and search arrive alongside, because they also need nobody else. Later: links make a team possible without a server, then the hub adds organization sign-in, policy and audit, and the knowledge layer merges across the team. Horizon: across organizations (vendor and customer reports with a reproduction gate), the browser IDE and SLURM, and the opportunities on slide 10. The ask is pilots, a hub host, and a decision on default visibility. No dates are given: each stage's exit check decides when the next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4630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74720"/>
            <a:ext cx="9601200" cy="1280160"/>
          </a:xfrm>
          <a:prstGeom prst="rect">
            <a:avLst/>
          </a:prstGeom>
          <a:noFill/>
          <a:ln/>
        </p:spPr>
        <p:txBody>
          <a:bodyPr wrap="square" rtlCol="0"/>
          <a:lstStyle>
            <a:lvl1pPr indent="0" marL="0">
              <a:buNone/>
              <a:defRPr lang="en-US" sz="2400" dirty="0">
                <a:solidFill>
                  <a:schemeClr val="accent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work-packet · pitch for review</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work-packet · pitch for review</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463040"/>
          </a:xfrm>
          <a:prstGeom prst="rect">
            <a:avLst/>
          </a:prstGeom>
          <a:noFill/>
          <a:ln/>
        </p:spPr>
        <p:txBody>
          <a:bodyPr wrap="square" lIns="0" tIns="0" rIns="0" bIns="0" rtlCol="0" anchor="b"/>
          <a:lstStyle/>
          <a:p>
            <a:pPr algn="l" indent="0" marL="0">
              <a:buNone/>
            </a:pPr>
            <a:r>
              <a:rPr lang="en-US" sz="5400" b="1" dirty="0">
                <a:solidFill>
                  <a:schemeClr val="bg1"/>
                </a:solidFill>
              </a:rPr>
              <a:t>work-packet</a:t>
            </a:r>
            <a:endParaRPr lang="en-US" sz="5400" dirty="0"/>
          </a:p>
        </p:txBody>
      </p:sp>
      <p:sp>
        <p:nvSpPr>
          <p:cNvPr id="3" name="Text 0"/>
          <p:cNvSpPr/>
          <p:nvPr>
            <p:ph idx="101" type="body" hasCustomPrompt="1"/>
          </p:nvPr>
        </p:nvSpPr>
        <p:spPr>
          <a:xfrm>
            <a:off x="548640" y="3474720"/>
            <a:ext cx="9601200" cy="1280160"/>
          </a:xfrm>
          <a:prstGeom prst="rect">
            <a:avLst/>
          </a:prstGeom>
          <a:noFill/>
          <a:ln/>
        </p:spPr>
        <p:txBody>
          <a:bodyPr wrap="square" lIns="0" tIns="0" rIns="0" bIns="0" rtlCol="0" anchor="t"/>
          <a:lstStyle/>
          <a:p>
            <a:pPr indent="0" marL="0">
              <a:buNone/>
            </a:pPr>
            <a:r>
              <a:rPr lang="en-US" sz="2400" dirty="0">
                <a:solidFill>
                  <a:schemeClr val="accent1"/>
                </a:solidFill>
              </a:rPr>
              <a:t>Agent work an engineering team can track, share and ask about</a:t>
            </a:r>
            <a:endParaRPr lang="en-US" sz="2400" dirty="0"/>
          </a:p>
        </p:txBody>
      </p:sp>
      <p:sp>
        <p:nvSpPr>
          <p:cNvPr id="4" name="t1"/>
          <p:cNvSpPr txBox="1"/>
          <p:nvPr/>
        </p:nvSpPr>
        <p:spPr>
          <a:xfrm>
            <a:off x="548640" y="1280160"/>
            <a:ext cx="8229600" cy="365760"/>
          </a:xfrm>
          <a:prstGeom prst="rect">
            <a:avLst/>
          </a:prstGeom>
          <a:noFill/>
          <a:ln/>
        </p:spPr>
        <p:txBody>
          <a:bodyPr wrap="square" lIns="0" tIns="0" rIns="0" bIns="0" rtlCol="0" anchor="t"/>
          <a:lstStyle/>
          <a:p>
            <a:pPr indent="0" marL="0">
              <a:buNone/>
            </a:pPr>
            <a:r>
              <a:rPr lang="en-US" sz="1600" dirty="0">
                <a:solidFill>
                  <a:schemeClr val="accent2"/>
                </a:solidFill>
                <a:latin typeface="Courier New" pitchFamily="34" charset="0"/>
                <a:ea typeface="Courier New" pitchFamily="34" charset="-122"/>
                <a:cs typeface="Courier New" pitchFamily="34" charset="-120"/>
              </a:rPr>
              <a:t>one engineer  →  a team  →  a network of agents</a:t>
            </a:r>
            <a:endParaRPr lang="en-US" sz="1600" dirty="0"/>
          </a:p>
        </p:txBody>
      </p:sp>
      <p:sp>
        <p:nvSpPr>
          <p:cNvPr id="5" name="t2"/>
          <p:cNvSpPr txBox="1"/>
          <p:nvPr/>
        </p:nvSpPr>
        <p:spPr>
          <a:xfrm>
            <a:off x="548640" y="6035040"/>
            <a:ext cx="6400800" cy="320040"/>
          </a:xfrm>
          <a:prstGeom prst="rect">
            <a:avLst/>
          </a:prstGeom>
          <a:noFill/>
          <a:ln/>
        </p:spPr>
        <p:txBody>
          <a:bodyPr wrap="square" lIns="0" tIns="0" rIns="0" bIns="0" rtlCol="0" anchor="t"/>
          <a:lstStyle/>
          <a:p>
            <a:pPr indent="0" marL="0">
              <a:buNone/>
            </a:pPr>
            <a:r>
              <a:rPr lang="en-US" sz="1200" dirty="0">
                <a:solidFill>
                  <a:schemeClr val="accent3"/>
                </a:solidFill>
              </a:rPr>
              <a:t>October 2026 · pitch for review · internal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Agents made tasks faster; tracking them became the job</a:t>
            </a:r>
            <a:endParaRPr lang="en-US" sz="3200" dirty="0"/>
          </a:p>
        </p:txBody>
      </p:sp>
      <p:sp>
        <p:nvSpPr>
          <p:cNvPr id="3" name="card3"/>
          <p:cNvSpPr/>
          <p:nvPr/>
        </p:nvSpPr>
        <p:spPr>
          <a:xfrm>
            <a:off x="548640" y="1325880"/>
            <a:ext cx="3593592" cy="1783080"/>
          </a:xfrm>
          <a:prstGeom prst="roundRect">
            <a:avLst>
              <a:gd name="adj" fmla="val 4103"/>
            </a:avLst>
          </a:prstGeom>
          <a:solidFill>
            <a:schemeClr val="bg2"/>
          </a:solidFill>
          <a:ln w="9525">
            <a:solidFill>
              <a:schemeClr val="bg2"/>
            </a:solidFill>
            <a:prstDash val="solid"/>
          </a:ln>
        </p:spPr>
      </p:sp>
      <p:sp>
        <p:nvSpPr>
          <p:cNvPr id="4" name="ic4"/>
          <p:cNvSpPr/>
          <p:nvPr/>
        </p:nvSpPr>
        <p:spPr>
          <a:xfrm>
            <a:off x="777240" y="1554480"/>
            <a:ext cx="594360" cy="594360"/>
          </a:xfrm>
          <a:prstGeom prst="ellipse">
            <a:avLst/>
          </a:prstGeom>
          <a:solidFill>
            <a:schemeClr val="accent4"/>
          </a:solidFill>
          <a:ln w="12700">
            <a:solidFill>
              <a:schemeClr val="accent4"/>
            </a:solidFill>
            <a:prstDash val="solid"/>
          </a:ln>
        </p:spPr>
      </p:sp>
      <p:pic>
        <p:nvPicPr>
          <p:cNvPr id="5" name="icimg5" descr="preencoded.png">    </p:cNvPr>
          <p:cNvPicPr>
            <a:picLocks noChangeAspect="1"/>
          </p:cNvPicPr>
          <p:nvPr/>
        </p:nvPicPr>
        <p:blipFill>
          <a:blip r:embed="rId1"/>
          <a:stretch>
            <a:fillRect/>
          </a:stretch>
        </p:blipFill>
        <p:spPr>
          <a:xfrm>
            <a:off x="925830" y="1703070"/>
            <a:ext cx="297180" cy="297180"/>
          </a:xfrm>
          <a:prstGeom prst="rect">
            <a:avLst/>
          </a:prstGeom>
        </p:spPr>
      </p:pic>
      <p:sp>
        <p:nvSpPr>
          <p:cNvPr id="6" name="t6"/>
          <p:cNvSpPr txBox="1"/>
          <p:nvPr/>
        </p:nvSpPr>
        <p:spPr>
          <a:xfrm>
            <a:off x="1508760" y="152704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Which tasks are open?</a:t>
            </a:r>
            <a:endParaRPr lang="en-US" sz="1600" dirty="0"/>
          </a:p>
        </p:txBody>
      </p:sp>
      <p:sp>
        <p:nvSpPr>
          <p:cNvPr id="7" name="t7"/>
          <p:cNvSpPr txBox="1"/>
          <p:nvPr/>
        </p:nvSpPr>
        <p:spPr>
          <a:xfrm>
            <a:off x="777240" y="2286000"/>
            <a:ext cx="3136392" cy="685800"/>
          </a:xfrm>
          <a:prstGeom prst="rect">
            <a:avLst/>
          </a:prstGeom>
          <a:noFill/>
          <a:ln/>
        </p:spPr>
        <p:txBody>
          <a:bodyPr wrap="square" lIns="0" tIns="0" rIns="0" bIns="0" rtlCol="0" anchor="t"/>
          <a:lstStyle/>
          <a:p>
            <a:pPr indent="0" marL="0">
              <a:buNone/>
            </a:pPr>
            <a:r>
              <a:rPr lang="en-US" sz="1400" dirty="0">
                <a:solidFill>
                  <a:schemeClr val="tx2"/>
                </a:solidFill>
              </a:rPr>
              <a:t>Open, waiting on me, blocked, done: the state lives in my head and in tab titles.</a:t>
            </a:r>
            <a:endParaRPr lang="en-US" sz="1400" dirty="0"/>
          </a:p>
        </p:txBody>
      </p:sp>
      <p:sp>
        <p:nvSpPr>
          <p:cNvPr id="8" name="card8"/>
          <p:cNvSpPr/>
          <p:nvPr/>
        </p:nvSpPr>
        <p:spPr>
          <a:xfrm>
            <a:off x="4297680" y="1325880"/>
            <a:ext cx="3593592" cy="1783080"/>
          </a:xfrm>
          <a:prstGeom prst="roundRect">
            <a:avLst>
              <a:gd name="adj" fmla="val 4103"/>
            </a:avLst>
          </a:prstGeom>
          <a:solidFill>
            <a:schemeClr val="bg2"/>
          </a:solidFill>
          <a:ln w="9525">
            <a:solidFill>
              <a:schemeClr val="bg2"/>
            </a:solidFill>
            <a:prstDash val="solid"/>
          </a:ln>
        </p:spPr>
      </p:sp>
      <p:sp>
        <p:nvSpPr>
          <p:cNvPr id="9" name="ic9"/>
          <p:cNvSpPr/>
          <p:nvPr/>
        </p:nvSpPr>
        <p:spPr>
          <a:xfrm>
            <a:off x="4526280" y="1554480"/>
            <a:ext cx="594360" cy="594360"/>
          </a:xfrm>
          <a:prstGeom prst="ellipse">
            <a:avLst/>
          </a:prstGeom>
          <a:solidFill>
            <a:schemeClr val="accent4"/>
          </a:solidFill>
          <a:ln w="12700">
            <a:solidFill>
              <a:schemeClr val="accent4"/>
            </a:solidFill>
            <a:prstDash val="solid"/>
          </a:ln>
        </p:spPr>
      </p:sp>
      <p:pic>
        <p:nvPicPr>
          <p:cNvPr id="10" name="icimg10" descr="preencoded.png">    </p:cNvPr>
          <p:cNvPicPr>
            <a:picLocks noChangeAspect="1"/>
          </p:cNvPicPr>
          <p:nvPr/>
        </p:nvPicPr>
        <p:blipFill>
          <a:blip r:embed="rId2"/>
          <a:stretch>
            <a:fillRect/>
          </a:stretch>
        </p:blipFill>
        <p:spPr>
          <a:xfrm>
            <a:off x="4674870" y="1703070"/>
            <a:ext cx="297180" cy="297180"/>
          </a:xfrm>
          <a:prstGeom prst="rect">
            <a:avLst/>
          </a:prstGeom>
        </p:spPr>
      </p:pic>
      <p:sp>
        <p:nvSpPr>
          <p:cNvPr id="11" name="t11"/>
          <p:cNvSpPr txBox="1"/>
          <p:nvPr/>
        </p:nvSpPr>
        <p:spPr>
          <a:xfrm>
            <a:off x="5257800" y="152704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Too many windows</a:t>
            </a:r>
            <a:endParaRPr lang="en-US" sz="1600" dirty="0"/>
          </a:p>
        </p:txBody>
      </p:sp>
      <p:sp>
        <p:nvSpPr>
          <p:cNvPr id="12" name="t12"/>
          <p:cNvSpPr txBox="1"/>
          <p:nvPr/>
        </p:nvSpPr>
        <p:spPr>
          <a:xfrm>
            <a:off x="4526280" y="2286000"/>
            <a:ext cx="3136392" cy="685800"/>
          </a:xfrm>
          <a:prstGeom prst="rect">
            <a:avLst/>
          </a:prstGeom>
          <a:noFill/>
          <a:ln/>
        </p:spPr>
        <p:txBody>
          <a:bodyPr wrap="square" lIns="0" tIns="0" rIns="0" bIns="0" rtlCol="0" anchor="t"/>
          <a:lstStyle/>
          <a:p>
            <a:pPr indent="0" marL="0">
              <a:buNone/>
            </a:pPr>
            <a:r>
              <a:rPr lang="en-US" sz="1400" dirty="0">
                <a:solidFill>
                  <a:schemeClr val="tx2"/>
                </a:solidFill>
              </a:rPr>
              <a:t>Five terminals, tmux panes, two machines. Each agent session is its own silo.</a:t>
            </a:r>
            <a:endParaRPr lang="en-US" sz="1400" dirty="0"/>
          </a:p>
        </p:txBody>
      </p:sp>
      <p:sp>
        <p:nvSpPr>
          <p:cNvPr id="13" name="card13"/>
          <p:cNvSpPr/>
          <p:nvPr/>
        </p:nvSpPr>
        <p:spPr>
          <a:xfrm>
            <a:off x="8046720" y="1325880"/>
            <a:ext cx="3593592" cy="1783080"/>
          </a:xfrm>
          <a:prstGeom prst="roundRect">
            <a:avLst>
              <a:gd name="adj" fmla="val 4103"/>
            </a:avLst>
          </a:prstGeom>
          <a:solidFill>
            <a:schemeClr val="bg2"/>
          </a:solidFill>
          <a:ln w="9525">
            <a:solidFill>
              <a:schemeClr val="bg2"/>
            </a:solidFill>
            <a:prstDash val="solid"/>
          </a:ln>
        </p:spPr>
      </p:sp>
      <p:sp>
        <p:nvSpPr>
          <p:cNvPr id="14" name="ic14"/>
          <p:cNvSpPr/>
          <p:nvPr/>
        </p:nvSpPr>
        <p:spPr>
          <a:xfrm>
            <a:off x="8275320" y="1554480"/>
            <a:ext cx="594360" cy="594360"/>
          </a:xfrm>
          <a:prstGeom prst="ellipse">
            <a:avLst/>
          </a:prstGeom>
          <a:solidFill>
            <a:schemeClr val="accent4"/>
          </a:solidFill>
          <a:ln w="12700">
            <a:solidFill>
              <a:schemeClr val="accent4"/>
            </a:solidFill>
            <a:prstDash val="solid"/>
          </a:ln>
        </p:spPr>
      </p:sp>
      <p:pic>
        <p:nvPicPr>
          <p:cNvPr id="15" name="icimg15" descr="preencoded.png">    </p:cNvPr>
          <p:cNvPicPr>
            <a:picLocks noChangeAspect="1"/>
          </p:cNvPicPr>
          <p:nvPr/>
        </p:nvPicPr>
        <p:blipFill>
          <a:blip r:embed="rId3"/>
          <a:stretch>
            <a:fillRect/>
          </a:stretch>
        </p:blipFill>
        <p:spPr>
          <a:xfrm>
            <a:off x="8423910" y="1703070"/>
            <a:ext cx="297180" cy="297180"/>
          </a:xfrm>
          <a:prstGeom prst="rect">
            <a:avLst/>
          </a:prstGeom>
        </p:spPr>
      </p:pic>
      <p:sp>
        <p:nvSpPr>
          <p:cNvPr id="16" name="t16"/>
          <p:cNvSpPr txBox="1"/>
          <p:nvPr/>
        </p:nvSpPr>
        <p:spPr>
          <a:xfrm>
            <a:off x="9006840" y="152704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Context and compaction</a:t>
            </a:r>
            <a:endParaRPr lang="en-US" sz="1600" dirty="0"/>
          </a:p>
        </p:txBody>
      </p:sp>
      <p:sp>
        <p:nvSpPr>
          <p:cNvPr id="17" name="t17"/>
          <p:cNvSpPr txBox="1"/>
          <p:nvPr/>
        </p:nvSpPr>
        <p:spPr>
          <a:xfrm>
            <a:off x="8275320" y="2286000"/>
            <a:ext cx="3136392" cy="685800"/>
          </a:xfrm>
          <a:prstGeom prst="rect">
            <a:avLst/>
          </a:prstGeom>
          <a:noFill/>
          <a:ln/>
        </p:spPr>
        <p:txBody>
          <a:bodyPr wrap="square" lIns="0" tIns="0" rIns="0" bIns="0" rtlCol="0" anchor="t"/>
          <a:lstStyle/>
          <a:p>
            <a:pPr indent="0" marL="0">
              <a:buNone/>
            </a:pPr>
            <a:r>
              <a:rPr lang="en-US" sz="1400" dirty="0">
                <a:solidFill>
                  <a:schemeClr val="tx2"/>
                </a:solidFill>
              </a:rPr>
              <a:t>When to compact, when to start fresh? Long sessions get slow, costly and forgetful.</a:t>
            </a:r>
            <a:endParaRPr lang="en-US" sz="1400" dirty="0"/>
          </a:p>
        </p:txBody>
      </p:sp>
      <p:sp>
        <p:nvSpPr>
          <p:cNvPr id="18" name="card18"/>
          <p:cNvSpPr/>
          <p:nvPr/>
        </p:nvSpPr>
        <p:spPr>
          <a:xfrm>
            <a:off x="548640" y="3291840"/>
            <a:ext cx="3593592" cy="1783080"/>
          </a:xfrm>
          <a:prstGeom prst="roundRect">
            <a:avLst>
              <a:gd name="adj" fmla="val 4103"/>
            </a:avLst>
          </a:prstGeom>
          <a:solidFill>
            <a:schemeClr val="bg2"/>
          </a:solidFill>
          <a:ln w="9525">
            <a:solidFill>
              <a:schemeClr val="bg2"/>
            </a:solidFill>
            <a:prstDash val="solid"/>
          </a:ln>
        </p:spPr>
      </p:sp>
      <p:sp>
        <p:nvSpPr>
          <p:cNvPr id="19" name="ic19"/>
          <p:cNvSpPr/>
          <p:nvPr/>
        </p:nvSpPr>
        <p:spPr>
          <a:xfrm>
            <a:off x="777240" y="3520440"/>
            <a:ext cx="594360" cy="594360"/>
          </a:xfrm>
          <a:prstGeom prst="ellipse">
            <a:avLst/>
          </a:prstGeom>
          <a:solidFill>
            <a:schemeClr val="accent4"/>
          </a:solidFill>
          <a:ln w="12700">
            <a:solidFill>
              <a:schemeClr val="accent4"/>
            </a:solidFill>
            <a:prstDash val="solid"/>
          </a:ln>
        </p:spPr>
      </p:sp>
      <p:pic>
        <p:nvPicPr>
          <p:cNvPr id="20" name="icimg20" descr="preencoded.png">    </p:cNvPr>
          <p:cNvPicPr>
            <a:picLocks noChangeAspect="1"/>
          </p:cNvPicPr>
          <p:nvPr/>
        </p:nvPicPr>
        <p:blipFill>
          <a:blip r:embed="rId4"/>
          <a:stretch>
            <a:fillRect/>
          </a:stretch>
        </p:blipFill>
        <p:spPr>
          <a:xfrm>
            <a:off x="925830" y="3669030"/>
            <a:ext cx="297180" cy="297180"/>
          </a:xfrm>
          <a:prstGeom prst="rect">
            <a:avLst/>
          </a:prstGeom>
        </p:spPr>
      </p:pic>
      <p:sp>
        <p:nvSpPr>
          <p:cNvPr id="21" name="t21"/>
          <p:cNvSpPr txBox="1"/>
          <p:nvPr/>
        </p:nvSpPr>
        <p:spPr>
          <a:xfrm>
            <a:off x="1508760" y="349300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Progress is invisible</a:t>
            </a:r>
            <a:endParaRPr lang="en-US" sz="1600" dirty="0"/>
          </a:p>
        </p:txBody>
      </p:sp>
      <p:sp>
        <p:nvSpPr>
          <p:cNvPr id="22" name="t22"/>
          <p:cNvSpPr txBox="1"/>
          <p:nvPr/>
        </p:nvSpPr>
        <p:spPr>
          <a:xfrm>
            <a:off x="777240" y="4251960"/>
            <a:ext cx="3136392" cy="685800"/>
          </a:xfrm>
          <a:prstGeom prst="rect">
            <a:avLst/>
          </a:prstGeom>
          <a:noFill/>
          <a:ln/>
        </p:spPr>
        <p:txBody>
          <a:bodyPr wrap="square" lIns="0" tIns="0" rIns="0" bIns="0" rtlCol="0" anchor="t"/>
          <a:lstStyle/>
          <a:p>
            <a:pPr indent="0" marL="0">
              <a:buNone/>
            </a:pPr>
            <a:r>
              <a:rPr lang="en-US" sz="1400" dirty="0">
                <a:solidFill>
                  <a:schemeClr val="tx2"/>
                </a:solidFill>
              </a:rPr>
              <a:t>To see how a task is going I attach to its session and scroll back.</a:t>
            </a:r>
            <a:endParaRPr lang="en-US" sz="1400" dirty="0"/>
          </a:p>
        </p:txBody>
      </p:sp>
      <p:sp>
        <p:nvSpPr>
          <p:cNvPr id="23" name="card23"/>
          <p:cNvSpPr/>
          <p:nvPr/>
        </p:nvSpPr>
        <p:spPr>
          <a:xfrm>
            <a:off x="4297680" y="3291840"/>
            <a:ext cx="3593592" cy="1783080"/>
          </a:xfrm>
          <a:prstGeom prst="roundRect">
            <a:avLst>
              <a:gd name="adj" fmla="val 4103"/>
            </a:avLst>
          </a:prstGeom>
          <a:solidFill>
            <a:schemeClr val="bg2"/>
          </a:solidFill>
          <a:ln w="9525">
            <a:solidFill>
              <a:schemeClr val="bg2"/>
            </a:solidFill>
            <a:prstDash val="solid"/>
          </a:ln>
        </p:spPr>
      </p:sp>
      <p:sp>
        <p:nvSpPr>
          <p:cNvPr id="24" name="ic24"/>
          <p:cNvSpPr/>
          <p:nvPr/>
        </p:nvSpPr>
        <p:spPr>
          <a:xfrm>
            <a:off x="4526280" y="3520440"/>
            <a:ext cx="594360" cy="594360"/>
          </a:xfrm>
          <a:prstGeom prst="ellipse">
            <a:avLst/>
          </a:prstGeom>
          <a:solidFill>
            <a:schemeClr val="accent4"/>
          </a:solidFill>
          <a:ln w="12700">
            <a:solidFill>
              <a:schemeClr val="accent4"/>
            </a:solidFill>
            <a:prstDash val="solid"/>
          </a:ln>
        </p:spPr>
      </p:sp>
      <p:pic>
        <p:nvPicPr>
          <p:cNvPr id="25" name="icimg25" descr="preencoded.png">    </p:cNvPr>
          <p:cNvPicPr>
            <a:picLocks noChangeAspect="1"/>
          </p:cNvPicPr>
          <p:nvPr/>
        </p:nvPicPr>
        <p:blipFill>
          <a:blip r:embed="rId5"/>
          <a:stretch>
            <a:fillRect/>
          </a:stretch>
        </p:blipFill>
        <p:spPr>
          <a:xfrm>
            <a:off x="4674870" y="3669030"/>
            <a:ext cx="297180" cy="297180"/>
          </a:xfrm>
          <a:prstGeom prst="rect">
            <a:avLst/>
          </a:prstGeom>
        </p:spPr>
      </p:pic>
      <p:sp>
        <p:nvSpPr>
          <p:cNvPr id="26" name="t26"/>
          <p:cNvSpPr txBox="1"/>
          <p:nvPr/>
        </p:nvSpPr>
        <p:spPr>
          <a:xfrm>
            <a:off x="5257800" y="349300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Metrics I can't act on</a:t>
            </a:r>
            <a:endParaRPr lang="en-US" sz="1600" dirty="0"/>
          </a:p>
        </p:txBody>
      </p:sp>
      <p:sp>
        <p:nvSpPr>
          <p:cNvPr id="27" name="t27"/>
          <p:cNvSpPr txBox="1"/>
          <p:nvPr/>
        </p:nvSpPr>
        <p:spPr>
          <a:xfrm>
            <a:off x="4526280" y="4251960"/>
            <a:ext cx="3136392" cy="685800"/>
          </a:xfrm>
          <a:prstGeom prst="rect">
            <a:avLst/>
          </a:prstGeom>
          <a:noFill/>
          <a:ln/>
        </p:spPr>
        <p:txBody>
          <a:bodyPr wrap="square" lIns="0" tIns="0" rIns="0" bIns="0" rtlCol="0" anchor="t"/>
          <a:lstStyle/>
          <a:p>
            <a:pPr indent="0" marL="0">
              <a:buNone/>
            </a:pPr>
            <a:r>
              <a:rPr lang="en-US" sz="1400" dirty="0">
                <a:solidFill>
                  <a:schemeClr val="tx2"/>
                </a:solidFill>
              </a:rPr>
              <a:t>A bill or a quota bar, not "this task burned it, change this setting".</a:t>
            </a:r>
            <a:endParaRPr lang="en-US" sz="1400" dirty="0"/>
          </a:p>
        </p:txBody>
      </p:sp>
      <p:sp>
        <p:nvSpPr>
          <p:cNvPr id="28" name="card28"/>
          <p:cNvSpPr/>
          <p:nvPr/>
        </p:nvSpPr>
        <p:spPr>
          <a:xfrm>
            <a:off x="8046720" y="3291840"/>
            <a:ext cx="3593592" cy="1783080"/>
          </a:xfrm>
          <a:prstGeom prst="roundRect">
            <a:avLst>
              <a:gd name="adj" fmla="val 4103"/>
            </a:avLst>
          </a:prstGeom>
          <a:solidFill>
            <a:schemeClr val="bg2"/>
          </a:solidFill>
          <a:ln w="9525">
            <a:solidFill>
              <a:schemeClr val="bg2"/>
            </a:solidFill>
            <a:prstDash val="solid"/>
          </a:ln>
        </p:spPr>
      </p:sp>
      <p:sp>
        <p:nvSpPr>
          <p:cNvPr id="29" name="ic29"/>
          <p:cNvSpPr/>
          <p:nvPr/>
        </p:nvSpPr>
        <p:spPr>
          <a:xfrm>
            <a:off x="8275320" y="3520440"/>
            <a:ext cx="594360" cy="594360"/>
          </a:xfrm>
          <a:prstGeom prst="ellipse">
            <a:avLst/>
          </a:prstGeom>
          <a:solidFill>
            <a:schemeClr val="accent4"/>
          </a:solidFill>
          <a:ln w="12700">
            <a:solidFill>
              <a:schemeClr val="accent4"/>
            </a:solidFill>
            <a:prstDash val="solid"/>
          </a:ln>
        </p:spPr>
      </p:sp>
      <p:pic>
        <p:nvPicPr>
          <p:cNvPr id="30" name="icimg30" descr="preencoded.png">    </p:cNvPr>
          <p:cNvPicPr>
            <a:picLocks noChangeAspect="1"/>
          </p:cNvPicPr>
          <p:nvPr/>
        </p:nvPicPr>
        <p:blipFill>
          <a:blip r:embed="rId6"/>
          <a:stretch>
            <a:fillRect/>
          </a:stretch>
        </p:blipFill>
        <p:spPr>
          <a:xfrm>
            <a:off x="8423910" y="3669030"/>
            <a:ext cx="297180" cy="297180"/>
          </a:xfrm>
          <a:prstGeom prst="rect">
            <a:avLst/>
          </a:prstGeom>
        </p:spPr>
      </p:pic>
      <p:sp>
        <p:nvSpPr>
          <p:cNvPr id="31" name="t31"/>
          <p:cNvSpPr txBox="1"/>
          <p:nvPr/>
        </p:nvSpPr>
        <p:spPr>
          <a:xfrm>
            <a:off x="9006840" y="349300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Periodic work</a:t>
            </a:r>
            <a:endParaRPr lang="en-US" sz="1600" dirty="0"/>
          </a:p>
        </p:txBody>
      </p:sp>
      <p:sp>
        <p:nvSpPr>
          <p:cNvPr id="32" name="t32"/>
          <p:cNvSpPr txBox="1"/>
          <p:nvPr/>
        </p:nvSpPr>
        <p:spPr>
          <a:xfrm>
            <a:off x="8275320" y="4251960"/>
            <a:ext cx="3136392" cy="685800"/>
          </a:xfrm>
          <a:prstGeom prst="rect">
            <a:avLst/>
          </a:prstGeom>
          <a:noFill/>
          <a:ln/>
        </p:spPr>
        <p:txBody>
          <a:bodyPr wrap="square" lIns="0" tIns="0" rIns="0" bIns="0" rtlCol="0" anchor="t"/>
          <a:lstStyle/>
          <a:p>
            <a:pPr indent="0" marL="0">
              <a:buNone/>
            </a:pPr>
            <a:r>
              <a:rPr lang="en-US" sz="1400" dirty="0">
                <a:solidFill>
                  <a:schemeClr val="tx2"/>
                </a:solidFill>
              </a:rPr>
              <a:t>Nightly triage, weekly bumps, "retry Monday": cron, glue scripts and memory.</a:t>
            </a:r>
            <a:endParaRPr lang="en-US" sz="1400" dirty="0"/>
          </a:p>
        </p:txBody>
      </p:sp>
      <p:sp>
        <p:nvSpPr>
          <p:cNvPr id="33" name="card33"/>
          <p:cNvSpPr/>
          <p:nvPr/>
        </p:nvSpPr>
        <p:spPr>
          <a:xfrm>
            <a:off x="548640" y="5394960"/>
            <a:ext cx="11094415" cy="731520"/>
          </a:xfrm>
          <a:prstGeom prst="roundRect">
            <a:avLst>
              <a:gd name="adj" fmla="val 10000"/>
            </a:avLst>
          </a:prstGeom>
          <a:solidFill>
            <a:schemeClr val="tx1"/>
          </a:solidFill>
          <a:ln w="9525">
            <a:solidFill>
              <a:schemeClr val="tx1"/>
            </a:solidFill>
            <a:prstDash val="solid"/>
          </a:ln>
        </p:spPr>
      </p:sp>
      <p:sp>
        <p:nvSpPr>
          <p:cNvPr id="34" name="t34"/>
          <p:cNvSpPr txBox="1"/>
          <p:nvPr/>
        </p:nvSpPr>
        <p:spPr>
          <a:xfrm>
            <a:off x="868680" y="5394960"/>
            <a:ext cx="10454335" cy="731520"/>
          </a:xfrm>
          <a:prstGeom prst="rect">
            <a:avLst/>
          </a:prstGeom>
          <a:noFill/>
          <a:ln/>
        </p:spPr>
        <p:txBody>
          <a:bodyPr wrap="square" lIns="0" tIns="0" rIns="0" bIns="0" rtlCol="0" anchor="ctr"/>
          <a:lstStyle/>
          <a:p>
            <a:pPr indent="0" marL="0">
              <a:buNone/>
            </a:pPr>
            <a:r>
              <a:rPr lang="en-US" sz="1700" b="1" dirty="0">
                <a:solidFill>
                  <a:srgbClr val="E8A33D"/>
                </a:solidFill>
              </a:rPr>
              <a:t>The problem: </a:t>
            </a:r>
            <a:pPr indent="0" marL="0">
              <a:buNone/>
            </a:pPr>
            <a:r>
              <a:rPr lang="en-US" sz="1700" dirty="0">
                <a:solidFill>
                  <a:srgbClr val="FFFFFF"/>
                </a:solidFill>
              </a:rPr>
              <a:t>agent sessions are disposable, but the work is not. Nothing holds a task's state, plan, history and cost between sessions.</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 packet gives each task a home, an owner and a history</a:t>
            </a:r>
            <a:endParaRPr lang="en-US" sz="3200" dirty="0"/>
          </a:p>
        </p:txBody>
      </p:sp>
      <p:sp>
        <p:nvSpPr>
          <p:cNvPr id="3" name="card35"/>
          <p:cNvSpPr/>
          <p:nvPr/>
        </p:nvSpPr>
        <p:spPr>
          <a:xfrm>
            <a:off x="548640" y="1325880"/>
            <a:ext cx="5577840" cy="3931920"/>
          </a:xfrm>
          <a:prstGeom prst="roundRect">
            <a:avLst>
              <a:gd name="adj" fmla="val 1860"/>
            </a:avLst>
          </a:prstGeom>
          <a:solidFill>
            <a:schemeClr val="tx1"/>
          </a:solidFill>
          <a:ln w="9525">
            <a:solidFill>
              <a:schemeClr val="tx1"/>
            </a:solidFill>
            <a:prstDash val="solid"/>
          </a:ln>
        </p:spPr>
      </p:sp>
      <p:sp>
        <p:nvSpPr>
          <p:cNvPr id="4" name="t36"/>
          <p:cNvSpPr txBox="1"/>
          <p:nvPr/>
        </p:nvSpPr>
        <p:spPr>
          <a:xfrm>
            <a:off x="822960" y="1508760"/>
            <a:ext cx="5120640" cy="3611880"/>
          </a:xfrm>
          <a:prstGeom prst="rect">
            <a:avLst/>
          </a:prstGeom>
          <a:noFill/>
          <a:ln/>
        </p:spPr>
        <p:txBody>
          <a:bodyPr wrap="square" lIns="0" tIns="0" rIns="0" bIns="0" rtlCol="0" anchor="t"/>
          <a:lstStyle/>
          <a:p>
            <a:pPr indent="0" marL="0">
              <a:spcAft>
                <a:spcPts val="400"/>
              </a:spcAft>
              <a:buNone/>
            </a:pPr>
            <a:r>
              <a:rPr lang="en-US" sz="1500" dirty="0">
                <a:solidFill>
                  <a:srgbClr val="E8A33D"/>
                </a:solidFill>
                <a:latin typeface="Courier New" pitchFamily="34" charset="0"/>
                <a:ea typeface="Courier New" pitchFamily="34" charset="-122"/>
                <a:cs typeface="Courier New" pitchFamily="34" charset="-120"/>
              </a:rPr>
              <a:t>fix-uart-fifo/          wpk:7f3c…</a:t>
            </a:r>
            <a:endParaRPr lang="en-US" sz="1500" dirty="0"/>
          </a:p>
          <a:p>
            <a:pPr indent="0" marL="0">
              <a:spcAft>
                <a:spcPts val="400"/>
              </a:spcAft>
              <a:buNone/>
            </a:pPr>
            <a:r>
              <a:rPr lang="en-US" sz="1500" dirty="0">
                <a:solidFill>
                  <a:srgbClr val="FFFFFF"/>
                </a:solidFill>
                <a:latin typeface="Courier New" pitchFamily="34" charset="0"/>
                <a:ea typeface="Courier New" pitchFamily="34" charset="-122"/>
                <a:cs typeface="Courier New" pitchFamily="34" charset="-120"/>
              </a:rPr>
              <a:t>  memento.md     the next instruction</a:t>
            </a:r>
            <a:endParaRPr lang="en-US" sz="1500" dirty="0"/>
          </a:p>
          <a:p>
            <a:pPr indent="0" marL="0">
              <a:spcAft>
                <a:spcPts val="400"/>
              </a:spcAft>
              <a:buNone/>
            </a:pPr>
            <a:r>
              <a:rPr lang="en-US" sz="1500" dirty="0">
                <a:solidFill>
                  <a:srgbClr val="FFFFFF"/>
                </a:solidFill>
                <a:latin typeface="Courier New" pitchFamily="34" charset="0"/>
                <a:ea typeface="Courier New" pitchFamily="34" charset="-122"/>
                <a:cs typeface="Courier New" pitchFamily="34" charset="-120"/>
              </a:rPr>
              <a:t>  state/         plan, questions, findings</a:t>
            </a:r>
            <a:endParaRPr lang="en-US" sz="1500" dirty="0"/>
          </a:p>
          <a:p>
            <a:pPr indent="0" marL="0">
              <a:spcAft>
                <a:spcPts val="400"/>
              </a:spcAft>
              <a:buNone/>
            </a:pPr>
            <a:r>
              <a:rPr lang="en-US" sz="1500" dirty="0">
                <a:solidFill>
                  <a:srgbClr val="FFFFFF"/>
                </a:solidFill>
                <a:latin typeface="Courier New" pitchFamily="34" charset="0"/>
                <a:ea typeface="Courier New" pitchFamily="34" charset="-122"/>
                <a:cs typeface="Courier New" pitchFamily="34" charset="-120"/>
              </a:rPr>
              <a:t>  work/          clones, a commit per step</a:t>
            </a:r>
            <a:endParaRPr lang="en-US" sz="1500" dirty="0"/>
          </a:p>
          <a:p>
            <a:pPr indent="0" marL="0">
              <a:spcAft>
                <a:spcPts val="400"/>
              </a:spcAft>
              <a:buNone/>
            </a:pPr>
            <a:r>
              <a:rPr lang="en-US" sz="1500" dirty="0">
                <a:solidFill>
                  <a:srgbClr val="FFFFFF"/>
                </a:solidFill>
                <a:latin typeface="Courier New" pitchFamily="34" charset="0"/>
                <a:ea typeface="Courier New" pitchFamily="34" charset="-122"/>
                <a:cs typeface="Courier New" pitchFamily="34" charset="-120"/>
              </a:rPr>
              <a:t>  journal.jsonl  steps, hand-offs, cost</a:t>
            </a:r>
            <a:endParaRPr lang="en-US" sz="1500" dirty="0"/>
          </a:p>
          <a:p>
            <a:pPr indent="0" marL="0">
              <a:spcAft>
                <a:spcPts val="400"/>
              </a:spcAft>
              <a:buNone/>
            </a:pPr>
            <a:r>
              <a:rPr lang="en-US" sz="1500" dirty="0">
                <a:solidFill>
                  <a:srgbClr val="FFFFFF"/>
                </a:solidFill>
                <a:latin typeface="Courier New" pitchFamily="34" charset="0"/>
                <a:ea typeface="Courier New" pitchFamily="34" charset="-122"/>
                <a:cs typeface="Courier New" pitchFamily="34" charset="-120"/>
              </a:rPr>
              <a:t>  steps/0007/    prompt, transcript,</a:t>
            </a:r>
            <a:endParaRPr lang="en-US" sz="1500" dirty="0"/>
          </a:p>
          <a:p>
            <a:pPr indent="0" marL="0">
              <a:spcAft>
                <a:spcPts val="400"/>
              </a:spcAft>
              <a:buNone/>
            </a:pPr>
            <a:r>
              <a:rPr lang="en-US" sz="1500" dirty="0">
                <a:solidFill>
                  <a:srgbClr val="FFFFFF"/>
                </a:solidFill>
                <a:latin typeface="Courier New" pitchFamily="34" charset="0"/>
                <a:ea typeface="Courier New" pitchFamily="34" charset="-122"/>
                <a:cs typeface="Courier New" pitchFamily="34" charset="-120"/>
              </a:rPr>
              <a:t>                 summary, meta.json</a:t>
            </a:r>
            <a:endParaRPr lang="en-US" sz="1500" dirty="0"/>
          </a:p>
          <a:p>
            <a:pPr indent="0" marL="0">
              <a:spcAft>
                <a:spcPts val="400"/>
              </a:spcAft>
              <a:buNone/>
            </a:pPr>
            <a:endParaRPr lang="en-US" sz="1500" dirty="0"/>
          </a:p>
          <a:p>
            <a:pPr indent="0" marL="0">
              <a:spcAft>
                <a:spcPts val="400"/>
              </a:spcAft>
              <a:buNone/>
            </a:pPr>
            <a:r>
              <a:rPr lang="en-US" sz="1500" dirty="0">
                <a:solidFill>
                  <a:srgbClr val="2A9D8F"/>
                </a:solidFill>
                <a:latin typeface="Courier New" pitchFamily="34" charset="0"/>
                <a:ea typeface="Courier New" pitchFamily="34" charset="-122"/>
                <a:cs typeface="Courier New" pitchFamily="34" charset="-120"/>
              </a:rPr>
              <a:t>resume: every monday 09:00</a:t>
            </a:r>
            <a:endParaRPr lang="en-US" sz="1500" dirty="0"/>
          </a:p>
        </p:txBody>
      </p:sp>
      <p:sp>
        <p:nvSpPr>
          <p:cNvPr id="5" name="t37"/>
          <p:cNvSpPr txBox="1"/>
          <p:nvPr/>
        </p:nvSpPr>
        <p:spPr>
          <a:xfrm>
            <a:off x="548640" y="5440680"/>
            <a:ext cx="5577840" cy="548640"/>
          </a:xfrm>
          <a:prstGeom prst="rect">
            <a:avLst/>
          </a:prstGeom>
          <a:noFill/>
          <a:ln/>
        </p:spPr>
        <p:txBody>
          <a:bodyPr wrap="square" lIns="0" tIns="0" rIns="0" bIns="0" rtlCol="0" anchor="t"/>
          <a:lstStyle/>
          <a:p>
            <a:pPr indent="0" marL="0">
              <a:buNone/>
            </a:pPr>
            <a:r>
              <a:rPr lang="en-US" sz="1400" i="1" dirty="0">
                <a:solidFill>
                  <a:schemeClr val="tx2"/>
                </a:solidFill>
              </a:rPr>
              <a:t>A directory you can read, diff, back up and recover after a crash. The board is a view of it.</a:t>
            </a:r>
            <a:endParaRPr lang="en-US" sz="1400" dirty="0"/>
          </a:p>
        </p:txBody>
      </p:sp>
      <p:sp>
        <p:nvSpPr>
          <p:cNvPr id="6" name="card38"/>
          <p:cNvSpPr/>
          <p:nvPr/>
        </p:nvSpPr>
        <p:spPr>
          <a:xfrm>
            <a:off x="6400800" y="1325880"/>
            <a:ext cx="5239512" cy="1463040"/>
          </a:xfrm>
          <a:prstGeom prst="roundRect">
            <a:avLst>
              <a:gd name="adj" fmla="val 5000"/>
            </a:avLst>
          </a:prstGeom>
          <a:solidFill>
            <a:schemeClr val="bg2"/>
          </a:solidFill>
          <a:ln w="9525">
            <a:solidFill>
              <a:schemeClr val="bg2"/>
            </a:solidFill>
            <a:prstDash val="solid"/>
          </a:ln>
        </p:spPr>
      </p:sp>
      <p:sp>
        <p:nvSpPr>
          <p:cNvPr id="7" name="ic39"/>
          <p:cNvSpPr/>
          <p:nvPr/>
        </p:nvSpPr>
        <p:spPr>
          <a:xfrm>
            <a:off x="6583680" y="1709928"/>
            <a:ext cx="685800" cy="685800"/>
          </a:xfrm>
          <a:prstGeom prst="ellipse">
            <a:avLst/>
          </a:prstGeom>
          <a:solidFill>
            <a:schemeClr val="accent2"/>
          </a:solidFill>
          <a:ln w="12700">
            <a:solidFill>
              <a:schemeClr val="accent2"/>
            </a:solidFill>
            <a:prstDash val="solid"/>
          </a:ln>
        </p:spPr>
      </p:sp>
      <p:pic>
        <p:nvPicPr>
          <p:cNvPr id="8" name="icimg40" descr="preencoded.png">    </p:cNvPr>
          <p:cNvPicPr>
            <a:picLocks noChangeAspect="1"/>
          </p:cNvPicPr>
          <p:nvPr/>
        </p:nvPicPr>
        <p:blipFill>
          <a:blip r:embed="rId1"/>
          <a:stretch>
            <a:fillRect/>
          </a:stretch>
        </p:blipFill>
        <p:spPr>
          <a:xfrm>
            <a:off x="6755130" y="1881378"/>
            <a:ext cx="342900" cy="342900"/>
          </a:xfrm>
          <a:prstGeom prst="rect">
            <a:avLst/>
          </a:prstGeom>
        </p:spPr>
      </p:pic>
      <p:sp>
        <p:nvSpPr>
          <p:cNvPr id="9" name="t41"/>
          <p:cNvSpPr txBox="1"/>
          <p:nvPr/>
        </p:nvSpPr>
        <p:spPr>
          <a:xfrm>
            <a:off x="7452360" y="1490472"/>
            <a:ext cx="4023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Steps, not sessions</a:t>
            </a:r>
            <a:endParaRPr lang="en-US" sz="1700" dirty="0"/>
          </a:p>
        </p:txBody>
      </p:sp>
      <p:sp>
        <p:nvSpPr>
          <p:cNvPr id="10" name="t42"/>
          <p:cNvSpPr txBox="1"/>
          <p:nvPr/>
        </p:nvSpPr>
        <p:spPr>
          <a:xfrm>
            <a:off x="7452360" y="1874520"/>
            <a:ext cx="4023360" cy="822960"/>
          </a:xfrm>
          <a:prstGeom prst="rect">
            <a:avLst/>
          </a:prstGeom>
          <a:noFill/>
          <a:ln/>
        </p:spPr>
        <p:txBody>
          <a:bodyPr wrap="square" lIns="0" tIns="0" rIns="0" bIns="0" rtlCol="0" anchor="t"/>
          <a:lstStyle/>
          <a:p>
            <a:pPr indent="0" marL="0">
              <a:buNone/>
            </a:pPr>
            <a:r>
              <a:rPr lang="en-US" sz="1400" dirty="0">
                <a:solidFill>
                  <a:schemeClr val="tx2"/>
                </a:solidFill>
              </a:rPr>
              <a:t>A small deterministic executor runs one step, commits it atomically, then decides when the packet runs next: now, at 9:00, or every Monday.</a:t>
            </a:r>
            <a:endParaRPr lang="en-US" sz="1400" dirty="0"/>
          </a:p>
        </p:txBody>
      </p:sp>
      <p:sp>
        <p:nvSpPr>
          <p:cNvPr id="11" name="card43"/>
          <p:cNvSpPr/>
          <p:nvPr/>
        </p:nvSpPr>
        <p:spPr>
          <a:xfrm>
            <a:off x="6400800" y="2926080"/>
            <a:ext cx="5239512" cy="1463040"/>
          </a:xfrm>
          <a:prstGeom prst="roundRect">
            <a:avLst>
              <a:gd name="adj" fmla="val 5000"/>
            </a:avLst>
          </a:prstGeom>
          <a:solidFill>
            <a:schemeClr val="bg2"/>
          </a:solidFill>
          <a:ln w="9525">
            <a:solidFill>
              <a:schemeClr val="bg2"/>
            </a:solidFill>
            <a:prstDash val="solid"/>
          </a:ln>
        </p:spPr>
      </p:sp>
      <p:sp>
        <p:nvSpPr>
          <p:cNvPr id="12" name="ic44"/>
          <p:cNvSpPr/>
          <p:nvPr/>
        </p:nvSpPr>
        <p:spPr>
          <a:xfrm>
            <a:off x="6583680" y="3310128"/>
            <a:ext cx="685800" cy="685800"/>
          </a:xfrm>
          <a:prstGeom prst="ellipse">
            <a:avLst/>
          </a:prstGeom>
          <a:solidFill>
            <a:schemeClr val="accent2"/>
          </a:solidFill>
          <a:ln w="12700">
            <a:solidFill>
              <a:schemeClr val="accent2"/>
            </a:solidFill>
            <a:prstDash val="solid"/>
          </a:ln>
        </p:spPr>
      </p:sp>
      <p:pic>
        <p:nvPicPr>
          <p:cNvPr id="13" name="icimg45" descr="preencoded.png">    </p:cNvPr>
          <p:cNvPicPr>
            <a:picLocks noChangeAspect="1"/>
          </p:cNvPicPr>
          <p:nvPr/>
        </p:nvPicPr>
        <p:blipFill>
          <a:blip r:embed="rId2"/>
          <a:stretch>
            <a:fillRect/>
          </a:stretch>
        </p:blipFill>
        <p:spPr>
          <a:xfrm>
            <a:off x="6755130" y="3481578"/>
            <a:ext cx="342900" cy="342900"/>
          </a:xfrm>
          <a:prstGeom prst="rect">
            <a:avLst/>
          </a:prstGeom>
        </p:spPr>
      </p:pic>
      <p:sp>
        <p:nvSpPr>
          <p:cNvPr id="14" name="t46"/>
          <p:cNvSpPr txBox="1"/>
          <p:nvPr/>
        </p:nvSpPr>
        <p:spPr>
          <a:xfrm>
            <a:off x="7452360" y="3090672"/>
            <a:ext cx="4023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One owner at a time</a:t>
            </a:r>
            <a:endParaRPr lang="en-US" sz="1700" dirty="0"/>
          </a:p>
        </p:txBody>
      </p:sp>
      <p:sp>
        <p:nvSpPr>
          <p:cNvPr id="15" name="t47"/>
          <p:cNvSpPr txBox="1"/>
          <p:nvPr/>
        </p:nvSpPr>
        <p:spPr>
          <a:xfrm>
            <a:off x="7452360" y="3474720"/>
            <a:ext cx="4023360" cy="822960"/>
          </a:xfrm>
          <a:prstGeom prst="rect">
            <a:avLst/>
          </a:prstGeom>
          <a:noFill/>
          <a:ln/>
        </p:spPr>
        <p:txBody>
          <a:bodyPr wrap="square" lIns="0" tIns="0" rIns="0" bIns="0" rtlCol="0" anchor="t"/>
          <a:lstStyle/>
          <a:p>
            <a:pPr indent="0" marL="0">
              <a:buNone/>
            </a:pPr>
            <a:r>
              <a:rPr lang="en-US" sz="1400" dirty="0">
                <a:solidFill>
                  <a:schemeClr val="tx2"/>
                </a:solidFill>
              </a:rPr>
              <a:t>You or the runner, never both. Control moves only by hand-off, so nothing changes under you.</a:t>
            </a:r>
            <a:endParaRPr lang="en-US" sz="1400" dirty="0"/>
          </a:p>
        </p:txBody>
      </p:sp>
      <p:sp>
        <p:nvSpPr>
          <p:cNvPr id="16" name="card48"/>
          <p:cNvSpPr/>
          <p:nvPr/>
        </p:nvSpPr>
        <p:spPr>
          <a:xfrm>
            <a:off x="6400800" y="4526280"/>
            <a:ext cx="5239512" cy="1463040"/>
          </a:xfrm>
          <a:prstGeom prst="roundRect">
            <a:avLst>
              <a:gd name="adj" fmla="val 5000"/>
            </a:avLst>
          </a:prstGeom>
          <a:solidFill>
            <a:schemeClr val="bg2"/>
          </a:solidFill>
          <a:ln w="9525">
            <a:solidFill>
              <a:schemeClr val="bg2"/>
            </a:solidFill>
            <a:prstDash val="solid"/>
          </a:ln>
        </p:spPr>
      </p:sp>
      <p:sp>
        <p:nvSpPr>
          <p:cNvPr id="17" name="ic49"/>
          <p:cNvSpPr/>
          <p:nvPr/>
        </p:nvSpPr>
        <p:spPr>
          <a:xfrm>
            <a:off x="6583680" y="4910328"/>
            <a:ext cx="685800" cy="685800"/>
          </a:xfrm>
          <a:prstGeom prst="ellipse">
            <a:avLst/>
          </a:prstGeom>
          <a:solidFill>
            <a:schemeClr val="accent2"/>
          </a:solidFill>
          <a:ln w="12700">
            <a:solidFill>
              <a:schemeClr val="accent2"/>
            </a:solidFill>
            <a:prstDash val="solid"/>
          </a:ln>
        </p:spPr>
      </p:sp>
      <p:pic>
        <p:nvPicPr>
          <p:cNvPr id="18" name="icimg50" descr="preencoded.png">    </p:cNvPr>
          <p:cNvPicPr>
            <a:picLocks noChangeAspect="1"/>
          </p:cNvPicPr>
          <p:nvPr/>
        </p:nvPicPr>
        <p:blipFill>
          <a:blip r:embed="rId3"/>
          <a:stretch>
            <a:fillRect/>
          </a:stretch>
        </p:blipFill>
        <p:spPr>
          <a:xfrm>
            <a:off x="6755130" y="5081778"/>
            <a:ext cx="342900" cy="342900"/>
          </a:xfrm>
          <a:prstGeom prst="rect">
            <a:avLst/>
          </a:prstGeom>
        </p:spPr>
      </p:pic>
      <p:sp>
        <p:nvSpPr>
          <p:cNvPr id="19" name="t51"/>
          <p:cNvSpPr txBox="1"/>
          <p:nvPr/>
        </p:nvSpPr>
        <p:spPr>
          <a:xfrm>
            <a:off x="7452360" y="4690872"/>
            <a:ext cx="4023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One daemon, one board</a:t>
            </a:r>
            <a:endParaRPr lang="en-US" sz="1700" dirty="0"/>
          </a:p>
        </p:txBody>
      </p:sp>
      <p:sp>
        <p:nvSpPr>
          <p:cNvPr id="20" name="t52"/>
          <p:cNvSpPr txBox="1"/>
          <p:nvPr/>
        </p:nvSpPr>
        <p:spPr>
          <a:xfrm>
            <a:off x="7452360" y="5074920"/>
            <a:ext cx="4023360" cy="822960"/>
          </a:xfrm>
          <a:prstGeom prst="rect">
            <a:avLst/>
          </a:prstGeom>
          <a:noFill/>
          <a:ln/>
        </p:spPr>
        <p:txBody>
          <a:bodyPr wrap="square" lIns="0" tIns="0" rIns="0" bIns="0" rtlCol="0" anchor="t"/>
          <a:lstStyle/>
          <a:p>
            <a:pPr indent="0" marL="0">
              <a:buNone/>
            </a:pPr>
            <a:r>
              <a:rPr lang="en-US" sz="1400" dirty="0">
                <a:solidFill>
                  <a:schemeClr val="tx2"/>
                </a:solidFill>
              </a:rPr>
              <a:t>wpkd runs every packet and serves the board, on your machine or your tailnet, with your login.</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For one engineer, every one of these is built and in use</a:t>
            </a:r>
            <a:endParaRPr lang="en-US" sz="3200" dirty="0"/>
          </a:p>
        </p:txBody>
      </p:sp>
      <p:sp>
        <p:nvSpPr>
          <p:cNvPr id="3" name="card53"/>
          <p:cNvSpPr/>
          <p:nvPr/>
        </p:nvSpPr>
        <p:spPr>
          <a:xfrm>
            <a:off x="548640" y="1280160"/>
            <a:ext cx="11094415" cy="713232"/>
          </a:xfrm>
          <a:prstGeom prst="roundRect">
            <a:avLst>
              <a:gd name="adj" fmla="val 10256"/>
            </a:avLst>
          </a:prstGeom>
          <a:solidFill>
            <a:schemeClr val="bg2"/>
          </a:solidFill>
          <a:ln w="9525">
            <a:solidFill>
              <a:schemeClr val="bg2"/>
            </a:solidFill>
            <a:prstDash val="solid"/>
          </a:ln>
        </p:spPr>
      </p:sp>
      <p:sp>
        <p:nvSpPr>
          <p:cNvPr id="4" name="ic54"/>
          <p:cNvSpPr/>
          <p:nvPr/>
        </p:nvSpPr>
        <p:spPr>
          <a:xfrm>
            <a:off x="685800" y="1389888"/>
            <a:ext cx="493776" cy="493776"/>
          </a:xfrm>
          <a:prstGeom prst="ellipse">
            <a:avLst/>
          </a:prstGeom>
          <a:solidFill>
            <a:schemeClr val="accent2"/>
          </a:solidFill>
          <a:ln w="12700">
            <a:solidFill>
              <a:schemeClr val="accent2"/>
            </a:solidFill>
            <a:prstDash val="solid"/>
          </a:ln>
        </p:spPr>
      </p:sp>
      <p:pic>
        <p:nvPicPr>
          <p:cNvPr id="5" name="icimg55" descr="preencoded.png">    </p:cNvPr>
          <p:cNvPicPr>
            <a:picLocks noChangeAspect="1"/>
          </p:cNvPicPr>
          <p:nvPr/>
        </p:nvPicPr>
        <p:blipFill>
          <a:blip r:embed="rId1"/>
          <a:stretch>
            <a:fillRect/>
          </a:stretch>
        </p:blipFill>
        <p:spPr>
          <a:xfrm>
            <a:off x="809244" y="1513332"/>
            <a:ext cx="246888" cy="246888"/>
          </a:xfrm>
          <a:prstGeom prst="rect">
            <a:avLst/>
          </a:prstGeom>
        </p:spPr>
      </p:pic>
      <p:sp>
        <p:nvSpPr>
          <p:cNvPr id="6" name="t56"/>
          <p:cNvSpPr txBox="1"/>
          <p:nvPr/>
        </p:nvSpPr>
        <p:spPr>
          <a:xfrm>
            <a:off x="1325880" y="1280160"/>
            <a:ext cx="1828800" cy="71323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Open tasks</a:t>
            </a:r>
            <a:endParaRPr lang="en-US" sz="1600" dirty="0"/>
          </a:p>
        </p:txBody>
      </p:sp>
      <p:sp>
        <p:nvSpPr>
          <p:cNvPr id="7" name="t57"/>
          <p:cNvSpPr txBox="1"/>
          <p:nvPr/>
        </p:nvSpPr>
        <p:spPr>
          <a:xfrm>
            <a:off x="3200400" y="1280160"/>
            <a:ext cx="6949440" cy="713232"/>
          </a:xfrm>
          <a:prstGeom prst="rect">
            <a:avLst/>
          </a:prstGeom>
          <a:noFill/>
          <a:ln/>
        </p:spPr>
        <p:txBody>
          <a:bodyPr wrap="square" lIns="0" tIns="0" rIns="0" bIns="0" rtlCol="0" anchor="ctr"/>
          <a:lstStyle/>
          <a:p>
            <a:pPr indent="0" marL="0">
              <a:buNone/>
            </a:pPr>
            <a:r>
              <a:rPr lang="en-US" sz="1400" dirty="0">
                <a:solidFill>
                  <a:schemeClr val="tx2"/>
                </a:solidFill>
              </a:rPr>
              <a:t>The board: each packet running, sleeping, needs you, done or failed; boards per area; wpk ps</a:t>
            </a:r>
            <a:endParaRPr lang="en-US" sz="1400" dirty="0"/>
          </a:p>
        </p:txBody>
      </p:sp>
      <p:sp>
        <p:nvSpPr>
          <p:cNvPr id="8" name="pill58"/>
          <p:cNvSpPr/>
          <p:nvPr/>
        </p:nvSpPr>
        <p:spPr>
          <a:xfrm>
            <a:off x="10408615" y="1490472"/>
            <a:ext cx="1005840" cy="292608"/>
          </a:xfrm>
          <a:prstGeom prst="roundRect">
            <a:avLst>
              <a:gd name="adj" fmla="val 50000"/>
            </a:avLst>
          </a:prstGeom>
          <a:solidFill>
            <a:srgbClr val="2A9D8F"/>
          </a:solidFill>
          <a:ln w="12700">
            <a:solidFill>
              <a:srgbClr val="2A9D8F"/>
            </a:solidFill>
            <a:prstDash val="solid"/>
          </a:ln>
        </p:spPr>
      </p:sp>
      <p:sp>
        <p:nvSpPr>
          <p:cNvPr id="9" name="t59"/>
          <p:cNvSpPr txBox="1"/>
          <p:nvPr/>
        </p:nvSpPr>
        <p:spPr>
          <a:xfrm>
            <a:off x="10408615" y="1490472"/>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10" name="card60"/>
          <p:cNvSpPr/>
          <p:nvPr/>
        </p:nvSpPr>
        <p:spPr>
          <a:xfrm>
            <a:off x="548640" y="2084832"/>
            <a:ext cx="11094415" cy="713232"/>
          </a:xfrm>
          <a:prstGeom prst="roundRect">
            <a:avLst>
              <a:gd name="adj" fmla="val 10256"/>
            </a:avLst>
          </a:prstGeom>
          <a:solidFill>
            <a:schemeClr val="bg1"/>
          </a:solidFill>
          <a:ln w="9525">
            <a:solidFill>
              <a:srgbClr val="E3E7EB"/>
            </a:solidFill>
            <a:prstDash val="solid"/>
          </a:ln>
        </p:spPr>
      </p:sp>
      <p:sp>
        <p:nvSpPr>
          <p:cNvPr id="11" name="ic61"/>
          <p:cNvSpPr/>
          <p:nvPr/>
        </p:nvSpPr>
        <p:spPr>
          <a:xfrm>
            <a:off x="685800" y="2194560"/>
            <a:ext cx="493776" cy="493776"/>
          </a:xfrm>
          <a:prstGeom prst="ellipse">
            <a:avLst/>
          </a:prstGeom>
          <a:solidFill>
            <a:schemeClr val="accent2"/>
          </a:solidFill>
          <a:ln w="12700">
            <a:solidFill>
              <a:schemeClr val="accent2"/>
            </a:solidFill>
            <a:prstDash val="solid"/>
          </a:ln>
        </p:spPr>
      </p:sp>
      <p:pic>
        <p:nvPicPr>
          <p:cNvPr id="12" name="icimg62" descr="preencoded.png">    </p:cNvPr>
          <p:cNvPicPr>
            <a:picLocks noChangeAspect="1"/>
          </p:cNvPicPr>
          <p:nvPr/>
        </p:nvPicPr>
        <p:blipFill>
          <a:blip r:embed="rId2"/>
          <a:stretch>
            <a:fillRect/>
          </a:stretch>
        </p:blipFill>
        <p:spPr>
          <a:xfrm>
            <a:off x="809244" y="2318004"/>
            <a:ext cx="246888" cy="246888"/>
          </a:xfrm>
          <a:prstGeom prst="rect">
            <a:avLst/>
          </a:prstGeom>
        </p:spPr>
      </p:pic>
      <p:sp>
        <p:nvSpPr>
          <p:cNvPr id="13" name="t63"/>
          <p:cNvSpPr txBox="1"/>
          <p:nvPr/>
        </p:nvSpPr>
        <p:spPr>
          <a:xfrm>
            <a:off x="1325880" y="2084832"/>
            <a:ext cx="1828800" cy="71323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Many windows</a:t>
            </a:r>
            <a:endParaRPr lang="en-US" sz="1600" dirty="0"/>
          </a:p>
        </p:txBody>
      </p:sp>
      <p:sp>
        <p:nvSpPr>
          <p:cNvPr id="14" name="t64"/>
          <p:cNvSpPr txBox="1"/>
          <p:nvPr/>
        </p:nvSpPr>
        <p:spPr>
          <a:xfrm>
            <a:off x="3200400" y="2084832"/>
            <a:ext cx="6949440" cy="713232"/>
          </a:xfrm>
          <a:prstGeom prst="rect">
            <a:avLst/>
          </a:prstGeom>
          <a:noFill/>
          <a:ln/>
        </p:spPr>
        <p:txBody>
          <a:bodyPr wrap="square" lIns="0" tIns="0" rIns="0" bIns="0" rtlCol="0" anchor="ctr"/>
          <a:lstStyle/>
          <a:p>
            <a:pPr indent="0" marL="0">
              <a:buNone/>
            </a:pPr>
            <a:r>
              <a:rPr lang="en-US" sz="1400" dirty="0">
                <a:solidFill>
                  <a:schemeClr val="tx2"/>
                </a:solidFill>
              </a:rPr>
              <a:t>One daemon runs them all. New task, Compose and a browser shell on the board; Open in VS Code</a:t>
            </a:r>
            <a:endParaRPr lang="en-US" sz="1400" dirty="0"/>
          </a:p>
        </p:txBody>
      </p:sp>
      <p:sp>
        <p:nvSpPr>
          <p:cNvPr id="15" name="pill65"/>
          <p:cNvSpPr/>
          <p:nvPr/>
        </p:nvSpPr>
        <p:spPr>
          <a:xfrm>
            <a:off x="10408615" y="2295144"/>
            <a:ext cx="1005840" cy="292608"/>
          </a:xfrm>
          <a:prstGeom prst="roundRect">
            <a:avLst>
              <a:gd name="adj" fmla="val 50000"/>
            </a:avLst>
          </a:prstGeom>
          <a:solidFill>
            <a:srgbClr val="2A9D8F"/>
          </a:solidFill>
          <a:ln w="12700">
            <a:solidFill>
              <a:srgbClr val="2A9D8F"/>
            </a:solidFill>
            <a:prstDash val="solid"/>
          </a:ln>
        </p:spPr>
      </p:sp>
      <p:sp>
        <p:nvSpPr>
          <p:cNvPr id="16" name="t66"/>
          <p:cNvSpPr txBox="1"/>
          <p:nvPr/>
        </p:nvSpPr>
        <p:spPr>
          <a:xfrm>
            <a:off x="10408615" y="2295144"/>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17" name="card67"/>
          <p:cNvSpPr/>
          <p:nvPr/>
        </p:nvSpPr>
        <p:spPr>
          <a:xfrm>
            <a:off x="548640" y="2889504"/>
            <a:ext cx="11094415" cy="713232"/>
          </a:xfrm>
          <a:prstGeom prst="roundRect">
            <a:avLst>
              <a:gd name="adj" fmla="val 10256"/>
            </a:avLst>
          </a:prstGeom>
          <a:solidFill>
            <a:schemeClr val="bg2"/>
          </a:solidFill>
          <a:ln w="9525">
            <a:solidFill>
              <a:schemeClr val="bg2"/>
            </a:solidFill>
            <a:prstDash val="solid"/>
          </a:ln>
        </p:spPr>
      </p:sp>
      <p:sp>
        <p:nvSpPr>
          <p:cNvPr id="18" name="ic68"/>
          <p:cNvSpPr/>
          <p:nvPr/>
        </p:nvSpPr>
        <p:spPr>
          <a:xfrm>
            <a:off x="685800" y="2999232"/>
            <a:ext cx="493776" cy="493776"/>
          </a:xfrm>
          <a:prstGeom prst="ellipse">
            <a:avLst/>
          </a:prstGeom>
          <a:solidFill>
            <a:schemeClr val="accent2"/>
          </a:solidFill>
          <a:ln w="12700">
            <a:solidFill>
              <a:schemeClr val="accent2"/>
            </a:solidFill>
            <a:prstDash val="solid"/>
          </a:ln>
        </p:spPr>
      </p:sp>
      <p:pic>
        <p:nvPicPr>
          <p:cNvPr id="19" name="icimg69" descr="preencoded.png">    </p:cNvPr>
          <p:cNvPicPr>
            <a:picLocks noChangeAspect="1"/>
          </p:cNvPicPr>
          <p:nvPr/>
        </p:nvPicPr>
        <p:blipFill>
          <a:blip r:embed="rId3"/>
          <a:stretch>
            <a:fillRect/>
          </a:stretch>
        </p:blipFill>
        <p:spPr>
          <a:xfrm>
            <a:off x="809244" y="3122676"/>
            <a:ext cx="246888" cy="246888"/>
          </a:xfrm>
          <a:prstGeom prst="rect">
            <a:avLst/>
          </a:prstGeom>
        </p:spPr>
      </p:pic>
      <p:sp>
        <p:nvSpPr>
          <p:cNvPr id="20" name="t70"/>
          <p:cNvSpPr txBox="1"/>
          <p:nvPr/>
        </p:nvSpPr>
        <p:spPr>
          <a:xfrm>
            <a:off x="1325880" y="2889504"/>
            <a:ext cx="1828800" cy="71323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Context</a:t>
            </a:r>
            <a:endParaRPr lang="en-US" sz="1600" dirty="0"/>
          </a:p>
        </p:txBody>
      </p:sp>
      <p:sp>
        <p:nvSpPr>
          <p:cNvPr id="21" name="t71"/>
          <p:cNvSpPr txBox="1"/>
          <p:nvPr/>
        </p:nvSpPr>
        <p:spPr>
          <a:xfrm>
            <a:off x="3200400" y="2889504"/>
            <a:ext cx="6949440" cy="713232"/>
          </a:xfrm>
          <a:prstGeom prst="rect">
            <a:avLst/>
          </a:prstGeom>
          <a:noFill/>
          <a:ln/>
        </p:spPr>
        <p:txBody>
          <a:bodyPr wrap="square" lIns="0" tIns="0" rIns="0" bIns="0" rtlCol="0" anchor="ctr"/>
          <a:lstStyle/>
          <a:p>
            <a:pPr indent="0" marL="0">
              <a:buNone/>
            </a:pPr>
            <a:r>
              <a:rPr lang="en-US" sz="1400" dirty="0">
                <a:solidFill>
                  <a:schemeClr val="tx2"/>
                </a:solidFill>
              </a:rPr>
              <a:t>A budget hook stops a step at its context limit with hand-off files; warm sessions carry over; small steps</a:t>
            </a:r>
            <a:endParaRPr lang="en-US" sz="1400" dirty="0"/>
          </a:p>
        </p:txBody>
      </p:sp>
      <p:sp>
        <p:nvSpPr>
          <p:cNvPr id="22" name="pill72"/>
          <p:cNvSpPr/>
          <p:nvPr/>
        </p:nvSpPr>
        <p:spPr>
          <a:xfrm>
            <a:off x="10408615" y="3099816"/>
            <a:ext cx="1005840" cy="292608"/>
          </a:xfrm>
          <a:prstGeom prst="roundRect">
            <a:avLst>
              <a:gd name="adj" fmla="val 50000"/>
            </a:avLst>
          </a:prstGeom>
          <a:solidFill>
            <a:srgbClr val="2A9D8F"/>
          </a:solidFill>
          <a:ln w="12700">
            <a:solidFill>
              <a:srgbClr val="2A9D8F"/>
            </a:solidFill>
            <a:prstDash val="solid"/>
          </a:ln>
        </p:spPr>
      </p:sp>
      <p:sp>
        <p:nvSpPr>
          <p:cNvPr id="23" name="t73"/>
          <p:cNvSpPr txBox="1"/>
          <p:nvPr/>
        </p:nvSpPr>
        <p:spPr>
          <a:xfrm>
            <a:off x="10408615" y="3099816"/>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24" name="card74"/>
          <p:cNvSpPr/>
          <p:nvPr/>
        </p:nvSpPr>
        <p:spPr>
          <a:xfrm>
            <a:off x="548640" y="3694176"/>
            <a:ext cx="11094415" cy="713232"/>
          </a:xfrm>
          <a:prstGeom prst="roundRect">
            <a:avLst>
              <a:gd name="adj" fmla="val 10256"/>
            </a:avLst>
          </a:prstGeom>
          <a:solidFill>
            <a:schemeClr val="bg1"/>
          </a:solidFill>
          <a:ln w="9525">
            <a:solidFill>
              <a:srgbClr val="E3E7EB"/>
            </a:solidFill>
            <a:prstDash val="solid"/>
          </a:ln>
        </p:spPr>
      </p:sp>
      <p:sp>
        <p:nvSpPr>
          <p:cNvPr id="25" name="ic75"/>
          <p:cNvSpPr/>
          <p:nvPr/>
        </p:nvSpPr>
        <p:spPr>
          <a:xfrm>
            <a:off x="685800" y="3803904"/>
            <a:ext cx="493776" cy="493776"/>
          </a:xfrm>
          <a:prstGeom prst="ellipse">
            <a:avLst/>
          </a:prstGeom>
          <a:solidFill>
            <a:schemeClr val="accent2"/>
          </a:solidFill>
          <a:ln w="12700">
            <a:solidFill>
              <a:schemeClr val="accent2"/>
            </a:solidFill>
            <a:prstDash val="solid"/>
          </a:ln>
        </p:spPr>
      </p:sp>
      <p:pic>
        <p:nvPicPr>
          <p:cNvPr id="26" name="icimg76" descr="preencoded.png">    </p:cNvPr>
          <p:cNvPicPr>
            <a:picLocks noChangeAspect="1"/>
          </p:cNvPicPr>
          <p:nvPr/>
        </p:nvPicPr>
        <p:blipFill>
          <a:blip r:embed="rId4"/>
          <a:stretch>
            <a:fillRect/>
          </a:stretch>
        </p:blipFill>
        <p:spPr>
          <a:xfrm>
            <a:off x="809244" y="3927348"/>
            <a:ext cx="246888" cy="246888"/>
          </a:xfrm>
          <a:prstGeom prst="rect">
            <a:avLst/>
          </a:prstGeom>
        </p:spPr>
      </p:pic>
      <p:sp>
        <p:nvSpPr>
          <p:cNvPr id="27" name="t77"/>
          <p:cNvSpPr txBox="1"/>
          <p:nvPr/>
        </p:nvSpPr>
        <p:spPr>
          <a:xfrm>
            <a:off x="1325880" y="3694176"/>
            <a:ext cx="1828800" cy="71323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Progress</a:t>
            </a:r>
            <a:endParaRPr lang="en-US" sz="1600" dirty="0"/>
          </a:p>
        </p:txBody>
      </p:sp>
      <p:sp>
        <p:nvSpPr>
          <p:cNvPr id="28" name="t78"/>
          <p:cNvSpPr txBox="1"/>
          <p:nvPr/>
        </p:nvSpPr>
        <p:spPr>
          <a:xfrm>
            <a:off x="3200400" y="3694176"/>
            <a:ext cx="6949440" cy="713232"/>
          </a:xfrm>
          <a:prstGeom prst="rect">
            <a:avLst/>
          </a:prstGeom>
          <a:noFill/>
          <a:ln/>
        </p:spPr>
        <p:txBody>
          <a:bodyPr wrap="square" lIns="0" tIns="0" rIns="0" bIns="0" rtlCol="0" anchor="ctr"/>
          <a:lstStyle/>
          <a:p>
            <a:pPr indent="0" marL="0">
              <a:buNone/>
            </a:pPr>
            <a:r>
              <a:rPr lang="en-US" sz="1400" dirty="0">
                <a:solidFill>
                  <a:schemeClr val="tx2"/>
                </a:solidFill>
              </a:rPr>
              <a:t>Live view, step summaries and the journal; questions arrive as "Needs you"; send a note any time</a:t>
            </a:r>
            <a:endParaRPr lang="en-US" sz="1400" dirty="0"/>
          </a:p>
        </p:txBody>
      </p:sp>
      <p:sp>
        <p:nvSpPr>
          <p:cNvPr id="29" name="pill79"/>
          <p:cNvSpPr/>
          <p:nvPr/>
        </p:nvSpPr>
        <p:spPr>
          <a:xfrm>
            <a:off x="10408615" y="3904488"/>
            <a:ext cx="1005840" cy="292608"/>
          </a:xfrm>
          <a:prstGeom prst="roundRect">
            <a:avLst>
              <a:gd name="adj" fmla="val 50000"/>
            </a:avLst>
          </a:prstGeom>
          <a:solidFill>
            <a:srgbClr val="2A9D8F"/>
          </a:solidFill>
          <a:ln w="12700">
            <a:solidFill>
              <a:srgbClr val="2A9D8F"/>
            </a:solidFill>
            <a:prstDash val="solid"/>
          </a:ln>
        </p:spPr>
      </p:sp>
      <p:sp>
        <p:nvSpPr>
          <p:cNvPr id="30" name="t80"/>
          <p:cNvSpPr txBox="1"/>
          <p:nvPr/>
        </p:nvSpPr>
        <p:spPr>
          <a:xfrm>
            <a:off x="10408615" y="3904488"/>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31" name="card81"/>
          <p:cNvSpPr/>
          <p:nvPr/>
        </p:nvSpPr>
        <p:spPr>
          <a:xfrm>
            <a:off x="548640" y="4498848"/>
            <a:ext cx="11094415" cy="713232"/>
          </a:xfrm>
          <a:prstGeom prst="roundRect">
            <a:avLst>
              <a:gd name="adj" fmla="val 10256"/>
            </a:avLst>
          </a:prstGeom>
          <a:solidFill>
            <a:schemeClr val="bg2"/>
          </a:solidFill>
          <a:ln w="9525">
            <a:solidFill>
              <a:schemeClr val="bg2"/>
            </a:solidFill>
            <a:prstDash val="solid"/>
          </a:ln>
        </p:spPr>
      </p:sp>
      <p:sp>
        <p:nvSpPr>
          <p:cNvPr id="32" name="ic82"/>
          <p:cNvSpPr/>
          <p:nvPr/>
        </p:nvSpPr>
        <p:spPr>
          <a:xfrm>
            <a:off x="685800" y="4608576"/>
            <a:ext cx="493776" cy="493776"/>
          </a:xfrm>
          <a:prstGeom prst="ellipse">
            <a:avLst/>
          </a:prstGeom>
          <a:solidFill>
            <a:schemeClr val="accent2"/>
          </a:solidFill>
          <a:ln w="12700">
            <a:solidFill>
              <a:schemeClr val="accent2"/>
            </a:solidFill>
            <a:prstDash val="solid"/>
          </a:ln>
        </p:spPr>
      </p:sp>
      <p:pic>
        <p:nvPicPr>
          <p:cNvPr id="33" name="icimg83" descr="preencoded.png">    </p:cNvPr>
          <p:cNvPicPr>
            <a:picLocks noChangeAspect="1"/>
          </p:cNvPicPr>
          <p:nvPr/>
        </p:nvPicPr>
        <p:blipFill>
          <a:blip r:embed="rId5"/>
          <a:stretch>
            <a:fillRect/>
          </a:stretch>
        </p:blipFill>
        <p:spPr>
          <a:xfrm>
            <a:off x="809244" y="4732020"/>
            <a:ext cx="246888" cy="246888"/>
          </a:xfrm>
          <a:prstGeom prst="rect">
            <a:avLst/>
          </a:prstGeom>
        </p:spPr>
      </p:pic>
      <p:sp>
        <p:nvSpPr>
          <p:cNvPr id="34" name="t84"/>
          <p:cNvSpPr txBox="1"/>
          <p:nvPr/>
        </p:nvSpPr>
        <p:spPr>
          <a:xfrm>
            <a:off x="1325880" y="4498848"/>
            <a:ext cx="1828800" cy="71323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Metrics</a:t>
            </a:r>
            <a:endParaRPr lang="en-US" sz="1600" dirty="0"/>
          </a:p>
        </p:txBody>
      </p:sp>
      <p:sp>
        <p:nvSpPr>
          <p:cNvPr id="35" name="t85"/>
          <p:cNvSpPr txBox="1"/>
          <p:nvPr/>
        </p:nvSpPr>
        <p:spPr>
          <a:xfrm>
            <a:off x="3200400" y="4498848"/>
            <a:ext cx="6949440" cy="713232"/>
          </a:xfrm>
          <a:prstGeom prst="rect">
            <a:avLst/>
          </a:prstGeom>
          <a:noFill/>
          <a:ln/>
        </p:spPr>
        <p:txBody>
          <a:bodyPr wrap="square" lIns="0" tIns="0" rIns="0" bIns="0" rtlCol="0" anchor="ctr"/>
          <a:lstStyle/>
          <a:p>
            <a:pPr indent="0" marL="0">
              <a:buNone/>
            </a:pPr>
            <a:r>
              <a:rPr lang="en-US" sz="1400" dirty="0">
                <a:solidFill>
                  <a:schemeClr val="tx2"/>
                </a:solidFill>
              </a:rPr>
              <a:t>wpk stats: tokens, cost and weekly quota per project, task and step, with advice on what to change</a:t>
            </a:r>
            <a:endParaRPr lang="en-US" sz="1400" dirty="0"/>
          </a:p>
        </p:txBody>
      </p:sp>
      <p:sp>
        <p:nvSpPr>
          <p:cNvPr id="36" name="pill86"/>
          <p:cNvSpPr/>
          <p:nvPr/>
        </p:nvSpPr>
        <p:spPr>
          <a:xfrm>
            <a:off x="10408615" y="4709160"/>
            <a:ext cx="1005840" cy="292608"/>
          </a:xfrm>
          <a:prstGeom prst="roundRect">
            <a:avLst>
              <a:gd name="adj" fmla="val 50000"/>
            </a:avLst>
          </a:prstGeom>
          <a:solidFill>
            <a:srgbClr val="2A9D8F"/>
          </a:solidFill>
          <a:ln w="12700">
            <a:solidFill>
              <a:srgbClr val="2A9D8F"/>
            </a:solidFill>
            <a:prstDash val="solid"/>
          </a:ln>
        </p:spPr>
      </p:sp>
      <p:sp>
        <p:nvSpPr>
          <p:cNvPr id="37" name="t87"/>
          <p:cNvSpPr txBox="1"/>
          <p:nvPr/>
        </p:nvSpPr>
        <p:spPr>
          <a:xfrm>
            <a:off x="10408615" y="470916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38" name="card88"/>
          <p:cNvSpPr/>
          <p:nvPr/>
        </p:nvSpPr>
        <p:spPr>
          <a:xfrm>
            <a:off x="548640" y="5303520"/>
            <a:ext cx="11094415" cy="713232"/>
          </a:xfrm>
          <a:prstGeom prst="roundRect">
            <a:avLst>
              <a:gd name="adj" fmla="val 10256"/>
            </a:avLst>
          </a:prstGeom>
          <a:solidFill>
            <a:schemeClr val="bg1"/>
          </a:solidFill>
          <a:ln w="9525">
            <a:solidFill>
              <a:srgbClr val="E3E7EB"/>
            </a:solidFill>
            <a:prstDash val="solid"/>
          </a:ln>
        </p:spPr>
      </p:sp>
      <p:sp>
        <p:nvSpPr>
          <p:cNvPr id="39" name="ic89"/>
          <p:cNvSpPr/>
          <p:nvPr/>
        </p:nvSpPr>
        <p:spPr>
          <a:xfrm>
            <a:off x="685800" y="5413248"/>
            <a:ext cx="493776" cy="493776"/>
          </a:xfrm>
          <a:prstGeom prst="ellipse">
            <a:avLst/>
          </a:prstGeom>
          <a:solidFill>
            <a:schemeClr val="accent2"/>
          </a:solidFill>
          <a:ln w="12700">
            <a:solidFill>
              <a:schemeClr val="accent2"/>
            </a:solidFill>
            <a:prstDash val="solid"/>
          </a:ln>
        </p:spPr>
      </p:sp>
      <p:pic>
        <p:nvPicPr>
          <p:cNvPr id="40" name="icimg90" descr="preencoded.png">    </p:cNvPr>
          <p:cNvPicPr>
            <a:picLocks noChangeAspect="1"/>
          </p:cNvPicPr>
          <p:nvPr/>
        </p:nvPicPr>
        <p:blipFill>
          <a:blip r:embed="rId6"/>
          <a:stretch>
            <a:fillRect/>
          </a:stretch>
        </p:blipFill>
        <p:spPr>
          <a:xfrm>
            <a:off x="809244" y="5536692"/>
            <a:ext cx="246888" cy="246888"/>
          </a:xfrm>
          <a:prstGeom prst="rect">
            <a:avLst/>
          </a:prstGeom>
        </p:spPr>
      </p:pic>
      <p:sp>
        <p:nvSpPr>
          <p:cNvPr id="41" name="t91"/>
          <p:cNvSpPr txBox="1"/>
          <p:nvPr/>
        </p:nvSpPr>
        <p:spPr>
          <a:xfrm>
            <a:off x="1325880" y="5303520"/>
            <a:ext cx="1828800" cy="713232"/>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Periodic work</a:t>
            </a:r>
            <a:endParaRPr lang="en-US" sz="1600" dirty="0"/>
          </a:p>
        </p:txBody>
      </p:sp>
      <p:sp>
        <p:nvSpPr>
          <p:cNvPr id="42" name="t92"/>
          <p:cNvSpPr txBox="1"/>
          <p:nvPr/>
        </p:nvSpPr>
        <p:spPr>
          <a:xfrm>
            <a:off x="3200400" y="5303520"/>
            <a:ext cx="6949440" cy="713232"/>
          </a:xfrm>
          <a:prstGeom prst="rect">
            <a:avLst/>
          </a:prstGeom>
          <a:noFill/>
          <a:ln/>
        </p:spPr>
        <p:txBody>
          <a:bodyPr wrap="square" lIns="0" tIns="0" rIns="0" bIns="0" rtlCol="0" anchor="ctr"/>
          <a:lstStyle/>
          <a:p>
            <a:pPr indent="0" marL="0">
              <a:buNone/>
            </a:pPr>
            <a:r>
              <a:rPr lang="en-US" sz="1400" dirty="0">
                <a:solidFill>
                  <a:schemeClr val="tx2"/>
                </a:solidFill>
              </a:rPr>
              <a:t>resume: every monday 09:00. The runner wakes the packet with its plan and its history</a:t>
            </a:r>
            <a:endParaRPr lang="en-US" sz="1400" dirty="0"/>
          </a:p>
        </p:txBody>
      </p:sp>
      <p:sp>
        <p:nvSpPr>
          <p:cNvPr id="43" name="pill93"/>
          <p:cNvSpPr/>
          <p:nvPr/>
        </p:nvSpPr>
        <p:spPr>
          <a:xfrm>
            <a:off x="10408615" y="5513832"/>
            <a:ext cx="1005840" cy="292608"/>
          </a:xfrm>
          <a:prstGeom prst="roundRect">
            <a:avLst>
              <a:gd name="adj" fmla="val 50000"/>
            </a:avLst>
          </a:prstGeom>
          <a:solidFill>
            <a:srgbClr val="2A9D8F"/>
          </a:solidFill>
          <a:ln w="12700">
            <a:solidFill>
              <a:srgbClr val="2A9D8F"/>
            </a:solidFill>
            <a:prstDash val="solid"/>
          </a:ln>
        </p:spPr>
      </p:sp>
      <p:sp>
        <p:nvSpPr>
          <p:cNvPr id="44" name="t94"/>
          <p:cNvSpPr txBox="1"/>
          <p:nvPr/>
        </p:nvSpPr>
        <p:spPr>
          <a:xfrm>
            <a:off x="10408615" y="5513832"/>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Metrics that say what to change, not just what it cost</a:t>
            </a:r>
            <a:endParaRPr lang="en-US" sz="3200" dirty="0"/>
          </a:p>
        </p:txBody>
      </p:sp>
      <p:graphicFrame>
        <p:nvGraphicFramePr>
          <p:cNvPr id="3" name="Chart 0" descr=""/>
          <p:cNvGraphicFramePr/>
          <p:nvPr/>
        </p:nvGraphicFramePr>
        <p:xfrm>
          <a:off x="548640" y="132588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t95"/>
          <p:cNvSpPr txBox="1"/>
          <p:nvPr/>
        </p:nvSpPr>
        <p:spPr>
          <a:xfrm>
            <a:off x="548640" y="4709160"/>
            <a:ext cx="5120640" cy="640080"/>
          </a:xfrm>
          <a:prstGeom prst="rect">
            <a:avLst/>
          </a:prstGeom>
          <a:noFill/>
          <a:ln/>
        </p:spPr>
        <p:txBody>
          <a:bodyPr wrap="square" lIns="0" tIns="0" rIns="0" bIns="0" rtlCol="0" anchor="t"/>
          <a:lstStyle/>
          <a:p>
            <a:pPr indent="0" marL="0">
              <a:buNone/>
            </a:pPr>
            <a:r>
              <a:rPr lang="en-US" sz="1300" dirty="0">
                <a:solidFill>
                  <a:schemeClr val="tx2"/>
                </a:solidFill>
              </a:rPr>
              <a:t>31% cheaper and 75 s instead of ~110 s, from one setting (carry_session) that wpk stats can recommend.</a:t>
            </a:r>
            <a:endParaRPr lang="en-US" sz="1300" dirty="0"/>
          </a:p>
        </p:txBody>
      </p:sp>
      <p:sp>
        <p:nvSpPr>
          <p:cNvPr id="5" name="card96"/>
          <p:cNvSpPr/>
          <p:nvPr/>
        </p:nvSpPr>
        <p:spPr>
          <a:xfrm>
            <a:off x="6035040" y="1325880"/>
            <a:ext cx="5605272" cy="868680"/>
          </a:xfrm>
          <a:prstGeom prst="roundRect">
            <a:avLst>
              <a:gd name="adj" fmla="val 8421"/>
            </a:avLst>
          </a:prstGeom>
          <a:solidFill>
            <a:schemeClr val="bg2"/>
          </a:solidFill>
          <a:ln w="9525">
            <a:solidFill>
              <a:schemeClr val="bg2"/>
            </a:solidFill>
            <a:prstDash val="solid"/>
          </a:ln>
        </p:spPr>
      </p:sp>
      <p:sp>
        <p:nvSpPr>
          <p:cNvPr id="6" name="t97"/>
          <p:cNvSpPr txBox="1"/>
          <p:nvPr/>
        </p:nvSpPr>
        <p:spPr>
          <a:xfrm>
            <a:off x="6217920" y="1325880"/>
            <a:ext cx="1371600" cy="86868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97%</a:t>
            </a:r>
            <a:endParaRPr lang="en-US" sz="2800" dirty="0"/>
          </a:p>
        </p:txBody>
      </p:sp>
      <p:sp>
        <p:nvSpPr>
          <p:cNvPr id="7" name="t98"/>
          <p:cNvSpPr txBox="1"/>
          <p:nvPr/>
        </p:nvSpPr>
        <p:spPr>
          <a:xfrm>
            <a:off x="7635240" y="1325880"/>
            <a:ext cx="3886200" cy="868680"/>
          </a:xfrm>
          <a:prstGeom prst="rect">
            <a:avLst/>
          </a:prstGeom>
          <a:noFill/>
          <a:ln/>
        </p:spPr>
        <p:txBody>
          <a:bodyPr wrap="square" lIns="0" tIns="0" rIns="0" bIns="0" rtlCol="0" anchor="ctr"/>
          <a:lstStyle/>
          <a:p>
            <a:pPr indent="0" marL="0">
              <a:buNone/>
            </a:pPr>
            <a:r>
              <a:rPr lang="en-US" sz="1300" dirty="0">
                <a:solidFill>
                  <a:schemeClr val="tx2"/>
                </a:solidFill>
              </a:rPr>
              <a:t>of 51.8M context tokens came from the cache on a real project (dvs-enh)</a:t>
            </a:r>
            <a:endParaRPr lang="en-US" sz="1300" dirty="0"/>
          </a:p>
        </p:txBody>
      </p:sp>
      <p:sp>
        <p:nvSpPr>
          <p:cNvPr id="8" name="card99"/>
          <p:cNvSpPr/>
          <p:nvPr/>
        </p:nvSpPr>
        <p:spPr>
          <a:xfrm>
            <a:off x="6035040" y="2331720"/>
            <a:ext cx="5605272" cy="868680"/>
          </a:xfrm>
          <a:prstGeom prst="roundRect">
            <a:avLst>
              <a:gd name="adj" fmla="val 8421"/>
            </a:avLst>
          </a:prstGeom>
          <a:solidFill>
            <a:schemeClr val="bg2"/>
          </a:solidFill>
          <a:ln w="9525">
            <a:solidFill>
              <a:schemeClr val="bg2"/>
            </a:solidFill>
            <a:prstDash val="solid"/>
          </a:ln>
        </p:spPr>
      </p:sp>
      <p:sp>
        <p:nvSpPr>
          <p:cNvPr id="9" name="t100"/>
          <p:cNvSpPr txBox="1"/>
          <p:nvPr/>
        </p:nvSpPr>
        <p:spPr>
          <a:xfrm>
            <a:off x="6217920" y="2331720"/>
            <a:ext cx="1371600" cy="86868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100×</a:t>
            </a:r>
            <a:endParaRPr lang="en-US" sz="2800" dirty="0"/>
          </a:p>
        </p:txBody>
      </p:sp>
      <p:sp>
        <p:nvSpPr>
          <p:cNvPr id="10" name="t101"/>
          <p:cNvSpPr txBox="1"/>
          <p:nvPr/>
        </p:nvSpPr>
        <p:spPr>
          <a:xfrm>
            <a:off x="7635240" y="2331720"/>
            <a:ext cx="3886200" cy="868680"/>
          </a:xfrm>
          <a:prstGeom prst="rect">
            <a:avLst/>
          </a:prstGeom>
          <a:noFill/>
          <a:ln/>
        </p:spPr>
        <p:txBody>
          <a:bodyPr wrap="square" lIns="0" tIns="0" rIns="0" bIns="0" rtlCol="0" anchor="ctr"/>
          <a:lstStyle/>
          <a:p>
            <a:pPr indent="0" marL="0">
              <a:buNone/>
            </a:pPr>
            <a:r>
              <a:rPr lang="en-US" sz="1300" dirty="0">
                <a:solidFill>
                  <a:schemeClr val="tx2"/>
                </a:solidFill>
              </a:rPr>
              <a:t>input over output: cost is calls × context, so keep context small and steps short</a:t>
            </a:r>
            <a:endParaRPr lang="en-US" sz="1300" dirty="0"/>
          </a:p>
        </p:txBody>
      </p:sp>
      <p:sp>
        <p:nvSpPr>
          <p:cNvPr id="11" name="card102"/>
          <p:cNvSpPr/>
          <p:nvPr/>
        </p:nvSpPr>
        <p:spPr>
          <a:xfrm>
            <a:off x="6035040" y="3337560"/>
            <a:ext cx="5605272" cy="868680"/>
          </a:xfrm>
          <a:prstGeom prst="roundRect">
            <a:avLst>
              <a:gd name="adj" fmla="val 8421"/>
            </a:avLst>
          </a:prstGeom>
          <a:solidFill>
            <a:schemeClr val="bg2"/>
          </a:solidFill>
          <a:ln w="9525">
            <a:solidFill>
              <a:schemeClr val="bg2"/>
            </a:solidFill>
            <a:prstDash val="solid"/>
          </a:ln>
        </p:spPr>
      </p:sp>
      <p:sp>
        <p:nvSpPr>
          <p:cNvPr id="12" name="t103"/>
          <p:cNvSpPr txBox="1"/>
          <p:nvPr/>
        </p:nvSpPr>
        <p:spPr>
          <a:xfrm>
            <a:off x="6217920" y="3337560"/>
            <a:ext cx="1371600" cy="86868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13%</a:t>
            </a:r>
            <a:endParaRPr lang="en-US" sz="2800" dirty="0"/>
          </a:p>
        </p:txBody>
      </p:sp>
      <p:sp>
        <p:nvSpPr>
          <p:cNvPr id="13" name="t104"/>
          <p:cNvSpPr txBox="1"/>
          <p:nvPr/>
        </p:nvSpPr>
        <p:spPr>
          <a:xfrm>
            <a:off x="7635240" y="3337560"/>
            <a:ext cx="3886200" cy="868680"/>
          </a:xfrm>
          <a:prstGeom prst="rect">
            <a:avLst/>
          </a:prstGeom>
          <a:noFill/>
          <a:ln/>
        </p:spPr>
        <p:txBody>
          <a:bodyPr wrap="square" lIns="0" tIns="0" rIns="0" bIns="0" rtlCol="0" anchor="ctr"/>
          <a:lstStyle/>
          <a:p>
            <a:pPr indent="0" marL="0">
              <a:buNone/>
            </a:pPr>
            <a:r>
              <a:rPr lang="en-US" sz="1300" dirty="0">
                <a:solidFill>
                  <a:schemeClr val="tx2"/>
                </a:solidFill>
              </a:rPr>
              <a:t>of all tokens went on failed attempts: a number to drive down</a:t>
            </a:r>
            <a:endParaRPr lang="en-US" sz="1300" dirty="0"/>
          </a:p>
        </p:txBody>
      </p:sp>
      <p:sp>
        <p:nvSpPr>
          <p:cNvPr id="14" name="card105"/>
          <p:cNvSpPr/>
          <p:nvPr/>
        </p:nvSpPr>
        <p:spPr>
          <a:xfrm>
            <a:off x="6035040" y="4343400"/>
            <a:ext cx="5605272" cy="868680"/>
          </a:xfrm>
          <a:prstGeom prst="roundRect">
            <a:avLst>
              <a:gd name="adj" fmla="val 8421"/>
            </a:avLst>
          </a:prstGeom>
          <a:solidFill>
            <a:schemeClr val="bg2"/>
          </a:solidFill>
          <a:ln w="9525">
            <a:solidFill>
              <a:schemeClr val="bg2"/>
            </a:solidFill>
            <a:prstDash val="solid"/>
          </a:ln>
        </p:spPr>
      </p:sp>
      <p:sp>
        <p:nvSpPr>
          <p:cNvPr id="15" name="t106"/>
          <p:cNvSpPr txBox="1"/>
          <p:nvPr/>
        </p:nvSpPr>
        <p:spPr>
          <a:xfrm>
            <a:off x="6217920" y="4343400"/>
            <a:ext cx="1371600" cy="86868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11%</a:t>
            </a:r>
            <a:endParaRPr lang="en-US" sz="2800" dirty="0"/>
          </a:p>
        </p:txBody>
      </p:sp>
      <p:sp>
        <p:nvSpPr>
          <p:cNvPr id="16" name="t107"/>
          <p:cNvSpPr txBox="1"/>
          <p:nvPr/>
        </p:nvSpPr>
        <p:spPr>
          <a:xfrm>
            <a:off x="7635240" y="4343400"/>
            <a:ext cx="3886200" cy="868680"/>
          </a:xfrm>
          <a:prstGeom prst="rect">
            <a:avLst/>
          </a:prstGeom>
          <a:noFill/>
          <a:ln/>
        </p:spPr>
        <p:txBody>
          <a:bodyPr wrap="square" lIns="0" tIns="0" rIns="0" bIns="0" rtlCol="0" anchor="ctr"/>
          <a:lstStyle/>
          <a:p>
            <a:pPr indent="0" marL="0">
              <a:buNone/>
            </a:pPr>
            <a:r>
              <a:rPr lang="en-US" sz="1300" dirty="0">
                <a:solidFill>
                  <a:schemeClr val="tx2"/>
                </a:solidFill>
              </a:rPr>
              <a:t>of the weekly quota for a week of that project, shown per step on the board</a:t>
            </a:r>
            <a:endParaRPr lang="en-US" sz="1300" dirty="0"/>
          </a:p>
        </p:txBody>
      </p:sp>
      <p:sp>
        <p:nvSpPr>
          <p:cNvPr id="17" name="card108"/>
          <p:cNvSpPr/>
          <p:nvPr/>
        </p:nvSpPr>
        <p:spPr>
          <a:xfrm>
            <a:off x="548640" y="5440680"/>
            <a:ext cx="11094415" cy="685800"/>
          </a:xfrm>
          <a:prstGeom prst="roundRect">
            <a:avLst>
              <a:gd name="adj" fmla="val 10667"/>
            </a:avLst>
          </a:prstGeom>
          <a:solidFill>
            <a:schemeClr val="tx1"/>
          </a:solidFill>
          <a:ln w="9525">
            <a:solidFill>
              <a:schemeClr val="tx1"/>
            </a:solidFill>
            <a:prstDash val="solid"/>
          </a:ln>
        </p:spPr>
      </p:sp>
      <p:sp>
        <p:nvSpPr>
          <p:cNvPr id="18" name="t109"/>
          <p:cNvSpPr txBox="1"/>
          <p:nvPr/>
        </p:nvSpPr>
        <p:spPr>
          <a:xfrm>
            <a:off x="868680" y="5440680"/>
            <a:ext cx="10454335" cy="685800"/>
          </a:xfrm>
          <a:prstGeom prst="rect">
            <a:avLst/>
          </a:prstGeom>
          <a:noFill/>
          <a:ln/>
        </p:spPr>
        <p:txBody>
          <a:bodyPr wrap="square" lIns="0" tIns="0" rIns="0" bIns="0" rtlCol="0" anchor="ctr"/>
          <a:lstStyle/>
          <a:p>
            <a:pPr indent="0" marL="0">
              <a:buNone/>
            </a:pPr>
            <a:r>
              <a:rPr lang="en-US" sz="1700" b="1" dirty="0">
                <a:solidFill>
                  <a:srgbClr val="E8A33D"/>
                </a:solidFill>
              </a:rPr>
              <a:t>Advice, with its evidence: </a:t>
            </a:r>
            <a:pPr indent="0" marL="0">
              <a:buNone/>
            </a:pPr>
            <a:r>
              <a:rPr lang="en-US" sz="1700" dirty="0">
                <a:solidFill>
                  <a:srgbClr val="FFFFFF"/>
                </a:solidFill>
              </a:rPr>
              <a:t>"stops early on 40% of steps → sizing = persistent", "carried steps near the reset cost more → lower carry_factor".</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Sharing agent work today costs a day and exposes too much</a:t>
            </a:r>
            <a:endParaRPr lang="en-US" sz="3200" dirty="0"/>
          </a:p>
        </p:txBody>
      </p:sp>
      <p:sp>
        <p:nvSpPr>
          <p:cNvPr id="3" name="card110"/>
          <p:cNvSpPr/>
          <p:nvPr/>
        </p:nvSpPr>
        <p:spPr>
          <a:xfrm>
            <a:off x="548640" y="1325880"/>
            <a:ext cx="3593592" cy="1783080"/>
          </a:xfrm>
          <a:prstGeom prst="roundRect">
            <a:avLst>
              <a:gd name="adj" fmla="val 4103"/>
            </a:avLst>
          </a:prstGeom>
          <a:solidFill>
            <a:schemeClr val="bg2"/>
          </a:solidFill>
          <a:ln w="9525">
            <a:solidFill>
              <a:schemeClr val="bg2"/>
            </a:solidFill>
            <a:prstDash val="solid"/>
          </a:ln>
        </p:spPr>
      </p:sp>
      <p:sp>
        <p:nvSpPr>
          <p:cNvPr id="4" name="ic111"/>
          <p:cNvSpPr/>
          <p:nvPr/>
        </p:nvSpPr>
        <p:spPr>
          <a:xfrm>
            <a:off x="777240" y="1554480"/>
            <a:ext cx="594360" cy="594360"/>
          </a:xfrm>
          <a:prstGeom prst="ellipse">
            <a:avLst/>
          </a:prstGeom>
          <a:solidFill>
            <a:schemeClr val="accent4"/>
          </a:solidFill>
          <a:ln w="12700">
            <a:solidFill>
              <a:schemeClr val="accent4"/>
            </a:solidFill>
            <a:prstDash val="solid"/>
          </a:ln>
        </p:spPr>
      </p:sp>
      <p:pic>
        <p:nvPicPr>
          <p:cNvPr id="5" name="icimg112" descr="preencoded.png">    </p:cNvPr>
          <p:cNvPicPr>
            <a:picLocks noChangeAspect="1"/>
          </p:cNvPicPr>
          <p:nvPr/>
        </p:nvPicPr>
        <p:blipFill>
          <a:blip r:embed="rId1"/>
          <a:stretch>
            <a:fillRect/>
          </a:stretch>
        </p:blipFill>
        <p:spPr>
          <a:xfrm>
            <a:off x="925830" y="1703070"/>
            <a:ext cx="297180" cy="297180"/>
          </a:xfrm>
          <a:prstGeom prst="rect">
            <a:avLst/>
          </a:prstGeom>
        </p:spPr>
      </p:pic>
      <p:sp>
        <p:nvSpPr>
          <p:cNvPr id="6" name="t113"/>
          <p:cNvSpPr txBox="1"/>
          <p:nvPr/>
        </p:nvSpPr>
        <p:spPr>
          <a:xfrm>
            <a:off x="1508760" y="152704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Long setup</a:t>
            </a:r>
            <a:endParaRPr lang="en-US" sz="1600" dirty="0"/>
          </a:p>
        </p:txBody>
      </p:sp>
      <p:sp>
        <p:nvSpPr>
          <p:cNvPr id="7" name="t114"/>
          <p:cNvSpPr txBox="1"/>
          <p:nvPr/>
        </p:nvSpPr>
        <p:spPr>
          <a:xfrm>
            <a:off x="777240" y="2286000"/>
            <a:ext cx="3136392" cy="685800"/>
          </a:xfrm>
          <a:prstGeom prst="rect">
            <a:avLst/>
          </a:prstGeom>
          <a:noFill/>
          <a:ln/>
        </p:spPr>
        <p:txBody>
          <a:bodyPr wrap="square" lIns="0" tIns="0" rIns="0" bIns="0" rtlCol="0" anchor="t"/>
          <a:lstStyle/>
          <a:p>
            <a:pPr indent="0" marL="0">
              <a:buNone/>
            </a:pPr>
            <a:r>
              <a:rPr lang="en-US" sz="1400" dirty="0">
                <a:solidFill>
                  <a:schemeClr val="tx2"/>
                </a:solidFill>
              </a:rPr>
              <a:t>Setting up one real project took 11 hand steps. A colleague who picks it up repeats every one.</a:t>
            </a:r>
            <a:endParaRPr lang="en-US" sz="1400" dirty="0"/>
          </a:p>
        </p:txBody>
      </p:sp>
      <p:sp>
        <p:nvSpPr>
          <p:cNvPr id="8" name="card115"/>
          <p:cNvSpPr/>
          <p:nvPr/>
        </p:nvSpPr>
        <p:spPr>
          <a:xfrm>
            <a:off x="4297680" y="1325880"/>
            <a:ext cx="3593592" cy="1783080"/>
          </a:xfrm>
          <a:prstGeom prst="roundRect">
            <a:avLst>
              <a:gd name="adj" fmla="val 4103"/>
            </a:avLst>
          </a:prstGeom>
          <a:solidFill>
            <a:schemeClr val="bg2"/>
          </a:solidFill>
          <a:ln w="9525">
            <a:solidFill>
              <a:schemeClr val="bg2"/>
            </a:solidFill>
            <a:prstDash val="solid"/>
          </a:ln>
        </p:spPr>
      </p:sp>
      <p:sp>
        <p:nvSpPr>
          <p:cNvPr id="9" name="ic116"/>
          <p:cNvSpPr/>
          <p:nvPr/>
        </p:nvSpPr>
        <p:spPr>
          <a:xfrm>
            <a:off x="4526280" y="1554480"/>
            <a:ext cx="594360" cy="594360"/>
          </a:xfrm>
          <a:prstGeom prst="ellipse">
            <a:avLst/>
          </a:prstGeom>
          <a:solidFill>
            <a:schemeClr val="accent4"/>
          </a:solidFill>
          <a:ln w="12700">
            <a:solidFill>
              <a:schemeClr val="accent4"/>
            </a:solidFill>
            <a:prstDash val="solid"/>
          </a:ln>
        </p:spPr>
      </p:sp>
      <p:pic>
        <p:nvPicPr>
          <p:cNvPr id="10" name="icimg117" descr="preencoded.png">    </p:cNvPr>
          <p:cNvPicPr>
            <a:picLocks noChangeAspect="1"/>
          </p:cNvPicPr>
          <p:nvPr/>
        </p:nvPicPr>
        <p:blipFill>
          <a:blip r:embed="rId2"/>
          <a:stretch>
            <a:fillRect/>
          </a:stretch>
        </p:blipFill>
        <p:spPr>
          <a:xfrm>
            <a:off x="4674870" y="1703070"/>
            <a:ext cx="297180" cy="297180"/>
          </a:xfrm>
          <a:prstGeom prst="rect">
            <a:avLst/>
          </a:prstGeom>
        </p:spPr>
      </p:pic>
      <p:sp>
        <p:nvSpPr>
          <p:cNvPr id="11" name="t118"/>
          <p:cNvSpPr txBox="1"/>
          <p:nvPr/>
        </p:nvSpPr>
        <p:spPr>
          <a:xfrm>
            <a:off x="5257800" y="152704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Context in one head</a:t>
            </a:r>
            <a:endParaRPr lang="en-US" sz="1600" dirty="0"/>
          </a:p>
        </p:txBody>
      </p:sp>
      <p:sp>
        <p:nvSpPr>
          <p:cNvPr id="12" name="t119"/>
          <p:cNvSpPr txBox="1"/>
          <p:nvPr/>
        </p:nvSpPr>
        <p:spPr>
          <a:xfrm>
            <a:off x="4526280" y="2286000"/>
            <a:ext cx="3136392" cy="685800"/>
          </a:xfrm>
          <a:prstGeom prst="rect">
            <a:avLst/>
          </a:prstGeom>
          <a:noFill/>
          <a:ln/>
        </p:spPr>
        <p:txBody>
          <a:bodyPr wrap="square" lIns="0" tIns="0" rIns="0" bIns="0" rtlCol="0" anchor="t"/>
          <a:lstStyle/>
          <a:p>
            <a:pPr indent="0" marL="0">
              <a:buNone/>
            </a:pPr>
            <a:r>
              <a:rPr lang="en-US" sz="1400" dirty="0">
                <a:solidFill>
                  <a:schemeClr val="tx2"/>
                </a:solidFill>
              </a:rPr>
              <a:t>Hand-over is a wall of chat text and a revision number. The plan and dead ends stay behind.</a:t>
            </a:r>
            <a:endParaRPr lang="en-US" sz="1400" dirty="0"/>
          </a:p>
        </p:txBody>
      </p:sp>
      <p:sp>
        <p:nvSpPr>
          <p:cNvPr id="13" name="card120"/>
          <p:cNvSpPr/>
          <p:nvPr/>
        </p:nvSpPr>
        <p:spPr>
          <a:xfrm>
            <a:off x="8046720" y="1325880"/>
            <a:ext cx="3593592" cy="1783080"/>
          </a:xfrm>
          <a:prstGeom prst="roundRect">
            <a:avLst>
              <a:gd name="adj" fmla="val 4103"/>
            </a:avLst>
          </a:prstGeom>
          <a:solidFill>
            <a:schemeClr val="bg2"/>
          </a:solidFill>
          <a:ln w="9525">
            <a:solidFill>
              <a:schemeClr val="bg2"/>
            </a:solidFill>
            <a:prstDash val="solid"/>
          </a:ln>
        </p:spPr>
      </p:sp>
      <p:sp>
        <p:nvSpPr>
          <p:cNvPr id="14" name="ic121"/>
          <p:cNvSpPr/>
          <p:nvPr/>
        </p:nvSpPr>
        <p:spPr>
          <a:xfrm>
            <a:off x="8275320" y="1554480"/>
            <a:ext cx="594360" cy="594360"/>
          </a:xfrm>
          <a:prstGeom prst="ellipse">
            <a:avLst/>
          </a:prstGeom>
          <a:solidFill>
            <a:schemeClr val="accent4"/>
          </a:solidFill>
          <a:ln w="12700">
            <a:solidFill>
              <a:schemeClr val="accent4"/>
            </a:solidFill>
            <a:prstDash val="solid"/>
          </a:ln>
        </p:spPr>
      </p:sp>
      <p:pic>
        <p:nvPicPr>
          <p:cNvPr id="15" name="icimg122" descr="preencoded.png">    </p:cNvPr>
          <p:cNvPicPr>
            <a:picLocks noChangeAspect="1"/>
          </p:cNvPicPr>
          <p:nvPr/>
        </p:nvPicPr>
        <p:blipFill>
          <a:blip r:embed="rId3"/>
          <a:stretch>
            <a:fillRect/>
          </a:stretch>
        </p:blipFill>
        <p:spPr>
          <a:xfrm>
            <a:off x="8423910" y="1703070"/>
            <a:ext cx="297180" cy="297180"/>
          </a:xfrm>
          <a:prstGeom prst="rect">
            <a:avLst/>
          </a:prstGeom>
        </p:spPr>
      </p:pic>
      <p:sp>
        <p:nvSpPr>
          <p:cNvPr id="16" name="t123"/>
          <p:cNvSpPr txBox="1"/>
          <p:nvPr/>
        </p:nvSpPr>
        <p:spPr>
          <a:xfrm>
            <a:off x="9006840" y="152704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All or nothing</a:t>
            </a:r>
            <a:endParaRPr lang="en-US" sz="1600" dirty="0"/>
          </a:p>
        </p:txBody>
      </p:sp>
      <p:sp>
        <p:nvSpPr>
          <p:cNvPr id="17" name="t124"/>
          <p:cNvSpPr txBox="1"/>
          <p:nvPr/>
        </p:nvSpPr>
        <p:spPr>
          <a:xfrm>
            <a:off x="8275320" y="2286000"/>
            <a:ext cx="3136392" cy="685800"/>
          </a:xfrm>
          <a:prstGeom prst="rect">
            <a:avLst/>
          </a:prstGeom>
          <a:noFill/>
          <a:ln/>
        </p:spPr>
        <p:txBody>
          <a:bodyPr wrap="square" lIns="0" tIns="0" rIns="0" bIns="0" rtlCol="0" anchor="t"/>
          <a:lstStyle/>
          <a:p>
            <a:pPr indent="0" marL="0">
              <a:buNone/>
            </a:pPr>
            <a:r>
              <a:rPr lang="en-US" sz="1400" dirty="0">
                <a:solidFill>
                  <a:schemeClr val="tx2"/>
                </a:solidFill>
              </a:rPr>
              <a:t>Transcripts hold paths, secrets and customer names. You send everything, or nothing.</a:t>
            </a:r>
            <a:endParaRPr lang="en-US" sz="1400" dirty="0"/>
          </a:p>
        </p:txBody>
      </p:sp>
      <p:sp>
        <p:nvSpPr>
          <p:cNvPr id="18" name="card125"/>
          <p:cNvSpPr/>
          <p:nvPr/>
        </p:nvSpPr>
        <p:spPr>
          <a:xfrm>
            <a:off x="548640" y="3291840"/>
            <a:ext cx="3593592" cy="1783080"/>
          </a:xfrm>
          <a:prstGeom prst="roundRect">
            <a:avLst>
              <a:gd name="adj" fmla="val 4103"/>
            </a:avLst>
          </a:prstGeom>
          <a:solidFill>
            <a:schemeClr val="bg2"/>
          </a:solidFill>
          <a:ln w="9525">
            <a:solidFill>
              <a:schemeClr val="bg2"/>
            </a:solidFill>
            <a:prstDash val="solid"/>
          </a:ln>
        </p:spPr>
      </p:sp>
      <p:sp>
        <p:nvSpPr>
          <p:cNvPr id="19" name="ic126"/>
          <p:cNvSpPr/>
          <p:nvPr/>
        </p:nvSpPr>
        <p:spPr>
          <a:xfrm>
            <a:off x="777240" y="3520440"/>
            <a:ext cx="594360" cy="594360"/>
          </a:xfrm>
          <a:prstGeom prst="ellipse">
            <a:avLst/>
          </a:prstGeom>
          <a:solidFill>
            <a:schemeClr val="accent4"/>
          </a:solidFill>
          <a:ln w="12700">
            <a:solidFill>
              <a:schemeClr val="accent4"/>
            </a:solidFill>
            <a:prstDash val="solid"/>
          </a:ln>
        </p:spPr>
      </p:sp>
      <p:pic>
        <p:nvPicPr>
          <p:cNvPr id="20" name="icimg127" descr="preencoded.png">    </p:cNvPr>
          <p:cNvPicPr>
            <a:picLocks noChangeAspect="1"/>
          </p:cNvPicPr>
          <p:nvPr/>
        </p:nvPicPr>
        <p:blipFill>
          <a:blip r:embed="rId4"/>
          <a:stretch>
            <a:fillRect/>
          </a:stretch>
        </p:blipFill>
        <p:spPr>
          <a:xfrm>
            <a:off x="925830" y="3669030"/>
            <a:ext cx="297180" cy="297180"/>
          </a:xfrm>
          <a:prstGeom prst="rect">
            <a:avLst/>
          </a:prstGeom>
        </p:spPr>
      </p:pic>
      <p:sp>
        <p:nvSpPr>
          <p:cNvPr id="21" name="t128"/>
          <p:cNvSpPr txBox="1"/>
          <p:nvPr/>
        </p:nvSpPr>
        <p:spPr>
          <a:xfrm>
            <a:off x="1508760" y="349300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CI failures</a:t>
            </a:r>
            <a:endParaRPr lang="en-US" sz="1600" dirty="0"/>
          </a:p>
        </p:txBody>
      </p:sp>
      <p:sp>
        <p:nvSpPr>
          <p:cNvPr id="22" name="t129"/>
          <p:cNvSpPr txBox="1"/>
          <p:nvPr/>
        </p:nvSpPr>
        <p:spPr>
          <a:xfrm>
            <a:off x="777240" y="4251960"/>
            <a:ext cx="3136392" cy="685800"/>
          </a:xfrm>
          <a:prstGeom prst="rect">
            <a:avLst/>
          </a:prstGeom>
          <a:noFill/>
          <a:ln/>
        </p:spPr>
        <p:txBody>
          <a:bodyPr wrap="square" lIns="0" tIns="0" rIns="0" bIns="0" rtlCol="0" anchor="t"/>
          <a:lstStyle/>
          <a:p>
            <a:pPr indent="0" marL="0">
              <a:buNone/>
            </a:pPr>
            <a:r>
              <a:rPr lang="en-US" sz="1400" dirty="0">
                <a:solidFill>
                  <a:schemeClr val="tx2"/>
                </a:solidFill>
              </a:rPr>
              <a:t>A nightly failure means rebuilding the environment by hand before anyone can look.</a:t>
            </a:r>
            <a:endParaRPr lang="en-US" sz="1400" dirty="0"/>
          </a:p>
        </p:txBody>
      </p:sp>
      <p:sp>
        <p:nvSpPr>
          <p:cNvPr id="23" name="card130"/>
          <p:cNvSpPr/>
          <p:nvPr/>
        </p:nvSpPr>
        <p:spPr>
          <a:xfrm>
            <a:off x="4297680" y="3291840"/>
            <a:ext cx="3593592" cy="1783080"/>
          </a:xfrm>
          <a:prstGeom prst="roundRect">
            <a:avLst>
              <a:gd name="adj" fmla="val 4103"/>
            </a:avLst>
          </a:prstGeom>
          <a:solidFill>
            <a:schemeClr val="bg2"/>
          </a:solidFill>
          <a:ln w="9525">
            <a:solidFill>
              <a:schemeClr val="bg2"/>
            </a:solidFill>
            <a:prstDash val="solid"/>
          </a:ln>
        </p:spPr>
      </p:sp>
      <p:sp>
        <p:nvSpPr>
          <p:cNvPr id="24" name="ic131"/>
          <p:cNvSpPr/>
          <p:nvPr/>
        </p:nvSpPr>
        <p:spPr>
          <a:xfrm>
            <a:off x="4526280" y="3520440"/>
            <a:ext cx="594360" cy="594360"/>
          </a:xfrm>
          <a:prstGeom prst="ellipse">
            <a:avLst/>
          </a:prstGeom>
          <a:solidFill>
            <a:schemeClr val="accent4"/>
          </a:solidFill>
          <a:ln w="12700">
            <a:solidFill>
              <a:schemeClr val="accent4"/>
            </a:solidFill>
            <a:prstDash val="solid"/>
          </a:ln>
        </p:spPr>
      </p:sp>
      <p:pic>
        <p:nvPicPr>
          <p:cNvPr id="25" name="icimg132" descr="preencoded.png">    </p:cNvPr>
          <p:cNvPicPr>
            <a:picLocks noChangeAspect="1"/>
          </p:cNvPicPr>
          <p:nvPr/>
        </p:nvPicPr>
        <p:blipFill>
          <a:blip r:embed="rId5"/>
          <a:stretch>
            <a:fillRect/>
          </a:stretch>
        </p:blipFill>
        <p:spPr>
          <a:xfrm>
            <a:off x="4674870" y="3669030"/>
            <a:ext cx="297180" cy="297180"/>
          </a:xfrm>
          <a:prstGeom prst="rect">
            <a:avLst/>
          </a:prstGeom>
        </p:spPr>
      </p:pic>
      <p:sp>
        <p:nvSpPr>
          <p:cNvPr id="26" name="t133"/>
          <p:cNvSpPr txBox="1"/>
          <p:nvPr/>
        </p:nvSpPr>
        <p:spPr>
          <a:xfrm>
            <a:off x="5257800" y="349300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Asking for help</a:t>
            </a:r>
            <a:endParaRPr lang="en-US" sz="1600" dirty="0"/>
          </a:p>
        </p:txBody>
      </p:sp>
      <p:sp>
        <p:nvSpPr>
          <p:cNvPr id="27" name="t134"/>
          <p:cNvSpPr txBox="1"/>
          <p:nvPr/>
        </p:nvSpPr>
        <p:spPr>
          <a:xfrm>
            <a:off x="4526280" y="4251960"/>
            <a:ext cx="3136392" cy="685800"/>
          </a:xfrm>
          <a:prstGeom prst="rect">
            <a:avLst/>
          </a:prstGeom>
          <a:noFill/>
          <a:ln/>
        </p:spPr>
        <p:txBody>
          <a:bodyPr wrap="square" lIns="0" tIns="0" rIns="0" bIns="0" rtlCol="0" anchor="t"/>
          <a:lstStyle/>
          <a:p>
            <a:pPr indent="0" marL="0">
              <a:buNone/>
            </a:pPr>
            <a:r>
              <a:rPr lang="en-US" sz="1400" dirty="0">
                <a:solidFill>
                  <a:schemeClr val="tx2"/>
                </a:solidFill>
              </a:rPr>
              <a:t>Ask a colleague: paste context into chat. The answer stays in that chat.</a:t>
            </a:r>
            <a:endParaRPr lang="en-US" sz="1400" dirty="0"/>
          </a:p>
        </p:txBody>
      </p:sp>
      <p:sp>
        <p:nvSpPr>
          <p:cNvPr id="28" name="card135"/>
          <p:cNvSpPr/>
          <p:nvPr/>
        </p:nvSpPr>
        <p:spPr>
          <a:xfrm>
            <a:off x="8046720" y="3291840"/>
            <a:ext cx="3593592" cy="1783080"/>
          </a:xfrm>
          <a:prstGeom prst="roundRect">
            <a:avLst>
              <a:gd name="adj" fmla="val 4103"/>
            </a:avLst>
          </a:prstGeom>
          <a:solidFill>
            <a:schemeClr val="bg2"/>
          </a:solidFill>
          <a:ln w="9525">
            <a:solidFill>
              <a:schemeClr val="bg2"/>
            </a:solidFill>
            <a:prstDash val="solid"/>
          </a:ln>
        </p:spPr>
      </p:sp>
      <p:sp>
        <p:nvSpPr>
          <p:cNvPr id="29" name="ic136"/>
          <p:cNvSpPr/>
          <p:nvPr/>
        </p:nvSpPr>
        <p:spPr>
          <a:xfrm>
            <a:off x="8275320" y="3520440"/>
            <a:ext cx="594360" cy="594360"/>
          </a:xfrm>
          <a:prstGeom prst="ellipse">
            <a:avLst/>
          </a:prstGeom>
          <a:solidFill>
            <a:schemeClr val="accent4"/>
          </a:solidFill>
          <a:ln w="12700">
            <a:solidFill>
              <a:schemeClr val="accent4"/>
            </a:solidFill>
            <a:prstDash val="solid"/>
          </a:ln>
        </p:spPr>
      </p:sp>
      <p:pic>
        <p:nvPicPr>
          <p:cNvPr id="30" name="icimg137" descr="preencoded.png">    </p:cNvPr>
          <p:cNvPicPr>
            <a:picLocks noChangeAspect="1"/>
          </p:cNvPicPr>
          <p:nvPr/>
        </p:nvPicPr>
        <p:blipFill>
          <a:blip r:embed="rId6"/>
          <a:stretch>
            <a:fillRect/>
          </a:stretch>
        </p:blipFill>
        <p:spPr>
          <a:xfrm>
            <a:off x="8423910" y="3669030"/>
            <a:ext cx="297180" cy="297180"/>
          </a:xfrm>
          <a:prstGeom prst="rect">
            <a:avLst/>
          </a:prstGeom>
        </p:spPr>
      </p:pic>
      <p:sp>
        <p:nvSpPr>
          <p:cNvPr id="31" name="t138"/>
          <p:cNvSpPr txBox="1"/>
          <p:nvPr/>
        </p:nvSpPr>
        <p:spPr>
          <a:xfrm>
            <a:off x="9006840" y="3493008"/>
            <a:ext cx="2450592"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No team view</a:t>
            </a:r>
            <a:endParaRPr lang="en-US" sz="1600" dirty="0"/>
          </a:p>
        </p:txBody>
      </p:sp>
      <p:sp>
        <p:nvSpPr>
          <p:cNvPr id="32" name="t139"/>
          <p:cNvSpPr txBox="1"/>
          <p:nvPr/>
        </p:nvSpPr>
        <p:spPr>
          <a:xfrm>
            <a:off x="8275320" y="4251960"/>
            <a:ext cx="3136392" cy="685800"/>
          </a:xfrm>
          <a:prstGeom prst="rect">
            <a:avLst/>
          </a:prstGeom>
          <a:noFill/>
          <a:ln/>
        </p:spPr>
        <p:txBody>
          <a:bodyPr wrap="square" lIns="0" tIns="0" rIns="0" bIns="0" rtlCol="0" anchor="t"/>
          <a:lstStyle/>
          <a:p>
            <a:pPr indent="0" marL="0">
              <a:buNone/>
            </a:pPr>
            <a:r>
              <a:rPr lang="en-US" sz="1400" dirty="0">
                <a:solidFill>
                  <a:schemeClr val="tx2"/>
                </a:solidFill>
              </a:rPr>
              <a:t>"What did the agents do this week?" is asked in stand-up and answered from memory.</a:t>
            </a:r>
            <a:endParaRPr lang="en-US" sz="1400" dirty="0"/>
          </a:p>
        </p:txBody>
      </p:sp>
      <p:sp>
        <p:nvSpPr>
          <p:cNvPr id="33" name="card140"/>
          <p:cNvSpPr/>
          <p:nvPr/>
        </p:nvSpPr>
        <p:spPr>
          <a:xfrm>
            <a:off x="548640" y="5394960"/>
            <a:ext cx="11094415" cy="731520"/>
          </a:xfrm>
          <a:prstGeom prst="roundRect">
            <a:avLst>
              <a:gd name="adj" fmla="val 10000"/>
            </a:avLst>
          </a:prstGeom>
          <a:solidFill>
            <a:schemeClr val="tx1"/>
          </a:solidFill>
          <a:ln w="9525">
            <a:solidFill>
              <a:schemeClr val="tx1"/>
            </a:solidFill>
            <a:prstDash val="solid"/>
          </a:ln>
        </p:spPr>
      </p:sp>
      <p:sp>
        <p:nvSpPr>
          <p:cNvPr id="34" name="t141"/>
          <p:cNvSpPr txBox="1"/>
          <p:nvPr/>
        </p:nvSpPr>
        <p:spPr>
          <a:xfrm>
            <a:off x="868680" y="5394960"/>
            <a:ext cx="10454335" cy="731520"/>
          </a:xfrm>
          <a:prstGeom prst="rect">
            <a:avLst/>
          </a:prstGeom>
          <a:noFill/>
          <a:ln/>
        </p:spPr>
        <p:txBody>
          <a:bodyPr wrap="square" lIns="0" tIns="0" rIns="0" bIns="0" rtlCol="0" anchor="ctr"/>
          <a:lstStyle/>
          <a:p>
            <a:pPr indent="0" marL="0">
              <a:buNone/>
            </a:pPr>
            <a:r>
              <a:rPr lang="en-US" sz="1700" b="1" dirty="0">
                <a:solidFill>
                  <a:srgbClr val="E8A33D"/>
                </a:solidFill>
              </a:rPr>
              <a:t>The problem: </a:t>
            </a:r>
            <a:pPr indent="0" marL="0">
              <a:buNone/>
            </a:pPr>
            <a:r>
              <a:rPr lang="en-US" sz="1700" dirty="0">
                <a:solidFill>
                  <a:srgbClr val="FFFFFF"/>
                </a:solidFill>
              </a:rPr>
              <a:t>work moves between people only if its setup, history and boundaries move with it.</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Share the packet, not a paste</a:t>
            </a:r>
            <a:endParaRPr lang="en-US" sz="3200" dirty="0"/>
          </a:p>
        </p:txBody>
      </p:sp>
      <p:sp>
        <p:nvSpPr>
          <p:cNvPr id="3" name="card142"/>
          <p:cNvSpPr/>
          <p:nvPr/>
        </p:nvSpPr>
        <p:spPr>
          <a:xfrm>
            <a:off x="548640" y="1325880"/>
            <a:ext cx="1920240" cy="1600200"/>
          </a:xfrm>
          <a:prstGeom prst="roundRect">
            <a:avLst>
              <a:gd name="adj" fmla="val 4571"/>
            </a:avLst>
          </a:prstGeom>
          <a:solidFill>
            <a:schemeClr val="tx1"/>
          </a:solidFill>
          <a:ln w="9525">
            <a:solidFill>
              <a:schemeClr val="tx1"/>
            </a:solidFill>
            <a:prstDash val="solid"/>
          </a:ln>
        </p:spPr>
      </p:sp>
      <p:sp>
        <p:nvSpPr>
          <p:cNvPr id="4" name="ic143"/>
          <p:cNvSpPr/>
          <p:nvPr/>
        </p:nvSpPr>
        <p:spPr>
          <a:xfrm>
            <a:off x="1234440" y="1463040"/>
            <a:ext cx="548640" cy="548640"/>
          </a:xfrm>
          <a:prstGeom prst="ellipse">
            <a:avLst/>
          </a:prstGeom>
          <a:solidFill>
            <a:schemeClr val="accent2"/>
          </a:solidFill>
          <a:ln w="12700">
            <a:solidFill>
              <a:schemeClr val="accent2"/>
            </a:solidFill>
            <a:prstDash val="solid"/>
          </a:ln>
        </p:spPr>
      </p:sp>
      <p:pic>
        <p:nvPicPr>
          <p:cNvPr id="5" name="icimg144" descr="preencoded.png">    </p:cNvPr>
          <p:cNvPicPr>
            <a:picLocks noChangeAspect="1"/>
          </p:cNvPicPr>
          <p:nvPr/>
        </p:nvPicPr>
        <p:blipFill>
          <a:blip r:embed="rId1"/>
          <a:stretch>
            <a:fillRect/>
          </a:stretch>
        </p:blipFill>
        <p:spPr>
          <a:xfrm>
            <a:off x="1371600" y="1600200"/>
            <a:ext cx="274320" cy="274320"/>
          </a:xfrm>
          <a:prstGeom prst="rect">
            <a:avLst/>
          </a:prstGeom>
        </p:spPr>
      </p:pic>
      <p:sp>
        <p:nvSpPr>
          <p:cNvPr id="6" name="t145"/>
          <p:cNvSpPr txBox="1"/>
          <p:nvPr/>
        </p:nvSpPr>
        <p:spPr>
          <a:xfrm>
            <a:off x="640080" y="2075688"/>
            <a:ext cx="1737360" cy="365760"/>
          </a:xfrm>
          <a:prstGeom prst="rect">
            <a:avLst/>
          </a:prstGeom>
          <a:noFill/>
          <a:ln/>
        </p:spPr>
        <p:txBody>
          <a:bodyPr wrap="square" lIns="0" tIns="0" rIns="0" bIns="0" rtlCol="0" anchor="t"/>
          <a:lstStyle/>
          <a:p>
            <a:pPr algn="ctr" indent="0" marL="0">
              <a:buNone/>
            </a:pPr>
            <a:r>
              <a:rPr lang="en-US" sz="1400" b="1" dirty="0">
                <a:solidFill>
                  <a:schemeClr val="bg1"/>
                </a:solidFill>
              </a:rPr>
              <a:t>Your packet</a:t>
            </a:r>
            <a:endParaRPr lang="en-US" sz="1400" dirty="0"/>
          </a:p>
        </p:txBody>
      </p:sp>
      <p:sp>
        <p:nvSpPr>
          <p:cNvPr id="7" name="t146"/>
          <p:cNvSpPr txBox="1"/>
          <p:nvPr/>
        </p:nvSpPr>
        <p:spPr>
          <a:xfrm>
            <a:off x="640080" y="2423160"/>
            <a:ext cx="1737360" cy="411480"/>
          </a:xfrm>
          <a:prstGeom prst="rect">
            <a:avLst/>
          </a:prstGeom>
          <a:noFill/>
          <a:ln/>
        </p:spPr>
        <p:txBody>
          <a:bodyPr wrap="square" lIns="0" tIns="0" rIns="0" bIns="0" rtlCol="0" anchor="t"/>
          <a:lstStyle/>
          <a:p>
            <a:pPr algn="ctr" indent="0" marL="0">
              <a:buNone/>
            </a:pPr>
            <a:r>
              <a:rPr lang="en-US" sz="1100" dirty="0">
                <a:solidFill>
                  <a:srgbClr val="B8C2CC"/>
                </a:solidFill>
              </a:rPr>
              <a:t>plan, journal, worktrees</a:t>
            </a:r>
            <a:endParaRPr lang="en-US" sz="1100" dirty="0"/>
          </a:p>
        </p:txBody>
      </p:sp>
      <p:sp>
        <p:nvSpPr>
          <p:cNvPr id="8" name="arr147"/>
          <p:cNvSpPr/>
          <p:nvPr/>
        </p:nvSpPr>
        <p:spPr>
          <a:xfrm>
            <a:off x="2542032" y="1965960"/>
            <a:ext cx="219456" cy="292608"/>
          </a:xfrm>
          <a:prstGeom prst="rightArrow">
            <a:avLst/>
          </a:prstGeom>
          <a:solidFill>
            <a:schemeClr val="accent1"/>
          </a:solidFill>
          <a:ln w="12700">
            <a:solidFill>
              <a:schemeClr val="accent1"/>
            </a:solidFill>
            <a:prstDash val="solid"/>
          </a:ln>
        </p:spPr>
      </p:sp>
      <p:sp>
        <p:nvSpPr>
          <p:cNvPr id="9" name="card148"/>
          <p:cNvSpPr/>
          <p:nvPr/>
        </p:nvSpPr>
        <p:spPr>
          <a:xfrm>
            <a:off x="2834640" y="1325880"/>
            <a:ext cx="1920240" cy="1600200"/>
          </a:xfrm>
          <a:prstGeom prst="roundRect">
            <a:avLst>
              <a:gd name="adj" fmla="val 4571"/>
            </a:avLst>
          </a:prstGeom>
          <a:solidFill>
            <a:schemeClr val="tx1"/>
          </a:solidFill>
          <a:ln w="9525">
            <a:solidFill>
              <a:schemeClr val="tx1"/>
            </a:solidFill>
            <a:prstDash val="solid"/>
          </a:ln>
        </p:spPr>
      </p:sp>
      <p:sp>
        <p:nvSpPr>
          <p:cNvPr id="10" name="ic149"/>
          <p:cNvSpPr/>
          <p:nvPr/>
        </p:nvSpPr>
        <p:spPr>
          <a:xfrm>
            <a:off x="3520440" y="1463040"/>
            <a:ext cx="548640" cy="548640"/>
          </a:xfrm>
          <a:prstGeom prst="ellipse">
            <a:avLst/>
          </a:prstGeom>
          <a:solidFill>
            <a:schemeClr val="accent2"/>
          </a:solidFill>
          <a:ln w="12700">
            <a:solidFill>
              <a:schemeClr val="accent2"/>
            </a:solidFill>
            <a:prstDash val="solid"/>
          </a:ln>
        </p:spPr>
      </p:sp>
      <p:pic>
        <p:nvPicPr>
          <p:cNvPr id="11" name="icimg150" descr="preencoded.png">    </p:cNvPr>
          <p:cNvPicPr>
            <a:picLocks noChangeAspect="1"/>
          </p:cNvPicPr>
          <p:nvPr/>
        </p:nvPicPr>
        <p:blipFill>
          <a:blip r:embed="rId2"/>
          <a:stretch>
            <a:fillRect/>
          </a:stretch>
        </p:blipFill>
        <p:spPr>
          <a:xfrm>
            <a:off x="3657600" y="1600200"/>
            <a:ext cx="274320" cy="274320"/>
          </a:xfrm>
          <a:prstGeom prst="rect">
            <a:avLst/>
          </a:prstGeom>
        </p:spPr>
      </p:pic>
      <p:sp>
        <p:nvSpPr>
          <p:cNvPr id="12" name="t151"/>
          <p:cNvSpPr txBox="1"/>
          <p:nvPr/>
        </p:nvSpPr>
        <p:spPr>
          <a:xfrm>
            <a:off x="2926080" y="2075688"/>
            <a:ext cx="1737360" cy="365760"/>
          </a:xfrm>
          <a:prstGeom prst="rect">
            <a:avLst/>
          </a:prstGeom>
          <a:noFill/>
          <a:ln/>
        </p:spPr>
        <p:txBody>
          <a:bodyPr wrap="square" lIns="0" tIns="0" rIns="0" bIns="0" rtlCol="0" anchor="t"/>
          <a:lstStyle/>
          <a:p>
            <a:pPr algn="ctr" indent="0" marL="0">
              <a:buNone/>
            </a:pPr>
            <a:r>
              <a:rPr lang="en-US" sz="1400" b="1" dirty="0">
                <a:solidFill>
                  <a:schemeClr val="bg1"/>
                </a:solidFill>
              </a:rPr>
              <a:t>Export profile</a:t>
            </a:r>
            <a:endParaRPr lang="en-US" sz="1400" dirty="0"/>
          </a:p>
        </p:txBody>
      </p:sp>
      <p:sp>
        <p:nvSpPr>
          <p:cNvPr id="13" name="t152"/>
          <p:cNvSpPr txBox="1"/>
          <p:nvPr/>
        </p:nvSpPr>
        <p:spPr>
          <a:xfrm>
            <a:off x="2926080" y="2423160"/>
            <a:ext cx="1737360" cy="411480"/>
          </a:xfrm>
          <a:prstGeom prst="rect">
            <a:avLst/>
          </a:prstGeom>
          <a:noFill/>
          <a:ln/>
        </p:spPr>
        <p:txBody>
          <a:bodyPr wrap="square" lIns="0" tIns="0" rIns="0" bIns="0" rtlCol="0" anchor="t"/>
          <a:lstStyle/>
          <a:p>
            <a:pPr algn="ctr" indent="0" marL="0">
              <a:buNone/>
            </a:pPr>
            <a:r>
              <a:rPr lang="en-US" sz="1100" dirty="0">
                <a:solidFill>
                  <a:srgbClr val="B8C2CC"/>
                </a:solidFill>
              </a:rPr>
              <a:t>you see each file first</a:t>
            </a:r>
            <a:endParaRPr lang="en-US" sz="1100" dirty="0"/>
          </a:p>
        </p:txBody>
      </p:sp>
      <p:sp>
        <p:nvSpPr>
          <p:cNvPr id="14" name="arr153"/>
          <p:cNvSpPr/>
          <p:nvPr/>
        </p:nvSpPr>
        <p:spPr>
          <a:xfrm>
            <a:off x="4828032" y="1965960"/>
            <a:ext cx="219456" cy="292608"/>
          </a:xfrm>
          <a:prstGeom prst="rightArrow">
            <a:avLst/>
          </a:prstGeom>
          <a:solidFill>
            <a:schemeClr val="accent1"/>
          </a:solidFill>
          <a:ln w="12700">
            <a:solidFill>
              <a:schemeClr val="accent1"/>
            </a:solidFill>
            <a:prstDash val="solid"/>
          </a:ln>
        </p:spPr>
      </p:sp>
      <p:sp>
        <p:nvSpPr>
          <p:cNvPr id="15" name="card154"/>
          <p:cNvSpPr/>
          <p:nvPr/>
        </p:nvSpPr>
        <p:spPr>
          <a:xfrm>
            <a:off x="5120640" y="1325880"/>
            <a:ext cx="1920240" cy="1600200"/>
          </a:xfrm>
          <a:prstGeom prst="roundRect">
            <a:avLst>
              <a:gd name="adj" fmla="val 4571"/>
            </a:avLst>
          </a:prstGeom>
          <a:solidFill>
            <a:schemeClr val="tx1"/>
          </a:solidFill>
          <a:ln w="9525">
            <a:solidFill>
              <a:schemeClr val="tx1"/>
            </a:solidFill>
            <a:prstDash val="solid"/>
          </a:ln>
        </p:spPr>
      </p:sp>
      <p:sp>
        <p:nvSpPr>
          <p:cNvPr id="16" name="ic155"/>
          <p:cNvSpPr/>
          <p:nvPr/>
        </p:nvSpPr>
        <p:spPr>
          <a:xfrm>
            <a:off x="5806440" y="1463040"/>
            <a:ext cx="548640" cy="548640"/>
          </a:xfrm>
          <a:prstGeom prst="ellipse">
            <a:avLst/>
          </a:prstGeom>
          <a:solidFill>
            <a:schemeClr val="accent2"/>
          </a:solidFill>
          <a:ln w="12700">
            <a:solidFill>
              <a:schemeClr val="accent2"/>
            </a:solidFill>
            <a:prstDash val="solid"/>
          </a:ln>
        </p:spPr>
      </p:sp>
      <p:pic>
        <p:nvPicPr>
          <p:cNvPr id="17" name="icimg156" descr="preencoded.png">    </p:cNvPr>
          <p:cNvPicPr>
            <a:picLocks noChangeAspect="1"/>
          </p:cNvPicPr>
          <p:nvPr/>
        </p:nvPicPr>
        <p:blipFill>
          <a:blip r:embed="rId3"/>
          <a:stretch>
            <a:fillRect/>
          </a:stretch>
        </p:blipFill>
        <p:spPr>
          <a:xfrm>
            <a:off x="5943600" y="1600200"/>
            <a:ext cx="274320" cy="274320"/>
          </a:xfrm>
          <a:prstGeom prst="rect">
            <a:avLst/>
          </a:prstGeom>
        </p:spPr>
      </p:pic>
      <p:sp>
        <p:nvSpPr>
          <p:cNvPr id="18" name="t157"/>
          <p:cNvSpPr txBox="1"/>
          <p:nvPr/>
        </p:nvSpPr>
        <p:spPr>
          <a:xfrm>
            <a:off x="5212080" y="2075688"/>
            <a:ext cx="1737360" cy="365760"/>
          </a:xfrm>
          <a:prstGeom prst="rect">
            <a:avLst/>
          </a:prstGeom>
          <a:noFill/>
          <a:ln/>
        </p:spPr>
        <p:txBody>
          <a:bodyPr wrap="square" lIns="0" tIns="0" rIns="0" bIns="0" rtlCol="0" anchor="t"/>
          <a:lstStyle/>
          <a:p>
            <a:pPr algn="ctr" indent="0" marL="0">
              <a:buNone/>
            </a:pPr>
            <a:r>
              <a:rPr lang="en-US" sz="1400" b="1" dirty="0">
                <a:solidFill>
                  <a:schemeClr val="bg1"/>
                </a:solidFill>
              </a:rPr>
              <a:t>Link or hub</a:t>
            </a:r>
            <a:endParaRPr lang="en-US" sz="1400" dirty="0"/>
          </a:p>
        </p:txBody>
      </p:sp>
      <p:sp>
        <p:nvSpPr>
          <p:cNvPr id="19" name="t158"/>
          <p:cNvSpPr txBox="1"/>
          <p:nvPr/>
        </p:nvSpPr>
        <p:spPr>
          <a:xfrm>
            <a:off x="5212080" y="2423160"/>
            <a:ext cx="1737360" cy="411480"/>
          </a:xfrm>
          <a:prstGeom prst="rect">
            <a:avLst/>
          </a:prstGeom>
          <a:noFill/>
          <a:ln/>
        </p:spPr>
        <p:txBody>
          <a:bodyPr wrap="square" lIns="0" tIns="0" rIns="0" bIns="0" rtlCol="0" anchor="t"/>
          <a:lstStyle/>
          <a:p>
            <a:pPr algn="ctr" indent="0" marL="0">
              <a:buNone/>
            </a:pPr>
            <a:r>
              <a:rPr lang="en-US" sz="1100" dirty="0">
                <a:solidFill>
                  <a:srgbClr val="B8C2CC"/>
                </a:solidFill>
              </a:rPr>
              <a:t>signed, to an inbox</a:t>
            </a:r>
            <a:endParaRPr lang="en-US" sz="1100" dirty="0"/>
          </a:p>
        </p:txBody>
      </p:sp>
      <p:sp>
        <p:nvSpPr>
          <p:cNvPr id="20" name="arr159"/>
          <p:cNvSpPr/>
          <p:nvPr/>
        </p:nvSpPr>
        <p:spPr>
          <a:xfrm>
            <a:off x="7114032" y="1965960"/>
            <a:ext cx="219456" cy="292608"/>
          </a:xfrm>
          <a:prstGeom prst="rightArrow">
            <a:avLst/>
          </a:prstGeom>
          <a:solidFill>
            <a:schemeClr val="accent1"/>
          </a:solidFill>
          <a:ln w="12700">
            <a:solidFill>
              <a:schemeClr val="accent1"/>
            </a:solidFill>
            <a:prstDash val="solid"/>
          </a:ln>
        </p:spPr>
      </p:sp>
      <p:sp>
        <p:nvSpPr>
          <p:cNvPr id="21" name="card160"/>
          <p:cNvSpPr/>
          <p:nvPr/>
        </p:nvSpPr>
        <p:spPr>
          <a:xfrm>
            <a:off x="7406640" y="1325880"/>
            <a:ext cx="1920240" cy="1600200"/>
          </a:xfrm>
          <a:prstGeom prst="roundRect">
            <a:avLst>
              <a:gd name="adj" fmla="val 4571"/>
            </a:avLst>
          </a:prstGeom>
          <a:solidFill>
            <a:schemeClr val="tx1"/>
          </a:solidFill>
          <a:ln w="9525">
            <a:solidFill>
              <a:schemeClr val="tx1"/>
            </a:solidFill>
            <a:prstDash val="solid"/>
          </a:ln>
        </p:spPr>
      </p:sp>
      <p:sp>
        <p:nvSpPr>
          <p:cNvPr id="22" name="ic161"/>
          <p:cNvSpPr/>
          <p:nvPr/>
        </p:nvSpPr>
        <p:spPr>
          <a:xfrm>
            <a:off x="8092440" y="1463040"/>
            <a:ext cx="548640" cy="548640"/>
          </a:xfrm>
          <a:prstGeom prst="ellipse">
            <a:avLst/>
          </a:prstGeom>
          <a:solidFill>
            <a:schemeClr val="accent2"/>
          </a:solidFill>
          <a:ln w="12700">
            <a:solidFill>
              <a:schemeClr val="accent2"/>
            </a:solidFill>
            <a:prstDash val="solid"/>
          </a:ln>
        </p:spPr>
      </p:sp>
      <p:pic>
        <p:nvPicPr>
          <p:cNvPr id="23" name="icimg162" descr="preencoded.png">    </p:cNvPr>
          <p:cNvPicPr>
            <a:picLocks noChangeAspect="1"/>
          </p:cNvPicPr>
          <p:nvPr/>
        </p:nvPicPr>
        <p:blipFill>
          <a:blip r:embed="rId4"/>
          <a:stretch>
            <a:fillRect/>
          </a:stretch>
        </p:blipFill>
        <p:spPr>
          <a:xfrm>
            <a:off x="8229600" y="1600200"/>
            <a:ext cx="274320" cy="274320"/>
          </a:xfrm>
          <a:prstGeom prst="rect">
            <a:avLst/>
          </a:prstGeom>
        </p:spPr>
      </p:pic>
      <p:sp>
        <p:nvSpPr>
          <p:cNvPr id="24" name="t163"/>
          <p:cNvSpPr txBox="1"/>
          <p:nvPr/>
        </p:nvSpPr>
        <p:spPr>
          <a:xfrm>
            <a:off x="7498080" y="2075688"/>
            <a:ext cx="1737360" cy="365760"/>
          </a:xfrm>
          <a:prstGeom prst="rect">
            <a:avLst/>
          </a:prstGeom>
          <a:noFill/>
          <a:ln/>
        </p:spPr>
        <p:txBody>
          <a:bodyPr wrap="square" lIns="0" tIns="0" rIns="0" bIns="0" rtlCol="0" anchor="t"/>
          <a:lstStyle/>
          <a:p>
            <a:pPr algn="ctr" indent="0" marL="0">
              <a:buNone/>
            </a:pPr>
            <a:r>
              <a:rPr lang="en-US" sz="1400" b="1" dirty="0">
                <a:solidFill>
                  <a:schemeClr val="bg1"/>
                </a:solidFill>
              </a:rPr>
              <a:t>Their board</a:t>
            </a:r>
            <a:endParaRPr lang="en-US" sz="1400" dirty="0"/>
          </a:p>
        </p:txBody>
      </p:sp>
      <p:sp>
        <p:nvSpPr>
          <p:cNvPr id="25" name="t164"/>
          <p:cNvSpPr txBox="1"/>
          <p:nvPr/>
        </p:nvSpPr>
        <p:spPr>
          <a:xfrm>
            <a:off x="7498080" y="2423160"/>
            <a:ext cx="1737360" cy="411480"/>
          </a:xfrm>
          <a:prstGeom prst="rect">
            <a:avLst/>
          </a:prstGeom>
          <a:noFill/>
          <a:ln/>
        </p:spPr>
        <p:txBody>
          <a:bodyPr wrap="square" lIns="0" tIns="0" rIns="0" bIns="0" rtlCol="0" anchor="t"/>
          <a:lstStyle/>
          <a:p>
            <a:pPr algn="ctr" indent="0" marL="0">
              <a:buNone/>
            </a:pPr>
            <a:r>
              <a:rPr lang="en-US" sz="1100" dirty="0">
                <a:solidFill>
                  <a:srgbClr val="B8C2CC"/>
                </a:solidFill>
              </a:rPr>
              <a:t>accept, then it runs as them</a:t>
            </a:r>
            <a:endParaRPr lang="en-US" sz="1100" dirty="0"/>
          </a:p>
        </p:txBody>
      </p:sp>
      <p:sp>
        <p:nvSpPr>
          <p:cNvPr id="26" name="arr165"/>
          <p:cNvSpPr/>
          <p:nvPr/>
        </p:nvSpPr>
        <p:spPr>
          <a:xfrm>
            <a:off x="9400032" y="1965960"/>
            <a:ext cx="219456" cy="292608"/>
          </a:xfrm>
          <a:prstGeom prst="rightArrow">
            <a:avLst/>
          </a:prstGeom>
          <a:solidFill>
            <a:schemeClr val="accent1"/>
          </a:solidFill>
          <a:ln w="12700">
            <a:solidFill>
              <a:schemeClr val="accent1"/>
            </a:solidFill>
            <a:prstDash val="solid"/>
          </a:ln>
        </p:spPr>
      </p:sp>
      <p:sp>
        <p:nvSpPr>
          <p:cNvPr id="27" name="card166"/>
          <p:cNvSpPr/>
          <p:nvPr/>
        </p:nvSpPr>
        <p:spPr>
          <a:xfrm>
            <a:off x="9692640" y="1325880"/>
            <a:ext cx="1920240" cy="1600200"/>
          </a:xfrm>
          <a:prstGeom prst="roundRect">
            <a:avLst>
              <a:gd name="adj" fmla="val 4571"/>
            </a:avLst>
          </a:prstGeom>
          <a:solidFill>
            <a:schemeClr val="tx1"/>
          </a:solidFill>
          <a:ln w="9525">
            <a:solidFill>
              <a:schemeClr val="tx1"/>
            </a:solidFill>
            <a:prstDash val="solid"/>
          </a:ln>
        </p:spPr>
      </p:sp>
      <p:sp>
        <p:nvSpPr>
          <p:cNvPr id="28" name="ic167"/>
          <p:cNvSpPr/>
          <p:nvPr/>
        </p:nvSpPr>
        <p:spPr>
          <a:xfrm>
            <a:off x="10378440" y="1463040"/>
            <a:ext cx="548640" cy="548640"/>
          </a:xfrm>
          <a:prstGeom prst="ellipse">
            <a:avLst/>
          </a:prstGeom>
          <a:solidFill>
            <a:schemeClr val="accent2"/>
          </a:solidFill>
          <a:ln w="12700">
            <a:solidFill>
              <a:schemeClr val="accent2"/>
            </a:solidFill>
            <a:prstDash val="solid"/>
          </a:ln>
        </p:spPr>
      </p:sp>
      <p:pic>
        <p:nvPicPr>
          <p:cNvPr id="29" name="icimg168" descr="preencoded.png">    </p:cNvPr>
          <p:cNvPicPr>
            <a:picLocks noChangeAspect="1"/>
          </p:cNvPicPr>
          <p:nvPr/>
        </p:nvPicPr>
        <p:blipFill>
          <a:blip r:embed="rId5"/>
          <a:stretch>
            <a:fillRect/>
          </a:stretch>
        </p:blipFill>
        <p:spPr>
          <a:xfrm>
            <a:off x="10515600" y="1600200"/>
            <a:ext cx="274320" cy="274320"/>
          </a:xfrm>
          <a:prstGeom prst="rect">
            <a:avLst/>
          </a:prstGeom>
        </p:spPr>
      </p:pic>
      <p:sp>
        <p:nvSpPr>
          <p:cNvPr id="30" name="t169"/>
          <p:cNvSpPr txBox="1"/>
          <p:nvPr/>
        </p:nvSpPr>
        <p:spPr>
          <a:xfrm>
            <a:off x="9784080" y="2075688"/>
            <a:ext cx="1737360" cy="365760"/>
          </a:xfrm>
          <a:prstGeom prst="rect">
            <a:avLst/>
          </a:prstGeom>
          <a:noFill/>
          <a:ln/>
        </p:spPr>
        <p:txBody>
          <a:bodyPr wrap="square" lIns="0" tIns="0" rIns="0" bIns="0" rtlCol="0" anchor="t"/>
          <a:lstStyle/>
          <a:p>
            <a:pPr algn="ctr" indent="0" marL="0">
              <a:buNone/>
            </a:pPr>
            <a:r>
              <a:rPr lang="en-US" sz="1400" b="1" dirty="0">
                <a:solidFill>
                  <a:schemeClr val="bg1"/>
                </a:solidFill>
              </a:rPr>
              <a:t>Open at the revision</a:t>
            </a:r>
            <a:endParaRPr lang="en-US" sz="1400" dirty="0"/>
          </a:p>
        </p:txBody>
      </p:sp>
      <p:sp>
        <p:nvSpPr>
          <p:cNvPr id="31" name="t170"/>
          <p:cNvSpPr txBox="1"/>
          <p:nvPr/>
        </p:nvSpPr>
        <p:spPr>
          <a:xfrm>
            <a:off x="9784080" y="2423160"/>
            <a:ext cx="1737360" cy="411480"/>
          </a:xfrm>
          <a:prstGeom prst="rect">
            <a:avLst/>
          </a:prstGeom>
          <a:noFill/>
          <a:ln/>
        </p:spPr>
        <p:txBody>
          <a:bodyPr wrap="square" lIns="0" tIns="0" rIns="0" bIns="0" rtlCol="0" anchor="t"/>
          <a:lstStyle/>
          <a:p>
            <a:pPr algn="ctr" indent="0" marL="0">
              <a:buNone/>
            </a:pPr>
            <a:r>
              <a:rPr lang="en-US" sz="1100" dirty="0">
                <a:solidFill>
                  <a:srgbClr val="B8C2CC"/>
                </a:solidFill>
              </a:rPr>
              <a:t>VS Code, same history</a:t>
            </a:r>
            <a:endParaRPr lang="en-US" sz="1100" dirty="0"/>
          </a:p>
        </p:txBody>
      </p:sp>
      <p:sp>
        <p:nvSpPr>
          <p:cNvPr id="32" name="card171"/>
          <p:cNvSpPr/>
          <p:nvPr/>
        </p:nvSpPr>
        <p:spPr>
          <a:xfrm>
            <a:off x="548640" y="3154680"/>
            <a:ext cx="2651760" cy="2194560"/>
          </a:xfrm>
          <a:prstGeom prst="roundRect">
            <a:avLst>
              <a:gd name="adj" fmla="val 3333"/>
            </a:avLst>
          </a:prstGeom>
          <a:solidFill>
            <a:schemeClr val="bg2"/>
          </a:solidFill>
          <a:ln w="9525">
            <a:solidFill>
              <a:schemeClr val="bg2"/>
            </a:solidFill>
            <a:prstDash val="solid"/>
          </a:ln>
        </p:spPr>
      </p:sp>
      <p:sp>
        <p:nvSpPr>
          <p:cNvPr id="33" name="t172"/>
          <p:cNvSpPr txBox="1"/>
          <p:nvPr/>
        </p:nvSpPr>
        <p:spPr>
          <a:xfrm>
            <a:off x="749808" y="3291840"/>
            <a:ext cx="2249424"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Setup travels</a:t>
            </a:r>
            <a:endParaRPr lang="en-US" sz="1600" dirty="0"/>
          </a:p>
        </p:txBody>
      </p:sp>
      <p:sp>
        <p:nvSpPr>
          <p:cNvPr id="34" name="t173"/>
          <p:cNvSpPr txBox="1"/>
          <p:nvPr/>
        </p:nvSpPr>
        <p:spPr>
          <a:xfrm>
            <a:off x="749808" y="3703320"/>
            <a:ext cx="2249424" cy="1143000"/>
          </a:xfrm>
          <a:prstGeom prst="rect">
            <a:avLst/>
          </a:prstGeom>
          <a:noFill/>
          <a:ln/>
        </p:spPr>
        <p:txBody>
          <a:bodyPr wrap="square" lIns="0" tIns="0" rIns="0" bIns="0" rtlCol="0" anchor="t"/>
          <a:lstStyle/>
          <a:p>
            <a:pPr indent="0" marL="0">
              <a:buNone/>
            </a:pPr>
            <a:r>
              <a:rPr lang="en-US" sz="1300" dirty="0">
                <a:solidFill>
                  <a:schemeClr val="tx2"/>
                </a:solidFill>
              </a:rPr>
              <a:t>wpk doctor checks a project and gives the fix for each gap; a recipe rebuilds the workspace on another host.</a:t>
            </a:r>
            <a:endParaRPr lang="en-US" sz="1300" dirty="0"/>
          </a:p>
        </p:txBody>
      </p:sp>
      <p:sp>
        <p:nvSpPr>
          <p:cNvPr id="35" name="pill174"/>
          <p:cNvSpPr/>
          <p:nvPr/>
        </p:nvSpPr>
        <p:spPr>
          <a:xfrm>
            <a:off x="749808" y="4892040"/>
            <a:ext cx="2249424" cy="292608"/>
          </a:xfrm>
          <a:prstGeom prst="roundRect">
            <a:avLst>
              <a:gd name="adj" fmla="val 50000"/>
            </a:avLst>
          </a:prstGeom>
          <a:solidFill>
            <a:srgbClr val="2A9D8F"/>
          </a:solidFill>
          <a:ln w="12700">
            <a:solidFill>
              <a:srgbClr val="2A9D8F"/>
            </a:solidFill>
            <a:prstDash val="solid"/>
          </a:ln>
        </p:spPr>
      </p:sp>
      <p:sp>
        <p:nvSpPr>
          <p:cNvPr id="36" name="t175"/>
          <p:cNvSpPr txBox="1"/>
          <p:nvPr/>
        </p:nvSpPr>
        <p:spPr>
          <a:xfrm>
            <a:off x="749808" y="4892040"/>
            <a:ext cx="2249424" cy="292608"/>
          </a:xfrm>
          <a:prstGeom prst="rect">
            <a:avLst/>
          </a:prstGeom>
          <a:noFill/>
          <a:ln/>
        </p:spPr>
        <p:txBody>
          <a:bodyPr wrap="square" lIns="0" tIns="0" rIns="0" bIns="0" rtlCol="0" anchor="ctr"/>
          <a:lstStyle/>
          <a:p>
            <a:pPr algn="ctr" indent="0" marL="0">
              <a:buNone/>
            </a:pPr>
            <a:r>
              <a:rPr lang="en-US" sz="1100" b="1" dirty="0">
                <a:solidFill>
                  <a:schemeClr val="bg1"/>
                </a:solidFill>
              </a:rPr>
              <a:t>doctor built · recipe R4</a:t>
            </a:r>
            <a:endParaRPr lang="en-US" sz="1100" dirty="0"/>
          </a:p>
        </p:txBody>
      </p:sp>
      <p:sp>
        <p:nvSpPr>
          <p:cNvPr id="37" name="card176"/>
          <p:cNvSpPr/>
          <p:nvPr/>
        </p:nvSpPr>
        <p:spPr>
          <a:xfrm>
            <a:off x="3364992" y="3154680"/>
            <a:ext cx="2651760" cy="2194560"/>
          </a:xfrm>
          <a:prstGeom prst="roundRect">
            <a:avLst>
              <a:gd name="adj" fmla="val 3333"/>
            </a:avLst>
          </a:prstGeom>
          <a:solidFill>
            <a:schemeClr val="bg2"/>
          </a:solidFill>
          <a:ln w="9525">
            <a:solidFill>
              <a:schemeClr val="bg2"/>
            </a:solidFill>
            <a:prstDash val="solid"/>
          </a:ln>
        </p:spPr>
      </p:sp>
      <p:sp>
        <p:nvSpPr>
          <p:cNvPr id="38" name="t177"/>
          <p:cNvSpPr txBox="1"/>
          <p:nvPr/>
        </p:nvSpPr>
        <p:spPr>
          <a:xfrm>
            <a:off x="3566160" y="3291840"/>
            <a:ext cx="2249424"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You choose what leaves</a:t>
            </a:r>
            <a:endParaRPr lang="en-US" sz="1600" dirty="0"/>
          </a:p>
        </p:txBody>
      </p:sp>
      <p:sp>
        <p:nvSpPr>
          <p:cNvPr id="39" name="t178"/>
          <p:cNvSpPr txBox="1"/>
          <p:nvPr/>
        </p:nvSpPr>
        <p:spPr>
          <a:xfrm>
            <a:off x="3566160" y="3703320"/>
            <a:ext cx="2249424" cy="1143000"/>
          </a:xfrm>
          <a:prstGeom prst="rect">
            <a:avLst/>
          </a:prstGeom>
          <a:noFill/>
          <a:ln/>
        </p:spPr>
        <p:txBody>
          <a:bodyPr wrap="square" lIns="0" tIns="0" rIns="0" bIns="0" rtlCol="0" anchor="t"/>
          <a:lstStyle/>
          <a:p>
            <a:pPr indent="0" marL="0">
              <a:buNone/>
            </a:pPr>
            <a:r>
              <a:rPr lang="en-US" sz="1300" dirty="0">
                <a:solidFill>
                  <a:schemeClr val="tx2"/>
                </a:solidFill>
              </a:rPr>
              <a:t>Profiles full, team and report. Transcripts are out by default; secrets scanned; export shows each file before it goes.</a:t>
            </a:r>
            <a:endParaRPr lang="en-US" sz="1300" dirty="0"/>
          </a:p>
        </p:txBody>
      </p:sp>
      <p:sp>
        <p:nvSpPr>
          <p:cNvPr id="40" name="pill179"/>
          <p:cNvSpPr/>
          <p:nvPr/>
        </p:nvSpPr>
        <p:spPr>
          <a:xfrm>
            <a:off x="3566160" y="4892040"/>
            <a:ext cx="2249424" cy="292608"/>
          </a:xfrm>
          <a:prstGeom prst="roundRect">
            <a:avLst>
              <a:gd name="adj" fmla="val 50000"/>
            </a:avLst>
          </a:prstGeom>
          <a:solidFill>
            <a:srgbClr val="E8A33D"/>
          </a:solidFill>
          <a:ln w="12700">
            <a:solidFill>
              <a:srgbClr val="E8A33D"/>
            </a:solidFill>
            <a:prstDash val="solid"/>
          </a:ln>
        </p:spPr>
      </p:sp>
      <p:sp>
        <p:nvSpPr>
          <p:cNvPr id="41" name="t180"/>
          <p:cNvSpPr txBox="1"/>
          <p:nvPr/>
        </p:nvSpPr>
        <p:spPr>
          <a:xfrm>
            <a:off x="3566160" y="4892040"/>
            <a:ext cx="2249424" cy="292608"/>
          </a:xfrm>
          <a:prstGeom prst="rect">
            <a:avLst/>
          </a:prstGeom>
          <a:noFill/>
          <a:ln/>
        </p:spPr>
        <p:txBody>
          <a:bodyPr wrap="square" lIns="0" tIns="0" rIns="0" bIns="0" rtlCol="0" anchor="ctr"/>
          <a:lstStyle/>
          <a:p>
            <a:pPr algn="ctr" indent="0" marL="0">
              <a:buNone/>
            </a:pPr>
            <a:r>
              <a:rPr lang="en-US" sz="1100" b="1" dirty="0">
                <a:solidFill>
                  <a:schemeClr val="bg1"/>
                </a:solidFill>
              </a:rPr>
              <a:t>R4</a:t>
            </a:r>
            <a:endParaRPr lang="en-US" sz="1100" dirty="0"/>
          </a:p>
        </p:txBody>
      </p:sp>
      <p:sp>
        <p:nvSpPr>
          <p:cNvPr id="42" name="card181"/>
          <p:cNvSpPr/>
          <p:nvPr/>
        </p:nvSpPr>
        <p:spPr>
          <a:xfrm>
            <a:off x="6181344" y="3154680"/>
            <a:ext cx="2651760" cy="2194560"/>
          </a:xfrm>
          <a:prstGeom prst="roundRect">
            <a:avLst>
              <a:gd name="adj" fmla="val 3333"/>
            </a:avLst>
          </a:prstGeom>
          <a:solidFill>
            <a:schemeClr val="bg2"/>
          </a:solidFill>
          <a:ln w="9525">
            <a:solidFill>
              <a:schemeClr val="bg2"/>
            </a:solidFill>
            <a:prstDash val="solid"/>
          </a:ln>
        </p:spPr>
      </p:sp>
      <p:sp>
        <p:nvSpPr>
          <p:cNvPr id="43" name="t182"/>
          <p:cNvSpPr txBox="1"/>
          <p:nvPr/>
        </p:nvSpPr>
        <p:spPr>
          <a:xfrm>
            <a:off x="6382512" y="3291840"/>
            <a:ext cx="2249424"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Assign or consult</a:t>
            </a:r>
            <a:endParaRPr lang="en-US" sz="1600" dirty="0"/>
          </a:p>
        </p:txBody>
      </p:sp>
      <p:sp>
        <p:nvSpPr>
          <p:cNvPr id="44" name="t183"/>
          <p:cNvSpPr txBox="1"/>
          <p:nvPr/>
        </p:nvSpPr>
        <p:spPr>
          <a:xfrm>
            <a:off x="6382512" y="3703320"/>
            <a:ext cx="2249424" cy="1143000"/>
          </a:xfrm>
          <a:prstGeom prst="rect">
            <a:avLst/>
          </a:prstGeom>
          <a:noFill/>
          <a:ln/>
        </p:spPr>
        <p:txBody>
          <a:bodyPr wrap="square" lIns="0" tIns="0" rIns="0" bIns="0" rtlCol="0" anchor="t"/>
          <a:lstStyle/>
          <a:p>
            <a:pPr indent="0" marL="0">
              <a:buNone/>
            </a:pPr>
            <a:r>
              <a:rPr lang="en-US" sz="1300" dirty="0">
                <a:solidFill>
                  <a:schemeClr val="tx2"/>
                </a:solidFill>
              </a:rPr>
              <a:t>Assign moves ownership. Consult sends copies; replies come back with answers and changes to apply or forward.</a:t>
            </a:r>
            <a:endParaRPr lang="en-US" sz="1300" dirty="0"/>
          </a:p>
        </p:txBody>
      </p:sp>
      <p:sp>
        <p:nvSpPr>
          <p:cNvPr id="45" name="pill184"/>
          <p:cNvSpPr/>
          <p:nvPr/>
        </p:nvSpPr>
        <p:spPr>
          <a:xfrm>
            <a:off x="6382512" y="4892040"/>
            <a:ext cx="2249424" cy="292608"/>
          </a:xfrm>
          <a:prstGeom prst="roundRect">
            <a:avLst>
              <a:gd name="adj" fmla="val 50000"/>
            </a:avLst>
          </a:prstGeom>
          <a:solidFill>
            <a:srgbClr val="E8A33D"/>
          </a:solidFill>
          <a:ln w="12700">
            <a:solidFill>
              <a:srgbClr val="E8A33D"/>
            </a:solidFill>
            <a:prstDash val="solid"/>
          </a:ln>
        </p:spPr>
      </p:sp>
      <p:sp>
        <p:nvSpPr>
          <p:cNvPr id="46" name="t185"/>
          <p:cNvSpPr txBox="1"/>
          <p:nvPr/>
        </p:nvSpPr>
        <p:spPr>
          <a:xfrm>
            <a:off x="6382512" y="4892040"/>
            <a:ext cx="2249424" cy="292608"/>
          </a:xfrm>
          <a:prstGeom prst="rect">
            <a:avLst/>
          </a:prstGeom>
          <a:noFill/>
          <a:ln/>
        </p:spPr>
        <p:txBody>
          <a:bodyPr wrap="square" lIns="0" tIns="0" rIns="0" bIns="0" rtlCol="0" anchor="ctr"/>
          <a:lstStyle/>
          <a:p>
            <a:pPr algn="ctr" indent="0" marL="0">
              <a:buNone/>
            </a:pPr>
            <a:r>
              <a:rPr lang="en-US" sz="1100" b="1" dirty="0">
                <a:solidFill>
                  <a:schemeClr val="bg1"/>
                </a:solidFill>
              </a:rPr>
              <a:t>R5 · no server needed</a:t>
            </a:r>
            <a:endParaRPr lang="en-US" sz="1100" dirty="0"/>
          </a:p>
        </p:txBody>
      </p:sp>
      <p:sp>
        <p:nvSpPr>
          <p:cNvPr id="47" name="card186"/>
          <p:cNvSpPr/>
          <p:nvPr/>
        </p:nvSpPr>
        <p:spPr>
          <a:xfrm>
            <a:off x="8997696" y="3154680"/>
            <a:ext cx="2651760" cy="2194560"/>
          </a:xfrm>
          <a:prstGeom prst="roundRect">
            <a:avLst>
              <a:gd name="adj" fmla="val 3333"/>
            </a:avLst>
          </a:prstGeom>
          <a:solidFill>
            <a:schemeClr val="bg2"/>
          </a:solidFill>
          <a:ln w="9525">
            <a:solidFill>
              <a:schemeClr val="bg2"/>
            </a:solidFill>
            <a:prstDash val="solid"/>
          </a:ln>
        </p:spPr>
      </p:sp>
      <p:sp>
        <p:nvSpPr>
          <p:cNvPr id="48" name="t187"/>
          <p:cNvSpPr txBox="1"/>
          <p:nvPr/>
        </p:nvSpPr>
        <p:spPr>
          <a:xfrm>
            <a:off x="9198864" y="3291840"/>
            <a:ext cx="2249424"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CI failure → packet</a:t>
            </a:r>
            <a:endParaRPr lang="en-US" sz="1600" dirty="0"/>
          </a:p>
        </p:txBody>
      </p:sp>
      <p:sp>
        <p:nvSpPr>
          <p:cNvPr id="49" name="t188"/>
          <p:cNvSpPr txBox="1"/>
          <p:nvPr/>
        </p:nvSpPr>
        <p:spPr>
          <a:xfrm>
            <a:off x="9198864" y="3703320"/>
            <a:ext cx="2249424" cy="1143000"/>
          </a:xfrm>
          <a:prstGeom prst="rect">
            <a:avLst/>
          </a:prstGeom>
          <a:noFill/>
          <a:ln/>
        </p:spPr>
        <p:txBody>
          <a:bodyPr wrap="square" lIns="0" tIns="0" rIns="0" bIns="0" rtlCol="0" anchor="t"/>
          <a:lstStyle/>
          <a:p>
            <a:pPr indent="0" marL="0">
              <a:buNone/>
            </a:pPr>
            <a:r>
              <a:rPr lang="en-US" sz="1300" dirty="0">
                <a:solidFill>
                  <a:schemeClr val="tx2"/>
                </a:solidFill>
              </a:rPr>
              <a:t>The failing run becomes a packet at the right revision, on the right person's board, ready to reproduce.</a:t>
            </a:r>
            <a:endParaRPr lang="en-US" sz="1300" dirty="0"/>
          </a:p>
        </p:txBody>
      </p:sp>
      <p:sp>
        <p:nvSpPr>
          <p:cNvPr id="50" name="pill189"/>
          <p:cNvSpPr/>
          <p:nvPr/>
        </p:nvSpPr>
        <p:spPr>
          <a:xfrm>
            <a:off x="9198864" y="4892040"/>
            <a:ext cx="2249424" cy="292608"/>
          </a:xfrm>
          <a:prstGeom prst="roundRect">
            <a:avLst>
              <a:gd name="adj" fmla="val 50000"/>
            </a:avLst>
          </a:prstGeom>
          <a:solidFill>
            <a:srgbClr val="E8A33D"/>
          </a:solidFill>
          <a:ln w="12700">
            <a:solidFill>
              <a:srgbClr val="E8A33D"/>
            </a:solidFill>
            <a:prstDash val="solid"/>
          </a:ln>
        </p:spPr>
      </p:sp>
      <p:sp>
        <p:nvSpPr>
          <p:cNvPr id="51" name="t190"/>
          <p:cNvSpPr txBox="1"/>
          <p:nvPr/>
        </p:nvSpPr>
        <p:spPr>
          <a:xfrm>
            <a:off x="9198864" y="4892040"/>
            <a:ext cx="2249424" cy="292608"/>
          </a:xfrm>
          <a:prstGeom prst="rect">
            <a:avLst/>
          </a:prstGeom>
          <a:noFill/>
          <a:ln/>
        </p:spPr>
        <p:txBody>
          <a:bodyPr wrap="square" lIns="0" tIns="0" rIns="0" bIns="0" rtlCol="0" anchor="ctr"/>
          <a:lstStyle/>
          <a:p>
            <a:pPr algn="ctr" indent="0" marL="0">
              <a:buNone/>
            </a:pPr>
            <a:r>
              <a:rPr lang="en-US" sz="1100" b="1" dirty="0">
                <a:solidFill>
                  <a:schemeClr val="bg1"/>
                </a:solidFill>
              </a:rPr>
              <a:t>R4 · R6 via the hub</a:t>
            </a:r>
            <a:endParaRPr lang="en-US" sz="1100" dirty="0"/>
          </a:p>
        </p:txBody>
      </p:sp>
      <p:sp>
        <p:nvSpPr>
          <p:cNvPr id="52" name="card191"/>
          <p:cNvSpPr/>
          <p:nvPr/>
        </p:nvSpPr>
        <p:spPr>
          <a:xfrm>
            <a:off x="548640" y="5532120"/>
            <a:ext cx="11094415" cy="640080"/>
          </a:xfrm>
          <a:prstGeom prst="roundRect">
            <a:avLst>
              <a:gd name="adj" fmla="val 11429"/>
            </a:avLst>
          </a:prstGeom>
          <a:solidFill>
            <a:schemeClr val="tx1"/>
          </a:solidFill>
          <a:ln w="9525">
            <a:solidFill>
              <a:schemeClr val="tx1"/>
            </a:solidFill>
            <a:prstDash val="solid"/>
          </a:ln>
        </p:spPr>
      </p:sp>
      <p:sp>
        <p:nvSpPr>
          <p:cNvPr id="53" name="t192"/>
          <p:cNvSpPr txBox="1"/>
          <p:nvPr/>
        </p:nvSpPr>
        <p:spPr>
          <a:xfrm>
            <a:off x="868680" y="5532120"/>
            <a:ext cx="10454335" cy="640080"/>
          </a:xfrm>
          <a:prstGeom prst="rect">
            <a:avLst/>
          </a:prstGeom>
          <a:noFill/>
          <a:ln/>
        </p:spPr>
        <p:txBody>
          <a:bodyPr wrap="square" lIns="0" tIns="0" rIns="0" bIns="0" rtlCol="0" anchor="ctr"/>
          <a:lstStyle/>
          <a:p>
            <a:pPr indent="0" marL="0">
              <a:buNone/>
            </a:pPr>
            <a:r>
              <a:rPr lang="en-US" sz="1700" b="1" dirty="0">
                <a:solidFill>
                  <a:srgbClr val="E8A33D"/>
                </a:solidFill>
              </a:rPr>
              <a:t>The rule: </a:t>
            </a:r>
            <a:pPr indent="0" marL="0">
              <a:buNone/>
            </a:pPr>
            <a:r>
              <a:rPr lang="en-US" sz="1700" dirty="0">
                <a:solidFill>
                  <a:srgbClr val="FFFFFF"/>
                </a:solidFill>
              </a:rPr>
              <a:t>nothing leaves without being shown to you, and nothing received runs with the sender's permissions.</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Agents share what they found and ask before they guess</a:t>
            </a:r>
            <a:endParaRPr lang="en-US" sz="3200" dirty="0"/>
          </a:p>
        </p:txBody>
      </p:sp>
      <p:sp>
        <p:nvSpPr>
          <p:cNvPr id="3" name="card193"/>
          <p:cNvSpPr/>
          <p:nvPr/>
        </p:nvSpPr>
        <p:spPr>
          <a:xfrm>
            <a:off x="548640" y="1325880"/>
            <a:ext cx="3520440" cy="2103120"/>
          </a:xfrm>
          <a:prstGeom prst="roundRect">
            <a:avLst>
              <a:gd name="adj" fmla="val 3478"/>
            </a:avLst>
          </a:prstGeom>
          <a:solidFill>
            <a:schemeClr val="bg2"/>
          </a:solidFill>
          <a:ln w="9525">
            <a:solidFill>
              <a:schemeClr val="bg2"/>
            </a:solidFill>
            <a:prstDash val="solid"/>
          </a:ln>
        </p:spPr>
      </p:sp>
      <p:sp>
        <p:nvSpPr>
          <p:cNvPr id="4" name="ic194"/>
          <p:cNvSpPr/>
          <p:nvPr/>
        </p:nvSpPr>
        <p:spPr>
          <a:xfrm>
            <a:off x="777240" y="1554480"/>
            <a:ext cx="594360" cy="594360"/>
          </a:xfrm>
          <a:prstGeom prst="ellipse">
            <a:avLst/>
          </a:prstGeom>
          <a:solidFill>
            <a:schemeClr val="accent2"/>
          </a:solidFill>
          <a:ln w="12700">
            <a:solidFill>
              <a:schemeClr val="accent2"/>
            </a:solidFill>
            <a:prstDash val="solid"/>
          </a:ln>
        </p:spPr>
      </p:sp>
      <p:pic>
        <p:nvPicPr>
          <p:cNvPr id="5" name="icimg195" descr="preencoded.png">    </p:cNvPr>
          <p:cNvPicPr>
            <a:picLocks noChangeAspect="1"/>
          </p:cNvPicPr>
          <p:nvPr/>
        </p:nvPicPr>
        <p:blipFill>
          <a:blip r:embed="rId1"/>
          <a:stretch>
            <a:fillRect/>
          </a:stretch>
        </p:blipFill>
        <p:spPr>
          <a:xfrm>
            <a:off x="925830" y="1703070"/>
            <a:ext cx="297180" cy="297180"/>
          </a:xfrm>
          <a:prstGeom prst="rect">
            <a:avLst/>
          </a:prstGeom>
        </p:spPr>
      </p:pic>
      <p:sp>
        <p:nvSpPr>
          <p:cNvPr id="6" name="t196"/>
          <p:cNvSpPr txBox="1"/>
          <p:nvPr/>
        </p:nvSpPr>
        <p:spPr>
          <a:xfrm>
            <a:off x="1508760" y="1527048"/>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Findings</a:t>
            </a:r>
            <a:endParaRPr lang="en-US" sz="1600" dirty="0"/>
          </a:p>
        </p:txBody>
      </p:sp>
      <p:sp>
        <p:nvSpPr>
          <p:cNvPr id="7" name="t197"/>
          <p:cNvSpPr txBox="1"/>
          <p:nvPr/>
        </p:nvSpPr>
        <p:spPr>
          <a:xfrm>
            <a:off x="777240" y="2286000"/>
            <a:ext cx="3063240" cy="1005840"/>
          </a:xfrm>
          <a:prstGeom prst="rect">
            <a:avLst/>
          </a:prstGeom>
          <a:noFill/>
          <a:ln/>
        </p:spPr>
        <p:txBody>
          <a:bodyPr wrap="square" lIns="0" tIns="0" rIns="0" bIns="0" rtlCol="0" anchor="t"/>
          <a:lstStyle/>
          <a:p>
            <a:pPr indent="0" marL="0">
              <a:buNone/>
            </a:pPr>
            <a:r>
              <a:rPr lang="en-US" sz="1300" dirty="0">
                <a:solidFill>
                  <a:schemeClr val="tx2"/>
                </a:solidFill>
              </a:rPr>
              <a:t>While it works, the agent records root causes, workarounds and dead ends, each with scope and evidence. A finding with a verify command is checkable: anyone can re-run it at their revision.</a:t>
            </a:r>
            <a:endParaRPr lang="en-US" sz="1300" dirty="0"/>
          </a:p>
        </p:txBody>
      </p:sp>
      <p:sp>
        <p:nvSpPr>
          <p:cNvPr id="8" name="card198"/>
          <p:cNvSpPr/>
          <p:nvPr/>
        </p:nvSpPr>
        <p:spPr>
          <a:xfrm>
            <a:off x="4206240" y="1325880"/>
            <a:ext cx="3520440" cy="2103120"/>
          </a:xfrm>
          <a:prstGeom prst="roundRect">
            <a:avLst>
              <a:gd name="adj" fmla="val 3478"/>
            </a:avLst>
          </a:prstGeom>
          <a:solidFill>
            <a:schemeClr val="bg2"/>
          </a:solidFill>
          <a:ln w="9525">
            <a:solidFill>
              <a:schemeClr val="bg2"/>
            </a:solidFill>
            <a:prstDash val="solid"/>
          </a:ln>
        </p:spPr>
      </p:sp>
      <p:sp>
        <p:nvSpPr>
          <p:cNvPr id="9" name="ic199"/>
          <p:cNvSpPr/>
          <p:nvPr/>
        </p:nvSpPr>
        <p:spPr>
          <a:xfrm>
            <a:off x="4434840" y="1554480"/>
            <a:ext cx="594360" cy="594360"/>
          </a:xfrm>
          <a:prstGeom prst="ellipse">
            <a:avLst/>
          </a:prstGeom>
          <a:solidFill>
            <a:schemeClr val="accent2"/>
          </a:solidFill>
          <a:ln w="12700">
            <a:solidFill>
              <a:schemeClr val="accent2"/>
            </a:solidFill>
            <a:prstDash val="solid"/>
          </a:ln>
        </p:spPr>
      </p:sp>
      <p:pic>
        <p:nvPicPr>
          <p:cNvPr id="10" name="icimg200" descr="preencoded.png">    </p:cNvPr>
          <p:cNvPicPr>
            <a:picLocks noChangeAspect="1"/>
          </p:cNvPicPr>
          <p:nvPr/>
        </p:nvPicPr>
        <p:blipFill>
          <a:blip r:embed="rId2"/>
          <a:stretch>
            <a:fillRect/>
          </a:stretch>
        </p:blipFill>
        <p:spPr>
          <a:xfrm>
            <a:off x="4583430" y="1703070"/>
            <a:ext cx="297180" cy="297180"/>
          </a:xfrm>
          <a:prstGeom prst="rect">
            <a:avLst/>
          </a:prstGeom>
        </p:spPr>
      </p:pic>
      <p:sp>
        <p:nvSpPr>
          <p:cNvPr id="11" name="t201"/>
          <p:cNvSpPr txBox="1"/>
          <p:nvPr/>
        </p:nvSpPr>
        <p:spPr>
          <a:xfrm>
            <a:off x="5166360" y="1527048"/>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Search first</a:t>
            </a:r>
            <a:endParaRPr lang="en-US" sz="1600" dirty="0"/>
          </a:p>
        </p:txBody>
      </p:sp>
      <p:sp>
        <p:nvSpPr>
          <p:cNvPr id="12" name="t202"/>
          <p:cNvSpPr txBox="1"/>
          <p:nvPr/>
        </p:nvSpPr>
        <p:spPr>
          <a:xfrm>
            <a:off x="4434840" y="2286000"/>
            <a:ext cx="3063240" cy="1005840"/>
          </a:xfrm>
          <a:prstGeom prst="rect">
            <a:avLst/>
          </a:prstGeom>
          <a:noFill/>
          <a:ln/>
        </p:spPr>
        <p:txBody>
          <a:bodyPr wrap="square" lIns="0" tIns="0" rIns="0" bIns="0" rtlCol="0" anchor="t"/>
          <a:lstStyle/>
          <a:p>
            <a:pPr indent="0" marL="0">
              <a:buNone/>
            </a:pPr>
            <a:r>
              <a:rPr lang="en-US" sz="1300" dirty="0">
                <a:solidFill>
                  <a:schemeClr val="tx2"/>
                </a:solidFill>
              </a:rPr>
              <a:t>Findings go into a signed local index; links and the hub merge them by share level. wpk search, and an MCP tool, so an agent searches before it asks anyone.</a:t>
            </a:r>
            <a:endParaRPr lang="en-US" sz="1300" dirty="0"/>
          </a:p>
        </p:txBody>
      </p:sp>
      <p:sp>
        <p:nvSpPr>
          <p:cNvPr id="13" name="card203"/>
          <p:cNvSpPr/>
          <p:nvPr/>
        </p:nvSpPr>
        <p:spPr>
          <a:xfrm>
            <a:off x="548640" y="3566160"/>
            <a:ext cx="3520440" cy="2103120"/>
          </a:xfrm>
          <a:prstGeom prst="roundRect">
            <a:avLst>
              <a:gd name="adj" fmla="val 3478"/>
            </a:avLst>
          </a:prstGeom>
          <a:solidFill>
            <a:schemeClr val="bg2"/>
          </a:solidFill>
          <a:ln w="9525">
            <a:solidFill>
              <a:schemeClr val="bg2"/>
            </a:solidFill>
            <a:prstDash val="solid"/>
          </a:ln>
        </p:spPr>
      </p:sp>
      <p:sp>
        <p:nvSpPr>
          <p:cNvPr id="14" name="ic204"/>
          <p:cNvSpPr/>
          <p:nvPr/>
        </p:nvSpPr>
        <p:spPr>
          <a:xfrm>
            <a:off x="777240" y="3794760"/>
            <a:ext cx="594360" cy="594360"/>
          </a:xfrm>
          <a:prstGeom prst="ellipse">
            <a:avLst/>
          </a:prstGeom>
          <a:solidFill>
            <a:schemeClr val="accent2"/>
          </a:solidFill>
          <a:ln w="12700">
            <a:solidFill>
              <a:schemeClr val="accent2"/>
            </a:solidFill>
            <a:prstDash val="solid"/>
          </a:ln>
        </p:spPr>
      </p:sp>
      <p:pic>
        <p:nvPicPr>
          <p:cNvPr id="15" name="icimg205" descr="preencoded.png">    </p:cNvPr>
          <p:cNvPicPr>
            <a:picLocks noChangeAspect="1"/>
          </p:cNvPicPr>
          <p:nvPr/>
        </p:nvPicPr>
        <p:blipFill>
          <a:blip r:embed="rId3"/>
          <a:stretch>
            <a:fillRect/>
          </a:stretch>
        </p:blipFill>
        <p:spPr>
          <a:xfrm>
            <a:off x="925830" y="3943350"/>
            <a:ext cx="297180" cy="297180"/>
          </a:xfrm>
          <a:prstGeom prst="rect">
            <a:avLst/>
          </a:prstGeom>
        </p:spPr>
      </p:pic>
      <p:sp>
        <p:nvSpPr>
          <p:cNvPr id="16" name="t206"/>
          <p:cNvSpPr txBox="1"/>
          <p:nvPr/>
        </p:nvSpPr>
        <p:spPr>
          <a:xfrm>
            <a:off x="1508760" y="3767328"/>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Questions</a:t>
            </a:r>
            <a:endParaRPr lang="en-US" sz="1600" dirty="0"/>
          </a:p>
        </p:txBody>
      </p:sp>
      <p:sp>
        <p:nvSpPr>
          <p:cNvPr id="17" name="t207"/>
          <p:cNvSpPr txBox="1"/>
          <p:nvPr/>
        </p:nvSpPr>
        <p:spPr>
          <a:xfrm>
            <a:off x="777240" y="4526280"/>
            <a:ext cx="3063240" cy="1005840"/>
          </a:xfrm>
          <a:prstGeom prst="rect">
            <a:avLst/>
          </a:prstGeom>
          <a:noFill/>
          <a:ln/>
        </p:spPr>
        <p:txBody>
          <a:bodyPr wrap="square" lIns="0" tIns="0" rIns="0" bIns="0" rtlCol="0" anchor="t"/>
          <a:lstStyle/>
          <a:p>
            <a:pPr indent="0" marL="0">
              <a:buNone/>
            </a:pPr>
            <a:r>
              <a:rPr lang="en-US" sz="1300" dirty="0">
                <a:solidFill>
                  <a:schemeClr val="tx2"/>
                </a:solidFill>
              </a:rPr>
              <a:t>To a person, a team, a topic or a project's intake. The sender pays: it attaches what it searched and ruled out. An agent's question is a draft its owner approves.</a:t>
            </a:r>
            <a:endParaRPr lang="en-US" sz="1300" dirty="0"/>
          </a:p>
        </p:txBody>
      </p:sp>
      <p:sp>
        <p:nvSpPr>
          <p:cNvPr id="18" name="card208"/>
          <p:cNvSpPr/>
          <p:nvPr/>
        </p:nvSpPr>
        <p:spPr>
          <a:xfrm>
            <a:off x="4206240" y="3566160"/>
            <a:ext cx="3520440" cy="2103120"/>
          </a:xfrm>
          <a:prstGeom prst="roundRect">
            <a:avLst>
              <a:gd name="adj" fmla="val 3478"/>
            </a:avLst>
          </a:prstGeom>
          <a:solidFill>
            <a:schemeClr val="bg2"/>
          </a:solidFill>
          <a:ln w="9525">
            <a:solidFill>
              <a:schemeClr val="bg2"/>
            </a:solidFill>
            <a:prstDash val="solid"/>
          </a:ln>
        </p:spPr>
      </p:sp>
      <p:sp>
        <p:nvSpPr>
          <p:cNvPr id="19" name="ic209"/>
          <p:cNvSpPr/>
          <p:nvPr/>
        </p:nvSpPr>
        <p:spPr>
          <a:xfrm>
            <a:off x="4434840" y="3794760"/>
            <a:ext cx="594360" cy="594360"/>
          </a:xfrm>
          <a:prstGeom prst="ellipse">
            <a:avLst/>
          </a:prstGeom>
          <a:solidFill>
            <a:schemeClr val="accent2"/>
          </a:solidFill>
          <a:ln w="12700">
            <a:solidFill>
              <a:schemeClr val="accent2"/>
            </a:solidFill>
            <a:prstDash val="solid"/>
          </a:ln>
        </p:spPr>
      </p:sp>
      <p:pic>
        <p:nvPicPr>
          <p:cNvPr id="20" name="icimg210" descr="preencoded.png">    </p:cNvPr>
          <p:cNvPicPr>
            <a:picLocks noChangeAspect="1"/>
          </p:cNvPicPr>
          <p:nvPr/>
        </p:nvPicPr>
        <p:blipFill>
          <a:blip r:embed="rId4"/>
          <a:stretch>
            <a:fillRect/>
          </a:stretch>
        </p:blipFill>
        <p:spPr>
          <a:xfrm>
            <a:off x="4583430" y="3943350"/>
            <a:ext cx="297180" cy="297180"/>
          </a:xfrm>
          <a:prstGeom prst="rect">
            <a:avLst/>
          </a:prstGeom>
        </p:spPr>
      </p:pic>
      <p:sp>
        <p:nvSpPr>
          <p:cNvPr id="21" name="t211"/>
          <p:cNvSpPr txBox="1"/>
          <p:nvPr/>
        </p:nvSpPr>
        <p:spPr>
          <a:xfrm>
            <a:off x="5166360" y="3767328"/>
            <a:ext cx="2377440" cy="6400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Answers</a:t>
            </a:r>
            <a:endParaRPr lang="en-US" sz="1600" dirty="0"/>
          </a:p>
        </p:txBody>
      </p:sp>
      <p:sp>
        <p:nvSpPr>
          <p:cNvPr id="22" name="t212"/>
          <p:cNvSpPr txBox="1"/>
          <p:nvPr/>
        </p:nvSpPr>
        <p:spPr>
          <a:xfrm>
            <a:off x="4434840" y="4526280"/>
            <a:ext cx="3063240" cy="1005840"/>
          </a:xfrm>
          <a:prstGeom prst="rect">
            <a:avLst/>
          </a:prstGeom>
          <a:noFill/>
          <a:ln/>
        </p:spPr>
        <p:txBody>
          <a:bodyPr wrap="square" lIns="0" tIns="0" rIns="0" bIns="0" rtlCol="0" anchor="t"/>
          <a:lstStyle/>
          <a:p>
            <a:pPr indent="0" marL="0">
              <a:buNone/>
            </a:pPr>
            <a:r>
              <a:rPr lang="en-US" sz="1300" dirty="0">
                <a:solidFill>
                  <a:schemeClr val="tx2"/>
                </a:solidFill>
              </a:rPr>
              <a:t>Credited to their author. Accepted by the asker; verified when its check passes on the asker's side. Verified answers become findings: knowledge accumulates without a wiki.</a:t>
            </a:r>
            <a:endParaRPr lang="en-US" sz="1300" dirty="0"/>
          </a:p>
        </p:txBody>
      </p:sp>
      <p:sp>
        <p:nvSpPr>
          <p:cNvPr id="23" name="card213"/>
          <p:cNvSpPr/>
          <p:nvPr/>
        </p:nvSpPr>
        <p:spPr>
          <a:xfrm>
            <a:off x="8001000" y="1325880"/>
            <a:ext cx="3639312" cy="4343400"/>
          </a:xfrm>
          <a:prstGeom prst="roundRect">
            <a:avLst>
              <a:gd name="adj" fmla="val 2010"/>
            </a:avLst>
          </a:prstGeom>
          <a:solidFill>
            <a:schemeClr val="tx1"/>
          </a:solidFill>
          <a:ln w="9525">
            <a:solidFill>
              <a:schemeClr val="tx1"/>
            </a:solidFill>
            <a:prstDash val="solid"/>
          </a:ln>
        </p:spPr>
      </p:sp>
      <p:sp>
        <p:nvSpPr>
          <p:cNvPr id="24" name="t214"/>
          <p:cNvSpPr txBox="1"/>
          <p:nvPr/>
        </p:nvSpPr>
        <p:spPr>
          <a:xfrm>
            <a:off x="8275320" y="1508760"/>
            <a:ext cx="3182112" cy="4023360"/>
          </a:xfrm>
          <a:prstGeom prst="rect">
            <a:avLst/>
          </a:prstGeom>
          <a:noFill/>
          <a:ln/>
        </p:spPr>
        <p:txBody>
          <a:bodyPr wrap="square" lIns="0" tIns="0" rIns="0" bIns="0" rtlCol="0" anchor="t"/>
          <a:lstStyle/>
          <a:p>
            <a:pPr indent="0" marL="0">
              <a:spcAft>
                <a:spcPts val="200"/>
              </a:spcAft>
              <a:buNone/>
            </a:pPr>
            <a:r>
              <a:rPr lang="en-US" sz="1200" dirty="0">
                <a:solidFill>
                  <a:srgbClr val="E8A33D"/>
                </a:solidFill>
                <a:latin typeface="Courier New" pitchFamily="34" charset="0"/>
                <a:ea typeface="Courier New" pitchFamily="34" charset="-122"/>
                <a:cs typeface="Courier New" pitchFamily="34" charset="-120"/>
              </a:rPr>
              <a:t>state/findings/drain0.md</a:t>
            </a:r>
            <a:endParaRPr lang="en-US" sz="1200" dirty="0"/>
          </a:p>
          <a:p>
            <a:pPr indent="0" marL="0">
              <a:spcAft>
                <a:spcPts val="200"/>
              </a:spcAft>
              <a:buNone/>
            </a:pP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claim: Questa 2025.3</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  hangs in run_phase when</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  drain time is 0</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scope:</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  repos: [pyhdl-if]</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  tools: [questa@2025.3]</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evidence:</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  packet: wpk:01J…</a:t>
            </a:r>
            <a:endParaRPr lang="en-US" sz="1200" dirty="0"/>
          </a:p>
          <a:p>
            <a:pPr indent="0" marL="0">
              <a:spcAft>
                <a:spcPts val="200"/>
              </a:spcAft>
              <a:buNone/>
            </a:pPr>
            <a:r>
              <a:rPr lang="en-US" sz="1200" dirty="0">
                <a:solidFill>
                  <a:srgbClr val="FFFFFF"/>
                </a:solidFill>
                <a:latin typeface="Courier New" pitchFamily="34" charset="0"/>
                <a:ea typeface="Courier New" pitchFamily="34" charset="-122"/>
                <a:cs typeface="Courier New" pitchFamily="34" charset="-120"/>
              </a:rPr>
              <a:t>  steps: [12, 14]</a:t>
            </a:r>
            <a:endParaRPr lang="en-US" sz="1200" dirty="0"/>
          </a:p>
          <a:p>
            <a:pPr indent="0" marL="0">
              <a:spcAft>
                <a:spcPts val="200"/>
              </a:spcAft>
              <a:buNone/>
            </a:pPr>
            <a:r>
              <a:rPr lang="en-US" sz="1200" dirty="0">
                <a:solidFill>
                  <a:srgbClr val="2A9D8F"/>
                </a:solidFill>
                <a:latin typeface="Courier New" pitchFamily="34" charset="0"/>
                <a:ea typeface="Courier New" pitchFamily="34" charset="-122"/>
                <a:cs typeface="Courier New" pitchFamily="34" charset="-120"/>
              </a:rPr>
              <a:t>verify: make sim TEST=drain0</a:t>
            </a:r>
            <a:endParaRPr lang="en-US" sz="1200" dirty="0"/>
          </a:p>
          <a:p>
            <a:pPr indent="0" marL="0">
              <a:spcAft>
                <a:spcPts val="200"/>
              </a:spcAft>
              <a:buNone/>
            </a:pPr>
            <a:r>
              <a:rPr lang="en-US" sz="1200" dirty="0">
                <a:solidFill>
                  <a:srgbClr val="2A9D8F"/>
                </a:solidFill>
                <a:latin typeface="Courier New" pitchFamily="34" charset="0"/>
                <a:ea typeface="Courier New" pitchFamily="34" charset="-122"/>
                <a:cs typeface="Courier New" pitchFamily="34" charset="-120"/>
              </a:rPr>
              <a:t>share: team</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Secure by construction: nothing goes around a permission</a:t>
            </a:r>
            <a:endParaRPr lang="en-US" sz="3200" dirty="0"/>
          </a:p>
        </p:txBody>
      </p:sp>
      <p:sp>
        <p:nvSpPr>
          <p:cNvPr id="3" name="card215"/>
          <p:cNvSpPr/>
          <p:nvPr/>
        </p:nvSpPr>
        <p:spPr>
          <a:xfrm>
            <a:off x="548640" y="1325880"/>
            <a:ext cx="1965960" cy="1691640"/>
          </a:xfrm>
          <a:prstGeom prst="roundRect">
            <a:avLst>
              <a:gd name="adj" fmla="val 4324"/>
            </a:avLst>
          </a:prstGeom>
          <a:solidFill>
            <a:schemeClr val="tx2"/>
          </a:solidFill>
          <a:ln w="9525">
            <a:solidFill>
              <a:schemeClr val="tx2"/>
            </a:solidFill>
            <a:prstDash val="solid"/>
          </a:ln>
        </p:spPr>
      </p:sp>
      <p:sp>
        <p:nvSpPr>
          <p:cNvPr id="4" name="t216"/>
          <p:cNvSpPr txBox="1"/>
          <p:nvPr/>
        </p:nvSpPr>
        <p:spPr>
          <a:xfrm>
            <a:off x="685800" y="1417320"/>
            <a:ext cx="16916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1  Gate</a:t>
            </a:r>
            <a:endParaRPr lang="en-US" sz="1600" dirty="0"/>
          </a:p>
        </p:txBody>
      </p:sp>
      <p:sp>
        <p:nvSpPr>
          <p:cNvPr id="5" name="t217"/>
          <p:cNvSpPr txBox="1"/>
          <p:nvPr/>
        </p:nvSpPr>
        <p:spPr>
          <a:xfrm>
            <a:off x="685800" y="1801368"/>
            <a:ext cx="1691640" cy="548640"/>
          </a:xfrm>
          <a:prstGeom prst="rect">
            <a:avLst/>
          </a:prstGeom>
          <a:noFill/>
          <a:ln/>
        </p:spPr>
        <p:txBody>
          <a:bodyPr wrap="square" lIns="0" tIns="0" rIns="0" bIns="0" rtlCol="0" anchor="t"/>
          <a:lstStyle/>
          <a:p>
            <a:pPr indent="0" marL="0">
              <a:buNone/>
            </a:pPr>
            <a:r>
              <a:rPr lang="en-US" sz="1200" dirty="0">
                <a:solidFill>
                  <a:schemeClr val="bg1"/>
                </a:solidFill>
              </a:rPr>
              <a:t>allowlist, quotas, size, signature, dedupe</a:t>
            </a:r>
            <a:endParaRPr lang="en-US" sz="1200" dirty="0"/>
          </a:p>
        </p:txBody>
      </p:sp>
      <p:sp>
        <p:nvSpPr>
          <p:cNvPr id="6" name="t218"/>
          <p:cNvSpPr txBox="1"/>
          <p:nvPr/>
        </p:nvSpPr>
        <p:spPr>
          <a:xfrm>
            <a:off x="685800" y="2377440"/>
            <a:ext cx="1691640" cy="594360"/>
          </a:xfrm>
          <a:prstGeom prst="rect">
            <a:avLst/>
          </a:prstGeom>
          <a:noFill/>
          <a:ln/>
        </p:spPr>
        <p:txBody>
          <a:bodyPr wrap="square" lIns="0" tIns="0" rIns="0" bIns="0" rtlCol="0" anchor="t"/>
          <a:lstStyle/>
          <a:p>
            <a:pPr indent="0" marL="0">
              <a:buNone/>
            </a:pPr>
            <a:r>
              <a:rPr lang="en-US" sz="1100" i="1" dirty="0">
                <a:solidFill>
                  <a:schemeClr val="accent1"/>
                </a:solidFill>
              </a:rPr>
              <a:t>no model</a:t>
            </a:r>
            <a:endParaRPr lang="en-US" sz="1100" dirty="0"/>
          </a:p>
        </p:txBody>
      </p:sp>
      <p:sp>
        <p:nvSpPr>
          <p:cNvPr id="7" name="arr219"/>
          <p:cNvSpPr/>
          <p:nvPr/>
        </p:nvSpPr>
        <p:spPr>
          <a:xfrm>
            <a:off x="2578608" y="2011680"/>
            <a:ext cx="192024" cy="292608"/>
          </a:xfrm>
          <a:prstGeom prst="rightArrow">
            <a:avLst/>
          </a:prstGeom>
          <a:solidFill>
            <a:schemeClr val="accent1"/>
          </a:solidFill>
          <a:ln w="12700">
            <a:solidFill>
              <a:schemeClr val="accent1"/>
            </a:solidFill>
            <a:prstDash val="solid"/>
          </a:ln>
        </p:spPr>
      </p:sp>
      <p:sp>
        <p:nvSpPr>
          <p:cNvPr id="8" name="card220"/>
          <p:cNvSpPr/>
          <p:nvPr/>
        </p:nvSpPr>
        <p:spPr>
          <a:xfrm>
            <a:off x="2834640" y="1325880"/>
            <a:ext cx="1965960" cy="1691640"/>
          </a:xfrm>
          <a:prstGeom prst="roundRect">
            <a:avLst>
              <a:gd name="adj" fmla="val 4324"/>
            </a:avLst>
          </a:prstGeom>
          <a:solidFill>
            <a:schemeClr val="tx2"/>
          </a:solidFill>
          <a:ln w="9525">
            <a:solidFill>
              <a:schemeClr val="tx2"/>
            </a:solidFill>
            <a:prstDash val="solid"/>
          </a:ln>
        </p:spPr>
      </p:sp>
      <p:sp>
        <p:nvSpPr>
          <p:cNvPr id="9" name="t221"/>
          <p:cNvSpPr txBox="1"/>
          <p:nvPr/>
        </p:nvSpPr>
        <p:spPr>
          <a:xfrm>
            <a:off x="2971800" y="1417320"/>
            <a:ext cx="16916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2  Queue</a:t>
            </a:r>
            <a:endParaRPr lang="en-US" sz="1600" dirty="0"/>
          </a:p>
        </p:txBody>
      </p:sp>
      <p:sp>
        <p:nvSpPr>
          <p:cNvPr id="10" name="t222"/>
          <p:cNvSpPr txBox="1"/>
          <p:nvPr/>
        </p:nvSpPr>
        <p:spPr>
          <a:xfrm>
            <a:off x="2971800" y="1801368"/>
            <a:ext cx="1691640" cy="548640"/>
          </a:xfrm>
          <a:prstGeom prst="rect">
            <a:avLst/>
          </a:prstGeom>
          <a:noFill/>
          <a:ln/>
        </p:spPr>
        <p:txBody>
          <a:bodyPr wrap="square" lIns="0" tIns="0" rIns="0" bIns="0" rtlCol="0" anchor="t"/>
          <a:lstStyle/>
          <a:p>
            <a:pPr indent="0" marL="0">
              <a:buNone/>
            </a:pPr>
            <a:r>
              <a:rPr lang="en-US" sz="1200" dirty="0">
                <a:solidFill>
                  <a:schemeClr val="bg1"/>
                </a:solidFill>
              </a:rPr>
              <a:t>files in an inbox</a:t>
            </a:r>
            <a:endParaRPr lang="en-US" sz="1200" dirty="0"/>
          </a:p>
        </p:txBody>
      </p:sp>
      <p:sp>
        <p:nvSpPr>
          <p:cNvPr id="11" name="t223"/>
          <p:cNvSpPr txBox="1"/>
          <p:nvPr/>
        </p:nvSpPr>
        <p:spPr>
          <a:xfrm>
            <a:off x="2971800" y="2377440"/>
            <a:ext cx="1691640" cy="594360"/>
          </a:xfrm>
          <a:prstGeom prst="rect">
            <a:avLst/>
          </a:prstGeom>
          <a:noFill/>
          <a:ln/>
        </p:spPr>
        <p:txBody>
          <a:bodyPr wrap="square" lIns="0" tIns="0" rIns="0" bIns="0" rtlCol="0" anchor="t"/>
          <a:lstStyle/>
          <a:p>
            <a:pPr indent="0" marL="0">
              <a:buNone/>
            </a:pPr>
            <a:r>
              <a:rPr lang="en-US" sz="1100" i="1" dirty="0">
                <a:solidFill>
                  <a:schemeClr val="accent1"/>
                </a:solidFill>
              </a:rPr>
              <a:t>no model</a:t>
            </a:r>
            <a:endParaRPr lang="en-US" sz="1100" dirty="0"/>
          </a:p>
        </p:txBody>
      </p:sp>
      <p:sp>
        <p:nvSpPr>
          <p:cNvPr id="12" name="arr224"/>
          <p:cNvSpPr/>
          <p:nvPr/>
        </p:nvSpPr>
        <p:spPr>
          <a:xfrm>
            <a:off x="4864608" y="2011680"/>
            <a:ext cx="192024" cy="292608"/>
          </a:xfrm>
          <a:prstGeom prst="rightArrow">
            <a:avLst/>
          </a:prstGeom>
          <a:solidFill>
            <a:schemeClr val="accent1"/>
          </a:solidFill>
          <a:ln w="12700">
            <a:solidFill>
              <a:schemeClr val="accent1"/>
            </a:solidFill>
            <a:prstDash val="solid"/>
          </a:ln>
        </p:spPr>
      </p:sp>
      <p:sp>
        <p:nvSpPr>
          <p:cNvPr id="13" name="card225"/>
          <p:cNvSpPr/>
          <p:nvPr/>
        </p:nvSpPr>
        <p:spPr>
          <a:xfrm>
            <a:off x="5120640" y="1325880"/>
            <a:ext cx="1965960" cy="1691640"/>
          </a:xfrm>
          <a:prstGeom prst="roundRect">
            <a:avLst>
              <a:gd name="adj" fmla="val 4324"/>
            </a:avLst>
          </a:prstGeom>
          <a:solidFill>
            <a:schemeClr val="accent2"/>
          </a:solidFill>
          <a:ln w="9525">
            <a:solidFill>
              <a:schemeClr val="accent2"/>
            </a:solidFill>
            <a:prstDash val="solid"/>
          </a:ln>
        </p:spPr>
      </p:sp>
      <p:sp>
        <p:nvSpPr>
          <p:cNvPr id="14" name="t226"/>
          <p:cNvSpPr txBox="1"/>
          <p:nvPr/>
        </p:nvSpPr>
        <p:spPr>
          <a:xfrm>
            <a:off x="5257800" y="1417320"/>
            <a:ext cx="16916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3  Triage</a:t>
            </a:r>
            <a:endParaRPr lang="en-US" sz="1600" dirty="0"/>
          </a:p>
        </p:txBody>
      </p:sp>
      <p:sp>
        <p:nvSpPr>
          <p:cNvPr id="15" name="t227"/>
          <p:cNvSpPr txBox="1"/>
          <p:nvPr/>
        </p:nvSpPr>
        <p:spPr>
          <a:xfrm>
            <a:off x="5257800" y="1801368"/>
            <a:ext cx="1691640" cy="548640"/>
          </a:xfrm>
          <a:prstGeom prst="rect">
            <a:avLst/>
          </a:prstGeom>
          <a:noFill/>
          <a:ln/>
        </p:spPr>
        <p:txBody>
          <a:bodyPr wrap="square" lIns="0" tIns="0" rIns="0" bIns="0" rtlCol="0" anchor="t"/>
          <a:lstStyle/>
          <a:p>
            <a:pPr indent="0" marL="0">
              <a:buNone/>
            </a:pPr>
            <a:r>
              <a:rPr lang="en-US" sz="1200" dirty="0">
                <a:solidFill>
                  <a:schemeClr val="bg1"/>
                </a:solidFill>
              </a:rPr>
              <a:t>2–3× a day, batched</a:t>
            </a:r>
            <a:endParaRPr lang="en-US" sz="1200" dirty="0"/>
          </a:p>
        </p:txBody>
      </p:sp>
      <p:sp>
        <p:nvSpPr>
          <p:cNvPr id="16" name="t228"/>
          <p:cNvSpPr txBox="1"/>
          <p:nvPr/>
        </p:nvSpPr>
        <p:spPr>
          <a:xfrm>
            <a:off x="5257800" y="2377440"/>
            <a:ext cx="1691640" cy="594360"/>
          </a:xfrm>
          <a:prstGeom prst="rect">
            <a:avLst/>
          </a:prstGeom>
          <a:noFill/>
          <a:ln/>
        </p:spPr>
        <p:txBody>
          <a:bodyPr wrap="square" lIns="0" tIns="0" rIns="0" bIns="0" rtlCol="0" anchor="t"/>
          <a:lstStyle/>
          <a:p>
            <a:pPr indent="0" marL="0">
              <a:buNone/>
            </a:pPr>
            <a:r>
              <a:rPr lang="en-US" sz="1100" i="1" dirty="0">
                <a:solidFill>
                  <a:schemeClr val="tx1"/>
                </a:solidFill>
              </a:rPr>
              <a:t>model with no tools, no private data, no outbound</a:t>
            </a:r>
            <a:endParaRPr lang="en-US" sz="1100" dirty="0"/>
          </a:p>
        </p:txBody>
      </p:sp>
      <p:sp>
        <p:nvSpPr>
          <p:cNvPr id="17" name="arr229"/>
          <p:cNvSpPr/>
          <p:nvPr/>
        </p:nvSpPr>
        <p:spPr>
          <a:xfrm>
            <a:off x="7150608" y="2011680"/>
            <a:ext cx="192024" cy="292608"/>
          </a:xfrm>
          <a:prstGeom prst="rightArrow">
            <a:avLst/>
          </a:prstGeom>
          <a:solidFill>
            <a:schemeClr val="accent1"/>
          </a:solidFill>
          <a:ln w="12700">
            <a:solidFill>
              <a:schemeClr val="accent1"/>
            </a:solidFill>
            <a:prstDash val="solid"/>
          </a:ln>
        </p:spPr>
      </p:sp>
      <p:sp>
        <p:nvSpPr>
          <p:cNvPr id="18" name="card230"/>
          <p:cNvSpPr/>
          <p:nvPr/>
        </p:nvSpPr>
        <p:spPr>
          <a:xfrm>
            <a:off x="7406640" y="1325880"/>
            <a:ext cx="1965960" cy="1691640"/>
          </a:xfrm>
          <a:prstGeom prst="roundRect">
            <a:avLst>
              <a:gd name="adj" fmla="val 4324"/>
            </a:avLst>
          </a:prstGeom>
          <a:solidFill>
            <a:schemeClr val="tx2"/>
          </a:solidFill>
          <a:ln w="9525">
            <a:solidFill>
              <a:schemeClr val="tx2"/>
            </a:solidFill>
            <a:prstDash val="solid"/>
          </a:ln>
        </p:spPr>
      </p:sp>
      <p:sp>
        <p:nvSpPr>
          <p:cNvPr id="19" name="t231"/>
          <p:cNvSpPr txBox="1"/>
          <p:nvPr/>
        </p:nvSpPr>
        <p:spPr>
          <a:xfrm>
            <a:off x="7543800" y="1417320"/>
            <a:ext cx="16916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4  Person</a:t>
            </a:r>
            <a:endParaRPr lang="en-US" sz="1600" dirty="0"/>
          </a:p>
        </p:txBody>
      </p:sp>
      <p:sp>
        <p:nvSpPr>
          <p:cNvPr id="20" name="t232"/>
          <p:cNvSpPr txBox="1"/>
          <p:nvPr/>
        </p:nvSpPr>
        <p:spPr>
          <a:xfrm>
            <a:off x="7543800" y="1801368"/>
            <a:ext cx="1691640" cy="548640"/>
          </a:xfrm>
          <a:prstGeom prst="rect">
            <a:avLst/>
          </a:prstGeom>
          <a:noFill/>
          <a:ln/>
        </p:spPr>
        <p:txBody>
          <a:bodyPr wrap="square" lIns="0" tIns="0" rIns="0" bIns="0" rtlCol="0" anchor="t"/>
          <a:lstStyle/>
          <a:p>
            <a:pPr indent="0" marL="0">
              <a:buNone/>
            </a:pPr>
            <a:r>
              <a:rPr lang="en-US" sz="1200" dirty="0">
                <a:solidFill>
                  <a:schemeClr val="bg1"/>
                </a:solidFill>
              </a:rPr>
              <a:t>accept, answer, decline</a:t>
            </a:r>
            <a:endParaRPr lang="en-US" sz="1200" dirty="0"/>
          </a:p>
        </p:txBody>
      </p:sp>
      <p:sp>
        <p:nvSpPr>
          <p:cNvPr id="21" name="t233"/>
          <p:cNvSpPr txBox="1"/>
          <p:nvPr/>
        </p:nvSpPr>
        <p:spPr>
          <a:xfrm>
            <a:off x="7543800" y="2377440"/>
            <a:ext cx="1691640" cy="594360"/>
          </a:xfrm>
          <a:prstGeom prst="rect">
            <a:avLst/>
          </a:prstGeom>
          <a:noFill/>
          <a:ln/>
        </p:spPr>
        <p:txBody>
          <a:bodyPr wrap="square" lIns="0" tIns="0" rIns="0" bIns="0" rtlCol="0" anchor="t"/>
          <a:lstStyle/>
          <a:p>
            <a:pPr indent="0" marL="0">
              <a:buNone/>
            </a:pPr>
            <a:r>
              <a:rPr lang="en-US" sz="1100" i="1" dirty="0">
                <a:solidFill>
                  <a:schemeClr val="accent1"/>
                </a:solidFill>
              </a:rPr>
              <a:t>one batch, a few minutes</a:t>
            </a:r>
            <a:endParaRPr lang="en-US" sz="1100" dirty="0"/>
          </a:p>
        </p:txBody>
      </p:sp>
      <p:sp>
        <p:nvSpPr>
          <p:cNvPr id="22" name="arr234"/>
          <p:cNvSpPr/>
          <p:nvPr/>
        </p:nvSpPr>
        <p:spPr>
          <a:xfrm>
            <a:off x="9436608" y="2011680"/>
            <a:ext cx="192024" cy="292608"/>
          </a:xfrm>
          <a:prstGeom prst="rightArrow">
            <a:avLst/>
          </a:prstGeom>
          <a:solidFill>
            <a:schemeClr val="accent1"/>
          </a:solidFill>
          <a:ln w="12700">
            <a:solidFill>
              <a:schemeClr val="accent1"/>
            </a:solidFill>
            <a:prstDash val="solid"/>
          </a:ln>
        </p:spPr>
      </p:sp>
      <p:sp>
        <p:nvSpPr>
          <p:cNvPr id="23" name="card235"/>
          <p:cNvSpPr/>
          <p:nvPr/>
        </p:nvSpPr>
        <p:spPr>
          <a:xfrm>
            <a:off x="9692640" y="1325880"/>
            <a:ext cx="1965960" cy="1691640"/>
          </a:xfrm>
          <a:prstGeom prst="roundRect">
            <a:avLst>
              <a:gd name="adj" fmla="val 4324"/>
            </a:avLst>
          </a:prstGeom>
          <a:solidFill>
            <a:schemeClr val="tx2"/>
          </a:solidFill>
          <a:ln w="9525">
            <a:solidFill>
              <a:schemeClr val="tx2"/>
            </a:solidFill>
            <a:prstDash val="solid"/>
          </a:ln>
        </p:spPr>
      </p:sp>
      <p:sp>
        <p:nvSpPr>
          <p:cNvPr id="24" name="t236"/>
          <p:cNvSpPr txBox="1"/>
          <p:nvPr/>
        </p:nvSpPr>
        <p:spPr>
          <a:xfrm>
            <a:off x="9829800" y="1417320"/>
            <a:ext cx="169164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5  Agent</a:t>
            </a:r>
            <a:endParaRPr lang="en-US" sz="1600" dirty="0"/>
          </a:p>
        </p:txBody>
      </p:sp>
      <p:sp>
        <p:nvSpPr>
          <p:cNvPr id="25" name="t237"/>
          <p:cNvSpPr txBox="1"/>
          <p:nvPr/>
        </p:nvSpPr>
        <p:spPr>
          <a:xfrm>
            <a:off x="9829800" y="1801368"/>
            <a:ext cx="1691640" cy="548640"/>
          </a:xfrm>
          <a:prstGeom prst="rect">
            <a:avLst/>
          </a:prstGeom>
          <a:noFill/>
          <a:ln/>
        </p:spPr>
        <p:txBody>
          <a:bodyPr wrap="square" lIns="0" tIns="0" rIns="0" bIns="0" rtlCol="0" anchor="t"/>
          <a:lstStyle/>
          <a:p>
            <a:pPr indent="0" marL="0">
              <a:buNone/>
            </a:pPr>
            <a:r>
              <a:rPr lang="en-US" sz="1200" dirty="0">
                <a:solidFill>
                  <a:schemeClr val="bg1"/>
                </a:solidFill>
              </a:rPr>
              <a:t>only what a person sends on</a:t>
            </a:r>
            <a:endParaRPr lang="en-US" sz="1200" dirty="0"/>
          </a:p>
        </p:txBody>
      </p:sp>
      <p:sp>
        <p:nvSpPr>
          <p:cNvPr id="26" name="t238"/>
          <p:cNvSpPr txBox="1"/>
          <p:nvPr/>
        </p:nvSpPr>
        <p:spPr>
          <a:xfrm>
            <a:off x="9829800" y="2377440"/>
            <a:ext cx="1691640" cy="594360"/>
          </a:xfrm>
          <a:prstGeom prst="rect">
            <a:avLst/>
          </a:prstGeom>
          <a:noFill/>
          <a:ln/>
        </p:spPr>
        <p:txBody>
          <a:bodyPr wrap="square" lIns="0" tIns="0" rIns="0" bIns="0" rtlCol="0" anchor="t"/>
          <a:lstStyle/>
          <a:p>
            <a:pPr indent="0" marL="0">
              <a:buNone/>
            </a:pPr>
            <a:r>
              <a:rPr lang="en-US" sz="1100" i="1" dirty="0">
                <a:solidFill>
                  <a:schemeClr val="accent1"/>
                </a:solidFill>
              </a:rPr>
              <a:t>a new packet, its own budget</a:t>
            </a:r>
            <a:endParaRPr lang="en-US" sz="1100" dirty="0"/>
          </a:p>
        </p:txBody>
      </p:sp>
      <p:sp>
        <p:nvSpPr>
          <p:cNvPr id="27" name="t239"/>
          <p:cNvSpPr txBox="1"/>
          <p:nvPr/>
        </p:nvSpPr>
        <p:spPr>
          <a:xfrm>
            <a:off x="548640" y="3127248"/>
            <a:ext cx="11094415" cy="365760"/>
          </a:xfrm>
          <a:prstGeom prst="rect">
            <a:avLst/>
          </a:prstGeom>
          <a:noFill/>
          <a:ln/>
        </p:spPr>
        <p:txBody>
          <a:bodyPr wrap="square" lIns="0" tIns="0" rIns="0" bIns="0" rtlCol="0" anchor="t"/>
          <a:lstStyle/>
          <a:p>
            <a:pPr indent="0" marL="0">
              <a:buNone/>
            </a:pPr>
            <a:r>
              <a:rPr lang="en-US" sz="1300" i="1" dirty="0">
                <a:solidFill>
                  <a:srgbClr val="B8C2CC"/>
                </a:solidFill>
              </a:rPr>
              <a:t>Every inbound question, consult, report or mention goes through one pipeline. The receiver's main agent never reads it directly.</a:t>
            </a:r>
            <a:endParaRPr lang="en-US" sz="1300" dirty="0"/>
          </a:p>
        </p:txBody>
      </p:sp>
      <p:sp>
        <p:nvSpPr>
          <p:cNvPr id="28" name="card240"/>
          <p:cNvSpPr/>
          <p:nvPr/>
        </p:nvSpPr>
        <p:spPr>
          <a:xfrm>
            <a:off x="548640" y="3611880"/>
            <a:ext cx="5468112" cy="1188720"/>
          </a:xfrm>
          <a:prstGeom prst="roundRect">
            <a:avLst>
              <a:gd name="adj" fmla="val 6154"/>
            </a:avLst>
          </a:prstGeom>
          <a:solidFill>
            <a:schemeClr val="tx2"/>
          </a:solidFill>
          <a:ln w="9525">
            <a:solidFill>
              <a:schemeClr val="tx2"/>
            </a:solidFill>
            <a:prstDash val="solid"/>
          </a:ln>
        </p:spPr>
      </p:sp>
      <p:sp>
        <p:nvSpPr>
          <p:cNvPr id="29" name="ic241"/>
          <p:cNvSpPr/>
          <p:nvPr/>
        </p:nvSpPr>
        <p:spPr>
          <a:xfrm>
            <a:off x="731520" y="3886200"/>
            <a:ext cx="594360" cy="594360"/>
          </a:xfrm>
          <a:prstGeom prst="ellipse">
            <a:avLst/>
          </a:prstGeom>
          <a:solidFill>
            <a:schemeClr val="accent1"/>
          </a:solidFill>
          <a:ln w="12700">
            <a:solidFill>
              <a:schemeClr val="accent1"/>
            </a:solidFill>
            <a:prstDash val="solid"/>
          </a:ln>
        </p:spPr>
      </p:sp>
      <p:pic>
        <p:nvPicPr>
          <p:cNvPr id="30" name="icimg242" descr="preencoded.png">    </p:cNvPr>
          <p:cNvPicPr>
            <a:picLocks noChangeAspect="1"/>
          </p:cNvPicPr>
          <p:nvPr/>
        </p:nvPicPr>
        <p:blipFill>
          <a:blip r:embed="rId1"/>
          <a:stretch>
            <a:fillRect/>
          </a:stretch>
        </p:blipFill>
        <p:spPr>
          <a:xfrm>
            <a:off x="880110" y="4034790"/>
            <a:ext cx="297180" cy="297180"/>
          </a:xfrm>
          <a:prstGeom prst="rect">
            <a:avLst/>
          </a:prstGeom>
        </p:spPr>
      </p:pic>
      <p:sp>
        <p:nvSpPr>
          <p:cNvPr id="31" name="t243"/>
          <p:cNvSpPr txBox="1"/>
          <p:nvPr/>
        </p:nvSpPr>
        <p:spPr>
          <a:xfrm>
            <a:off x="1508760" y="3703320"/>
            <a:ext cx="4325112" cy="365760"/>
          </a:xfrm>
          <a:prstGeom prst="rect">
            <a:avLst/>
          </a:prstGeom>
          <a:noFill/>
          <a:ln/>
        </p:spPr>
        <p:txBody>
          <a:bodyPr wrap="square" lIns="0" tIns="0" rIns="0" bIns="0" rtlCol="0" anchor="t"/>
          <a:lstStyle/>
          <a:p>
            <a:pPr indent="0" marL="0">
              <a:buNone/>
            </a:pPr>
            <a:r>
              <a:rPr lang="en-US" sz="1400" b="1" dirty="0">
                <a:solidFill>
                  <a:schemeClr val="bg1"/>
                </a:solidFill>
              </a:rPr>
              <a:t>Answers carry the source's permissions</a:t>
            </a:r>
            <a:endParaRPr lang="en-US" sz="1400" dirty="0"/>
          </a:p>
        </p:txBody>
      </p:sp>
      <p:sp>
        <p:nvSpPr>
          <p:cNvPr id="32" name="t244"/>
          <p:cNvSpPr txBox="1"/>
          <p:nvPr/>
        </p:nvSpPr>
        <p:spPr>
          <a:xfrm>
            <a:off x="1508760" y="4050792"/>
            <a:ext cx="4325112" cy="731520"/>
          </a:xfrm>
          <a:prstGeom prst="rect">
            <a:avLst/>
          </a:prstGeom>
          <a:noFill/>
          <a:ln/>
        </p:spPr>
        <p:txBody>
          <a:bodyPr wrap="square" lIns="0" tIns="0" rIns="0" bIns="0" rtlCol="0" anchor="t"/>
          <a:lstStyle/>
          <a:p>
            <a:pPr indent="0" marL="0">
              <a:buNone/>
            </a:pPr>
            <a:r>
              <a:rPr lang="en-US" sz="1150" dirty="0">
                <a:solidFill>
                  <a:srgbClr val="B8C2CC"/>
                </a:solidFill>
              </a:rPr>
              <a:t>The answerer's daemon answers from what the answerer may see. Each index entry keeps its share level; the hub shows it only to people the source allows.</a:t>
            </a:r>
            <a:endParaRPr lang="en-US" sz="1150" dirty="0"/>
          </a:p>
        </p:txBody>
      </p:sp>
      <p:sp>
        <p:nvSpPr>
          <p:cNvPr id="33" name="card245"/>
          <p:cNvSpPr/>
          <p:nvPr/>
        </p:nvSpPr>
        <p:spPr>
          <a:xfrm>
            <a:off x="6172200" y="3611880"/>
            <a:ext cx="5468112" cy="1188720"/>
          </a:xfrm>
          <a:prstGeom prst="roundRect">
            <a:avLst>
              <a:gd name="adj" fmla="val 6154"/>
            </a:avLst>
          </a:prstGeom>
          <a:solidFill>
            <a:schemeClr val="tx2"/>
          </a:solidFill>
          <a:ln w="9525">
            <a:solidFill>
              <a:schemeClr val="tx2"/>
            </a:solidFill>
            <a:prstDash val="solid"/>
          </a:ln>
        </p:spPr>
      </p:sp>
      <p:sp>
        <p:nvSpPr>
          <p:cNvPr id="34" name="ic246"/>
          <p:cNvSpPr/>
          <p:nvPr/>
        </p:nvSpPr>
        <p:spPr>
          <a:xfrm>
            <a:off x="6355080" y="3886200"/>
            <a:ext cx="594360" cy="594360"/>
          </a:xfrm>
          <a:prstGeom prst="ellipse">
            <a:avLst/>
          </a:prstGeom>
          <a:solidFill>
            <a:schemeClr val="accent1"/>
          </a:solidFill>
          <a:ln w="12700">
            <a:solidFill>
              <a:schemeClr val="accent1"/>
            </a:solidFill>
            <a:prstDash val="solid"/>
          </a:ln>
        </p:spPr>
      </p:sp>
      <p:pic>
        <p:nvPicPr>
          <p:cNvPr id="35" name="icimg247" descr="preencoded.png">    </p:cNvPr>
          <p:cNvPicPr>
            <a:picLocks noChangeAspect="1"/>
          </p:cNvPicPr>
          <p:nvPr/>
        </p:nvPicPr>
        <p:blipFill>
          <a:blip r:embed="rId2"/>
          <a:stretch>
            <a:fillRect/>
          </a:stretch>
        </p:blipFill>
        <p:spPr>
          <a:xfrm>
            <a:off x="6503670" y="4034790"/>
            <a:ext cx="297180" cy="297180"/>
          </a:xfrm>
          <a:prstGeom prst="rect">
            <a:avLst/>
          </a:prstGeom>
        </p:spPr>
      </p:pic>
      <p:sp>
        <p:nvSpPr>
          <p:cNvPr id="36" name="t248"/>
          <p:cNvSpPr txBox="1"/>
          <p:nvPr/>
        </p:nvSpPr>
        <p:spPr>
          <a:xfrm>
            <a:off x="7132320" y="3703320"/>
            <a:ext cx="4325112" cy="365760"/>
          </a:xfrm>
          <a:prstGeom prst="rect">
            <a:avLst/>
          </a:prstGeom>
          <a:noFill/>
          <a:ln/>
        </p:spPr>
        <p:txBody>
          <a:bodyPr wrap="square" lIns="0" tIns="0" rIns="0" bIns="0" rtlCol="0" anchor="t"/>
          <a:lstStyle/>
          <a:p>
            <a:pPr indent="0" marL="0">
              <a:buNone/>
            </a:pPr>
            <a:r>
              <a:rPr lang="en-US" sz="1400" b="1" dirty="0">
                <a:solidFill>
                  <a:schemeClr val="bg1"/>
                </a:solidFill>
              </a:rPr>
              <a:t>Work runs as the person who owns it</a:t>
            </a:r>
            <a:endParaRPr lang="en-US" sz="1400" dirty="0"/>
          </a:p>
        </p:txBody>
      </p:sp>
      <p:sp>
        <p:nvSpPr>
          <p:cNvPr id="37" name="t249"/>
          <p:cNvSpPr txBox="1"/>
          <p:nvPr/>
        </p:nvSpPr>
        <p:spPr>
          <a:xfrm>
            <a:off x="7132320" y="4050792"/>
            <a:ext cx="4325112" cy="731520"/>
          </a:xfrm>
          <a:prstGeom prst="rect">
            <a:avLst/>
          </a:prstGeom>
          <a:noFill/>
          <a:ln/>
        </p:spPr>
        <p:txBody>
          <a:bodyPr wrap="square" lIns="0" tIns="0" rIns="0" bIns="0" rtlCol="0" anchor="t"/>
          <a:lstStyle/>
          <a:p>
            <a:pPr indent="0" marL="0">
              <a:buNone/>
            </a:pPr>
            <a:r>
              <a:rPr lang="en-US" sz="1150" dirty="0">
                <a:solidFill>
                  <a:srgbClr val="B8C2CC"/>
                </a:solidFill>
              </a:rPr>
              <a:t>An assigned packet runs under the recipient's account and limits. Imported permissions are shown for approval, never applied.</a:t>
            </a:r>
            <a:endParaRPr lang="en-US" sz="1150" dirty="0"/>
          </a:p>
        </p:txBody>
      </p:sp>
      <p:sp>
        <p:nvSpPr>
          <p:cNvPr id="38" name="card250"/>
          <p:cNvSpPr/>
          <p:nvPr/>
        </p:nvSpPr>
        <p:spPr>
          <a:xfrm>
            <a:off x="548640" y="4937760"/>
            <a:ext cx="5468112" cy="1188720"/>
          </a:xfrm>
          <a:prstGeom prst="roundRect">
            <a:avLst>
              <a:gd name="adj" fmla="val 6154"/>
            </a:avLst>
          </a:prstGeom>
          <a:solidFill>
            <a:schemeClr val="tx2"/>
          </a:solidFill>
          <a:ln w="9525">
            <a:solidFill>
              <a:schemeClr val="tx2"/>
            </a:solidFill>
            <a:prstDash val="solid"/>
          </a:ln>
        </p:spPr>
      </p:sp>
      <p:sp>
        <p:nvSpPr>
          <p:cNvPr id="39" name="ic251"/>
          <p:cNvSpPr/>
          <p:nvPr/>
        </p:nvSpPr>
        <p:spPr>
          <a:xfrm>
            <a:off x="731520" y="5212080"/>
            <a:ext cx="594360" cy="594360"/>
          </a:xfrm>
          <a:prstGeom prst="ellipse">
            <a:avLst/>
          </a:prstGeom>
          <a:solidFill>
            <a:schemeClr val="accent1"/>
          </a:solidFill>
          <a:ln w="12700">
            <a:solidFill>
              <a:schemeClr val="accent1"/>
            </a:solidFill>
            <a:prstDash val="solid"/>
          </a:ln>
        </p:spPr>
      </p:sp>
      <p:pic>
        <p:nvPicPr>
          <p:cNvPr id="40" name="icimg252" descr="preencoded.png">    </p:cNvPr>
          <p:cNvPicPr>
            <a:picLocks noChangeAspect="1"/>
          </p:cNvPicPr>
          <p:nvPr/>
        </p:nvPicPr>
        <p:blipFill>
          <a:blip r:embed="rId3"/>
          <a:stretch>
            <a:fillRect/>
          </a:stretch>
        </p:blipFill>
        <p:spPr>
          <a:xfrm>
            <a:off x="880110" y="5360670"/>
            <a:ext cx="297180" cy="297180"/>
          </a:xfrm>
          <a:prstGeom prst="rect">
            <a:avLst/>
          </a:prstGeom>
        </p:spPr>
      </p:pic>
      <p:sp>
        <p:nvSpPr>
          <p:cNvPr id="41" name="t253"/>
          <p:cNvSpPr txBox="1"/>
          <p:nvPr/>
        </p:nvSpPr>
        <p:spPr>
          <a:xfrm>
            <a:off x="1508760" y="5029200"/>
            <a:ext cx="4325112" cy="365760"/>
          </a:xfrm>
          <a:prstGeom prst="rect">
            <a:avLst/>
          </a:prstGeom>
          <a:noFill/>
          <a:ln/>
        </p:spPr>
        <p:txBody>
          <a:bodyPr wrap="square" lIns="0" tIns="0" rIns="0" bIns="0" rtlCol="0" anchor="t"/>
          <a:lstStyle/>
          <a:p>
            <a:pPr indent="0" marL="0">
              <a:buNone/>
            </a:pPr>
            <a:r>
              <a:rPr lang="en-US" sz="1400" b="1" dirty="0">
                <a:solidFill>
                  <a:schemeClr val="bg1"/>
                </a:solidFill>
              </a:rPr>
              <a:t>Nothing remote is an instruction</a:t>
            </a:r>
            <a:endParaRPr lang="en-US" sz="1400" dirty="0"/>
          </a:p>
        </p:txBody>
      </p:sp>
      <p:sp>
        <p:nvSpPr>
          <p:cNvPr id="42" name="t254"/>
          <p:cNvSpPr txBox="1"/>
          <p:nvPr/>
        </p:nvSpPr>
        <p:spPr>
          <a:xfrm>
            <a:off x="1508760" y="5376672"/>
            <a:ext cx="4325112" cy="731520"/>
          </a:xfrm>
          <a:prstGeom prst="rect">
            <a:avLst/>
          </a:prstGeom>
          <a:noFill/>
          <a:ln/>
        </p:spPr>
        <p:txBody>
          <a:bodyPr wrap="square" lIns="0" tIns="0" rIns="0" bIns="0" rtlCol="0" anchor="t"/>
          <a:lstStyle/>
          <a:p>
            <a:pPr indent="0" marL="0">
              <a:buNone/>
            </a:pPr>
            <a:r>
              <a:rPr lang="en-US" sz="1150" dirty="0">
                <a:solidFill>
                  <a:srgbClr val="B8C2CC"/>
                </a:solidFill>
              </a:rPr>
              <a:t>Remote text reaches an agent only quoted, under its owner's instruction, after a person sent it on. Outbound actions from remote input need a person.</a:t>
            </a:r>
            <a:endParaRPr lang="en-US" sz="1150" dirty="0"/>
          </a:p>
        </p:txBody>
      </p:sp>
      <p:sp>
        <p:nvSpPr>
          <p:cNvPr id="43" name="card255"/>
          <p:cNvSpPr/>
          <p:nvPr/>
        </p:nvSpPr>
        <p:spPr>
          <a:xfrm>
            <a:off x="6172200" y="4937760"/>
            <a:ext cx="5468112" cy="1188720"/>
          </a:xfrm>
          <a:prstGeom prst="roundRect">
            <a:avLst>
              <a:gd name="adj" fmla="val 6154"/>
            </a:avLst>
          </a:prstGeom>
          <a:solidFill>
            <a:schemeClr val="tx2"/>
          </a:solidFill>
          <a:ln w="9525">
            <a:solidFill>
              <a:schemeClr val="tx2"/>
            </a:solidFill>
            <a:prstDash val="solid"/>
          </a:ln>
        </p:spPr>
      </p:sp>
      <p:sp>
        <p:nvSpPr>
          <p:cNvPr id="44" name="ic256"/>
          <p:cNvSpPr/>
          <p:nvPr/>
        </p:nvSpPr>
        <p:spPr>
          <a:xfrm>
            <a:off x="6355080" y="5212080"/>
            <a:ext cx="594360" cy="594360"/>
          </a:xfrm>
          <a:prstGeom prst="ellipse">
            <a:avLst/>
          </a:prstGeom>
          <a:solidFill>
            <a:schemeClr val="accent1"/>
          </a:solidFill>
          <a:ln w="12700">
            <a:solidFill>
              <a:schemeClr val="accent1"/>
            </a:solidFill>
            <a:prstDash val="solid"/>
          </a:ln>
        </p:spPr>
      </p:sp>
      <p:pic>
        <p:nvPicPr>
          <p:cNvPr id="45" name="icimg257" descr="preencoded.png">    </p:cNvPr>
          <p:cNvPicPr>
            <a:picLocks noChangeAspect="1"/>
          </p:cNvPicPr>
          <p:nvPr/>
        </p:nvPicPr>
        <p:blipFill>
          <a:blip r:embed="rId4"/>
          <a:stretch>
            <a:fillRect/>
          </a:stretch>
        </p:blipFill>
        <p:spPr>
          <a:xfrm>
            <a:off x="6503670" y="5360670"/>
            <a:ext cx="297180" cy="297180"/>
          </a:xfrm>
          <a:prstGeom prst="rect">
            <a:avLst/>
          </a:prstGeom>
        </p:spPr>
      </p:pic>
      <p:sp>
        <p:nvSpPr>
          <p:cNvPr id="46" name="t258"/>
          <p:cNvSpPr txBox="1"/>
          <p:nvPr/>
        </p:nvSpPr>
        <p:spPr>
          <a:xfrm>
            <a:off x="7132320" y="5029200"/>
            <a:ext cx="4325112" cy="365760"/>
          </a:xfrm>
          <a:prstGeom prst="rect">
            <a:avLst/>
          </a:prstGeom>
          <a:noFill/>
          <a:ln/>
        </p:spPr>
        <p:txBody>
          <a:bodyPr wrap="square" lIns="0" tIns="0" rIns="0" bIns="0" rtlCol="0" anchor="t"/>
          <a:lstStyle/>
          <a:p>
            <a:pPr indent="0" marL="0">
              <a:buNone/>
            </a:pPr>
            <a:r>
              <a:rPr lang="en-US" sz="1400" b="1" dirty="0">
                <a:solidFill>
                  <a:schemeClr val="bg1"/>
                </a:solidFill>
              </a:rPr>
              <a:t>Links are not logins</a:t>
            </a:r>
            <a:endParaRPr lang="en-US" sz="1400" dirty="0"/>
          </a:p>
        </p:txBody>
      </p:sp>
      <p:sp>
        <p:nvSpPr>
          <p:cNvPr id="47" name="t259"/>
          <p:cNvSpPr txBox="1"/>
          <p:nvPr/>
        </p:nvSpPr>
        <p:spPr>
          <a:xfrm>
            <a:off x="7132320" y="5376672"/>
            <a:ext cx="4325112" cy="731520"/>
          </a:xfrm>
          <a:prstGeom prst="rect">
            <a:avLst/>
          </a:prstGeom>
          <a:noFill/>
          <a:ln/>
        </p:spPr>
        <p:txBody>
          <a:bodyPr wrap="square" lIns="0" tIns="0" rIns="0" bIns="0" rtlCol="0" anchor="t"/>
          <a:lstStyle/>
          <a:p>
            <a:pPr indent="0" marL="0">
              <a:buNone/>
            </a:pPr>
            <a:r>
              <a:rPr lang="en-US" sz="1150" dirty="0">
                <a:solidFill>
                  <a:srgbClr val="B8C2CC"/>
                </a:solidFill>
              </a:rPr>
              <a:t>Peers and the hub see summaries and inboxes, never shells or credentials. Secret scan before any share level. No metrics about people.</a:t>
            </a:r>
            <a:endParaRPr lang="en-US" sz="11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Where this can go inside an engineering organization</a:t>
            </a:r>
            <a:endParaRPr lang="en-US" sz="3200" dirty="0"/>
          </a:p>
        </p:txBody>
      </p:sp>
      <p:sp>
        <p:nvSpPr>
          <p:cNvPr id="3" name="card260"/>
          <p:cNvSpPr/>
          <p:nvPr/>
        </p:nvSpPr>
        <p:spPr>
          <a:xfrm>
            <a:off x="548640" y="1325880"/>
            <a:ext cx="2670048" cy="2286000"/>
          </a:xfrm>
          <a:prstGeom prst="roundRect">
            <a:avLst>
              <a:gd name="adj" fmla="val 3200"/>
            </a:avLst>
          </a:prstGeom>
          <a:solidFill>
            <a:schemeClr val="bg2"/>
          </a:solidFill>
          <a:ln w="9525">
            <a:solidFill>
              <a:schemeClr val="bg2"/>
            </a:solidFill>
            <a:prstDash val="solid"/>
          </a:ln>
        </p:spPr>
      </p:sp>
      <p:sp>
        <p:nvSpPr>
          <p:cNvPr id="4" name="ic261"/>
          <p:cNvSpPr/>
          <p:nvPr/>
        </p:nvSpPr>
        <p:spPr>
          <a:xfrm>
            <a:off x="749808" y="1527048"/>
            <a:ext cx="548640" cy="548640"/>
          </a:xfrm>
          <a:prstGeom prst="ellipse">
            <a:avLst/>
          </a:prstGeom>
          <a:solidFill>
            <a:schemeClr val="accent1"/>
          </a:solidFill>
          <a:ln w="12700">
            <a:solidFill>
              <a:schemeClr val="accent1"/>
            </a:solidFill>
            <a:prstDash val="solid"/>
          </a:ln>
        </p:spPr>
      </p:sp>
      <p:pic>
        <p:nvPicPr>
          <p:cNvPr id="5" name="icimg262" descr="preencoded.png">    </p:cNvPr>
          <p:cNvPicPr>
            <a:picLocks noChangeAspect="1"/>
          </p:cNvPicPr>
          <p:nvPr/>
        </p:nvPicPr>
        <p:blipFill>
          <a:blip r:embed="rId1"/>
          <a:stretch>
            <a:fillRect/>
          </a:stretch>
        </p:blipFill>
        <p:spPr>
          <a:xfrm>
            <a:off x="886968" y="1664208"/>
            <a:ext cx="274320" cy="274320"/>
          </a:xfrm>
          <a:prstGeom prst="rect">
            <a:avLst/>
          </a:prstGeom>
        </p:spPr>
      </p:pic>
      <p:sp>
        <p:nvSpPr>
          <p:cNvPr id="6" name="t263"/>
          <p:cNvSpPr txBox="1"/>
          <p:nvPr/>
        </p:nvSpPr>
        <p:spPr>
          <a:xfrm>
            <a:off x="749808" y="216712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Nightly regression triage</a:t>
            </a:r>
            <a:endParaRPr lang="en-US" sz="1500" dirty="0"/>
          </a:p>
        </p:txBody>
      </p:sp>
      <p:sp>
        <p:nvSpPr>
          <p:cNvPr id="7" name="t264"/>
          <p:cNvSpPr txBox="1"/>
          <p:nvPr/>
        </p:nvSpPr>
        <p:spPr>
          <a:xfrm>
            <a:off x="749808" y="2697480"/>
            <a:ext cx="2267712" cy="868680"/>
          </a:xfrm>
          <a:prstGeom prst="rect">
            <a:avLst/>
          </a:prstGeom>
          <a:noFill/>
          <a:ln/>
        </p:spPr>
        <p:txBody>
          <a:bodyPr wrap="square" lIns="0" tIns="0" rIns="0" bIns="0" rtlCol="0" anchor="t"/>
          <a:lstStyle/>
          <a:p>
            <a:pPr indent="0" marL="0">
              <a:buNone/>
            </a:pPr>
            <a:r>
              <a:rPr lang="en-US" sz="1200" dirty="0">
                <a:solidFill>
                  <a:schemeClr val="tx2"/>
                </a:solidFill>
              </a:rPr>
              <a:t>Each failure a packet, deduplicated against findings, a likely cause on the owner's board before stand-up.</a:t>
            </a:r>
            <a:endParaRPr lang="en-US" sz="1200" dirty="0"/>
          </a:p>
        </p:txBody>
      </p:sp>
      <p:sp>
        <p:nvSpPr>
          <p:cNvPr id="8" name="card265"/>
          <p:cNvSpPr/>
          <p:nvPr/>
        </p:nvSpPr>
        <p:spPr>
          <a:xfrm>
            <a:off x="3355848" y="1325880"/>
            <a:ext cx="2670048" cy="2286000"/>
          </a:xfrm>
          <a:prstGeom prst="roundRect">
            <a:avLst>
              <a:gd name="adj" fmla="val 3200"/>
            </a:avLst>
          </a:prstGeom>
          <a:solidFill>
            <a:schemeClr val="bg2"/>
          </a:solidFill>
          <a:ln w="9525">
            <a:solidFill>
              <a:schemeClr val="bg2"/>
            </a:solidFill>
            <a:prstDash val="solid"/>
          </a:ln>
        </p:spPr>
      </p:sp>
      <p:sp>
        <p:nvSpPr>
          <p:cNvPr id="9" name="ic266"/>
          <p:cNvSpPr/>
          <p:nvPr/>
        </p:nvSpPr>
        <p:spPr>
          <a:xfrm>
            <a:off x="3557016" y="1527048"/>
            <a:ext cx="548640" cy="548640"/>
          </a:xfrm>
          <a:prstGeom prst="ellipse">
            <a:avLst/>
          </a:prstGeom>
          <a:solidFill>
            <a:schemeClr val="accent1"/>
          </a:solidFill>
          <a:ln w="12700">
            <a:solidFill>
              <a:schemeClr val="accent1"/>
            </a:solidFill>
            <a:prstDash val="solid"/>
          </a:ln>
        </p:spPr>
      </p:sp>
      <p:pic>
        <p:nvPicPr>
          <p:cNvPr id="10" name="icimg267" descr="preencoded.png">    </p:cNvPr>
          <p:cNvPicPr>
            <a:picLocks noChangeAspect="1"/>
          </p:cNvPicPr>
          <p:nvPr/>
        </p:nvPicPr>
        <p:blipFill>
          <a:blip r:embed="rId2"/>
          <a:stretch>
            <a:fillRect/>
          </a:stretch>
        </p:blipFill>
        <p:spPr>
          <a:xfrm>
            <a:off x="3694176" y="1664208"/>
            <a:ext cx="274320" cy="274320"/>
          </a:xfrm>
          <a:prstGeom prst="rect">
            <a:avLst/>
          </a:prstGeom>
        </p:spPr>
      </p:pic>
      <p:sp>
        <p:nvSpPr>
          <p:cNvPr id="11" name="t268"/>
          <p:cNvSpPr txBox="1"/>
          <p:nvPr/>
        </p:nvSpPr>
        <p:spPr>
          <a:xfrm>
            <a:off x="3557016" y="216712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Knowledge that tests itself</a:t>
            </a:r>
            <a:endParaRPr lang="en-US" sz="1500" dirty="0"/>
          </a:p>
        </p:txBody>
      </p:sp>
      <p:sp>
        <p:nvSpPr>
          <p:cNvPr id="12" name="t269"/>
          <p:cNvSpPr txBox="1"/>
          <p:nvPr/>
        </p:nvSpPr>
        <p:spPr>
          <a:xfrm>
            <a:off x="3557016" y="2697480"/>
            <a:ext cx="2267712" cy="868680"/>
          </a:xfrm>
          <a:prstGeom prst="rect">
            <a:avLst/>
          </a:prstGeom>
          <a:noFill/>
          <a:ln/>
        </p:spPr>
        <p:txBody>
          <a:bodyPr wrap="square" lIns="0" tIns="0" rIns="0" bIns="0" rtlCol="0" anchor="t"/>
          <a:lstStyle/>
          <a:p>
            <a:pPr indent="0" marL="0">
              <a:buNone/>
            </a:pPr>
            <a:r>
              <a:rPr lang="en-US" sz="1200" dirty="0">
                <a:solidFill>
                  <a:schemeClr val="tx2"/>
                </a:solidFill>
              </a:rPr>
              <a:t>Scheduled packets re-run findings' verify commands on new tool versions and flag the stale ones.</a:t>
            </a:r>
            <a:endParaRPr lang="en-US" sz="1200" dirty="0"/>
          </a:p>
        </p:txBody>
      </p:sp>
      <p:sp>
        <p:nvSpPr>
          <p:cNvPr id="13" name="card270"/>
          <p:cNvSpPr/>
          <p:nvPr/>
        </p:nvSpPr>
        <p:spPr>
          <a:xfrm>
            <a:off x="6163056" y="1325880"/>
            <a:ext cx="2670048" cy="2286000"/>
          </a:xfrm>
          <a:prstGeom prst="roundRect">
            <a:avLst>
              <a:gd name="adj" fmla="val 3200"/>
            </a:avLst>
          </a:prstGeom>
          <a:solidFill>
            <a:schemeClr val="bg2"/>
          </a:solidFill>
          <a:ln w="9525">
            <a:solidFill>
              <a:schemeClr val="bg2"/>
            </a:solidFill>
            <a:prstDash val="solid"/>
          </a:ln>
        </p:spPr>
      </p:sp>
      <p:sp>
        <p:nvSpPr>
          <p:cNvPr id="14" name="ic271"/>
          <p:cNvSpPr/>
          <p:nvPr/>
        </p:nvSpPr>
        <p:spPr>
          <a:xfrm>
            <a:off x="6364224" y="1527048"/>
            <a:ext cx="548640" cy="548640"/>
          </a:xfrm>
          <a:prstGeom prst="ellipse">
            <a:avLst/>
          </a:prstGeom>
          <a:solidFill>
            <a:schemeClr val="accent1"/>
          </a:solidFill>
          <a:ln w="12700">
            <a:solidFill>
              <a:schemeClr val="accent1"/>
            </a:solidFill>
            <a:prstDash val="solid"/>
          </a:ln>
        </p:spPr>
      </p:sp>
      <p:pic>
        <p:nvPicPr>
          <p:cNvPr id="15" name="icimg272" descr="preencoded.png">    </p:cNvPr>
          <p:cNvPicPr>
            <a:picLocks noChangeAspect="1"/>
          </p:cNvPicPr>
          <p:nvPr/>
        </p:nvPicPr>
        <p:blipFill>
          <a:blip r:embed="rId3"/>
          <a:stretch>
            <a:fillRect/>
          </a:stretch>
        </p:blipFill>
        <p:spPr>
          <a:xfrm>
            <a:off x="6501384" y="1664208"/>
            <a:ext cx="274320" cy="274320"/>
          </a:xfrm>
          <a:prstGeom prst="rect">
            <a:avLst/>
          </a:prstGeom>
        </p:spPr>
      </p:pic>
      <p:sp>
        <p:nvSpPr>
          <p:cNvPr id="16" name="t273"/>
          <p:cNvSpPr txBox="1"/>
          <p:nvPr/>
        </p:nvSpPr>
        <p:spPr>
          <a:xfrm>
            <a:off x="6364224" y="216712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Status from the journal</a:t>
            </a:r>
            <a:endParaRPr lang="en-US" sz="1500" dirty="0"/>
          </a:p>
        </p:txBody>
      </p:sp>
      <p:sp>
        <p:nvSpPr>
          <p:cNvPr id="17" name="t274"/>
          <p:cNvSpPr txBox="1"/>
          <p:nvPr/>
        </p:nvSpPr>
        <p:spPr>
          <a:xfrm>
            <a:off x="6364224" y="2697480"/>
            <a:ext cx="2267712" cy="868680"/>
          </a:xfrm>
          <a:prstGeom prst="rect">
            <a:avLst/>
          </a:prstGeom>
          <a:noFill/>
          <a:ln/>
        </p:spPr>
        <p:txBody>
          <a:bodyPr wrap="square" lIns="0" tIns="0" rIns="0" bIns="0" rtlCol="0" anchor="t"/>
          <a:lstStyle/>
          <a:p>
            <a:pPr indent="0" marL="0">
              <a:buNone/>
            </a:pPr>
            <a:r>
              <a:rPr lang="en-US" sz="1200" dirty="0">
                <a:solidFill>
                  <a:schemeClr val="tx2"/>
                </a:solidFill>
              </a:rPr>
              <a:t>Weekly team notes drafted from what the packets did. Shorter stand-ups; the same for public weekly posts.</a:t>
            </a:r>
            <a:endParaRPr lang="en-US" sz="1200" dirty="0"/>
          </a:p>
        </p:txBody>
      </p:sp>
      <p:sp>
        <p:nvSpPr>
          <p:cNvPr id="18" name="card275"/>
          <p:cNvSpPr/>
          <p:nvPr/>
        </p:nvSpPr>
        <p:spPr>
          <a:xfrm>
            <a:off x="8970264" y="1325880"/>
            <a:ext cx="2670048" cy="2286000"/>
          </a:xfrm>
          <a:prstGeom prst="roundRect">
            <a:avLst>
              <a:gd name="adj" fmla="val 3200"/>
            </a:avLst>
          </a:prstGeom>
          <a:solidFill>
            <a:schemeClr val="bg2"/>
          </a:solidFill>
          <a:ln w="9525">
            <a:solidFill>
              <a:schemeClr val="bg2"/>
            </a:solidFill>
            <a:prstDash val="solid"/>
          </a:ln>
        </p:spPr>
      </p:sp>
      <p:sp>
        <p:nvSpPr>
          <p:cNvPr id="19" name="ic276"/>
          <p:cNvSpPr/>
          <p:nvPr/>
        </p:nvSpPr>
        <p:spPr>
          <a:xfrm>
            <a:off x="9171432" y="1527048"/>
            <a:ext cx="548640" cy="548640"/>
          </a:xfrm>
          <a:prstGeom prst="ellipse">
            <a:avLst/>
          </a:prstGeom>
          <a:solidFill>
            <a:schemeClr val="accent1"/>
          </a:solidFill>
          <a:ln w="12700">
            <a:solidFill>
              <a:schemeClr val="accent1"/>
            </a:solidFill>
            <a:prstDash val="solid"/>
          </a:ln>
        </p:spPr>
      </p:sp>
      <p:pic>
        <p:nvPicPr>
          <p:cNvPr id="20" name="icimg277" descr="preencoded.png">    </p:cNvPr>
          <p:cNvPicPr>
            <a:picLocks noChangeAspect="1"/>
          </p:cNvPicPr>
          <p:nvPr/>
        </p:nvPicPr>
        <p:blipFill>
          <a:blip r:embed="rId4"/>
          <a:stretch>
            <a:fillRect/>
          </a:stretch>
        </p:blipFill>
        <p:spPr>
          <a:xfrm>
            <a:off x="9308592" y="1664208"/>
            <a:ext cx="274320" cy="274320"/>
          </a:xfrm>
          <a:prstGeom prst="rect">
            <a:avLst/>
          </a:prstGeom>
        </p:spPr>
      </p:pic>
      <p:sp>
        <p:nvSpPr>
          <p:cNvPr id="21" name="t278"/>
          <p:cNvSpPr txBox="1"/>
          <p:nvPr/>
        </p:nvSpPr>
        <p:spPr>
          <a:xfrm>
            <a:off x="9171432" y="216712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Agent spend you can steer</a:t>
            </a:r>
            <a:endParaRPr lang="en-US" sz="1500" dirty="0"/>
          </a:p>
        </p:txBody>
      </p:sp>
      <p:sp>
        <p:nvSpPr>
          <p:cNvPr id="22" name="t279"/>
          <p:cNvSpPr txBox="1"/>
          <p:nvPr/>
        </p:nvSpPr>
        <p:spPr>
          <a:xfrm>
            <a:off x="9171432" y="2697480"/>
            <a:ext cx="2267712" cy="868680"/>
          </a:xfrm>
          <a:prstGeom prst="rect">
            <a:avLst/>
          </a:prstGeom>
          <a:noFill/>
          <a:ln/>
        </p:spPr>
        <p:txBody>
          <a:bodyPr wrap="square" lIns="0" tIns="0" rIns="0" bIns="0" rtlCol="0" anchor="t"/>
          <a:lstStyle/>
          <a:p>
            <a:pPr indent="0" marL="0">
              <a:buNone/>
            </a:pPr>
            <a:r>
              <a:rPr lang="en-US" sz="1200" dirty="0">
                <a:solidFill>
                  <a:schemeClr val="tx2"/>
                </a:solidFill>
              </a:rPr>
              <a:t>Budgets per team, cost per finished task, models and harnesses compared on real work, not benchmarks.</a:t>
            </a:r>
            <a:endParaRPr lang="en-US" sz="1200" dirty="0"/>
          </a:p>
        </p:txBody>
      </p:sp>
      <p:sp>
        <p:nvSpPr>
          <p:cNvPr id="23" name="card280"/>
          <p:cNvSpPr/>
          <p:nvPr/>
        </p:nvSpPr>
        <p:spPr>
          <a:xfrm>
            <a:off x="548640" y="3794760"/>
            <a:ext cx="2670048" cy="2286000"/>
          </a:xfrm>
          <a:prstGeom prst="roundRect">
            <a:avLst>
              <a:gd name="adj" fmla="val 3200"/>
            </a:avLst>
          </a:prstGeom>
          <a:solidFill>
            <a:schemeClr val="bg2"/>
          </a:solidFill>
          <a:ln w="9525">
            <a:solidFill>
              <a:schemeClr val="bg2"/>
            </a:solidFill>
            <a:prstDash val="solid"/>
          </a:ln>
        </p:spPr>
      </p:sp>
      <p:sp>
        <p:nvSpPr>
          <p:cNvPr id="24" name="ic281"/>
          <p:cNvSpPr/>
          <p:nvPr/>
        </p:nvSpPr>
        <p:spPr>
          <a:xfrm>
            <a:off x="749808" y="3995928"/>
            <a:ext cx="548640" cy="548640"/>
          </a:xfrm>
          <a:prstGeom prst="ellipse">
            <a:avLst/>
          </a:prstGeom>
          <a:solidFill>
            <a:schemeClr val="accent1"/>
          </a:solidFill>
          <a:ln w="12700">
            <a:solidFill>
              <a:schemeClr val="accent1"/>
            </a:solidFill>
            <a:prstDash val="solid"/>
          </a:ln>
        </p:spPr>
      </p:sp>
      <p:pic>
        <p:nvPicPr>
          <p:cNvPr id="25" name="icimg282" descr="preencoded.png">    </p:cNvPr>
          <p:cNvPicPr>
            <a:picLocks noChangeAspect="1"/>
          </p:cNvPicPr>
          <p:nvPr/>
        </p:nvPicPr>
        <p:blipFill>
          <a:blip r:embed="rId5"/>
          <a:stretch>
            <a:fillRect/>
          </a:stretch>
        </p:blipFill>
        <p:spPr>
          <a:xfrm>
            <a:off x="886968" y="4133088"/>
            <a:ext cx="274320" cy="274320"/>
          </a:xfrm>
          <a:prstGeom prst="rect">
            <a:avLst/>
          </a:prstGeom>
        </p:spPr>
      </p:pic>
      <p:sp>
        <p:nvSpPr>
          <p:cNvPr id="26" name="t283"/>
          <p:cNvSpPr txBox="1"/>
          <p:nvPr/>
        </p:nvSpPr>
        <p:spPr>
          <a:xfrm>
            <a:off x="749808" y="463600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Vendor cases as packets</a:t>
            </a:r>
            <a:endParaRPr lang="en-US" sz="1500" dirty="0"/>
          </a:p>
        </p:txBody>
      </p:sp>
      <p:sp>
        <p:nvSpPr>
          <p:cNvPr id="27" name="t284"/>
          <p:cNvSpPr txBox="1"/>
          <p:nvPr/>
        </p:nvSpPr>
        <p:spPr>
          <a:xfrm>
            <a:off x="749808" y="5166360"/>
            <a:ext cx="2267712" cy="868680"/>
          </a:xfrm>
          <a:prstGeom prst="rect">
            <a:avLst/>
          </a:prstGeom>
          <a:noFill/>
          <a:ln/>
        </p:spPr>
        <p:txBody>
          <a:bodyPr wrap="square" lIns="0" tIns="0" rIns="0" bIns="0" rtlCol="0" anchor="t"/>
          <a:lstStyle/>
          <a:p>
            <a:pPr indent="0" marL="0">
              <a:buNone/>
            </a:pPr>
            <a:r>
              <a:rPr lang="en-US" sz="1200" dirty="0">
                <a:solidFill>
                  <a:schemeClr val="tx2"/>
                </a:solidFill>
              </a:rPr>
              <a:t>A reduced, reproducing testcase to the EDA or IP vendor; their progress shows on your board.</a:t>
            </a:r>
            <a:endParaRPr lang="en-US" sz="1200" dirty="0"/>
          </a:p>
        </p:txBody>
      </p:sp>
      <p:sp>
        <p:nvSpPr>
          <p:cNvPr id="28" name="card285"/>
          <p:cNvSpPr/>
          <p:nvPr/>
        </p:nvSpPr>
        <p:spPr>
          <a:xfrm>
            <a:off x="3355848" y="3794760"/>
            <a:ext cx="2670048" cy="2286000"/>
          </a:xfrm>
          <a:prstGeom prst="roundRect">
            <a:avLst>
              <a:gd name="adj" fmla="val 3200"/>
            </a:avLst>
          </a:prstGeom>
          <a:solidFill>
            <a:schemeClr val="bg2"/>
          </a:solidFill>
          <a:ln w="9525">
            <a:solidFill>
              <a:schemeClr val="bg2"/>
            </a:solidFill>
            <a:prstDash val="solid"/>
          </a:ln>
        </p:spPr>
      </p:sp>
      <p:sp>
        <p:nvSpPr>
          <p:cNvPr id="29" name="ic286"/>
          <p:cNvSpPr/>
          <p:nvPr/>
        </p:nvSpPr>
        <p:spPr>
          <a:xfrm>
            <a:off x="3557016" y="3995928"/>
            <a:ext cx="548640" cy="548640"/>
          </a:xfrm>
          <a:prstGeom prst="ellipse">
            <a:avLst/>
          </a:prstGeom>
          <a:solidFill>
            <a:schemeClr val="accent1"/>
          </a:solidFill>
          <a:ln w="12700">
            <a:solidFill>
              <a:schemeClr val="accent1"/>
            </a:solidFill>
            <a:prstDash val="solid"/>
          </a:ln>
        </p:spPr>
      </p:sp>
      <p:pic>
        <p:nvPicPr>
          <p:cNvPr id="30" name="icimg287" descr="preencoded.png">    </p:cNvPr>
          <p:cNvPicPr>
            <a:picLocks noChangeAspect="1"/>
          </p:cNvPicPr>
          <p:nvPr/>
        </p:nvPicPr>
        <p:blipFill>
          <a:blip r:embed="rId6"/>
          <a:stretch>
            <a:fillRect/>
          </a:stretch>
        </p:blipFill>
        <p:spPr>
          <a:xfrm>
            <a:off x="3694176" y="4133088"/>
            <a:ext cx="274320" cy="274320"/>
          </a:xfrm>
          <a:prstGeom prst="rect">
            <a:avLst/>
          </a:prstGeom>
        </p:spPr>
      </p:pic>
      <p:sp>
        <p:nvSpPr>
          <p:cNvPr id="31" name="t288"/>
          <p:cNvSpPr txBox="1"/>
          <p:nvPr/>
        </p:nvSpPr>
        <p:spPr>
          <a:xfrm>
            <a:off x="3557016" y="463600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Follow-the-sun hand-off</a:t>
            </a:r>
            <a:endParaRPr lang="en-US" sz="1500" dirty="0"/>
          </a:p>
        </p:txBody>
      </p:sp>
      <p:sp>
        <p:nvSpPr>
          <p:cNvPr id="32" name="t289"/>
          <p:cNvSpPr txBox="1"/>
          <p:nvPr/>
        </p:nvSpPr>
        <p:spPr>
          <a:xfrm>
            <a:off x="3557016" y="5166360"/>
            <a:ext cx="2267712" cy="868680"/>
          </a:xfrm>
          <a:prstGeom prst="rect">
            <a:avLst/>
          </a:prstGeom>
          <a:noFill/>
          <a:ln/>
        </p:spPr>
        <p:txBody>
          <a:bodyPr wrap="square" lIns="0" tIns="0" rIns="0" bIns="0" rtlCol="0" anchor="t"/>
          <a:lstStyle/>
          <a:p>
            <a:pPr indent="0" marL="0">
              <a:buNone/>
            </a:pPr>
            <a:r>
              <a:rPr lang="en-US" sz="1200" dirty="0">
                <a:solidFill>
                  <a:schemeClr val="tx2"/>
                </a:solidFill>
              </a:rPr>
              <a:t>Packets cross time zones with owner, plan and history; the next site starts where the last stopped.</a:t>
            </a:r>
            <a:endParaRPr lang="en-US" sz="1200" dirty="0"/>
          </a:p>
        </p:txBody>
      </p:sp>
      <p:sp>
        <p:nvSpPr>
          <p:cNvPr id="33" name="card290"/>
          <p:cNvSpPr/>
          <p:nvPr/>
        </p:nvSpPr>
        <p:spPr>
          <a:xfrm>
            <a:off x="6163056" y="3794760"/>
            <a:ext cx="2670048" cy="2286000"/>
          </a:xfrm>
          <a:prstGeom prst="roundRect">
            <a:avLst>
              <a:gd name="adj" fmla="val 3200"/>
            </a:avLst>
          </a:prstGeom>
          <a:solidFill>
            <a:schemeClr val="bg2"/>
          </a:solidFill>
          <a:ln w="9525">
            <a:solidFill>
              <a:schemeClr val="bg2"/>
            </a:solidFill>
            <a:prstDash val="solid"/>
          </a:ln>
        </p:spPr>
      </p:sp>
      <p:sp>
        <p:nvSpPr>
          <p:cNvPr id="34" name="ic291"/>
          <p:cNvSpPr/>
          <p:nvPr/>
        </p:nvSpPr>
        <p:spPr>
          <a:xfrm>
            <a:off x="6364224" y="3995928"/>
            <a:ext cx="548640" cy="548640"/>
          </a:xfrm>
          <a:prstGeom prst="ellipse">
            <a:avLst/>
          </a:prstGeom>
          <a:solidFill>
            <a:schemeClr val="accent1"/>
          </a:solidFill>
          <a:ln w="12700">
            <a:solidFill>
              <a:schemeClr val="accent1"/>
            </a:solidFill>
            <a:prstDash val="solid"/>
          </a:ln>
        </p:spPr>
      </p:sp>
      <p:pic>
        <p:nvPicPr>
          <p:cNvPr id="35" name="icimg292" descr="preencoded.png">    </p:cNvPr>
          <p:cNvPicPr>
            <a:picLocks noChangeAspect="1"/>
          </p:cNvPicPr>
          <p:nvPr/>
        </p:nvPicPr>
        <p:blipFill>
          <a:blip r:embed="rId7"/>
          <a:stretch>
            <a:fillRect/>
          </a:stretch>
        </p:blipFill>
        <p:spPr>
          <a:xfrm>
            <a:off x="6501384" y="4133088"/>
            <a:ext cx="274320" cy="274320"/>
          </a:xfrm>
          <a:prstGeom prst="rect">
            <a:avLst/>
          </a:prstGeom>
        </p:spPr>
      </p:pic>
      <p:sp>
        <p:nvSpPr>
          <p:cNvPr id="36" name="t293"/>
          <p:cNvSpPr txBox="1"/>
          <p:nvPr/>
        </p:nvSpPr>
        <p:spPr>
          <a:xfrm>
            <a:off x="6364224" y="463600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Onboarding by example</a:t>
            </a:r>
            <a:endParaRPr lang="en-US" sz="1500" dirty="0"/>
          </a:p>
        </p:txBody>
      </p:sp>
      <p:sp>
        <p:nvSpPr>
          <p:cNvPr id="37" name="t294"/>
          <p:cNvSpPr txBox="1"/>
          <p:nvPr/>
        </p:nvSpPr>
        <p:spPr>
          <a:xfrm>
            <a:off x="6364224" y="5166360"/>
            <a:ext cx="2267712" cy="868680"/>
          </a:xfrm>
          <a:prstGeom prst="rect">
            <a:avLst/>
          </a:prstGeom>
          <a:noFill/>
          <a:ln/>
        </p:spPr>
        <p:txBody>
          <a:bodyPr wrap="square" lIns="0" tIns="0" rIns="0" bIns="0" rtlCol="0" anchor="t"/>
          <a:lstStyle/>
          <a:p>
            <a:pPr indent="0" marL="0">
              <a:buNone/>
            </a:pPr>
            <a:r>
              <a:rPr lang="en-US" sz="1200" dirty="0">
                <a:solidFill>
                  <a:schemeClr val="tx2"/>
                </a:solidFill>
              </a:rPr>
              <a:t>Finished packets as worked examples: "fork this investigation" on my repo.</a:t>
            </a:r>
            <a:endParaRPr lang="en-US" sz="1200" dirty="0"/>
          </a:p>
        </p:txBody>
      </p:sp>
      <p:sp>
        <p:nvSpPr>
          <p:cNvPr id="38" name="card295"/>
          <p:cNvSpPr/>
          <p:nvPr/>
        </p:nvSpPr>
        <p:spPr>
          <a:xfrm>
            <a:off x="8970264" y="3794760"/>
            <a:ext cx="2670048" cy="2286000"/>
          </a:xfrm>
          <a:prstGeom prst="roundRect">
            <a:avLst>
              <a:gd name="adj" fmla="val 3200"/>
            </a:avLst>
          </a:prstGeom>
          <a:solidFill>
            <a:schemeClr val="bg2"/>
          </a:solidFill>
          <a:ln w="9525">
            <a:solidFill>
              <a:schemeClr val="bg2"/>
            </a:solidFill>
            <a:prstDash val="solid"/>
          </a:ln>
        </p:spPr>
      </p:sp>
      <p:sp>
        <p:nvSpPr>
          <p:cNvPr id="39" name="ic296"/>
          <p:cNvSpPr/>
          <p:nvPr/>
        </p:nvSpPr>
        <p:spPr>
          <a:xfrm>
            <a:off x="9171432" y="3995928"/>
            <a:ext cx="548640" cy="548640"/>
          </a:xfrm>
          <a:prstGeom prst="ellipse">
            <a:avLst/>
          </a:prstGeom>
          <a:solidFill>
            <a:schemeClr val="accent1"/>
          </a:solidFill>
          <a:ln w="12700">
            <a:solidFill>
              <a:schemeClr val="accent1"/>
            </a:solidFill>
            <a:prstDash val="solid"/>
          </a:ln>
        </p:spPr>
      </p:sp>
      <p:pic>
        <p:nvPicPr>
          <p:cNvPr id="40" name="icimg297" descr="preencoded.png">    </p:cNvPr>
          <p:cNvPicPr>
            <a:picLocks noChangeAspect="1"/>
          </p:cNvPicPr>
          <p:nvPr/>
        </p:nvPicPr>
        <p:blipFill>
          <a:blip r:embed="rId8"/>
          <a:stretch>
            <a:fillRect/>
          </a:stretch>
        </p:blipFill>
        <p:spPr>
          <a:xfrm>
            <a:off x="9308592" y="4133088"/>
            <a:ext cx="274320" cy="274320"/>
          </a:xfrm>
          <a:prstGeom prst="rect">
            <a:avLst/>
          </a:prstGeom>
        </p:spPr>
      </p:pic>
      <p:sp>
        <p:nvSpPr>
          <p:cNvPr id="41" name="t298"/>
          <p:cNvSpPr txBox="1"/>
          <p:nvPr/>
        </p:nvSpPr>
        <p:spPr>
          <a:xfrm>
            <a:off x="9171432" y="4636008"/>
            <a:ext cx="2267712"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org's agent memory</a:t>
            </a:r>
            <a:endParaRPr lang="en-US" sz="1500" dirty="0"/>
          </a:p>
        </p:txBody>
      </p:sp>
      <p:sp>
        <p:nvSpPr>
          <p:cNvPr id="42" name="t299"/>
          <p:cNvSpPr txBox="1"/>
          <p:nvPr/>
        </p:nvSpPr>
        <p:spPr>
          <a:xfrm>
            <a:off x="9171432" y="5166360"/>
            <a:ext cx="2267712" cy="868680"/>
          </a:xfrm>
          <a:prstGeom prst="rect">
            <a:avLst/>
          </a:prstGeom>
          <a:noFill/>
          <a:ln/>
        </p:spPr>
        <p:txBody>
          <a:bodyPr wrap="square" lIns="0" tIns="0" rIns="0" bIns="0" rtlCol="0" anchor="t"/>
          <a:lstStyle/>
          <a:p>
            <a:pPr indent="0" marL="0">
              <a:buNone/>
            </a:pPr>
            <a:r>
              <a:rPr lang="en-US" sz="1200" dirty="0">
                <a:solidFill>
                  <a:schemeClr val="tx2"/>
                </a:solidFill>
              </a:rPr>
              <a:t>The hub's merged findings served over MCP to any agent or tool, kept current as a side effect of work.</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Where we are: one engineer's tool works</a:t>
            </a:r>
            <a:endParaRPr lang="en-US" sz="3200" dirty="0"/>
          </a:p>
        </p:txBody>
      </p:sp>
      <p:sp>
        <p:nvSpPr>
          <p:cNvPr id="3" name="card300"/>
          <p:cNvSpPr/>
          <p:nvPr/>
        </p:nvSpPr>
        <p:spPr>
          <a:xfrm>
            <a:off x="548640" y="1325880"/>
            <a:ext cx="2670048" cy="960120"/>
          </a:xfrm>
          <a:prstGeom prst="roundRect">
            <a:avLst>
              <a:gd name="adj" fmla="val 7619"/>
            </a:avLst>
          </a:prstGeom>
          <a:solidFill>
            <a:schemeClr val="tx1"/>
          </a:solidFill>
          <a:ln w="9525">
            <a:solidFill>
              <a:schemeClr val="tx1"/>
            </a:solidFill>
            <a:prstDash val="solid"/>
          </a:ln>
        </p:spPr>
      </p:sp>
      <p:sp>
        <p:nvSpPr>
          <p:cNvPr id="4" name="t301"/>
          <p:cNvSpPr txBox="1"/>
          <p:nvPr/>
        </p:nvSpPr>
        <p:spPr>
          <a:xfrm>
            <a:off x="731520" y="1325880"/>
            <a:ext cx="1188720" cy="9601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466</a:t>
            </a:r>
            <a:endParaRPr lang="en-US" sz="2400" dirty="0"/>
          </a:p>
        </p:txBody>
      </p:sp>
      <p:sp>
        <p:nvSpPr>
          <p:cNvPr id="5" name="t302"/>
          <p:cNvSpPr txBox="1"/>
          <p:nvPr/>
        </p:nvSpPr>
        <p:spPr>
          <a:xfrm>
            <a:off x="1920240" y="1325880"/>
            <a:ext cx="1161288" cy="960120"/>
          </a:xfrm>
          <a:prstGeom prst="rect">
            <a:avLst/>
          </a:prstGeom>
          <a:noFill/>
          <a:ln/>
        </p:spPr>
        <p:txBody>
          <a:bodyPr wrap="square" lIns="0" tIns="0" rIns="0" bIns="0" rtlCol="0" anchor="ctr"/>
          <a:lstStyle/>
          <a:p>
            <a:pPr indent="0" marL="0">
              <a:buNone/>
            </a:pPr>
            <a:r>
              <a:rPr lang="en-US" sz="1200" dirty="0">
                <a:solidFill>
                  <a:schemeClr val="bg1"/>
                </a:solidFill>
              </a:rPr>
              <a:t>tests pass</a:t>
            </a:r>
            <a:endParaRPr lang="en-US" sz="1200" dirty="0"/>
          </a:p>
        </p:txBody>
      </p:sp>
      <p:sp>
        <p:nvSpPr>
          <p:cNvPr id="6" name="card303"/>
          <p:cNvSpPr/>
          <p:nvPr/>
        </p:nvSpPr>
        <p:spPr>
          <a:xfrm>
            <a:off x="3355848" y="1325880"/>
            <a:ext cx="2670048" cy="960120"/>
          </a:xfrm>
          <a:prstGeom prst="roundRect">
            <a:avLst>
              <a:gd name="adj" fmla="val 7619"/>
            </a:avLst>
          </a:prstGeom>
          <a:solidFill>
            <a:schemeClr val="tx1"/>
          </a:solidFill>
          <a:ln w="9525">
            <a:solidFill>
              <a:schemeClr val="tx1"/>
            </a:solidFill>
            <a:prstDash val="solid"/>
          </a:ln>
        </p:spPr>
      </p:sp>
      <p:sp>
        <p:nvSpPr>
          <p:cNvPr id="7" name="t304"/>
          <p:cNvSpPr txBox="1"/>
          <p:nvPr/>
        </p:nvSpPr>
        <p:spPr>
          <a:xfrm>
            <a:off x="3538728" y="1325880"/>
            <a:ext cx="1188720" cy="9601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C1–C4</a:t>
            </a:r>
            <a:endParaRPr lang="en-US" sz="2400" dirty="0"/>
          </a:p>
        </p:txBody>
      </p:sp>
      <p:sp>
        <p:nvSpPr>
          <p:cNvPr id="8" name="t305"/>
          <p:cNvSpPr txBox="1"/>
          <p:nvPr/>
        </p:nvSpPr>
        <p:spPr>
          <a:xfrm>
            <a:off x="4727448" y="1325880"/>
            <a:ext cx="1161288" cy="960120"/>
          </a:xfrm>
          <a:prstGeom prst="rect">
            <a:avLst/>
          </a:prstGeom>
          <a:noFill/>
          <a:ln/>
        </p:spPr>
        <p:txBody>
          <a:bodyPr wrap="square" lIns="0" tIns="0" rIns="0" bIns="0" rtlCol="0" anchor="ctr"/>
          <a:lstStyle/>
          <a:p>
            <a:pPr indent="0" marL="0">
              <a:buNone/>
            </a:pPr>
            <a:r>
              <a:rPr lang="en-US" sz="1200" dirty="0">
                <a:solidFill>
                  <a:schemeClr val="bg1"/>
                </a:solidFill>
              </a:rPr>
              <a:t>context controls, measured live</a:t>
            </a:r>
            <a:endParaRPr lang="en-US" sz="1200" dirty="0"/>
          </a:p>
        </p:txBody>
      </p:sp>
      <p:sp>
        <p:nvSpPr>
          <p:cNvPr id="9" name="card306"/>
          <p:cNvSpPr/>
          <p:nvPr/>
        </p:nvSpPr>
        <p:spPr>
          <a:xfrm>
            <a:off x="6163056" y="1325880"/>
            <a:ext cx="2670048" cy="960120"/>
          </a:xfrm>
          <a:prstGeom prst="roundRect">
            <a:avLst>
              <a:gd name="adj" fmla="val 7619"/>
            </a:avLst>
          </a:prstGeom>
          <a:solidFill>
            <a:schemeClr val="tx1"/>
          </a:solidFill>
          <a:ln w="9525">
            <a:solidFill>
              <a:schemeClr val="tx1"/>
            </a:solidFill>
            <a:prstDash val="solid"/>
          </a:ln>
        </p:spPr>
      </p:sp>
      <p:sp>
        <p:nvSpPr>
          <p:cNvPr id="10" name="t307"/>
          <p:cNvSpPr txBox="1"/>
          <p:nvPr/>
        </p:nvSpPr>
        <p:spPr>
          <a:xfrm>
            <a:off x="6345936" y="1325880"/>
            <a:ext cx="1188720" cy="9601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$0.48</a:t>
            </a:r>
            <a:endParaRPr lang="en-US" sz="2400" dirty="0"/>
          </a:p>
        </p:txBody>
      </p:sp>
      <p:sp>
        <p:nvSpPr>
          <p:cNvPr id="11" name="t308"/>
          <p:cNvSpPr txBox="1"/>
          <p:nvPr/>
        </p:nvSpPr>
        <p:spPr>
          <a:xfrm>
            <a:off x="7534656" y="1325880"/>
            <a:ext cx="1161288" cy="960120"/>
          </a:xfrm>
          <a:prstGeom prst="rect">
            <a:avLst/>
          </a:prstGeom>
          <a:noFill/>
          <a:ln/>
        </p:spPr>
        <p:txBody>
          <a:bodyPr wrap="square" lIns="0" tIns="0" rIns="0" bIns="0" rtlCol="0" anchor="ctr"/>
          <a:lstStyle/>
          <a:p>
            <a:pPr indent="0" marL="0">
              <a:buNone/>
            </a:pPr>
            <a:r>
              <a:rPr lang="en-US" sz="1200" dirty="0">
                <a:solidFill>
                  <a:schemeClr val="bg1"/>
                </a:solidFill>
              </a:rPr>
              <a:t>three live runs on the board</a:t>
            </a:r>
            <a:endParaRPr lang="en-US" sz="1200" dirty="0"/>
          </a:p>
        </p:txBody>
      </p:sp>
      <p:sp>
        <p:nvSpPr>
          <p:cNvPr id="12" name="card309"/>
          <p:cNvSpPr/>
          <p:nvPr/>
        </p:nvSpPr>
        <p:spPr>
          <a:xfrm>
            <a:off x="8970264" y="1325880"/>
            <a:ext cx="2670048" cy="960120"/>
          </a:xfrm>
          <a:prstGeom prst="roundRect">
            <a:avLst>
              <a:gd name="adj" fmla="val 7619"/>
            </a:avLst>
          </a:prstGeom>
          <a:solidFill>
            <a:schemeClr val="tx1"/>
          </a:solidFill>
          <a:ln w="9525">
            <a:solidFill>
              <a:schemeClr val="tx1"/>
            </a:solidFill>
            <a:prstDash val="solid"/>
          </a:ln>
        </p:spPr>
      </p:sp>
      <p:sp>
        <p:nvSpPr>
          <p:cNvPr id="13" name="t310"/>
          <p:cNvSpPr txBox="1"/>
          <p:nvPr/>
        </p:nvSpPr>
        <p:spPr>
          <a:xfrm>
            <a:off x="9153144" y="1325880"/>
            <a:ext cx="1188720" cy="9601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36</a:t>
            </a:r>
            <a:endParaRPr lang="en-US" sz="2400" dirty="0"/>
          </a:p>
        </p:txBody>
      </p:sp>
      <p:sp>
        <p:nvSpPr>
          <p:cNvPr id="14" name="t311"/>
          <p:cNvSpPr txBox="1"/>
          <p:nvPr/>
        </p:nvSpPr>
        <p:spPr>
          <a:xfrm>
            <a:off x="10341864" y="1325880"/>
            <a:ext cx="1161288" cy="960120"/>
          </a:xfrm>
          <a:prstGeom prst="rect">
            <a:avLst/>
          </a:prstGeom>
          <a:noFill/>
          <a:ln/>
        </p:spPr>
        <p:txBody>
          <a:bodyPr wrap="square" lIns="0" tIns="0" rIns="0" bIns="0" rtlCol="0" anchor="ctr"/>
          <a:lstStyle/>
          <a:p>
            <a:pPr indent="0" marL="0">
              <a:buNone/>
            </a:pPr>
            <a:r>
              <a:rPr lang="en-US" sz="1200" dirty="0">
                <a:solidFill>
                  <a:schemeClr val="bg1"/>
                </a:solidFill>
              </a:rPr>
              <a:t>steps on dvs-enh in one week</a:t>
            </a:r>
            <a:endParaRPr lang="en-US" sz="1200" dirty="0"/>
          </a:p>
        </p:txBody>
      </p:sp>
      <p:sp>
        <p:nvSpPr>
          <p:cNvPr id="15" name="card312"/>
          <p:cNvSpPr/>
          <p:nvPr/>
        </p:nvSpPr>
        <p:spPr>
          <a:xfrm>
            <a:off x="548640" y="2514600"/>
            <a:ext cx="5468112" cy="3611880"/>
          </a:xfrm>
          <a:prstGeom prst="roundRect">
            <a:avLst>
              <a:gd name="adj" fmla="val 2025"/>
            </a:avLst>
          </a:prstGeom>
          <a:solidFill>
            <a:schemeClr val="accent6"/>
          </a:solidFill>
          <a:ln w="9525">
            <a:solidFill>
              <a:schemeClr val="accent6"/>
            </a:solidFill>
            <a:prstDash val="solid"/>
          </a:ln>
        </p:spPr>
      </p:sp>
      <p:sp>
        <p:nvSpPr>
          <p:cNvPr id="16" name="pill313"/>
          <p:cNvSpPr/>
          <p:nvPr/>
        </p:nvSpPr>
        <p:spPr>
          <a:xfrm>
            <a:off x="822960" y="2715768"/>
            <a:ext cx="2011680" cy="292608"/>
          </a:xfrm>
          <a:prstGeom prst="roundRect">
            <a:avLst>
              <a:gd name="adj" fmla="val 50000"/>
            </a:avLst>
          </a:prstGeom>
          <a:solidFill>
            <a:srgbClr val="2A9D8F"/>
          </a:solidFill>
          <a:ln w="12700">
            <a:solidFill>
              <a:srgbClr val="2A9D8F"/>
            </a:solidFill>
            <a:prstDash val="solid"/>
          </a:ln>
        </p:spPr>
      </p:sp>
      <p:sp>
        <p:nvSpPr>
          <p:cNvPr id="17" name="t314"/>
          <p:cNvSpPr txBox="1"/>
          <p:nvPr/>
        </p:nvSpPr>
        <p:spPr>
          <a:xfrm>
            <a:off x="822960" y="2715768"/>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Built</a:t>
            </a:r>
            <a:endParaRPr lang="en-US" sz="1100" dirty="0"/>
          </a:p>
        </p:txBody>
      </p:sp>
      <p:sp>
        <p:nvSpPr>
          <p:cNvPr id="18" name="t315"/>
          <p:cNvSpPr txBox="1"/>
          <p:nvPr/>
        </p:nvSpPr>
        <p:spPr>
          <a:xfrm>
            <a:off x="822960" y="3154680"/>
            <a:ext cx="4965192"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Packet format v0.2 and wpk check; atomic steps, crash recovery</a:t>
            </a:r>
            <a:endParaRPr lang="en-US" sz="1400" dirty="0"/>
          </a:p>
          <a:p>
            <a:pPr marL="342900" indent="-342900">
              <a:spcAft>
                <a:spcPts val="600"/>
              </a:spcAft>
              <a:buSzPct val="100000"/>
              <a:buChar char="•"/>
            </a:pPr>
            <a:r>
              <a:rPr lang="en-US" sz="1400" dirty="0">
                <a:solidFill>
                  <a:schemeClr val="tx1"/>
                </a:solidFill>
              </a:rPr>
              <a:t>Scheduler: resume now, later or on a schedule; projects and registry</a:t>
            </a:r>
            <a:endParaRPr lang="en-US" sz="1400" dirty="0"/>
          </a:p>
          <a:p>
            <a:pPr marL="342900" indent="-342900">
              <a:spcAft>
                <a:spcPts val="600"/>
              </a:spcAft>
              <a:buSzPct val="100000"/>
              <a:buChar char="•"/>
            </a:pPr>
            <a:r>
              <a:rPr lang="en-US" sz="1400" dirty="0">
                <a:solidFill>
                  <a:schemeClr val="tx1"/>
                </a:solidFill>
              </a:rPr>
              <a:t>The board: boards, live view, transcripts, questions, notes, hand-off, next batch</a:t>
            </a:r>
            <a:endParaRPr lang="en-US" sz="1400" dirty="0"/>
          </a:p>
          <a:p>
            <a:pPr marL="342900" indent="-342900">
              <a:spcAft>
                <a:spcPts val="600"/>
              </a:spcAft>
              <a:buSzPct val="100000"/>
              <a:buChar char="•"/>
            </a:pPr>
            <a:r>
              <a:rPr lang="en-US" sz="1400" dirty="0">
                <a:solidFill>
                  <a:schemeClr val="tx1"/>
                </a:solidFill>
              </a:rPr>
              <a:t>New task, Compose, a shell in the browser; VS Code desktop and web</a:t>
            </a:r>
            <a:endParaRPr lang="en-US" sz="1400" dirty="0"/>
          </a:p>
          <a:p>
            <a:pPr marL="342900" indent="-342900">
              <a:spcAft>
                <a:spcPts val="600"/>
              </a:spcAft>
              <a:buSzPct val="100000"/>
              <a:buChar char="•"/>
            </a:pPr>
            <a:r>
              <a:rPr lang="en-US" sz="1400" dirty="0">
                <a:solidFill>
                  <a:schemeClr val="tx1"/>
                </a:solidFill>
              </a:rPr>
              <a:t>Context hook and carry-over; wpk stats with tokens, quota and advice</a:t>
            </a:r>
            <a:endParaRPr lang="en-US" sz="1400" dirty="0"/>
          </a:p>
          <a:p>
            <a:pPr marL="342900" indent="-342900">
              <a:spcAft>
                <a:spcPts val="600"/>
              </a:spcAft>
              <a:buSzPct val="100000"/>
              <a:buChar char="•"/>
            </a:pPr>
            <a:r>
              <a:rPr lang="en-US" sz="1400" dirty="0">
                <a:solidFill>
                  <a:schemeClr val="tx1"/>
                </a:solidFill>
              </a:rPr>
              <a:t>wpk doctor and the setup wizard; the board on a tailnet with its login</a:t>
            </a:r>
            <a:endParaRPr lang="en-US" sz="1400" dirty="0"/>
          </a:p>
        </p:txBody>
      </p:sp>
      <p:sp>
        <p:nvSpPr>
          <p:cNvPr id="19" name="card316"/>
          <p:cNvSpPr/>
          <p:nvPr/>
        </p:nvSpPr>
        <p:spPr>
          <a:xfrm>
            <a:off x="6172200" y="2514600"/>
            <a:ext cx="5468112" cy="3611880"/>
          </a:xfrm>
          <a:prstGeom prst="roundRect">
            <a:avLst>
              <a:gd name="adj" fmla="val 2025"/>
            </a:avLst>
          </a:prstGeom>
          <a:solidFill>
            <a:schemeClr val="accent5"/>
          </a:solidFill>
          <a:ln w="9525">
            <a:solidFill>
              <a:schemeClr val="accent5"/>
            </a:solidFill>
            <a:prstDash val="solid"/>
          </a:ln>
        </p:spPr>
      </p:sp>
      <p:sp>
        <p:nvSpPr>
          <p:cNvPr id="20" name="pill317"/>
          <p:cNvSpPr/>
          <p:nvPr/>
        </p:nvSpPr>
        <p:spPr>
          <a:xfrm>
            <a:off x="6446520" y="2715768"/>
            <a:ext cx="2011680" cy="292608"/>
          </a:xfrm>
          <a:prstGeom prst="roundRect">
            <a:avLst>
              <a:gd name="adj" fmla="val 50000"/>
            </a:avLst>
          </a:prstGeom>
          <a:solidFill>
            <a:srgbClr val="E8A33D"/>
          </a:solidFill>
          <a:ln w="12700">
            <a:solidFill>
              <a:srgbClr val="E8A33D"/>
            </a:solidFill>
            <a:prstDash val="solid"/>
          </a:ln>
        </p:spPr>
      </p:sp>
      <p:sp>
        <p:nvSpPr>
          <p:cNvPr id="21" name="t318"/>
          <p:cNvSpPr txBox="1"/>
          <p:nvPr/>
        </p:nvSpPr>
        <p:spPr>
          <a:xfrm>
            <a:off x="6446520" y="2715768"/>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Designed, not built</a:t>
            </a:r>
            <a:endParaRPr lang="en-US" sz="1100" dirty="0"/>
          </a:p>
        </p:txBody>
      </p:sp>
      <p:sp>
        <p:nvSpPr>
          <p:cNvPr id="22" name="t319"/>
          <p:cNvSpPr txBox="1"/>
          <p:nvPr/>
        </p:nvSpPr>
        <p:spPr>
          <a:xfrm>
            <a:off x="6446520" y="3154680"/>
            <a:ext cx="4965192"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Long-running work: work/ repos atomic per step, take and HELD (R1)</a:t>
            </a:r>
            <a:endParaRPr lang="en-US" sz="1400" dirty="0"/>
          </a:p>
          <a:p>
            <a:pPr marL="342900" indent="-342900">
              <a:spcAft>
                <a:spcPts val="600"/>
              </a:spcAft>
              <a:buSzPct val="100000"/>
              <a:buChar char="•"/>
            </a:pPr>
            <a:r>
              <a:rPr lang="en-US" sz="1400" dirty="0">
                <a:solidFill>
                  <a:schemeClr val="tx1"/>
                </a:solidFill>
              </a:rPr>
              <a:t>Persistent sessions; jobs with progress, dv-flow-mgr adapter; REST API (R2–R3)</a:t>
            </a:r>
            <a:endParaRPr lang="en-US" sz="1400" dirty="0"/>
          </a:p>
          <a:p>
            <a:pPr marL="342900" indent="-342900">
              <a:spcAft>
                <a:spcPts val="600"/>
              </a:spcAft>
              <a:buSzPct val="100000"/>
              <a:buChar char="•"/>
            </a:pPr>
            <a:r>
              <a:rPr lang="en-US" sz="1400" dirty="0">
                <a:solidFill>
                  <a:schemeClr val="tx1"/>
                </a:solidFill>
              </a:rPr>
              <a:t>Export profiles, CI failure → packet, reports (R4)</a:t>
            </a:r>
            <a:endParaRPr lang="en-US" sz="1400" dirty="0"/>
          </a:p>
          <a:p>
            <a:pPr marL="342900" indent="-342900">
              <a:spcAft>
                <a:spcPts val="600"/>
              </a:spcAft>
              <a:buSzPct val="100000"/>
              <a:buChar char="•"/>
            </a:pPr>
            <a:r>
              <a:rPr lang="en-US" sz="1400" dirty="0">
                <a:solidFill>
                  <a:schemeClr val="tx1"/>
                </a:solidFill>
              </a:rPr>
              <a:t>Links, assign and consult (R5); the hub with OIDC, policy, audit (R6)</a:t>
            </a:r>
            <a:endParaRPr lang="en-US" sz="1400" dirty="0"/>
          </a:p>
          <a:p>
            <a:pPr marL="342900" indent="-342900">
              <a:spcAft>
                <a:spcPts val="600"/>
              </a:spcAft>
              <a:buSzPct val="100000"/>
              <a:buChar char="•"/>
            </a:pPr>
            <a:r>
              <a:rPr lang="en-US" sz="1400" dirty="0">
                <a:solidFill>
                  <a:schemeClr val="tx1"/>
                </a:solidFill>
              </a:rPr>
              <a:t>Findings, index, questions, triage inbox, channels (K1–K4)</a:t>
            </a:r>
            <a:endParaRPr lang="en-US" sz="1400" dirty="0"/>
          </a:p>
          <a:p>
            <a:pPr marL="342900" indent="-342900">
              <a:spcAft>
                <a:spcPts val="600"/>
              </a:spcAft>
              <a:buSzPct val="100000"/>
              <a:buChar char="•"/>
            </a:pPr>
            <a:r>
              <a:rPr lang="en-US" sz="1400" dirty="0">
                <a:solidFill>
                  <a:schemeClr val="tx1"/>
                </a:solidFill>
              </a:rPr>
              <a:t>Weekly post from the journal (K0): the first social feature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Roadmap: one engineer, then a team, then the organization</a:t>
            </a:r>
            <a:endParaRPr lang="en-US" sz="3200" dirty="0"/>
          </a:p>
        </p:txBody>
      </p:sp>
      <p:sp>
        <p:nvSpPr>
          <p:cNvPr id="3" name="card320"/>
          <p:cNvSpPr/>
          <p:nvPr/>
        </p:nvSpPr>
        <p:spPr>
          <a:xfrm>
            <a:off x="548640" y="1325880"/>
            <a:ext cx="2670048" cy="868680"/>
          </a:xfrm>
          <a:prstGeom prst="roundRect">
            <a:avLst>
              <a:gd name="adj" fmla="val 8421"/>
            </a:avLst>
          </a:prstGeom>
          <a:solidFill>
            <a:srgbClr val="2A9D8F"/>
          </a:solidFill>
          <a:ln w="9525">
            <a:solidFill>
              <a:srgbClr val="2A9D8F"/>
            </a:solidFill>
            <a:prstDash val="solid"/>
          </a:ln>
        </p:spPr>
      </p:sp>
      <p:sp>
        <p:nvSpPr>
          <p:cNvPr id="4" name="t321"/>
          <p:cNvSpPr txBox="1"/>
          <p:nvPr/>
        </p:nvSpPr>
        <p:spPr>
          <a:xfrm>
            <a:off x="731520" y="1399032"/>
            <a:ext cx="2304288"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Now</a:t>
            </a:r>
            <a:endParaRPr lang="en-US" sz="2000" dirty="0"/>
          </a:p>
        </p:txBody>
      </p:sp>
      <p:sp>
        <p:nvSpPr>
          <p:cNvPr id="5" name="t322"/>
          <p:cNvSpPr txBox="1"/>
          <p:nvPr/>
        </p:nvSpPr>
        <p:spPr>
          <a:xfrm>
            <a:off x="731520" y="1801368"/>
            <a:ext cx="2304288" cy="320040"/>
          </a:xfrm>
          <a:prstGeom prst="rect">
            <a:avLst/>
          </a:prstGeom>
          <a:noFill/>
          <a:ln/>
        </p:spPr>
        <p:txBody>
          <a:bodyPr wrap="square" lIns="0" tIns="0" rIns="0" bIns="0" rtlCol="0" anchor="t"/>
          <a:lstStyle/>
          <a:p>
            <a:pPr indent="0" marL="0">
              <a:buNone/>
            </a:pPr>
            <a:r>
              <a:rPr lang="en-US" sz="1200" dirty="0">
                <a:solidFill>
                  <a:schemeClr val="bg1"/>
                </a:solidFill>
              </a:rPr>
              <a:t>One engineer, every day</a:t>
            </a:r>
            <a:endParaRPr lang="en-US" sz="1200" dirty="0"/>
          </a:p>
        </p:txBody>
      </p:sp>
      <p:sp>
        <p:nvSpPr>
          <p:cNvPr id="6" name="card323"/>
          <p:cNvSpPr/>
          <p:nvPr/>
        </p:nvSpPr>
        <p:spPr>
          <a:xfrm>
            <a:off x="548640" y="2286000"/>
            <a:ext cx="2670048" cy="3154680"/>
          </a:xfrm>
          <a:prstGeom prst="roundRect">
            <a:avLst>
              <a:gd name="adj" fmla="val 2740"/>
            </a:avLst>
          </a:prstGeom>
          <a:solidFill>
            <a:schemeClr val="bg2"/>
          </a:solidFill>
          <a:ln w="9525">
            <a:solidFill>
              <a:schemeClr val="bg2"/>
            </a:solidFill>
            <a:prstDash val="solid"/>
          </a:ln>
        </p:spPr>
      </p:sp>
      <p:sp>
        <p:nvSpPr>
          <p:cNvPr id="7" name="t324"/>
          <p:cNvSpPr txBox="1"/>
          <p:nvPr/>
        </p:nvSpPr>
        <p:spPr>
          <a:xfrm>
            <a:off x="685800" y="2423160"/>
            <a:ext cx="239572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R1 trustworthy ownership: steps atomic in work/ repos; take</a:t>
            </a:r>
            <a:endParaRPr lang="en-US" sz="1200" dirty="0"/>
          </a:p>
          <a:p>
            <a:pPr marL="342900" indent="-342900">
              <a:spcAft>
                <a:spcPts val="600"/>
              </a:spcAft>
              <a:buSzPct val="100000"/>
              <a:buChar char="•"/>
            </a:pPr>
            <a:r>
              <a:rPr lang="en-US" sz="1200" dirty="0">
                <a:solidFill>
                  <a:schemeClr val="tx1"/>
                </a:solidFill>
              </a:rPr>
              <a:t>R2 sessions that last; IDE from the board</a:t>
            </a:r>
            <a:endParaRPr lang="en-US" sz="1200" dirty="0"/>
          </a:p>
          <a:p>
            <a:pPr marL="342900" indent="-342900">
              <a:spcAft>
                <a:spcPts val="600"/>
              </a:spcAft>
              <a:buSzPct val="100000"/>
              <a:buChar char="•"/>
            </a:pPr>
            <a:r>
              <a:rPr lang="en-US" sz="1200" dirty="0">
                <a:solidFill>
                  <a:schemeClr val="tx1"/>
                </a:solidFill>
              </a:rPr>
              <a:t>K0 weekly notes and posts drafted from the journal</a:t>
            </a:r>
            <a:endParaRPr lang="en-US" sz="1200" dirty="0"/>
          </a:p>
          <a:p>
            <a:pPr marL="342900" indent="-342900">
              <a:spcAft>
                <a:spcPts val="600"/>
              </a:spcAft>
              <a:buSzPct val="100000"/>
              <a:buChar char="•"/>
            </a:pPr>
            <a:r>
              <a:rPr lang="en-US" sz="1200" dirty="0">
                <a:solidFill>
                  <a:schemeClr val="tx1"/>
                </a:solidFill>
              </a:rPr>
              <a:t>Pilot: 2–3 engineers on real DV projects</a:t>
            </a:r>
            <a:endParaRPr lang="en-US" sz="1200" dirty="0"/>
          </a:p>
        </p:txBody>
      </p:sp>
      <p:sp>
        <p:nvSpPr>
          <p:cNvPr id="8" name="t325"/>
          <p:cNvSpPr txBox="1"/>
          <p:nvPr/>
        </p:nvSpPr>
        <p:spPr>
          <a:xfrm>
            <a:off x="731520" y="4800600"/>
            <a:ext cx="2304288" cy="548640"/>
          </a:xfrm>
          <a:prstGeom prst="rect">
            <a:avLst/>
          </a:prstGeom>
          <a:noFill/>
          <a:ln/>
        </p:spPr>
        <p:txBody>
          <a:bodyPr wrap="square" lIns="0" tIns="0" rIns="0" bIns="0" rtlCol="0" anchor="t"/>
          <a:lstStyle/>
          <a:p>
            <a:pPr indent="0" marL="0">
              <a:buNone/>
            </a:pPr>
            <a:r>
              <a:rPr lang="en-US" sz="1100" i="1" dirty="0">
                <a:solidFill>
                  <a:schemeClr val="tx2"/>
                </a:solidFill>
              </a:rPr>
              <a:t>Exit: a step fails midway and the worktree is clean</a:t>
            </a:r>
            <a:endParaRPr lang="en-US" sz="1100" dirty="0"/>
          </a:p>
        </p:txBody>
      </p:sp>
      <p:sp>
        <p:nvSpPr>
          <p:cNvPr id="9" name="card326"/>
          <p:cNvSpPr/>
          <p:nvPr/>
        </p:nvSpPr>
        <p:spPr>
          <a:xfrm>
            <a:off x="3355848" y="1325880"/>
            <a:ext cx="2670048" cy="868680"/>
          </a:xfrm>
          <a:prstGeom prst="roundRect">
            <a:avLst>
              <a:gd name="adj" fmla="val 8421"/>
            </a:avLst>
          </a:prstGeom>
          <a:solidFill>
            <a:srgbClr val="E8A33D"/>
          </a:solidFill>
          <a:ln w="9525">
            <a:solidFill>
              <a:srgbClr val="E8A33D"/>
            </a:solidFill>
            <a:prstDash val="solid"/>
          </a:ln>
        </p:spPr>
      </p:sp>
      <p:sp>
        <p:nvSpPr>
          <p:cNvPr id="10" name="t327"/>
          <p:cNvSpPr txBox="1"/>
          <p:nvPr/>
        </p:nvSpPr>
        <p:spPr>
          <a:xfrm>
            <a:off x="3538728" y="1399032"/>
            <a:ext cx="2304288"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Next</a:t>
            </a:r>
            <a:endParaRPr lang="en-US" sz="2000" dirty="0"/>
          </a:p>
        </p:txBody>
      </p:sp>
      <p:sp>
        <p:nvSpPr>
          <p:cNvPr id="11" name="t328"/>
          <p:cNvSpPr txBox="1"/>
          <p:nvPr/>
        </p:nvSpPr>
        <p:spPr>
          <a:xfrm>
            <a:off x="3538728" y="1801368"/>
            <a:ext cx="2304288" cy="320040"/>
          </a:xfrm>
          <a:prstGeom prst="rect">
            <a:avLst/>
          </a:prstGeom>
          <a:noFill/>
          <a:ln/>
        </p:spPr>
        <p:txBody>
          <a:bodyPr wrap="square" lIns="0" tIns="0" rIns="0" bIns="0" rtlCol="0" anchor="t"/>
          <a:lstStyle/>
          <a:p>
            <a:pPr indent="0" marL="0">
              <a:buNone/>
            </a:pPr>
            <a:r>
              <a:rPr lang="en-US" sz="1200" dirty="0">
                <a:solidFill>
                  <a:schemeClr val="bg1"/>
                </a:solidFill>
              </a:rPr>
              <a:t>Step into the bug</a:t>
            </a:r>
            <a:endParaRPr lang="en-US" sz="1200" dirty="0"/>
          </a:p>
        </p:txBody>
      </p:sp>
      <p:sp>
        <p:nvSpPr>
          <p:cNvPr id="12" name="card329"/>
          <p:cNvSpPr/>
          <p:nvPr/>
        </p:nvSpPr>
        <p:spPr>
          <a:xfrm>
            <a:off x="3355848" y="2286000"/>
            <a:ext cx="2670048" cy="3154680"/>
          </a:xfrm>
          <a:prstGeom prst="roundRect">
            <a:avLst>
              <a:gd name="adj" fmla="val 2740"/>
            </a:avLst>
          </a:prstGeom>
          <a:solidFill>
            <a:schemeClr val="bg2"/>
          </a:solidFill>
          <a:ln w="9525">
            <a:solidFill>
              <a:schemeClr val="bg2"/>
            </a:solidFill>
            <a:prstDash val="solid"/>
          </a:ln>
        </p:spPr>
      </p:sp>
      <p:sp>
        <p:nvSpPr>
          <p:cNvPr id="13" name="t330"/>
          <p:cNvSpPr txBox="1"/>
          <p:nvPr/>
        </p:nvSpPr>
        <p:spPr>
          <a:xfrm>
            <a:off x="3493008" y="2423160"/>
            <a:ext cx="239572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R3 jobs and the API: regressions wake packets; phone alerts</a:t>
            </a:r>
            <a:endParaRPr lang="en-US" sz="1200" dirty="0"/>
          </a:p>
          <a:p>
            <a:pPr marL="342900" indent="-342900">
              <a:spcAft>
                <a:spcPts val="600"/>
              </a:spcAft>
              <a:buSzPct val="100000"/>
              <a:buChar char="•"/>
            </a:pPr>
            <a:r>
              <a:rPr lang="en-US" sz="1200" dirty="0">
                <a:solidFill>
                  <a:schemeClr val="tx1"/>
                </a:solidFill>
              </a:rPr>
              <a:t>R4 export profiles; CI failure → packet; reports</a:t>
            </a:r>
            <a:endParaRPr lang="en-US" sz="1200" dirty="0"/>
          </a:p>
          <a:p>
            <a:pPr marL="342900" indent="-342900">
              <a:spcAft>
                <a:spcPts val="600"/>
              </a:spcAft>
              <a:buSzPct val="100000"/>
              <a:buChar char="•"/>
            </a:pPr>
            <a:r>
              <a:rPr lang="en-US" sz="1200" dirty="0">
                <a:solidFill>
                  <a:schemeClr val="tx1"/>
                </a:solidFill>
              </a:rPr>
              <a:t>K1 findings, wpk search, the MCP tool</a:t>
            </a:r>
            <a:endParaRPr lang="en-US" sz="1200" dirty="0"/>
          </a:p>
        </p:txBody>
      </p:sp>
      <p:sp>
        <p:nvSpPr>
          <p:cNvPr id="14" name="t331"/>
          <p:cNvSpPr txBox="1"/>
          <p:nvPr/>
        </p:nvSpPr>
        <p:spPr>
          <a:xfrm>
            <a:off x="3538728" y="4800600"/>
            <a:ext cx="2304288" cy="548640"/>
          </a:xfrm>
          <a:prstGeom prst="rect">
            <a:avLst/>
          </a:prstGeom>
          <a:noFill/>
          <a:ln/>
        </p:spPr>
        <p:txBody>
          <a:bodyPr wrap="square" lIns="0" tIns="0" rIns="0" bIns="0" rtlCol="0" anchor="t"/>
          <a:lstStyle/>
          <a:p>
            <a:pPr indent="0" marL="0">
              <a:buNone/>
            </a:pPr>
            <a:r>
              <a:rPr lang="en-US" sz="1100" i="1" dirty="0">
                <a:solidFill>
                  <a:schemeClr val="tx2"/>
                </a:solidFill>
              </a:rPr>
              <a:t>Exit: a real CI failure reproduces from the board</a:t>
            </a:r>
            <a:endParaRPr lang="en-US" sz="1100" dirty="0"/>
          </a:p>
        </p:txBody>
      </p:sp>
      <p:sp>
        <p:nvSpPr>
          <p:cNvPr id="15" name="card332"/>
          <p:cNvSpPr/>
          <p:nvPr/>
        </p:nvSpPr>
        <p:spPr>
          <a:xfrm>
            <a:off x="6163056" y="1325880"/>
            <a:ext cx="2670048" cy="868680"/>
          </a:xfrm>
          <a:prstGeom prst="roundRect">
            <a:avLst>
              <a:gd name="adj" fmla="val 8421"/>
            </a:avLst>
          </a:prstGeom>
          <a:solidFill>
            <a:srgbClr val="C8553D"/>
          </a:solidFill>
          <a:ln w="9525">
            <a:solidFill>
              <a:srgbClr val="C8553D"/>
            </a:solidFill>
            <a:prstDash val="solid"/>
          </a:ln>
        </p:spPr>
      </p:sp>
      <p:sp>
        <p:nvSpPr>
          <p:cNvPr id="16" name="t333"/>
          <p:cNvSpPr txBox="1"/>
          <p:nvPr/>
        </p:nvSpPr>
        <p:spPr>
          <a:xfrm>
            <a:off x="6345936" y="1399032"/>
            <a:ext cx="2304288"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Later</a:t>
            </a:r>
            <a:endParaRPr lang="en-US" sz="2000" dirty="0"/>
          </a:p>
        </p:txBody>
      </p:sp>
      <p:sp>
        <p:nvSpPr>
          <p:cNvPr id="17" name="t334"/>
          <p:cNvSpPr txBox="1"/>
          <p:nvPr/>
        </p:nvSpPr>
        <p:spPr>
          <a:xfrm>
            <a:off x="6345936" y="1801368"/>
            <a:ext cx="2304288" cy="320040"/>
          </a:xfrm>
          <a:prstGeom prst="rect">
            <a:avLst/>
          </a:prstGeom>
          <a:noFill/>
          <a:ln/>
        </p:spPr>
        <p:txBody>
          <a:bodyPr wrap="square" lIns="0" tIns="0" rIns="0" bIns="0" rtlCol="0" anchor="t"/>
          <a:lstStyle/>
          <a:p>
            <a:pPr indent="0" marL="0">
              <a:buNone/>
            </a:pPr>
            <a:r>
              <a:rPr lang="en-US" sz="1200" dirty="0">
                <a:solidFill>
                  <a:schemeClr val="bg1"/>
                </a:solidFill>
              </a:rPr>
              <a:t>A team, then the org</a:t>
            </a:r>
            <a:endParaRPr lang="en-US" sz="1200" dirty="0"/>
          </a:p>
        </p:txBody>
      </p:sp>
      <p:sp>
        <p:nvSpPr>
          <p:cNvPr id="18" name="card335"/>
          <p:cNvSpPr/>
          <p:nvPr/>
        </p:nvSpPr>
        <p:spPr>
          <a:xfrm>
            <a:off x="6163056" y="2286000"/>
            <a:ext cx="2670048" cy="3154680"/>
          </a:xfrm>
          <a:prstGeom prst="roundRect">
            <a:avLst>
              <a:gd name="adj" fmla="val 2740"/>
            </a:avLst>
          </a:prstGeom>
          <a:solidFill>
            <a:schemeClr val="bg2"/>
          </a:solidFill>
          <a:ln w="9525">
            <a:solidFill>
              <a:schemeClr val="bg2"/>
            </a:solidFill>
            <a:prstDash val="solid"/>
          </a:ln>
        </p:spPr>
      </p:sp>
      <p:sp>
        <p:nvSpPr>
          <p:cNvPr id="19" name="t336"/>
          <p:cNvSpPr txBox="1"/>
          <p:nvPr/>
        </p:nvSpPr>
        <p:spPr>
          <a:xfrm>
            <a:off x="6300216" y="2423160"/>
            <a:ext cx="239572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R5 links: assign and consult, no server</a:t>
            </a:r>
            <a:endParaRPr lang="en-US" sz="1200" dirty="0"/>
          </a:p>
          <a:p>
            <a:pPr marL="342900" indent="-342900">
              <a:spcAft>
                <a:spcPts val="600"/>
              </a:spcAft>
              <a:buSzPct val="100000"/>
              <a:buChar char="•"/>
            </a:pPr>
            <a:r>
              <a:rPr lang="en-US" sz="1200" dirty="0">
                <a:solidFill>
                  <a:schemeClr val="tx1"/>
                </a:solidFill>
              </a:rPr>
              <a:t>K2 questions and snapshots over links; triage inbox</a:t>
            </a:r>
            <a:endParaRPr lang="en-US" sz="1200" dirty="0"/>
          </a:p>
          <a:p>
            <a:pPr marL="342900" indent="-342900">
              <a:spcAft>
                <a:spcPts val="600"/>
              </a:spcAft>
              <a:buSzPct val="100000"/>
              <a:buChar char="•"/>
            </a:pPr>
            <a:r>
              <a:rPr lang="en-US" sz="1200" dirty="0">
                <a:solidFill>
                  <a:schemeClr val="tx1"/>
                </a:solidFill>
              </a:rPr>
              <a:t>R6 hub: OIDC, policy, audit, team boards, CI intake</a:t>
            </a:r>
            <a:endParaRPr lang="en-US" sz="1200" dirty="0"/>
          </a:p>
          <a:p>
            <a:pPr marL="342900" indent="-342900">
              <a:spcAft>
                <a:spcPts val="600"/>
              </a:spcAft>
              <a:buSzPct val="100000"/>
              <a:buChar char="•"/>
            </a:pPr>
            <a:r>
              <a:rPr lang="en-US" sz="1200" dirty="0">
                <a:solidFill>
                  <a:schemeClr val="tx1"/>
                </a:solidFill>
              </a:rPr>
              <a:t>K3–K4 channels; "who has solved this"</a:t>
            </a:r>
            <a:endParaRPr lang="en-US" sz="1200" dirty="0"/>
          </a:p>
        </p:txBody>
      </p:sp>
      <p:sp>
        <p:nvSpPr>
          <p:cNvPr id="20" name="t337"/>
          <p:cNvSpPr txBox="1"/>
          <p:nvPr/>
        </p:nvSpPr>
        <p:spPr>
          <a:xfrm>
            <a:off x="6345936" y="4800600"/>
            <a:ext cx="2304288" cy="548640"/>
          </a:xfrm>
          <a:prstGeom prst="rect">
            <a:avLst/>
          </a:prstGeom>
          <a:noFill/>
          <a:ln/>
        </p:spPr>
        <p:txBody>
          <a:bodyPr wrap="square" lIns="0" tIns="0" rIns="0" bIns="0" rtlCol="0" anchor="t"/>
          <a:lstStyle/>
          <a:p>
            <a:pPr indent="0" marL="0">
              <a:buNone/>
            </a:pPr>
            <a:r>
              <a:rPr lang="en-US" sz="1100" i="1" dirty="0">
                <a:solidFill>
                  <a:schemeClr val="tx2"/>
                </a:solidFill>
              </a:rPr>
              <a:t>Exit: a CI failure lands on the right person's board</a:t>
            </a:r>
            <a:endParaRPr lang="en-US" sz="1100" dirty="0"/>
          </a:p>
        </p:txBody>
      </p:sp>
      <p:sp>
        <p:nvSpPr>
          <p:cNvPr id="21" name="card338"/>
          <p:cNvSpPr/>
          <p:nvPr/>
        </p:nvSpPr>
        <p:spPr>
          <a:xfrm>
            <a:off x="8970264" y="1325880"/>
            <a:ext cx="2670048" cy="868680"/>
          </a:xfrm>
          <a:prstGeom prst="roundRect">
            <a:avLst>
              <a:gd name="adj" fmla="val 8421"/>
            </a:avLst>
          </a:prstGeom>
          <a:solidFill>
            <a:srgbClr val="6B7B8C"/>
          </a:solidFill>
          <a:ln w="9525">
            <a:solidFill>
              <a:srgbClr val="6B7B8C"/>
            </a:solidFill>
            <a:prstDash val="solid"/>
          </a:ln>
        </p:spPr>
      </p:sp>
      <p:sp>
        <p:nvSpPr>
          <p:cNvPr id="22" name="t339"/>
          <p:cNvSpPr txBox="1"/>
          <p:nvPr/>
        </p:nvSpPr>
        <p:spPr>
          <a:xfrm>
            <a:off x="9153144" y="1399032"/>
            <a:ext cx="2304288"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Horizon</a:t>
            </a:r>
            <a:endParaRPr lang="en-US" sz="2000" dirty="0"/>
          </a:p>
        </p:txBody>
      </p:sp>
      <p:sp>
        <p:nvSpPr>
          <p:cNvPr id="23" name="t340"/>
          <p:cNvSpPr txBox="1"/>
          <p:nvPr/>
        </p:nvSpPr>
        <p:spPr>
          <a:xfrm>
            <a:off x="9153144" y="1801368"/>
            <a:ext cx="2304288" cy="320040"/>
          </a:xfrm>
          <a:prstGeom prst="rect">
            <a:avLst/>
          </a:prstGeom>
          <a:noFill/>
          <a:ln/>
        </p:spPr>
        <p:txBody>
          <a:bodyPr wrap="square" lIns="0" tIns="0" rIns="0" bIns="0" rtlCol="0" anchor="t"/>
          <a:lstStyle/>
          <a:p>
            <a:pPr indent="0" marL="0">
              <a:buNone/>
            </a:pPr>
            <a:r>
              <a:rPr lang="en-US" sz="1200" dirty="0">
                <a:solidFill>
                  <a:schemeClr val="bg1"/>
                </a:solidFill>
              </a:rPr>
              <a:t>Beyond the plan</a:t>
            </a:r>
            <a:endParaRPr lang="en-US" sz="1200" dirty="0"/>
          </a:p>
        </p:txBody>
      </p:sp>
      <p:sp>
        <p:nvSpPr>
          <p:cNvPr id="24" name="card341"/>
          <p:cNvSpPr/>
          <p:nvPr/>
        </p:nvSpPr>
        <p:spPr>
          <a:xfrm>
            <a:off x="8970264" y="2286000"/>
            <a:ext cx="2670048" cy="3154680"/>
          </a:xfrm>
          <a:prstGeom prst="roundRect">
            <a:avLst>
              <a:gd name="adj" fmla="val 2740"/>
            </a:avLst>
          </a:prstGeom>
          <a:solidFill>
            <a:schemeClr val="bg2"/>
          </a:solidFill>
          <a:ln w="9525">
            <a:solidFill>
              <a:schemeClr val="bg2"/>
            </a:solidFill>
            <a:prstDash val="solid"/>
          </a:ln>
        </p:spPr>
      </p:sp>
      <p:sp>
        <p:nvSpPr>
          <p:cNvPr id="25" name="t342"/>
          <p:cNvSpPr txBox="1"/>
          <p:nvPr/>
        </p:nvSpPr>
        <p:spPr>
          <a:xfrm>
            <a:off x="9107424" y="2423160"/>
            <a:ext cx="2395728"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R7 vendor and customer reports, reproduction gate</a:t>
            </a:r>
            <a:endParaRPr lang="en-US" sz="1200" dirty="0"/>
          </a:p>
          <a:p>
            <a:pPr marL="342900" indent="-342900">
              <a:spcAft>
                <a:spcPts val="600"/>
              </a:spcAft>
              <a:buSzPct val="100000"/>
              <a:buChar char="•"/>
            </a:pPr>
            <a:r>
              <a:rPr lang="en-US" sz="1200" dirty="0">
                <a:solidFill>
                  <a:schemeClr val="tx1"/>
                </a:solidFill>
              </a:rPr>
              <a:t>R8 browser IDE, SLURM, licence pools</a:t>
            </a:r>
            <a:endParaRPr lang="en-US" sz="1200" dirty="0"/>
          </a:p>
          <a:p>
            <a:pPr marL="342900" indent="-342900">
              <a:spcAft>
                <a:spcPts val="600"/>
              </a:spcAft>
              <a:buSzPct val="100000"/>
              <a:buChar char="•"/>
            </a:pPr>
            <a:r>
              <a:rPr lang="en-US" sz="1200" dirty="0">
                <a:solidFill>
                  <a:schemeClr val="tx1"/>
                </a:solidFill>
              </a:rPr>
              <a:t>Triage farm, verify farm, spend governance</a:t>
            </a:r>
            <a:endParaRPr lang="en-US" sz="1200" dirty="0"/>
          </a:p>
        </p:txBody>
      </p:sp>
      <p:sp>
        <p:nvSpPr>
          <p:cNvPr id="26" name="t343"/>
          <p:cNvSpPr txBox="1"/>
          <p:nvPr/>
        </p:nvSpPr>
        <p:spPr>
          <a:xfrm>
            <a:off x="9153144" y="4800600"/>
            <a:ext cx="2304288" cy="548640"/>
          </a:xfrm>
          <a:prstGeom prst="rect">
            <a:avLst/>
          </a:prstGeom>
          <a:noFill/>
          <a:ln/>
        </p:spPr>
        <p:txBody>
          <a:bodyPr wrap="square" lIns="0" tIns="0" rIns="0" bIns="0" rtlCol="0" anchor="t"/>
          <a:lstStyle/>
          <a:p>
            <a:pPr indent="0" marL="0">
              <a:buNone/>
            </a:pPr>
            <a:r>
              <a:rPr lang="en-US" sz="1100" i="1" dirty="0">
                <a:solidFill>
                  <a:schemeClr val="tx2"/>
                </a:solidFill>
              </a:rPr>
              <a:t>Decide after the pilot</a:t>
            </a:r>
            <a:endParaRPr lang="en-US" sz="1100" dirty="0"/>
          </a:p>
        </p:txBody>
      </p:sp>
      <p:sp>
        <p:nvSpPr>
          <p:cNvPr id="27" name="card344"/>
          <p:cNvSpPr/>
          <p:nvPr/>
        </p:nvSpPr>
        <p:spPr>
          <a:xfrm>
            <a:off x="548640" y="5532120"/>
            <a:ext cx="11094415" cy="640080"/>
          </a:xfrm>
          <a:prstGeom prst="roundRect">
            <a:avLst>
              <a:gd name="adj" fmla="val 11429"/>
            </a:avLst>
          </a:prstGeom>
          <a:solidFill>
            <a:schemeClr val="tx1"/>
          </a:solidFill>
          <a:ln w="9525">
            <a:solidFill>
              <a:schemeClr val="tx1"/>
            </a:solidFill>
            <a:prstDash val="solid"/>
          </a:ln>
        </p:spPr>
      </p:sp>
      <p:sp>
        <p:nvSpPr>
          <p:cNvPr id="28" name="t345"/>
          <p:cNvSpPr txBox="1"/>
          <p:nvPr/>
        </p:nvSpPr>
        <p:spPr>
          <a:xfrm>
            <a:off x="868680" y="5532120"/>
            <a:ext cx="10454335" cy="640080"/>
          </a:xfrm>
          <a:prstGeom prst="rect">
            <a:avLst/>
          </a:prstGeom>
          <a:noFill/>
          <a:ln/>
        </p:spPr>
        <p:txBody>
          <a:bodyPr wrap="square" lIns="0" tIns="0" rIns="0" bIns="0" rtlCol="0" anchor="ctr"/>
          <a:lstStyle/>
          <a:p>
            <a:pPr indent="0" marL="0">
              <a:buNone/>
            </a:pPr>
            <a:r>
              <a:rPr lang="en-US" sz="1700" b="1" dirty="0">
                <a:solidFill>
                  <a:srgbClr val="E8A33D"/>
                </a:solidFill>
              </a:rPr>
              <a:t>The ask: </a:t>
            </a:r>
            <a:pPr indent="0" marL="0">
              <a:buNone/>
            </a:pPr>
            <a:r>
              <a:rPr lang="en-US" sz="1700" dirty="0">
                <a:solidFill>
                  <a:srgbClr val="FFFFFF"/>
                </a:solidFill>
              </a:rPr>
              <a:t>two pilot teams, a host for a team hub, and a default for what others may see (D5).</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hosphor">
  <a:themeElements>
    <a:clrScheme name="Phosphor">
      <a:dk1>
        <a:srgbClr val="1C2128"/>
      </a:dk1>
      <a:lt1>
        <a:srgbClr val="FFFFFF"/>
      </a:lt1>
      <a:dk2>
        <a:srgbClr val="33414F"/>
      </a:dk2>
      <a:lt2>
        <a:srgbClr val="EEF1F4"/>
      </a:lt2>
      <a:accent1>
        <a:srgbClr val="E8A33D"/>
      </a:accent1>
      <a:accent2>
        <a:srgbClr val="2A9D8F"/>
      </a:accent2>
      <a:accent3>
        <a:srgbClr val="6B7B8C"/>
      </a:accent3>
      <a:accent4>
        <a:srgbClr val="C8553D"/>
      </a:accent4>
      <a:accent5>
        <a:srgbClr val="F6E3C1"/>
      </a:accent5>
      <a:accent6>
        <a:srgbClr val="D5ECE9"/>
      </a:accent6>
      <a:hlink>
        <a:srgbClr val="2A9D8F"/>
      </a:hlink>
      <a:folHlink>
        <a:srgbClr val="6B7B8C"/>
      </a:folHlink>
    </a:clrScheme>
    <a:fontScheme name="Phosph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work-packet: agent work you can track, share and ask about</dc:title>
  <dc:subject>PptxGenJS Presentation</dc:subject>
  <dc:creator>Matthew Ballance</dc:creator>
  <cp:lastModifiedBy>Matthew Ballance</cp:lastModifiedBy>
  <cp:revision>1</cp:revision>
  <dcterms:created xsi:type="dcterms:W3CDTF">2026-10-25T20:26:17Z</dcterms:created>
  <dcterms:modified xsi:type="dcterms:W3CDTF">2026-10-25T20:26:17Z</dcterms:modified>
</cp:coreProperties>
</file>
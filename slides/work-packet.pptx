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cept" id="{cff76ff4-dd39-0918-15a6-d2415d0f7ad6}">
          <p14:sldIdLst>
            <p14:sldId id="256"/>
            <p14:sldId id="257"/>
            <p14:sldId id="258"/>
            <p14:sldId id="259"/>
            <p14:sldId id="260"/>
            <p14:sldId id="261"/>
            <p14:sldId id="262"/>
          </p14:sldIdLst>
        </p14:section>
        <p14:section name="Prior art" id="{81b9d43e-8bf4-1eaa-e15a-f17b171597fb}">
          <p14:sldIdLst>
            <p14:sldId id="263"/>
            <p14:sldId id="264"/>
            <p14:sldId id="265"/>
            <p14:sldId id="266"/>
            <p14:sldId id="267"/>
          </p14:sldIdLst>
        </p14:section>
        <p14:section name="Positioning" id="{c24de6b3-7dff-53d7-903f-4611afb8649a}">
          <p14:sldIdLst>
            <p14:sldId id="268"/>
            <p14:sldId id="269"/>
          </p14:sldIdLst>
        </p14:section>
        <p14:section name="User experience" id="{a8371c54-6cfc-736f-5781-a4ba40fad51c}">
          <p14:sldIdLst>
            <p14:sldId id="270"/>
            <p14:sldId id="271"/>
            <p14:sldId id="272"/>
            <p14:sldId id="273"/>
            <p14:sldId id="274"/>
            <p14:sldId id="275"/>
            <p14:sldId id="276"/>
          </p14:sldIdLst>
        </p14:section>
        <p14:section name="Roadmap" id="{64310bc6-ee77-6d36-7ce8-1da68e0d0f3c}">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work-packet (command: wpk). Concept: make LLM agents behave like OS processes; a work packet is one such agent process. Each has an ID, a directory of state, and a 'memento' (next instruction) that lets any fresh, stateless model invocation resume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move: stop treating context as the place where state lives. Move state into files and treat each model call as a stateless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Directory layout from Design.md. The mapping table is the mental model: everything an OS keeps in a process control block, the agent keeps as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can use a different, cheaper model (the prototype ran on Haiku 4.5). The packet only has to fit its next unit of work in context, not its whole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Scheduled resumption makes work packets periodic: a nightly regression triage, a weekly dependency check, a follow-up on a PR in three days. While asleep the packet costs nothing and is only files, unlike a server-resident agent. Design detail is in docs/roadmap.md, 'Scheduled resumption'.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fork/exec analogue. The parent's loop survives across many model calls only because the counter and the instruction live in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test/sub/count.md = 9 while add_one.md stops at 8; children 860b5f22 (never evaluated, no p.md) and 3550d964 (completed) both carry the same instruction. bf474803: completion_status says 5 writes; log2.out has 6. These are classic at-least-once / non-idempotent step problems that durable-execution systems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family is the closest match. Durable execution solves the correctness problems the prototype exposed; actors and supervision solve the team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work-packet wins on inspectability and weight, and is unusual in forking files rather than transcripts. It is weakest on replay and exactly-once semantics, which is exactly where durable-execution systems are strongest.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Durable-execution platforms all have durable timers, but need a server or a vendor runtime. Agent frameworks mostly leave scheduling to external cron. work-packet's twist: the agent chooses its own wake time in plain language, and the sleeping packet is just files. Check the API names against current docs before 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Quine and Gas Town show that the process metaphor works at scale. Durable execution and LangGraph show how to make each step safe to retry and rewind.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user experience in five steps. Everything here is designed in docs/runner.md: wpk new, the per-user runner (a systemd user service), the local web board, the ask/inbox flow, and the per-step record that makes transcripts browsable.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home page. Cards are not dragged between columns: each column is derived from the root packet state, and the buttons on a card (Pause, Resume, Wake now, Reply) run the same code as the CLI. A badge appears if anything below the root has failed or needs input. Live updates come over server-sent events from events.jsonl.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one project. The tree on the left comes from parent links in status.md; the timeline shows every step across the tree, with sleeps and waits as dashed gaps. Actions run CLI commands; Fork from step needs Phase 4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step viewer. Prompt and long tool outputs are collapsed. 'Open in Claude Code' forks the step's session for debugging, so the recorded history is never changed. Steps are kept until pruned by hand with wpk prune; journal.jsonl keeps one line per step after pruning.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packet writes 'ask:' in its memento to stop and ask a question; it moves to NEEDS_INPUT, a notification goes out (desktop or webhook), and the question appears in the inbox. The Upcoming view lists every scheduled wake across all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follow from three design rules in docs/runner.md: files are the source of truth, the executor knows nothing about the runner, and the dashboard and CLI share one code path for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phase reuses a design someone else has already proven. The research also gives regression tests (known failure modes), benchmark baselines (Ralph loop, LangGraph) and a build-or-buy fallback (DBOS or Temporal under the same directory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 (time) is highlighted: scheduled resumption is the feature that makes work packets periodic. It depends on P1, because a recurring job that double-runs is worse than none. Full checklist with exit tests in docs/roadmap.md.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Phase 0 to Phase 2 tasks from docs/roadmap.md. The thin executor is the key change: in the prototype the model counted, spawned and slept for itself, which is where every bug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2026 sources were found via web search; check the details of arXiv preprints before citing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686800" cy="14630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611880"/>
            <a:ext cx="8229600" cy="118872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91440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9144000" cy="8229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1371600"/>
            <a:ext cx="11064240" cy="54864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chemeClr val="accent3"/>
                </a:solidFill>
              </a:rPr>
              <a:t>work-packet · Agents as Processes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5.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5.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5.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5.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rxiv.org/html/2603.18030" TargetMode="External"/><Relationship Id="rId2" Type="http://schemas.openxmlformats.org/officeDocument/2006/relationships/hyperlink" Target="https://github.com/gastownhall/gastown" TargetMode="External"/><Relationship Id="rId3" Type="http://schemas.openxmlformats.org/officeDocument/2006/relationships/hyperlink" Target="https://steveyegge.spicytakes.org/post/2025-11-12-introducing-beads-a-coding-agent-memory-system" TargetMode="External"/><Relationship Id="rId4" Type="http://schemas.openxmlformats.org/officeDocument/2006/relationships/hyperlink" Target="https://ghuntley.com/ralph/" TargetMode="External"/><Relationship Id="rId5" Type="http://schemas.openxmlformats.org/officeDocument/2006/relationships/hyperlink" Target="https://anthropic.com/engineering/effective-harnesses-for-long-running-agents" TargetMode="External"/><Relationship Id="rId6" Type="http://schemas.openxmlformats.org/officeDocument/2006/relationships/hyperlink" Target="https://github.com/agiresearch/AIOS" TargetMode="External"/><Relationship Id="rId7" Type="http://schemas.openxmlformats.org/officeDocument/2006/relationships/hyperlink" Target="https://arxiv.org/pdf/2310.08560" TargetMode="External"/><Relationship Id="rId8" Type="http://schemas.openxmlformats.org/officeDocument/2006/relationships/hyperlink" Target="https://github.com/letta-ai/agent-file" TargetMode="External"/><Relationship Id="rId9" Type="http://schemas.openxmlformats.org/officeDocument/2006/relationships/hyperlink" Target="https://arxiv.org/pdf/2606.03895" TargetMode="External"/><Relationship Id="rId10" Type="http://schemas.openxmlformats.org/officeDocument/2006/relationships/hyperlink" Target="https://temporal.io/blog/announcing-openai-agents-sdk-integration" TargetMode="External"/><Relationship Id="rId11" Type="http://schemas.openxmlformats.org/officeDocument/2006/relationships/hyperlink" Target="https://restate.dev/blog/resilient-serverless-agents" TargetMode="External"/><Relationship Id="rId12" Type="http://schemas.openxmlformats.org/officeDocument/2006/relationships/hyperlink" Target="https://www.dbos.dev/" TargetMode="External"/><Relationship Id="rId13" Type="http://schemas.openxmlformats.org/officeDocument/2006/relationships/hyperlink" Target="https://learn.microsoft.com/en-us/azure/durable-task/sdks/durable-agents-microsoft-agent-framework" TargetMode="External"/><Relationship Id="rId14" Type="http://schemas.openxmlformats.org/officeDocument/2006/relationships/hyperlink" Target="https://developers.cloudflare.com/agents/concepts/agentic-patterns/long-running-agents/" TargetMode="External"/><Relationship Id="rId15" Type="http://schemas.openxmlformats.org/officeDocument/2006/relationships/hyperlink" Target="https://docs.langchain.com/oss/python/langgraph/checkpointers" TargetMode="External"/><Relationship Id="rId16" Type="http://schemas.openxmlformats.org/officeDocument/2006/relationships/hyperlink" Target="https://code.claude.com/docs/en/agent-sdk/sessions" TargetMode="External"/><Relationship Id="rId17" Type="http://schemas.openxmlformats.org/officeDocument/2006/relationships/hyperlink" Target="https://code.claude.com/docs/en/agent-teams" TargetMode="External"/><Relationship Id="rId18" Type="http://schemas.openxmlformats.org/officeDocument/2006/relationships/hyperlink" Target="https://manus.im/blog/Context-Engineering-for-AI-Agents-Lessons-from-Building-Manus" TargetMode="External"/><Relationship Id="rId19" Type="http://schemas.openxmlformats.org/officeDocument/2006/relationships/hyperlink" Target="https://microsoft.github.io/autogen/stable//user-guide/core-user-guide/index.html" TargetMode="External"/><Relationship Id="rId20" Type="http://schemas.openxmlformats.org/officeDocument/2006/relationships/hyperlink" Target="https://arxiv.org/html/2604.28138v1" TargetMode="External"/><Relationship Id="rId21" Type="http://schemas.openxmlformats.org/officeDocument/2006/relationships/slideLayout" Target="../slideLayouts/slideLayout5.xml"/><Relationship Id="rId2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686800" cy="1463040"/>
          </a:xfrm>
          <a:prstGeom prst="rect">
            <a:avLst/>
          </a:prstGeom>
          <a:noFill/>
          <a:ln/>
        </p:spPr>
        <p:txBody>
          <a:bodyPr wrap="square" lIns="0" tIns="0" rIns="0" bIns="0" rtlCol="0" anchor="b"/>
          <a:lstStyle/>
          <a:p>
            <a:pPr algn="l" indent="0" marL="0">
              <a:buNone/>
            </a:pPr>
            <a:r>
              <a:rPr lang="en-US" sz="5400" b="1" dirty="0">
                <a:solidFill>
                  <a:schemeClr val="bg1"/>
                </a:solidFill>
              </a:rPr>
              <a:t>work-packet</a:t>
            </a:r>
            <a:endParaRPr lang="en-US" sz="5400" dirty="0"/>
          </a:p>
        </p:txBody>
      </p:sp>
      <p:sp>
        <p:nvSpPr>
          <p:cNvPr id="3" name="Text 0"/>
          <p:cNvSpPr/>
          <p:nvPr>
            <p:ph idx="101" type="body" hasCustomPrompt="1"/>
          </p:nvPr>
        </p:nvSpPr>
        <p:spPr>
          <a:xfrm>
            <a:off x="548640" y="3611880"/>
            <a:ext cx="8229600" cy="1188720"/>
          </a:xfrm>
          <a:prstGeom prst="rect">
            <a:avLst/>
          </a:prstGeom>
          <a:noFill/>
          <a:ln/>
        </p:spPr>
        <p:txBody>
          <a:bodyPr wrap="square" lIns="0" tIns="0" rIns="0" bIns="0" rtlCol="0" anchor="t"/>
          <a:lstStyle/>
          <a:p>
            <a:pPr indent="0" marL="0">
              <a:buNone/>
            </a:pPr>
            <a:r>
              <a:rPr lang="en-US" sz="2000" dirty="0">
                <a:solidFill>
                  <a:schemeClr val="accent1"/>
                </a:solidFill>
              </a:rPr>
              <a:t>Agents as processes: stored state, mementos and resumable LLM work. The concept, a prototype, and how it compares to prior art</a:t>
            </a:r>
            <a:endParaRPr lang="en-US" sz="2000" dirty="0"/>
          </a:p>
        </p:txBody>
      </p:sp>
      <p:sp>
        <p:nvSpPr>
          <p:cNvPr id="4" name="t1"/>
          <p:cNvSpPr txBox="1"/>
          <p:nvPr/>
        </p:nvSpPr>
        <p:spPr>
          <a:xfrm>
            <a:off x="548640" y="1371600"/>
            <a:ext cx="7315200" cy="365760"/>
          </a:xfrm>
          <a:prstGeom prst="rect">
            <a:avLst/>
          </a:prstGeom>
          <a:noFill/>
          <a:ln/>
        </p:spPr>
        <p:txBody>
          <a:bodyPr wrap="square" lIns="0" tIns="0" rIns="0" bIns="0" rtlCol="0" anchor="t"/>
          <a:lstStyle/>
          <a:p>
            <a:pPr indent="0" marL="0">
              <a:buNone/>
            </a:pPr>
            <a:r>
              <a:rPr lang="en-US" sz="1600" dirty="0">
                <a:solidFill>
                  <a:schemeClr val="accent2"/>
                </a:solidFill>
                <a:latin typeface="Courier New" pitchFamily="34" charset="0"/>
                <a:ea typeface="Courier New" pitchFamily="34" charset="-122"/>
                <a:cs typeface="Courier New" pitchFamily="34" charset="-120"/>
              </a:rPr>
              <a:t>packets/&lt;WPID&gt;/memento.md</a:t>
            </a:r>
            <a:endParaRPr lang="en-US" sz="1600" dirty="0"/>
          </a:p>
        </p:txBody>
      </p:sp>
      <p:sp>
        <p:nvSpPr>
          <p:cNvPr id="5" name="t2"/>
          <p:cNvSpPr txBox="1"/>
          <p:nvPr/>
        </p:nvSpPr>
        <p:spPr>
          <a:xfrm>
            <a:off x="548640" y="6035040"/>
            <a:ext cx="3657600" cy="320040"/>
          </a:xfrm>
          <a:prstGeom prst="rect">
            <a:avLst/>
          </a:prstGeom>
          <a:noFill/>
          <a:ln/>
        </p:spPr>
        <p:txBody>
          <a:bodyPr wrap="square" lIns="0" tIns="0" rIns="0" bIns="0" rtlCol="0" anchor="t"/>
          <a:lstStyle/>
          <a:p>
            <a:pPr indent="0" marL="0">
              <a:buNone/>
            </a:pPr>
            <a:r>
              <a:rPr lang="en-US" sz="1200" dirty="0">
                <a:solidFill>
                  <a:schemeClr val="accent3"/>
                </a:solidFill>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Today, the context window is the process</a:t>
            </a:r>
            <a:endParaRPr lang="en-US" sz="3400" dirty="0"/>
          </a:p>
        </p:txBody>
      </p:sp>
      <p:sp>
        <p:nvSpPr>
          <p:cNvPr id="3" name="ic3"/>
          <p:cNvSpPr/>
          <p:nvPr/>
        </p:nvSpPr>
        <p:spPr>
          <a:xfrm>
            <a:off x="548640" y="1417320"/>
            <a:ext cx="685800" cy="685800"/>
          </a:xfrm>
          <a:prstGeom prst="ellipse">
            <a:avLst/>
          </a:prstGeom>
          <a:solidFill>
            <a:schemeClr val="tx2"/>
          </a:solidFill>
          <a:ln w="12700">
            <a:solidFill>
              <a:schemeClr val="tx2"/>
            </a:solidFill>
            <a:prstDash val="solid"/>
          </a:ln>
        </p:spPr>
      </p:sp>
      <p:pic>
        <p:nvPicPr>
          <p:cNvPr id="4" name="icimg4" descr="preencoded.png">    </p:cNvPr>
          <p:cNvPicPr>
            <a:picLocks noChangeAspect="1"/>
          </p:cNvPicPr>
          <p:nvPr/>
        </p:nvPicPr>
        <p:blipFill>
          <a:blip r:embed="rId1"/>
          <a:stretch>
            <a:fillRect/>
          </a:stretch>
        </p:blipFill>
        <p:spPr>
          <a:xfrm>
            <a:off x="720090" y="1588770"/>
            <a:ext cx="342900" cy="342900"/>
          </a:xfrm>
          <a:prstGeom prst="rect">
            <a:avLst/>
          </a:prstGeom>
        </p:spPr>
      </p:pic>
      <p:sp>
        <p:nvSpPr>
          <p:cNvPr id="5" name="t5"/>
          <p:cNvSpPr txBox="1"/>
          <p:nvPr/>
        </p:nvSpPr>
        <p:spPr>
          <a:xfrm>
            <a:off x="1463040" y="1399032"/>
            <a:ext cx="5669280" cy="365760"/>
          </a:xfrm>
          <a:prstGeom prst="rect">
            <a:avLst/>
          </a:prstGeom>
          <a:noFill/>
          <a:ln/>
        </p:spPr>
        <p:txBody>
          <a:bodyPr wrap="square" lIns="0" tIns="0" rIns="0" bIns="0" rtlCol="0" anchor="t"/>
          <a:lstStyle/>
          <a:p>
            <a:pPr indent="0" marL="0">
              <a:buNone/>
            </a:pPr>
            <a:r>
              <a:rPr lang="en-US" sz="1800" b="1" dirty="0">
                <a:solidFill>
                  <a:schemeClr val="tx1"/>
                </a:solidFill>
              </a:rPr>
              <a:t>Ephemeral</a:t>
            </a:r>
            <a:endParaRPr lang="en-US" sz="1800" dirty="0"/>
          </a:p>
        </p:txBody>
      </p:sp>
      <p:sp>
        <p:nvSpPr>
          <p:cNvPr id="6" name="t6"/>
          <p:cNvSpPr txBox="1"/>
          <p:nvPr/>
        </p:nvSpPr>
        <p:spPr>
          <a:xfrm>
            <a:off x="1463040" y="1764792"/>
            <a:ext cx="5852160" cy="731520"/>
          </a:xfrm>
          <a:prstGeom prst="rect">
            <a:avLst/>
          </a:prstGeom>
          <a:noFill/>
          <a:ln/>
        </p:spPr>
        <p:txBody>
          <a:bodyPr wrap="square" lIns="0" tIns="0" rIns="0" bIns="0" rtlCol="0" anchor="t"/>
          <a:lstStyle/>
          <a:p>
            <a:pPr indent="0" marL="0">
              <a:buNone/>
            </a:pPr>
            <a:r>
              <a:rPr lang="en-US" sz="1400" dirty="0">
                <a:solidFill>
                  <a:schemeClr val="tx2"/>
                </a:solidFill>
              </a:rPr>
              <a:t>The working state lives in the conversation. When the session ends or is compacted, the state goes with it.</a:t>
            </a:r>
            <a:endParaRPr lang="en-US" sz="1400" dirty="0"/>
          </a:p>
        </p:txBody>
      </p:sp>
      <p:sp>
        <p:nvSpPr>
          <p:cNvPr id="7" name="ic7"/>
          <p:cNvSpPr/>
          <p:nvPr/>
        </p:nvSpPr>
        <p:spPr>
          <a:xfrm>
            <a:off x="548640" y="2606040"/>
            <a:ext cx="685800" cy="685800"/>
          </a:xfrm>
          <a:prstGeom prst="ellipse">
            <a:avLst/>
          </a:prstGeom>
          <a:solidFill>
            <a:schemeClr val="tx2"/>
          </a:solidFill>
          <a:ln w="12700">
            <a:solidFill>
              <a:schemeClr val="tx2"/>
            </a:solidFill>
            <a:prstDash val="solid"/>
          </a:ln>
        </p:spPr>
      </p:sp>
      <p:pic>
        <p:nvPicPr>
          <p:cNvPr id="8" name="icimg8" descr="preencoded.png">    </p:cNvPr>
          <p:cNvPicPr>
            <a:picLocks noChangeAspect="1"/>
          </p:cNvPicPr>
          <p:nvPr/>
        </p:nvPicPr>
        <p:blipFill>
          <a:blip r:embed="rId2"/>
          <a:stretch>
            <a:fillRect/>
          </a:stretch>
        </p:blipFill>
        <p:spPr>
          <a:xfrm>
            <a:off x="720090" y="2777490"/>
            <a:ext cx="342900" cy="342900"/>
          </a:xfrm>
          <a:prstGeom prst="rect">
            <a:avLst/>
          </a:prstGeom>
        </p:spPr>
      </p:pic>
      <p:sp>
        <p:nvSpPr>
          <p:cNvPr id="9" name="t9"/>
          <p:cNvSpPr txBox="1"/>
          <p:nvPr/>
        </p:nvSpPr>
        <p:spPr>
          <a:xfrm>
            <a:off x="1463040" y="2587752"/>
            <a:ext cx="5669280" cy="365760"/>
          </a:xfrm>
          <a:prstGeom prst="rect">
            <a:avLst/>
          </a:prstGeom>
          <a:noFill/>
          <a:ln/>
        </p:spPr>
        <p:txBody>
          <a:bodyPr wrap="square" lIns="0" tIns="0" rIns="0" bIns="0" rtlCol="0" anchor="t"/>
          <a:lstStyle/>
          <a:p>
            <a:pPr indent="0" marL="0">
              <a:buNone/>
            </a:pPr>
            <a:r>
              <a:rPr lang="en-US" sz="1800" b="1" dirty="0">
                <a:solidFill>
                  <a:schemeClr val="tx1"/>
                </a:solidFill>
              </a:rPr>
              <a:t>Expensive</a:t>
            </a:r>
            <a:endParaRPr lang="en-US" sz="1800" dirty="0"/>
          </a:p>
        </p:txBody>
      </p:sp>
      <p:sp>
        <p:nvSpPr>
          <p:cNvPr id="10" name="t10"/>
          <p:cNvSpPr txBox="1"/>
          <p:nvPr/>
        </p:nvSpPr>
        <p:spPr>
          <a:xfrm>
            <a:off x="1463040" y="2953512"/>
            <a:ext cx="5852160" cy="731520"/>
          </a:xfrm>
          <a:prstGeom prst="rect">
            <a:avLst/>
          </a:prstGeom>
          <a:noFill/>
          <a:ln/>
        </p:spPr>
        <p:txBody>
          <a:bodyPr wrap="square" lIns="0" tIns="0" rIns="0" bIns="0" rtlCol="0" anchor="t"/>
          <a:lstStyle/>
          <a:p>
            <a:pPr indent="0" marL="0">
              <a:buNone/>
            </a:pPr>
            <a:r>
              <a:rPr lang="en-US" sz="1400" dirty="0">
                <a:solidFill>
                  <a:schemeClr val="tx2"/>
                </a:solidFill>
              </a:rPr>
              <a:t>Every turn re-reads the whole history. Long tasks overflow the window and get summarized lossily.</a:t>
            </a:r>
            <a:endParaRPr lang="en-US" sz="1400" dirty="0"/>
          </a:p>
        </p:txBody>
      </p:sp>
      <p:sp>
        <p:nvSpPr>
          <p:cNvPr id="11" name="ic11"/>
          <p:cNvSpPr/>
          <p:nvPr/>
        </p:nvSpPr>
        <p:spPr>
          <a:xfrm>
            <a:off x="548640" y="3794760"/>
            <a:ext cx="685800" cy="685800"/>
          </a:xfrm>
          <a:prstGeom prst="ellipse">
            <a:avLst/>
          </a:prstGeom>
          <a:solidFill>
            <a:schemeClr val="tx2"/>
          </a:solidFill>
          <a:ln w="12700">
            <a:solidFill>
              <a:schemeClr val="tx2"/>
            </a:solidFill>
            <a:prstDash val="solid"/>
          </a:ln>
        </p:spPr>
      </p:sp>
      <p:pic>
        <p:nvPicPr>
          <p:cNvPr id="12" name="icimg12" descr="preencoded.png">    </p:cNvPr>
          <p:cNvPicPr>
            <a:picLocks noChangeAspect="1"/>
          </p:cNvPicPr>
          <p:nvPr/>
        </p:nvPicPr>
        <p:blipFill>
          <a:blip r:embed="rId3"/>
          <a:stretch>
            <a:fillRect/>
          </a:stretch>
        </p:blipFill>
        <p:spPr>
          <a:xfrm>
            <a:off x="720090" y="3966210"/>
            <a:ext cx="342900" cy="342900"/>
          </a:xfrm>
          <a:prstGeom prst="rect">
            <a:avLst/>
          </a:prstGeom>
        </p:spPr>
      </p:pic>
      <p:sp>
        <p:nvSpPr>
          <p:cNvPr id="13" name="t13"/>
          <p:cNvSpPr txBox="1"/>
          <p:nvPr/>
        </p:nvSpPr>
        <p:spPr>
          <a:xfrm>
            <a:off x="1463040" y="3776472"/>
            <a:ext cx="5669280" cy="365760"/>
          </a:xfrm>
          <a:prstGeom prst="rect">
            <a:avLst/>
          </a:prstGeom>
          <a:noFill/>
          <a:ln/>
        </p:spPr>
        <p:txBody>
          <a:bodyPr wrap="square" lIns="0" tIns="0" rIns="0" bIns="0" rtlCol="0" anchor="t"/>
          <a:lstStyle/>
          <a:p>
            <a:pPr indent="0" marL="0">
              <a:buNone/>
            </a:pPr>
            <a:r>
              <a:rPr lang="en-US" sz="1800" b="1" dirty="0">
                <a:solidFill>
                  <a:schemeClr val="tx1"/>
                </a:solidFill>
              </a:rPr>
              <a:t>Opaque</a:t>
            </a:r>
            <a:endParaRPr lang="en-US" sz="1800" dirty="0"/>
          </a:p>
        </p:txBody>
      </p:sp>
      <p:sp>
        <p:nvSpPr>
          <p:cNvPr id="14" name="t14"/>
          <p:cNvSpPr txBox="1"/>
          <p:nvPr/>
        </p:nvSpPr>
        <p:spPr>
          <a:xfrm>
            <a:off x="1463040" y="4142232"/>
            <a:ext cx="5852160" cy="731520"/>
          </a:xfrm>
          <a:prstGeom prst="rect">
            <a:avLst/>
          </a:prstGeom>
          <a:noFill/>
          <a:ln/>
        </p:spPr>
        <p:txBody>
          <a:bodyPr wrap="square" lIns="0" tIns="0" rIns="0" bIns="0" rtlCol="0" anchor="t"/>
          <a:lstStyle/>
          <a:p>
            <a:pPr indent="0" marL="0">
              <a:buNone/>
            </a:pPr>
            <a:r>
              <a:rPr lang="en-US" sz="1400" dirty="0">
                <a:solidFill>
                  <a:schemeClr val="tx2"/>
                </a:solidFill>
              </a:rPr>
              <a:t>You can't easily inspect, fork, pause or hand off a task halfway through.</a:t>
            </a:r>
            <a:endParaRPr lang="en-US" sz="1400" dirty="0"/>
          </a:p>
        </p:txBody>
      </p:sp>
      <p:sp>
        <p:nvSpPr>
          <p:cNvPr id="15" name="ic15"/>
          <p:cNvSpPr/>
          <p:nvPr/>
        </p:nvSpPr>
        <p:spPr>
          <a:xfrm>
            <a:off x="548640" y="4983480"/>
            <a:ext cx="685800" cy="685800"/>
          </a:xfrm>
          <a:prstGeom prst="ellipse">
            <a:avLst/>
          </a:prstGeom>
          <a:solidFill>
            <a:schemeClr val="tx2"/>
          </a:solidFill>
          <a:ln w="12700">
            <a:solidFill>
              <a:schemeClr val="tx2"/>
            </a:solidFill>
            <a:prstDash val="solid"/>
          </a:ln>
        </p:spPr>
      </p:sp>
      <p:pic>
        <p:nvPicPr>
          <p:cNvPr id="16" name="icimg16" descr="preencoded.png">    </p:cNvPr>
          <p:cNvPicPr>
            <a:picLocks noChangeAspect="1"/>
          </p:cNvPicPr>
          <p:nvPr/>
        </p:nvPicPr>
        <p:blipFill>
          <a:blip r:embed="rId4"/>
          <a:stretch>
            <a:fillRect/>
          </a:stretch>
        </p:blipFill>
        <p:spPr>
          <a:xfrm>
            <a:off x="720090" y="5154930"/>
            <a:ext cx="342900" cy="342900"/>
          </a:xfrm>
          <a:prstGeom prst="rect">
            <a:avLst/>
          </a:prstGeom>
        </p:spPr>
      </p:pic>
      <p:sp>
        <p:nvSpPr>
          <p:cNvPr id="17" name="t17"/>
          <p:cNvSpPr txBox="1"/>
          <p:nvPr/>
        </p:nvSpPr>
        <p:spPr>
          <a:xfrm>
            <a:off x="1463040" y="4965192"/>
            <a:ext cx="5669280" cy="365760"/>
          </a:xfrm>
          <a:prstGeom prst="rect">
            <a:avLst/>
          </a:prstGeom>
          <a:noFill/>
          <a:ln/>
        </p:spPr>
        <p:txBody>
          <a:bodyPr wrap="square" lIns="0" tIns="0" rIns="0" bIns="0" rtlCol="0" anchor="t"/>
          <a:lstStyle/>
          <a:p>
            <a:pPr indent="0" marL="0">
              <a:buNone/>
            </a:pPr>
            <a:r>
              <a:rPr lang="en-US" sz="1800" b="1" dirty="0">
                <a:solidFill>
                  <a:schemeClr val="tx1"/>
                </a:solidFill>
              </a:rPr>
              <a:t>Monolithic</a:t>
            </a:r>
            <a:endParaRPr lang="en-US" sz="1800" dirty="0"/>
          </a:p>
        </p:txBody>
      </p:sp>
      <p:sp>
        <p:nvSpPr>
          <p:cNvPr id="18" name="t18"/>
          <p:cNvSpPr txBox="1"/>
          <p:nvPr/>
        </p:nvSpPr>
        <p:spPr>
          <a:xfrm>
            <a:off x="1463040" y="5330952"/>
            <a:ext cx="5852160" cy="731520"/>
          </a:xfrm>
          <a:prstGeom prst="rect">
            <a:avLst/>
          </a:prstGeom>
          <a:noFill/>
          <a:ln/>
        </p:spPr>
        <p:txBody>
          <a:bodyPr wrap="square" lIns="0" tIns="0" rIns="0" bIns="0" rtlCol="0" anchor="t"/>
          <a:lstStyle/>
          <a:p>
            <a:pPr indent="0" marL="0">
              <a:buNone/>
            </a:pPr>
            <a:r>
              <a:rPr lang="en-US" sz="1400" dirty="0">
                <a:solidFill>
                  <a:schemeClr val="tx2"/>
                </a:solidFill>
              </a:rPr>
              <a:t>One long chat instead of small units that can be scheduled, retried and composed.</a:t>
            </a:r>
            <a:endParaRPr lang="en-US" sz="1400" dirty="0"/>
          </a:p>
        </p:txBody>
      </p:sp>
      <p:sp>
        <p:nvSpPr>
          <p:cNvPr id="19" name="mementoCard"/>
          <p:cNvSpPr/>
          <p:nvPr/>
        </p:nvSpPr>
        <p:spPr>
          <a:xfrm>
            <a:off x="7863840" y="1417320"/>
            <a:ext cx="3776472" cy="4480560"/>
          </a:xfrm>
          <a:prstGeom prst="roundRect">
            <a:avLst>
              <a:gd name="adj" fmla="val 1937"/>
            </a:avLst>
          </a:prstGeom>
          <a:solidFill>
            <a:schemeClr val="accent5"/>
          </a:solidFill>
          <a:ln w="12700">
            <a:solidFill>
              <a:schemeClr val="accent5"/>
            </a:solidFill>
            <a:prstDash val="solid"/>
          </a:ln>
        </p:spPr>
      </p:sp>
      <p:sp>
        <p:nvSpPr>
          <p:cNvPr id="20" name="ic19"/>
          <p:cNvSpPr/>
          <p:nvPr/>
        </p:nvSpPr>
        <p:spPr>
          <a:xfrm>
            <a:off x="8183880" y="1737360"/>
            <a:ext cx="685800" cy="685800"/>
          </a:xfrm>
          <a:prstGeom prst="ellipse">
            <a:avLst/>
          </a:prstGeom>
          <a:solidFill>
            <a:schemeClr val="accent1"/>
          </a:solidFill>
          <a:ln w="12700">
            <a:solidFill>
              <a:schemeClr val="accent1"/>
            </a:solidFill>
            <a:prstDash val="solid"/>
          </a:ln>
        </p:spPr>
      </p:sp>
      <p:pic>
        <p:nvPicPr>
          <p:cNvPr id="21" name="icimg20" descr="preencoded.png">    </p:cNvPr>
          <p:cNvPicPr>
            <a:picLocks noChangeAspect="1"/>
          </p:cNvPicPr>
          <p:nvPr/>
        </p:nvPicPr>
        <p:blipFill>
          <a:blip r:embed="rId5"/>
          <a:stretch>
            <a:fillRect/>
          </a:stretch>
        </p:blipFill>
        <p:spPr>
          <a:xfrm>
            <a:off x="8355330" y="1908810"/>
            <a:ext cx="342900" cy="342900"/>
          </a:xfrm>
          <a:prstGeom prst="rect">
            <a:avLst/>
          </a:prstGeom>
        </p:spPr>
      </p:pic>
      <p:sp>
        <p:nvSpPr>
          <p:cNvPr id="22" name="t21"/>
          <p:cNvSpPr txBox="1"/>
          <p:nvPr/>
        </p:nvSpPr>
        <p:spPr>
          <a:xfrm>
            <a:off x="8183880" y="2606040"/>
            <a:ext cx="320040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Memento model</a:t>
            </a:r>
            <a:endParaRPr lang="en-US" sz="2000" dirty="0"/>
          </a:p>
        </p:txBody>
      </p:sp>
      <p:sp>
        <p:nvSpPr>
          <p:cNvPr id="23" name="t22"/>
          <p:cNvSpPr txBox="1"/>
          <p:nvPr/>
        </p:nvSpPr>
        <p:spPr>
          <a:xfrm>
            <a:off x="8183880" y="3108960"/>
            <a:ext cx="3200400" cy="1737360"/>
          </a:xfrm>
          <a:prstGeom prst="rect">
            <a:avLst/>
          </a:prstGeom>
          <a:noFill/>
          <a:ln/>
        </p:spPr>
        <p:txBody>
          <a:bodyPr wrap="square" lIns="0" tIns="0" rIns="0" bIns="0" rtlCol="0" anchor="t"/>
          <a:lstStyle/>
          <a:p>
            <a:pPr indent="0" marL="0">
              <a:buNone/>
            </a:pPr>
            <a:r>
              <a:rPr lang="en-US" sz="1500" dirty="0">
                <a:solidFill>
                  <a:schemeClr val="tx1"/>
                </a:solidFill>
              </a:rPr>
              <a:t>Like Leonard in Memento, the model has no long-term memory. So before it "forgets", it writes down notes it will trust when it wakes up: what is true, and what to do next.</a:t>
            </a:r>
            <a:endParaRPr lang="en-US" sz="1500" dirty="0"/>
          </a:p>
        </p:txBody>
      </p:sp>
      <p:sp>
        <p:nvSpPr>
          <p:cNvPr id="24" name="t23"/>
          <p:cNvSpPr txBox="1"/>
          <p:nvPr/>
        </p:nvSpPr>
        <p:spPr>
          <a:xfrm>
            <a:off x="8183880" y="4937760"/>
            <a:ext cx="3200400" cy="731520"/>
          </a:xfrm>
          <a:prstGeom prst="rect">
            <a:avLst/>
          </a:prstGeom>
          <a:noFill/>
          <a:ln/>
        </p:spPr>
        <p:txBody>
          <a:bodyPr wrap="square" lIns="0" tIns="0" rIns="0" bIns="0" rtlCol="0" anchor="t"/>
          <a:lstStyle/>
          <a:p>
            <a:pPr indent="0" marL="0">
              <a:buNone/>
            </a:pPr>
            <a:r>
              <a:rPr lang="en-US" sz="1500" b="1" i="1" dirty="0">
                <a:solidFill>
                  <a:schemeClr val="tx2"/>
                </a:solidFill>
              </a:rPr>
              <a:t>Context is a cache. The directory holds the truth.</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 work packet is an agent process in a directory</a:t>
            </a:r>
            <a:endParaRPr lang="en-US" sz="3400" dirty="0"/>
          </a:p>
        </p:txBody>
      </p:sp>
      <p:sp>
        <p:nvSpPr>
          <p:cNvPr id="3" name="treeCard"/>
          <p:cNvSpPr/>
          <p:nvPr/>
        </p:nvSpPr>
        <p:spPr>
          <a:xfrm>
            <a:off x="548640" y="1371600"/>
            <a:ext cx="5486400" cy="4526280"/>
          </a:xfrm>
          <a:prstGeom prst="roundRect">
            <a:avLst>
              <a:gd name="adj" fmla="val 1616"/>
            </a:avLst>
          </a:prstGeom>
          <a:solidFill>
            <a:schemeClr val="tx1"/>
          </a:solidFill>
          <a:ln w="12700">
            <a:solidFill>
              <a:schemeClr val="tx1"/>
            </a:solidFill>
            <a:prstDash val="solid"/>
          </a:ln>
        </p:spPr>
      </p:sp>
      <p:sp>
        <p:nvSpPr>
          <p:cNvPr id="4" name="t24"/>
          <p:cNvSpPr txBox="1"/>
          <p:nvPr/>
        </p:nvSpPr>
        <p:spPr>
          <a:xfrm>
            <a:off x="868680" y="1691640"/>
            <a:ext cx="2377440" cy="365760"/>
          </a:xfrm>
          <a:prstGeom prst="rect">
            <a:avLst/>
          </a:prstGeom>
          <a:noFill/>
          <a:ln/>
        </p:spPr>
        <p:txBody>
          <a:bodyPr wrap="square" lIns="0" tIns="0" rIns="0" bIns="0" rtlCol="0" anchor="t"/>
          <a:lstStyle/>
          <a:p>
            <a:pPr indent="0" marL="0">
              <a:buNone/>
            </a:pPr>
            <a:r>
              <a:rPr lang="en-US" sz="1500" b="1" dirty="0">
                <a:solidFill>
                  <a:srgbClr val="E8A33D"/>
                </a:solidFill>
                <a:latin typeface="Courier New" pitchFamily="34" charset="0"/>
                <a:ea typeface="Courier New" pitchFamily="34" charset="-122"/>
                <a:cs typeface="Courier New" pitchFamily="34" charset="-120"/>
              </a:rPr>
              <a:t>packets/&lt;WPID&gt;/</a:t>
            </a:r>
            <a:endParaRPr lang="en-US" sz="1500" dirty="0"/>
          </a:p>
        </p:txBody>
      </p:sp>
      <p:sp>
        <p:nvSpPr>
          <p:cNvPr id="5" name="t25"/>
          <p:cNvSpPr txBox="1"/>
          <p:nvPr/>
        </p:nvSpPr>
        <p:spPr>
          <a:xfrm>
            <a:off x="3246120" y="1691640"/>
            <a:ext cx="2651760" cy="457200"/>
          </a:xfrm>
          <a:prstGeom prst="rect">
            <a:avLst/>
          </a:prstGeom>
          <a:noFill/>
          <a:ln/>
        </p:spPr>
        <p:txBody>
          <a:bodyPr wrap="square" lIns="0" tIns="0" rIns="0" bIns="0" rtlCol="0" anchor="t"/>
          <a:lstStyle/>
          <a:p>
            <a:pPr indent="0" marL="0">
              <a:buNone/>
            </a:pPr>
            <a:r>
              <a:rPr lang="en-US" sz="1300" dirty="0">
                <a:solidFill>
                  <a:srgbClr val="B8C2CC"/>
                </a:solidFill>
              </a:rPr>
              <a:t>uuid = packet ID</a:t>
            </a:r>
            <a:endParaRPr lang="en-US" sz="1300" dirty="0"/>
          </a:p>
        </p:txBody>
      </p:sp>
      <p:sp>
        <p:nvSpPr>
          <p:cNvPr id="6" name="t26"/>
          <p:cNvSpPr txBox="1"/>
          <p:nvPr/>
        </p:nvSpPr>
        <p:spPr>
          <a:xfrm>
            <a:off x="868680" y="2240280"/>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ourier New" pitchFamily="34" charset="0"/>
                <a:ea typeface="Courier New" pitchFamily="34" charset="-122"/>
                <a:cs typeface="Courier New" pitchFamily="34" charset="-120"/>
              </a:rPr>
              <a:t>  identity/</a:t>
            </a:r>
            <a:endParaRPr lang="en-US" sz="1500" dirty="0"/>
          </a:p>
        </p:txBody>
      </p:sp>
      <p:sp>
        <p:nvSpPr>
          <p:cNvPr id="7" name="t27"/>
          <p:cNvSpPr txBox="1"/>
          <p:nvPr/>
        </p:nvSpPr>
        <p:spPr>
          <a:xfrm>
            <a:off x="3246120" y="2240280"/>
            <a:ext cx="2651760" cy="457200"/>
          </a:xfrm>
          <a:prstGeom prst="rect">
            <a:avLst/>
          </a:prstGeom>
          <a:noFill/>
          <a:ln/>
        </p:spPr>
        <p:txBody>
          <a:bodyPr wrap="square" lIns="0" tIns="0" rIns="0" bIns="0" rtlCol="0" anchor="t"/>
          <a:lstStyle/>
          <a:p>
            <a:pPr indent="0" marL="0">
              <a:buNone/>
            </a:pPr>
            <a:r>
              <a:rPr lang="en-US" sz="1300" dirty="0">
                <a:solidFill>
                  <a:srgbClr val="B8C2CC"/>
                </a:solidFill>
              </a:rPr>
              <a:t>symlinks: deps (ivpm), cache (dv-flow)</a:t>
            </a:r>
            <a:endParaRPr lang="en-US" sz="1300" dirty="0"/>
          </a:p>
        </p:txBody>
      </p:sp>
      <p:sp>
        <p:nvSpPr>
          <p:cNvPr id="8" name="t28"/>
          <p:cNvSpPr txBox="1"/>
          <p:nvPr/>
        </p:nvSpPr>
        <p:spPr>
          <a:xfrm>
            <a:off x="868680" y="2788920"/>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ourier New" pitchFamily="34" charset="0"/>
                <a:ea typeface="Courier New" pitchFamily="34" charset="-122"/>
                <a:cs typeface="Courier New" pitchFamily="34" charset="-120"/>
              </a:rPr>
              <a:t>  state/</a:t>
            </a:r>
            <a:endParaRPr lang="en-US" sz="1500" dirty="0"/>
          </a:p>
        </p:txBody>
      </p:sp>
      <p:sp>
        <p:nvSpPr>
          <p:cNvPr id="9" name="t29"/>
          <p:cNvSpPr txBox="1"/>
          <p:nvPr/>
        </p:nvSpPr>
        <p:spPr>
          <a:xfrm>
            <a:off x="3246120" y="2788920"/>
            <a:ext cx="2651760" cy="457200"/>
          </a:xfrm>
          <a:prstGeom prst="rect">
            <a:avLst/>
          </a:prstGeom>
          <a:noFill/>
          <a:ln/>
        </p:spPr>
        <p:txBody>
          <a:bodyPr wrap="square" lIns="0" tIns="0" rIns="0" bIns="0" rtlCol="0" anchor="t"/>
          <a:lstStyle/>
          <a:p>
            <a:pPr indent="0" marL="0">
              <a:buNone/>
            </a:pPr>
            <a:r>
              <a:rPr lang="en-US" sz="1300" dirty="0">
                <a:solidFill>
                  <a:srgbClr val="B8C2CC"/>
                </a:solidFill>
              </a:rPr>
              <a:t>local files, cloned from parent</a:t>
            </a:r>
            <a:endParaRPr lang="en-US" sz="1300" dirty="0"/>
          </a:p>
        </p:txBody>
      </p:sp>
      <p:sp>
        <p:nvSpPr>
          <p:cNvPr id="10" name="t30"/>
          <p:cNvSpPr txBox="1"/>
          <p:nvPr/>
        </p:nvSpPr>
        <p:spPr>
          <a:xfrm>
            <a:off x="868680" y="3337560"/>
            <a:ext cx="2377440" cy="365760"/>
          </a:xfrm>
          <a:prstGeom prst="rect">
            <a:avLst/>
          </a:prstGeom>
          <a:noFill/>
          <a:ln/>
        </p:spPr>
        <p:txBody>
          <a:bodyPr wrap="square" lIns="0" tIns="0" rIns="0" bIns="0" rtlCol="0" anchor="t"/>
          <a:lstStyle/>
          <a:p>
            <a:pPr indent="0" marL="0">
              <a:buNone/>
            </a:pPr>
            <a:r>
              <a:rPr lang="en-US" sz="1500" b="1" dirty="0">
                <a:solidFill>
                  <a:srgbClr val="E8A33D"/>
                </a:solidFill>
                <a:latin typeface="Courier New" pitchFamily="34" charset="0"/>
                <a:ea typeface="Courier New" pitchFamily="34" charset="-122"/>
                <a:cs typeface="Courier New" pitchFamily="34" charset="-120"/>
              </a:rPr>
              <a:t>  memento.md</a:t>
            </a:r>
            <a:endParaRPr lang="en-US" sz="1500" dirty="0"/>
          </a:p>
        </p:txBody>
      </p:sp>
      <p:sp>
        <p:nvSpPr>
          <p:cNvPr id="11" name="t31"/>
          <p:cNvSpPr txBox="1"/>
          <p:nvPr/>
        </p:nvSpPr>
        <p:spPr>
          <a:xfrm>
            <a:off x="3246120" y="3337560"/>
            <a:ext cx="2651760" cy="457200"/>
          </a:xfrm>
          <a:prstGeom prst="rect">
            <a:avLst/>
          </a:prstGeom>
          <a:noFill/>
          <a:ln/>
        </p:spPr>
        <p:txBody>
          <a:bodyPr wrap="square" lIns="0" tIns="0" rIns="0" bIns="0" rtlCol="0" anchor="t"/>
          <a:lstStyle/>
          <a:p>
            <a:pPr indent="0" marL="0">
              <a:buNone/>
            </a:pPr>
            <a:r>
              <a:rPr lang="en-US" sz="1300" dirty="0">
                <a:solidFill>
                  <a:srgbClr val="B8C2CC"/>
                </a:solidFill>
              </a:rPr>
              <a:t>what to do on wake</a:t>
            </a:r>
            <a:endParaRPr lang="en-US" sz="1300" dirty="0"/>
          </a:p>
        </p:txBody>
      </p:sp>
      <p:sp>
        <p:nvSpPr>
          <p:cNvPr id="12" name="t32"/>
          <p:cNvSpPr txBox="1"/>
          <p:nvPr/>
        </p:nvSpPr>
        <p:spPr>
          <a:xfrm>
            <a:off x="868680" y="3886200"/>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ourier New" pitchFamily="34" charset="0"/>
                <a:ea typeface="Courier New" pitchFamily="34" charset="-122"/>
                <a:cs typeface="Courier New" pitchFamily="34" charset="-120"/>
              </a:rPr>
              <a:t>  status.md</a:t>
            </a:r>
            <a:endParaRPr lang="en-US" sz="1500" dirty="0"/>
          </a:p>
        </p:txBody>
      </p:sp>
      <p:sp>
        <p:nvSpPr>
          <p:cNvPr id="13" name="t33"/>
          <p:cNvSpPr txBox="1"/>
          <p:nvPr/>
        </p:nvSpPr>
        <p:spPr>
          <a:xfrm>
            <a:off x="3246120" y="3886200"/>
            <a:ext cx="2651760" cy="457200"/>
          </a:xfrm>
          <a:prstGeom prst="rect">
            <a:avLst/>
          </a:prstGeom>
          <a:noFill/>
          <a:ln/>
        </p:spPr>
        <p:txBody>
          <a:bodyPr wrap="square" lIns="0" tIns="0" rIns="0" bIns="0" rtlCol="0" anchor="t"/>
          <a:lstStyle/>
          <a:p>
            <a:pPr indent="0" marL="0">
              <a:buNone/>
            </a:pPr>
            <a:r>
              <a:rPr lang="en-US" sz="1300" dirty="0">
                <a:solidFill>
                  <a:srgbClr val="B8C2CC"/>
                </a:solidFill>
              </a:rPr>
              <a:t>result, RUNNING / COMPLETED</a:t>
            </a:r>
            <a:endParaRPr lang="en-US" sz="1300" dirty="0"/>
          </a:p>
        </p:txBody>
      </p:sp>
      <p:sp>
        <p:nvSpPr>
          <p:cNvPr id="14" name="t34"/>
          <p:cNvSpPr txBox="1"/>
          <p:nvPr/>
        </p:nvSpPr>
        <p:spPr>
          <a:xfrm>
            <a:off x="868680" y="4434840"/>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ourier New" pitchFamily="34" charset="0"/>
                <a:ea typeface="Courier New" pitchFamily="34" charset="-122"/>
                <a:cs typeface="Courier New" pitchFamily="34" charset="-120"/>
              </a:rPr>
              <a:t>  stack/</a:t>
            </a:r>
            <a:endParaRPr lang="en-US" sz="1500" dirty="0"/>
          </a:p>
        </p:txBody>
      </p:sp>
      <p:sp>
        <p:nvSpPr>
          <p:cNvPr id="15" name="t35"/>
          <p:cNvSpPr txBox="1"/>
          <p:nvPr/>
        </p:nvSpPr>
        <p:spPr>
          <a:xfrm>
            <a:off x="3246120" y="4434840"/>
            <a:ext cx="2651760" cy="457200"/>
          </a:xfrm>
          <a:prstGeom prst="rect">
            <a:avLst/>
          </a:prstGeom>
          <a:noFill/>
          <a:ln/>
        </p:spPr>
        <p:txBody>
          <a:bodyPr wrap="square" lIns="0" tIns="0" rIns="0" bIns="0" rtlCol="0" anchor="t"/>
          <a:lstStyle/>
          <a:p>
            <a:pPr indent="0" marL="0">
              <a:buNone/>
            </a:pPr>
            <a:r>
              <a:rPr lang="en-US" sz="1300" dirty="0">
                <a:solidFill>
                  <a:srgbClr val="B8C2CC"/>
                </a:solidFill>
              </a:rPr>
              <a:t>frames for nested tasks</a:t>
            </a:r>
            <a:endParaRPr lang="en-US" sz="1300" dirty="0"/>
          </a:p>
        </p:txBody>
      </p:sp>
      <p:sp>
        <p:nvSpPr>
          <p:cNvPr id="16" name="t36"/>
          <p:cNvSpPr txBox="1"/>
          <p:nvPr/>
        </p:nvSpPr>
        <p:spPr>
          <a:xfrm>
            <a:off x="868680" y="4983480"/>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ourier New" pitchFamily="34" charset="0"/>
                <a:ea typeface="Courier New" pitchFamily="34" charset="-122"/>
                <a:cs typeface="Courier New" pitchFamily="34" charset="-120"/>
              </a:rPr>
              <a:t>  children/</a:t>
            </a:r>
            <a:endParaRPr lang="en-US" sz="1500" dirty="0"/>
          </a:p>
        </p:txBody>
      </p:sp>
      <p:sp>
        <p:nvSpPr>
          <p:cNvPr id="17" name="t37"/>
          <p:cNvSpPr txBox="1"/>
          <p:nvPr/>
        </p:nvSpPr>
        <p:spPr>
          <a:xfrm>
            <a:off x="3246120" y="4983480"/>
            <a:ext cx="2651760" cy="457200"/>
          </a:xfrm>
          <a:prstGeom prst="rect">
            <a:avLst/>
          </a:prstGeom>
          <a:noFill/>
          <a:ln/>
        </p:spPr>
        <p:txBody>
          <a:bodyPr wrap="square" lIns="0" tIns="0" rIns="0" bIns="0" rtlCol="0" anchor="t"/>
          <a:lstStyle/>
          <a:p>
            <a:pPr indent="0" marL="0">
              <a:buNone/>
            </a:pPr>
            <a:r>
              <a:rPr lang="en-US" sz="1300" dirty="0">
                <a:solidFill>
                  <a:srgbClr val="B8C2CC"/>
                </a:solidFill>
              </a:rPr>
              <a:t>child WPIDs</a:t>
            </a:r>
            <a:endParaRPr lang="en-US" sz="1300" dirty="0"/>
          </a:p>
        </p:txBody>
      </p:sp>
      <p:graphicFrame>
        <p:nvGraphicFramePr>
          <p:cNvPr id="4" name="osMap"/>
          <p:cNvGraphicFramePr>
            <a:graphicFrameLocks noGrp="1"/>
          </p:cNvGraphicFramePr>
          <p:nvPr>
            <p:extLst>
              <p:ext uri="{D42A27DB-BD31-4B8C-83A1-F6EECF244321}">
                <p14:modId xmlns:p14="http://schemas.microsoft.com/office/powerpoint/2010/main" val="1579011935"/>
              </p:ext>
            </p:extLst>
          </p:nvPr>
        </p:nvGraphicFramePr>
        <p:xfrm>
          <a:off x="6400800" y="1371600"/>
          <a:ext cx="5239512" cy="914400"/>
        </p:xfrm>
        <a:graphic>
          <a:graphicData uri="http://schemas.openxmlformats.org/drawingml/2006/table">
            <a:tbl>
              <a:tblPr/>
              <a:tblGrid>
                <a:gridCol w="2286000"/>
                <a:gridCol w="2953512"/>
              </a:tblGrid>
              <a:tr h="475488">
                <a:tc>
                  <a:txBody>
                    <a:bodyPr/>
                    <a:lstStyle/>
                    <a:p>
                      <a:pPr indent="0" marL="0">
                        <a:buNone/>
                      </a:pPr>
                      <a:r>
                        <a:rPr lang="en-US" sz="1400" b="1" dirty="0">
                          <a:solidFill>
                            <a:schemeClr val="bg1"/>
                          </a:solidFill>
                        </a:rPr>
                        <a:t>OS concept</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Work packet</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tx1"/>
                          </a:solidFill>
                        </a:rPr>
                        <a:t>PID</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WPID (directory name)</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Program counter</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memento.md</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Process state / exit code</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status.md</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Address space</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state/ files</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cwd, env, mounts</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identity/ symlinks</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Call stack</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stack/</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fork()</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spawn child, clone selected state</a:t>
                      </a:r>
                      <a:endParaRPr lang="en-US" sz="1400" dirty="0"/>
                    </a:p>
                  </a:txBody>
                  <a:tcPr marL="109728" marR="109728"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Each evaluation is one stateless step</a:t>
            </a:r>
            <a:endParaRPr lang="en-US" sz="3400" dirty="0"/>
          </a:p>
        </p:txBody>
      </p:sp>
      <p:sp>
        <p:nvSpPr>
          <p:cNvPr id="3" name="step0"/>
          <p:cNvSpPr/>
          <p:nvPr/>
        </p:nvSpPr>
        <p:spPr>
          <a:xfrm>
            <a:off x="548640" y="1463040"/>
            <a:ext cx="2057400" cy="2286000"/>
          </a:xfrm>
          <a:prstGeom prst="roundRect">
            <a:avLst>
              <a:gd name="adj" fmla="val 3556"/>
            </a:avLst>
          </a:prstGeom>
          <a:solidFill>
            <a:schemeClr val="bg2"/>
          </a:solidFill>
          <a:ln w="12700">
            <a:solidFill>
              <a:schemeClr val="bg2"/>
            </a:solidFill>
            <a:prstDash val="solid"/>
          </a:ln>
        </p:spPr>
      </p:sp>
      <p:sp>
        <p:nvSpPr>
          <p:cNvPr id="4" name="t38"/>
          <p:cNvSpPr txBox="1"/>
          <p:nvPr/>
        </p:nvSpPr>
        <p:spPr>
          <a:xfrm>
            <a:off x="777240" y="1645920"/>
            <a:ext cx="7315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39"/>
          <p:cNvSpPr txBox="1"/>
          <p:nvPr/>
        </p:nvSpPr>
        <p:spPr>
          <a:xfrm>
            <a:off x="777240" y="2240280"/>
            <a:ext cx="1600200" cy="365760"/>
          </a:xfrm>
          <a:prstGeom prst="rect">
            <a:avLst/>
          </a:prstGeom>
          <a:noFill/>
          <a:ln/>
        </p:spPr>
        <p:txBody>
          <a:bodyPr wrap="square" lIns="0" tIns="0" rIns="0" bIns="0" rtlCol="0" anchor="t"/>
          <a:lstStyle/>
          <a:p>
            <a:pPr indent="0" marL="0">
              <a:buNone/>
            </a:pPr>
            <a:r>
              <a:rPr lang="en-US" sz="1800" b="1" dirty="0">
                <a:solidFill>
                  <a:schemeClr val="tx1"/>
                </a:solidFill>
              </a:rPr>
              <a:t>Schedule</a:t>
            </a:r>
            <a:endParaRPr lang="en-US" sz="1800" dirty="0"/>
          </a:p>
        </p:txBody>
      </p:sp>
      <p:sp>
        <p:nvSpPr>
          <p:cNvPr id="6" name="t40"/>
          <p:cNvSpPr txBox="1"/>
          <p:nvPr/>
        </p:nvSpPr>
        <p:spPr>
          <a:xfrm>
            <a:off x="777240" y="2651760"/>
            <a:ext cx="1645920" cy="1005840"/>
          </a:xfrm>
          <a:prstGeom prst="rect">
            <a:avLst/>
          </a:prstGeom>
          <a:noFill/>
          <a:ln/>
        </p:spPr>
        <p:txBody>
          <a:bodyPr wrap="square" lIns="0" tIns="0" rIns="0" bIns="0" rtlCol="0" anchor="t"/>
          <a:lstStyle/>
          <a:p>
            <a:pPr indent="0" marL="0">
              <a:buNone/>
            </a:pPr>
            <a:r>
              <a:rPr lang="en-US" sz="1400" dirty="0">
                <a:solidFill>
                  <a:schemeClr val="tx2"/>
                </a:solidFill>
              </a:rPr>
              <a:t>Pick a runnable packet whose wake time has passed</a:t>
            </a:r>
            <a:endParaRPr lang="en-US" sz="1400" dirty="0"/>
          </a:p>
        </p:txBody>
      </p:sp>
      <p:sp>
        <p:nvSpPr>
          <p:cNvPr id="7" name="step1"/>
          <p:cNvSpPr/>
          <p:nvPr/>
        </p:nvSpPr>
        <p:spPr>
          <a:xfrm>
            <a:off x="2798064" y="1463040"/>
            <a:ext cx="2057400" cy="2286000"/>
          </a:xfrm>
          <a:prstGeom prst="roundRect">
            <a:avLst>
              <a:gd name="adj" fmla="val 3556"/>
            </a:avLst>
          </a:prstGeom>
          <a:solidFill>
            <a:schemeClr val="bg2"/>
          </a:solidFill>
          <a:ln w="12700">
            <a:solidFill>
              <a:schemeClr val="bg2"/>
            </a:solidFill>
            <a:prstDash val="solid"/>
          </a:ln>
        </p:spPr>
      </p:sp>
      <p:sp>
        <p:nvSpPr>
          <p:cNvPr id="8" name="t41"/>
          <p:cNvSpPr txBox="1"/>
          <p:nvPr/>
        </p:nvSpPr>
        <p:spPr>
          <a:xfrm>
            <a:off x="3026664" y="1645920"/>
            <a:ext cx="7315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9" name="t42"/>
          <p:cNvSpPr txBox="1"/>
          <p:nvPr/>
        </p:nvSpPr>
        <p:spPr>
          <a:xfrm>
            <a:off x="3026664" y="2240280"/>
            <a:ext cx="1600200" cy="365760"/>
          </a:xfrm>
          <a:prstGeom prst="rect">
            <a:avLst/>
          </a:prstGeom>
          <a:noFill/>
          <a:ln/>
        </p:spPr>
        <p:txBody>
          <a:bodyPr wrap="square" lIns="0" tIns="0" rIns="0" bIns="0" rtlCol="0" anchor="t"/>
          <a:lstStyle/>
          <a:p>
            <a:pPr indent="0" marL="0">
              <a:buNone/>
            </a:pPr>
            <a:r>
              <a:rPr lang="en-US" sz="1800" b="1" dirty="0">
                <a:solidFill>
                  <a:schemeClr val="tx1"/>
                </a:solidFill>
              </a:rPr>
              <a:t>Launch</a:t>
            </a:r>
            <a:endParaRPr lang="en-US" sz="1800" dirty="0"/>
          </a:p>
        </p:txBody>
      </p:sp>
      <p:sp>
        <p:nvSpPr>
          <p:cNvPr id="10" name="t43"/>
          <p:cNvSpPr txBox="1"/>
          <p:nvPr/>
        </p:nvSpPr>
        <p:spPr>
          <a:xfrm>
            <a:off x="3026664" y="2651760"/>
            <a:ext cx="1645920" cy="1005840"/>
          </a:xfrm>
          <a:prstGeom prst="rect">
            <a:avLst/>
          </a:prstGeom>
          <a:noFill/>
          <a:ln/>
        </p:spPr>
        <p:txBody>
          <a:bodyPr wrap="square" lIns="0" tIns="0" rIns="0" bIns="0" rtlCol="0" anchor="t"/>
          <a:lstStyle/>
          <a:p>
            <a:pPr indent="0" marL="0">
              <a:buNone/>
            </a:pPr>
            <a:r>
              <a:rPr lang="en-US" sz="1400" dirty="0">
                <a:solidFill>
                  <a:schemeClr val="tx2"/>
                </a:solidFill>
              </a:rPr>
              <a:t>Start a fresh model call: no memory of earlier steps</a:t>
            </a:r>
            <a:endParaRPr lang="en-US" sz="1400" dirty="0"/>
          </a:p>
        </p:txBody>
      </p:sp>
      <p:sp>
        <p:nvSpPr>
          <p:cNvPr id="11" name="step2"/>
          <p:cNvSpPr/>
          <p:nvPr/>
        </p:nvSpPr>
        <p:spPr>
          <a:xfrm>
            <a:off x="5047488" y="1463040"/>
            <a:ext cx="2057400" cy="2286000"/>
          </a:xfrm>
          <a:prstGeom prst="roundRect">
            <a:avLst>
              <a:gd name="adj" fmla="val 3556"/>
            </a:avLst>
          </a:prstGeom>
          <a:solidFill>
            <a:schemeClr val="bg2"/>
          </a:solidFill>
          <a:ln w="12700">
            <a:solidFill>
              <a:schemeClr val="bg2"/>
            </a:solidFill>
            <a:prstDash val="solid"/>
          </a:ln>
        </p:spPr>
      </p:sp>
      <p:sp>
        <p:nvSpPr>
          <p:cNvPr id="12" name="t44"/>
          <p:cNvSpPr txBox="1"/>
          <p:nvPr/>
        </p:nvSpPr>
        <p:spPr>
          <a:xfrm>
            <a:off x="5276088" y="1645920"/>
            <a:ext cx="7315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3" name="t45"/>
          <p:cNvSpPr txBox="1"/>
          <p:nvPr/>
        </p:nvSpPr>
        <p:spPr>
          <a:xfrm>
            <a:off x="5276088" y="2240280"/>
            <a:ext cx="1600200" cy="365760"/>
          </a:xfrm>
          <a:prstGeom prst="rect">
            <a:avLst/>
          </a:prstGeom>
          <a:noFill/>
          <a:ln/>
        </p:spPr>
        <p:txBody>
          <a:bodyPr wrap="square" lIns="0" tIns="0" rIns="0" bIns="0" rtlCol="0" anchor="t"/>
          <a:lstStyle/>
          <a:p>
            <a:pPr indent="0" marL="0">
              <a:buNone/>
            </a:pPr>
            <a:r>
              <a:rPr lang="en-US" sz="1800" b="1" dirty="0">
                <a:solidFill>
                  <a:schemeClr val="tx1"/>
                </a:solidFill>
              </a:rPr>
              <a:t>Restore</a:t>
            </a:r>
            <a:endParaRPr lang="en-US" sz="1800" dirty="0"/>
          </a:p>
        </p:txBody>
      </p:sp>
      <p:sp>
        <p:nvSpPr>
          <p:cNvPr id="14" name="t46"/>
          <p:cNvSpPr txBox="1"/>
          <p:nvPr/>
        </p:nvSpPr>
        <p:spPr>
          <a:xfrm>
            <a:off x="5276088" y="2651760"/>
            <a:ext cx="1645920" cy="1005840"/>
          </a:xfrm>
          <a:prstGeom prst="rect">
            <a:avLst/>
          </a:prstGeom>
          <a:noFill/>
          <a:ln/>
        </p:spPr>
        <p:txBody>
          <a:bodyPr wrap="square" lIns="0" tIns="0" rIns="0" bIns="0" rtlCol="0" anchor="t"/>
          <a:lstStyle/>
          <a:p>
            <a:pPr indent="0" marL="0">
              <a:buNone/>
            </a:pPr>
            <a:r>
              <a:rPr lang="en-US" sz="1400" dirty="0">
                <a:solidFill>
                  <a:schemeClr val="tx2"/>
                </a:solidFill>
              </a:rPr>
              <a:t>Read next-instr.md, status and state/</a:t>
            </a:r>
            <a:endParaRPr lang="en-US" sz="1400" dirty="0"/>
          </a:p>
        </p:txBody>
      </p:sp>
      <p:sp>
        <p:nvSpPr>
          <p:cNvPr id="15" name="step3"/>
          <p:cNvSpPr/>
          <p:nvPr/>
        </p:nvSpPr>
        <p:spPr>
          <a:xfrm>
            <a:off x="7296912" y="1463040"/>
            <a:ext cx="2057400" cy="2286000"/>
          </a:xfrm>
          <a:prstGeom prst="roundRect">
            <a:avLst>
              <a:gd name="adj" fmla="val 3556"/>
            </a:avLst>
          </a:prstGeom>
          <a:solidFill>
            <a:schemeClr val="bg2"/>
          </a:solidFill>
          <a:ln w="12700">
            <a:solidFill>
              <a:schemeClr val="bg2"/>
            </a:solidFill>
            <a:prstDash val="solid"/>
          </a:ln>
        </p:spPr>
      </p:sp>
      <p:sp>
        <p:nvSpPr>
          <p:cNvPr id="16" name="t47"/>
          <p:cNvSpPr txBox="1"/>
          <p:nvPr/>
        </p:nvSpPr>
        <p:spPr>
          <a:xfrm>
            <a:off x="7525512" y="1645920"/>
            <a:ext cx="7315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7" name="t48"/>
          <p:cNvSpPr txBox="1"/>
          <p:nvPr/>
        </p:nvSpPr>
        <p:spPr>
          <a:xfrm>
            <a:off x="7525512" y="2240280"/>
            <a:ext cx="1600200" cy="365760"/>
          </a:xfrm>
          <a:prstGeom prst="rect">
            <a:avLst/>
          </a:prstGeom>
          <a:noFill/>
          <a:ln/>
        </p:spPr>
        <p:txBody>
          <a:bodyPr wrap="square" lIns="0" tIns="0" rIns="0" bIns="0" rtlCol="0" anchor="t"/>
          <a:lstStyle/>
          <a:p>
            <a:pPr indent="0" marL="0">
              <a:buNone/>
            </a:pPr>
            <a:r>
              <a:rPr lang="en-US" sz="1800" b="1" dirty="0">
                <a:solidFill>
                  <a:schemeClr val="tx1"/>
                </a:solidFill>
              </a:rPr>
              <a:t>Work</a:t>
            </a:r>
            <a:endParaRPr lang="en-US" sz="1800" dirty="0"/>
          </a:p>
        </p:txBody>
      </p:sp>
      <p:sp>
        <p:nvSpPr>
          <p:cNvPr id="18" name="t49"/>
          <p:cNvSpPr txBox="1"/>
          <p:nvPr/>
        </p:nvSpPr>
        <p:spPr>
          <a:xfrm>
            <a:off x="7525512" y="2651760"/>
            <a:ext cx="1645920" cy="1005840"/>
          </a:xfrm>
          <a:prstGeom prst="rect">
            <a:avLst/>
          </a:prstGeom>
          <a:noFill/>
          <a:ln/>
        </p:spPr>
        <p:txBody>
          <a:bodyPr wrap="square" lIns="0" tIns="0" rIns="0" bIns="0" rtlCol="0" anchor="t"/>
          <a:lstStyle/>
          <a:p>
            <a:pPr indent="0" marL="0">
              <a:buNone/>
            </a:pPr>
            <a:r>
              <a:rPr lang="en-US" sz="1400" dirty="0">
                <a:solidFill>
                  <a:schemeClr val="tx2"/>
                </a:solidFill>
              </a:rPr>
              <a:t>Do one bounded unit of work</a:t>
            </a:r>
            <a:endParaRPr lang="en-US" sz="1400" dirty="0"/>
          </a:p>
        </p:txBody>
      </p:sp>
      <p:sp>
        <p:nvSpPr>
          <p:cNvPr id="19" name="step4"/>
          <p:cNvSpPr/>
          <p:nvPr/>
        </p:nvSpPr>
        <p:spPr>
          <a:xfrm>
            <a:off x="9546336" y="1463040"/>
            <a:ext cx="2057400" cy="2286000"/>
          </a:xfrm>
          <a:prstGeom prst="roundRect">
            <a:avLst>
              <a:gd name="adj" fmla="val 3556"/>
            </a:avLst>
          </a:prstGeom>
          <a:solidFill>
            <a:schemeClr val="accent5"/>
          </a:solidFill>
          <a:ln w="12700">
            <a:solidFill>
              <a:schemeClr val="accent5"/>
            </a:solidFill>
            <a:prstDash val="solid"/>
          </a:ln>
        </p:spPr>
      </p:sp>
      <p:sp>
        <p:nvSpPr>
          <p:cNvPr id="20" name="t50"/>
          <p:cNvSpPr txBox="1"/>
          <p:nvPr/>
        </p:nvSpPr>
        <p:spPr>
          <a:xfrm>
            <a:off x="9774936" y="1645920"/>
            <a:ext cx="7315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21" name="t51"/>
          <p:cNvSpPr txBox="1"/>
          <p:nvPr/>
        </p:nvSpPr>
        <p:spPr>
          <a:xfrm>
            <a:off x="9774936" y="2240280"/>
            <a:ext cx="1600200" cy="365760"/>
          </a:xfrm>
          <a:prstGeom prst="rect">
            <a:avLst/>
          </a:prstGeom>
          <a:noFill/>
          <a:ln/>
        </p:spPr>
        <p:txBody>
          <a:bodyPr wrap="square" lIns="0" tIns="0" rIns="0" bIns="0" rtlCol="0" anchor="t"/>
          <a:lstStyle/>
          <a:p>
            <a:pPr indent="0" marL="0">
              <a:buNone/>
            </a:pPr>
            <a:r>
              <a:rPr lang="en-US" sz="1800" b="1" dirty="0">
                <a:solidFill>
                  <a:schemeClr val="tx1"/>
                </a:solidFill>
              </a:rPr>
              <a:t>Yield</a:t>
            </a:r>
            <a:endParaRPr lang="en-US" sz="1800" dirty="0"/>
          </a:p>
        </p:txBody>
      </p:sp>
      <p:sp>
        <p:nvSpPr>
          <p:cNvPr id="22" name="t52"/>
          <p:cNvSpPr txBox="1"/>
          <p:nvPr/>
        </p:nvSpPr>
        <p:spPr>
          <a:xfrm>
            <a:off x="9774936" y="2651760"/>
            <a:ext cx="1645920" cy="1005840"/>
          </a:xfrm>
          <a:prstGeom prst="rect">
            <a:avLst/>
          </a:prstGeom>
          <a:noFill/>
          <a:ln/>
        </p:spPr>
        <p:txBody>
          <a:bodyPr wrap="square" lIns="0" tIns="0" rIns="0" bIns="0" rtlCol="0" anchor="t"/>
          <a:lstStyle/>
          <a:p>
            <a:pPr indent="0" marL="0">
              <a:buNone/>
            </a:pPr>
            <a:r>
              <a:rPr lang="en-US" sz="1400" dirty="0">
                <a:solidFill>
                  <a:schemeClr val="tx2"/>
                </a:solidFill>
              </a:rPr>
              <a:t>Write state, status, next instruction and resume time</a:t>
            </a:r>
            <a:endParaRPr lang="en-US" sz="1400" dirty="0"/>
          </a:p>
        </p:txBody>
      </p:sp>
      <p:sp>
        <p:nvSpPr>
          <p:cNvPr id="23" name="t53"/>
          <p:cNvSpPr txBox="1"/>
          <p:nvPr/>
        </p:nvSpPr>
        <p:spPr>
          <a:xfrm>
            <a:off x="548640" y="3931920"/>
            <a:ext cx="10972800" cy="365760"/>
          </a:xfrm>
          <a:prstGeom prst="rect">
            <a:avLst/>
          </a:prstGeom>
          <a:noFill/>
          <a:ln/>
        </p:spPr>
        <p:txBody>
          <a:bodyPr wrap="square" lIns="0" tIns="0" rIns="0" bIns="0" rtlCol="0" anchor="t"/>
          <a:lstStyle/>
          <a:p>
            <a:pPr indent="0" marL="0">
              <a:buNone/>
            </a:pPr>
            <a:r>
              <a:rPr lang="en-US" sz="1500" b="1" i="1" dirty="0">
                <a:solidFill>
                  <a:schemeClr val="accent2"/>
                </a:solidFill>
              </a:rPr>
              <a:t>↺  repeat until status is COMPLETED</a:t>
            </a:r>
            <a:endParaRPr lang="en-US" sz="1500" dirty="0"/>
          </a:p>
        </p:txBody>
      </p:sp>
      <p:sp>
        <p:nvSpPr>
          <p:cNvPr id="24" name="cmdCard"/>
          <p:cNvSpPr/>
          <p:nvPr/>
        </p:nvSpPr>
        <p:spPr>
          <a:xfrm>
            <a:off x="548640" y="4526280"/>
            <a:ext cx="11091672" cy="1417320"/>
          </a:xfrm>
          <a:prstGeom prst="roundRect">
            <a:avLst>
              <a:gd name="adj" fmla="val 5161"/>
            </a:avLst>
          </a:prstGeom>
          <a:solidFill>
            <a:schemeClr val="tx1"/>
          </a:solidFill>
          <a:ln w="12700">
            <a:solidFill>
              <a:schemeClr val="tx1"/>
            </a:solidFill>
            <a:prstDash val="solid"/>
          </a:ln>
        </p:spPr>
      </p:sp>
      <p:sp>
        <p:nvSpPr>
          <p:cNvPr id="25" name="t54"/>
          <p:cNvSpPr txBox="1"/>
          <p:nvPr/>
        </p:nvSpPr>
        <p:spPr>
          <a:xfrm>
            <a:off x="868680" y="4709160"/>
            <a:ext cx="10515600" cy="1097280"/>
          </a:xfrm>
          <a:prstGeom prst="rect">
            <a:avLst/>
          </a:prstGeom>
          <a:noFill/>
          <a:ln/>
        </p:spPr>
        <p:txBody>
          <a:bodyPr wrap="square" lIns="0" tIns="0" rIns="0" bIns="0" rtlCol="0" anchor="t"/>
          <a:lstStyle/>
          <a:p>
            <a:pPr indent="0" marL="0">
              <a:buNone/>
            </a:pPr>
            <a:r>
              <a:rPr lang="en-US" sz="1500" dirty="0">
                <a:solidFill>
                  <a:srgbClr val="8A97A5"/>
                </a:solidFill>
                <a:latin typeface="Courier New" pitchFamily="34" charset="0"/>
                <a:ea typeface="Courier New" pitchFamily="34" charset="-122"/>
                <a:cs typeface="Courier New" pitchFamily="34" charset="-120"/>
              </a:rPr>
              <a:t># executor (test/agent-proc.md)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claude -p --model {{model}} \</a:t>
            </a:r>
            <a:endParaRPr lang="en-US" sz="1500" dirty="0"/>
          </a:p>
          <a:p>
            <a:pPr indent="0" marL="0">
              <a:buNone/>
            </a:pPr>
            <a:r>
              <a:rPr lang="en-US" sz="1500" dirty="0">
                <a:solidFill>
                  <a:srgbClr val="E8A33D"/>
                </a:solidFill>
                <a:latin typeface="Courier New" pitchFamily="34" charset="0"/>
                <a:ea typeface="Courier New" pitchFamily="34" charset="-122"/>
                <a:cs typeface="Courier New" pitchFamily="34" charset="-120"/>
              </a:rPr>
              <a:t>  "Read agent-proc.md. Evaluate process in {{APID}}, returning its status"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 packet can sleep for days, then resume</a:t>
            </a:r>
            <a:endParaRPr lang="en-US" sz="3400" dirty="0"/>
          </a:p>
        </p:txBody>
      </p:sp>
      <p:sp>
        <p:nvSpPr>
          <p:cNvPr id="3" name="tl0"/>
          <p:cNvSpPr/>
          <p:nvPr/>
        </p:nvSpPr>
        <p:spPr>
          <a:xfrm>
            <a:off x="548640" y="1325880"/>
            <a:ext cx="1801368" cy="1051560"/>
          </a:xfrm>
          <a:prstGeom prst="roundRect">
            <a:avLst>
              <a:gd name="adj" fmla="val 6957"/>
            </a:avLst>
          </a:prstGeom>
          <a:solidFill>
            <a:schemeClr val="tx1"/>
          </a:solidFill>
          <a:ln w="12700">
            <a:solidFill>
              <a:schemeClr val="tx1"/>
            </a:solidFill>
            <a:prstDash val="solid"/>
          </a:ln>
        </p:spPr>
      </p:sp>
      <p:sp>
        <p:nvSpPr>
          <p:cNvPr id="4" name="t55"/>
          <p:cNvSpPr txBox="1"/>
          <p:nvPr/>
        </p:nvSpPr>
        <p:spPr>
          <a:xfrm>
            <a:off x="713232" y="1444752"/>
            <a:ext cx="1527048" cy="320040"/>
          </a:xfrm>
          <a:prstGeom prst="rect">
            <a:avLst/>
          </a:prstGeom>
          <a:noFill/>
          <a:ln/>
        </p:spPr>
        <p:txBody>
          <a:bodyPr wrap="square" lIns="0" tIns="0" rIns="0" bIns="0" rtlCol="0" anchor="t"/>
          <a:lstStyle/>
          <a:p>
            <a:pPr indent="0" marL="0">
              <a:buNone/>
            </a:pPr>
            <a:r>
              <a:rPr lang="en-US" sz="1500" b="1" dirty="0">
                <a:solidFill>
                  <a:schemeClr val="accent1"/>
                </a:solidFill>
              </a:rPr>
              <a:t>Step</a:t>
            </a:r>
            <a:endParaRPr lang="en-US" sz="1500" dirty="0"/>
          </a:p>
        </p:txBody>
      </p:sp>
      <p:sp>
        <p:nvSpPr>
          <p:cNvPr id="5" name="t56"/>
          <p:cNvSpPr txBox="1"/>
          <p:nvPr/>
        </p:nvSpPr>
        <p:spPr>
          <a:xfrm>
            <a:off x="713232" y="1783080"/>
            <a:ext cx="1527048" cy="548640"/>
          </a:xfrm>
          <a:prstGeom prst="rect">
            <a:avLst/>
          </a:prstGeom>
          <a:noFill/>
          <a:ln/>
        </p:spPr>
        <p:txBody>
          <a:bodyPr wrap="square" lIns="0" tIns="0" rIns="0" bIns="0" rtlCol="0" anchor="t"/>
          <a:lstStyle/>
          <a:p>
            <a:pPr indent="0" marL="0">
              <a:buNone/>
            </a:pPr>
            <a:r>
              <a:rPr lang="en-US" sz="1200" dirty="0">
                <a:solidFill>
                  <a:schemeClr val="bg1"/>
                </a:solidFill>
              </a:rPr>
              <a:t>day 0: writes resume: in 10 days</a:t>
            </a:r>
            <a:endParaRPr lang="en-US" sz="1200" dirty="0"/>
          </a:p>
        </p:txBody>
      </p:sp>
      <p:sp>
        <p:nvSpPr>
          <p:cNvPr id="6" name="tl1"/>
          <p:cNvSpPr/>
          <p:nvPr/>
        </p:nvSpPr>
        <p:spPr>
          <a:xfrm>
            <a:off x="2441448" y="1325880"/>
            <a:ext cx="2651760" cy="1051560"/>
          </a:xfrm>
          <a:prstGeom prst="roundRect">
            <a:avLst>
              <a:gd name="adj" fmla="val 6957"/>
            </a:avLst>
          </a:prstGeom>
          <a:solidFill>
            <a:schemeClr val="bg2"/>
          </a:solidFill>
          <a:ln w="12700">
            <a:solidFill>
              <a:schemeClr val="bg2"/>
            </a:solidFill>
            <a:prstDash val="solid"/>
          </a:ln>
        </p:spPr>
      </p:sp>
      <p:sp>
        <p:nvSpPr>
          <p:cNvPr id="7" name="t57"/>
          <p:cNvSpPr txBox="1"/>
          <p:nvPr/>
        </p:nvSpPr>
        <p:spPr>
          <a:xfrm>
            <a:off x="2606040" y="1444752"/>
            <a:ext cx="2377440" cy="320040"/>
          </a:xfrm>
          <a:prstGeom prst="rect">
            <a:avLst/>
          </a:prstGeom>
          <a:noFill/>
          <a:ln/>
        </p:spPr>
        <p:txBody>
          <a:bodyPr wrap="square" lIns="0" tIns="0" rIns="0" bIns="0" rtlCol="0" anchor="t"/>
          <a:lstStyle/>
          <a:p>
            <a:pPr indent="0" marL="0">
              <a:buNone/>
            </a:pPr>
            <a:r>
              <a:rPr lang="en-US" sz="1500" b="1" dirty="0">
                <a:solidFill>
                  <a:schemeClr val="tx1"/>
                </a:solidFill>
              </a:rPr>
              <a:t>Asleep, 0 tokens</a:t>
            </a:r>
            <a:endParaRPr lang="en-US" sz="1500" dirty="0"/>
          </a:p>
        </p:txBody>
      </p:sp>
      <p:sp>
        <p:nvSpPr>
          <p:cNvPr id="8" name="t58"/>
          <p:cNvSpPr txBox="1"/>
          <p:nvPr/>
        </p:nvSpPr>
        <p:spPr>
          <a:xfrm>
            <a:off x="2606040" y="1783080"/>
            <a:ext cx="2377440" cy="548640"/>
          </a:xfrm>
          <a:prstGeom prst="rect">
            <a:avLst/>
          </a:prstGeom>
          <a:noFill/>
          <a:ln/>
        </p:spPr>
        <p:txBody>
          <a:bodyPr wrap="square" lIns="0" tIns="0" rIns="0" bIns="0" rtlCol="0" anchor="t"/>
          <a:lstStyle/>
          <a:p>
            <a:pPr indent="0" marL="0">
              <a:buNone/>
            </a:pPr>
            <a:r>
              <a:rPr lang="en-US" sz="1200" dirty="0">
                <a:solidFill>
                  <a:schemeClr val="tx2"/>
                </a:solidFill>
              </a:rPr>
              <a:t>just a directory on disk</a:t>
            </a:r>
            <a:endParaRPr lang="en-US" sz="1200" dirty="0"/>
          </a:p>
        </p:txBody>
      </p:sp>
      <p:sp>
        <p:nvSpPr>
          <p:cNvPr id="9" name="tl2"/>
          <p:cNvSpPr/>
          <p:nvPr/>
        </p:nvSpPr>
        <p:spPr>
          <a:xfrm>
            <a:off x="5184648" y="1325880"/>
            <a:ext cx="1801368" cy="1051560"/>
          </a:xfrm>
          <a:prstGeom prst="roundRect">
            <a:avLst>
              <a:gd name="adj" fmla="val 6957"/>
            </a:avLst>
          </a:prstGeom>
          <a:solidFill>
            <a:schemeClr val="tx1"/>
          </a:solidFill>
          <a:ln w="12700">
            <a:solidFill>
              <a:schemeClr val="tx1"/>
            </a:solidFill>
            <a:prstDash val="solid"/>
          </a:ln>
        </p:spPr>
      </p:sp>
      <p:sp>
        <p:nvSpPr>
          <p:cNvPr id="10" name="t59"/>
          <p:cNvSpPr txBox="1"/>
          <p:nvPr/>
        </p:nvSpPr>
        <p:spPr>
          <a:xfrm>
            <a:off x="5349240" y="1444752"/>
            <a:ext cx="1527048" cy="320040"/>
          </a:xfrm>
          <a:prstGeom prst="rect">
            <a:avLst/>
          </a:prstGeom>
          <a:noFill/>
          <a:ln/>
        </p:spPr>
        <p:txBody>
          <a:bodyPr wrap="square" lIns="0" tIns="0" rIns="0" bIns="0" rtlCol="0" anchor="t"/>
          <a:lstStyle/>
          <a:p>
            <a:pPr indent="0" marL="0">
              <a:buNone/>
            </a:pPr>
            <a:r>
              <a:rPr lang="en-US" sz="1500" b="1" dirty="0">
                <a:solidFill>
                  <a:schemeClr val="accent1"/>
                </a:solidFill>
              </a:rPr>
              <a:t>Wake and step</a:t>
            </a:r>
            <a:endParaRPr lang="en-US" sz="1500" dirty="0"/>
          </a:p>
        </p:txBody>
      </p:sp>
      <p:sp>
        <p:nvSpPr>
          <p:cNvPr id="11" name="t60"/>
          <p:cNvSpPr txBox="1"/>
          <p:nvPr/>
        </p:nvSpPr>
        <p:spPr>
          <a:xfrm>
            <a:off x="5349240" y="1783080"/>
            <a:ext cx="1527048" cy="548640"/>
          </a:xfrm>
          <a:prstGeom prst="rect">
            <a:avLst/>
          </a:prstGeom>
          <a:noFill/>
          <a:ln/>
        </p:spPr>
        <p:txBody>
          <a:bodyPr wrap="square" lIns="0" tIns="0" rIns="0" bIns="0" rtlCol="0" anchor="t"/>
          <a:lstStyle/>
          <a:p>
            <a:pPr indent="0" marL="0">
              <a:buNone/>
            </a:pPr>
            <a:r>
              <a:rPr lang="en-US" sz="1200" dirty="0">
                <a:solidFill>
                  <a:schemeClr val="bg1"/>
                </a:solidFill>
              </a:rPr>
              <a:t>day 10: writes resume: on 10 Jan</a:t>
            </a:r>
            <a:endParaRPr lang="en-US" sz="1200" dirty="0"/>
          </a:p>
        </p:txBody>
      </p:sp>
      <p:sp>
        <p:nvSpPr>
          <p:cNvPr id="12" name="tl3"/>
          <p:cNvSpPr/>
          <p:nvPr/>
        </p:nvSpPr>
        <p:spPr>
          <a:xfrm>
            <a:off x="7077456" y="1325880"/>
            <a:ext cx="2651760" cy="1051560"/>
          </a:xfrm>
          <a:prstGeom prst="roundRect">
            <a:avLst>
              <a:gd name="adj" fmla="val 6957"/>
            </a:avLst>
          </a:prstGeom>
          <a:solidFill>
            <a:schemeClr val="bg2"/>
          </a:solidFill>
          <a:ln w="12700">
            <a:solidFill>
              <a:schemeClr val="bg2"/>
            </a:solidFill>
            <a:prstDash val="solid"/>
          </a:ln>
        </p:spPr>
      </p:sp>
      <p:sp>
        <p:nvSpPr>
          <p:cNvPr id="13" name="t61"/>
          <p:cNvSpPr txBox="1"/>
          <p:nvPr/>
        </p:nvSpPr>
        <p:spPr>
          <a:xfrm>
            <a:off x="7242048" y="1444752"/>
            <a:ext cx="2377440" cy="320040"/>
          </a:xfrm>
          <a:prstGeom prst="rect">
            <a:avLst/>
          </a:prstGeom>
          <a:noFill/>
          <a:ln/>
        </p:spPr>
        <p:txBody>
          <a:bodyPr wrap="square" lIns="0" tIns="0" rIns="0" bIns="0" rtlCol="0" anchor="t"/>
          <a:lstStyle/>
          <a:p>
            <a:pPr indent="0" marL="0">
              <a:buNone/>
            </a:pPr>
            <a:r>
              <a:rPr lang="en-US" sz="1500" b="1" dirty="0">
                <a:solidFill>
                  <a:schemeClr val="tx1"/>
                </a:solidFill>
              </a:rPr>
              <a:t>Asleep, 0 tokens</a:t>
            </a:r>
            <a:endParaRPr lang="en-US" sz="1500" dirty="0"/>
          </a:p>
        </p:txBody>
      </p:sp>
      <p:sp>
        <p:nvSpPr>
          <p:cNvPr id="14" name="t62"/>
          <p:cNvSpPr txBox="1"/>
          <p:nvPr/>
        </p:nvSpPr>
        <p:spPr>
          <a:xfrm>
            <a:off x="7242048" y="1783080"/>
            <a:ext cx="2377440" cy="548640"/>
          </a:xfrm>
          <a:prstGeom prst="rect">
            <a:avLst/>
          </a:prstGeom>
          <a:noFill/>
          <a:ln/>
        </p:spPr>
        <p:txBody>
          <a:bodyPr wrap="square" lIns="0" tIns="0" rIns="0" bIns="0" rtlCol="0" anchor="t"/>
          <a:lstStyle/>
          <a:p>
            <a:pPr indent="0" marL="0">
              <a:buNone/>
            </a:pPr>
            <a:r>
              <a:rPr lang="en-US" sz="1200" dirty="0">
                <a:solidFill>
                  <a:schemeClr val="tx2"/>
                </a:solidFill>
              </a:rPr>
              <a:t>a human can read or edit wake_at</a:t>
            </a:r>
            <a:endParaRPr lang="en-US" sz="1200" dirty="0"/>
          </a:p>
        </p:txBody>
      </p:sp>
      <p:sp>
        <p:nvSpPr>
          <p:cNvPr id="15" name="tl4"/>
          <p:cNvSpPr/>
          <p:nvPr/>
        </p:nvSpPr>
        <p:spPr>
          <a:xfrm>
            <a:off x="9820656" y="1325880"/>
            <a:ext cx="1801368" cy="1051560"/>
          </a:xfrm>
          <a:prstGeom prst="roundRect">
            <a:avLst>
              <a:gd name="adj" fmla="val 6957"/>
            </a:avLst>
          </a:prstGeom>
          <a:solidFill>
            <a:schemeClr val="tx1"/>
          </a:solidFill>
          <a:ln w="12700">
            <a:solidFill>
              <a:schemeClr val="tx1"/>
            </a:solidFill>
            <a:prstDash val="solid"/>
          </a:ln>
        </p:spPr>
      </p:sp>
      <p:sp>
        <p:nvSpPr>
          <p:cNvPr id="16" name="t63"/>
          <p:cNvSpPr txBox="1"/>
          <p:nvPr/>
        </p:nvSpPr>
        <p:spPr>
          <a:xfrm>
            <a:off x="9985248" y="1444752"/>
            <a:ext cx="1527048" cy="320040"/>
          </a:xfrm>
          <a:prstGeom prst="rect">
            <a:avLst/>
          </a:prstGeom>
          <a:noFill/>
          <a:ln/>
        </p:spPr>
        <p:txBody>
          <a:bodyPr wrap="square" lIns="0" tIns="0" rIns="0" bIns="0" rtlCol="0" anchor="t"/>
          <a:lstStyle/>
          <a:p>
            <a:pPr indent="0" marL="0">
              <a:buNone/>
            </a:pPr>
            <a:r>
              <a:rPr lang="en-US" sz="1500" b="1" dirty="0">
                <a:solidFill>
                  <a:schemeClr val="accent1"/>
                </a:solidFill>
              </a:rPr>
              <a:t>Wake and step</a:t>
            </a:r>
            <a:endParaRPr lang="en-US" sz="1500" dirty="0"/>
          </a:p>
        </p:txBody>
      </p:sp>
      <p:sp>
        <p:nvSpPr>
          <p:cNvPr id="17" name="t64"/>
          <p:cNvSpPr txBox="1"/>
          <p:nvPr/>
        </p:nvSpPr>
        <p:spPr>
          <a:xfrm>
            <a:off x="9985248" y="1783080"/>
            <a:ext cx="1527048" cy="548640"/>
          </a:xfrm>
          <a:prstGeom prst="rect">
            <a:avLst/>
          </a:prstGeom>
          <a:noFill/>
          <a:ln/>
        </p:spPr>
        <p:txBody>
          <a:bodyPr wrap="square" lIns="0" tIns="0" rIns="0" bIns="0" rtlCol="0" anchor="t"/>
          <a:lstStyle/>
          <a:p>
            <a:pPr indent="0" marL="0">
              <a:buNone/>
            </a:pPr>
            <a:r>
              <a:rPr lang="en-US" sz="1200" dirty="0">
                <a:solidFill>
                  <a:schemeClr val="bg1"/>
                </a:solidFill>
              </a:rPr>
              <a:t>10 Jan, or early on a message</a:t>
            </a:r>
            <a:endParaRPr lang="en-US" sz="1200" dirty="0"/>
          </a:p>
        </p:txBody>
      </p:sp>
      <p:sp>
        <p:nvSpPr>
          <p:cNvPr id="18" name="t65"/>
          <p:cNvSpPr txBox="1"/>
          <p:nvPr/>
        </p:nvSpPr>
        <p:spPr>
          <a:xfrm>
            <a:off x="548640" y="2651760"/>
            <a:ext cx="5486400" cy="365760"/>
          </a:xfrm>
          <a:prstGeom prst="rect">
            <a:avLst/>
          </a:prstGeom>
          <a:noFill/>
          <a:ln/>
        </p:spPr>
        <p:txBody>
          <a:bodyPr wrap="square" lIns="0" tIns="0" rIns="0" bIns="0" rtlCol="0" anchor="t"/>
          <a:lstStyle/>
          <a:p>
            <a:pPr indent="0" marL="0">
              <a:buNone/>
            </a:pPr>
            <a:r>
              <a:rPr lang="en-US" sz="1600" b="1" dirty="0">
                <a:solidFill>
                  <a:schemeClr val="accent2"/>
                </a:solidFill>
              </a:rPr>
              <a:t>The agent writes when, in its memento</a:t>
            </a:r>
            <a:endParaRPr lang="en-US" sz="1600" dirty="0"/>
          </a:p>
        </p:txBody>
      </p:sp>
      <p:sp>
        <p:nvSpPr>
          <p:cNvPr id="19" name="ex0"/>
          <p:cNvSpPr/>
          <p:nvPr/>
        </p:nvSpPr>
        <p:spPr>
          <a:xfrm>
            <a:off x="548640" y="3063240"/>
            <a:ext cx="3566160" cy="1097280"/>
          </a:xfrm>
          <a:prstGeom prst="roundRect">
            <a:avLst>
              <a:gd name="adj" fmla="val 6667"/>
            </a:avLst>
          </a:prstGeom>
          <a:solidFill>
            <a:schemeClr val="accent5"/>
          </a:solidFill>
          <a:ln w="12700">
            <a:solidFill>
              <a:schemeClr val="accent5"/>
            </a:solidFill>
            <a:prstDash val="solid"/>
          </a:ln>
        </p:spPr>
      </p:sp>
      <p:sp>
        <p:nvSpPr>
          <p:cNvPr id="20" name="t66"/>
          <p:cNvSpPr txBox="1"/>
          <p:nvPr/>
        </p:nvSpPr>
        <p:spPr>
          <a:xfrm>
            <a:off x="731520" y="3172968"/>
            <a:ext cx="320040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resume: in 10 days</a:t>
            </a:r>
            <a:endParaRPr lang="en-US" sz="1500" dirty="0"/>
          </a:p>
        </p:txBody>
      </p:sp>
      <p:sp>
        <p:nvSpPr>
          <p:cNvPr id="21" name="t67"/>
          <p:cNvSpPr txBox="1"/>
          <p:nvPr/>
        </p:nvSpPr>
        <p:spPr>
          <a:xfrm>
            <a:off x="731520" y="3566160"/>
            <a:ext cx="3246120" cy="548640"/>
          </a:xfrm>
          <a:prstGeom prst="rect">
            <a:avLst/>
          </a:prstGeom>
          <a:noFill/>
          <a:ln/>
        </p:spPr>
        <p:txBody>
          <a:bodyPr wrap="square" lIns="0" tIns="0" rIns="0" bIns="0" rtlCol="0" anchor="t"/>
          <a:lstStyle/>
          <a:p>
            <a:pPr indent="0" marL="0">
              <a:buNone/>
            </a:pPr>
            <a:r>
              <a:rPr lang="en-US" sz="1300" dirty="0">
                <a:solidFill>
                  <a:schemeClr val="tx2"/>
                </a:solidFill>
              </a:rPr>
              <a:t>One-shot, relative to when the step commits</a:t>
            </a:r>
            <a:endParaRPr lang="en-US" sz="1300" dirty="0"/>
          </a:p>
        </p:txBody>
      </p:sp>
      <p:sp>
        <p:nvSpPr>
          <p:cNvPr id="22" name="ex1"/>
          <p:cNvSpPr/>
          <p:nvPr/>
        </p:nvSpPr>
        <p:spPr>
          <a:xfrm>
            <a:off x="4311396" y="3063240"/>
            <a:ext cx="3566160" cy="1097280"/>
          </a:xfrm>
          <a:prstGeom prst="roundRect">
            <a:avLst>
              <a:gd name="adj" fmla="val 6667"/>
            </a:avLst>
          </a:prstGeom>
          <a:solidFill>
            <a:schemeClr val="accent5"/>
          </a:solidFill>
          <a:ln w="12700">
            <a:solidFill>
              <a:schemeClr val="accent5"/>
            </a:solidFill>
            <a:prstDash val="solid"/>
          </a:ln>
        </p:spPr>
      </p:sp>
      <p:sp>
        <p:nvSpPr>
          <p:cNvPr id="23" name="t68"/>
          <p:cNvSpPr txBox="1"/>
          <p:nvPr/>
        </p:nvSpPr>
        <p:spPr>
          <a:xfrm>
            <a:off x="4494276" y="3172968"/>
            <a:ext cx="320040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resume: on 10 Jan</a:t>
            </a:r>
            <a:endParaRPr lang="en-US" sz="1500" dirty="0"/>
          </a:p>
        </p:txBody>
      </p:sp>
      <p:sp>
        <p:nvSpPr>
          <p:cNvPr id="24" name="t69"/>
          <p:cNvSpPr txBox="1"/>
          <p:nvPr/>
        </p:nvSpPr>
        <p:spPr>
          <a:xfrm>
            <a:off x="4494276" y="3566160"/>
            <a:ext cx="3246120" cy="548640"/>
          </a:xfrm>
          <a:prstGeom prst="rect">
            <a:avLst/>
          </a:prstGeom>
          <a:noFill/>
          <a:ln/>
        </p:spPr>
        <p:txBody>
          <a:bodyPr wrap="square" lIns="0" tIns="0" rIns="0" bIns="0" rtlCol="0" anchor="t"/>
          <a:lstStyle/>
          <a:p>
            <a:pPr indent="0" marL="0">
              <a:buNone/>
            </a:pPr>
            <a:r>
              <a:rPr lang="en-US" sz="1300" dirty="0">
                <a:solidFill>
                  <a:schemeClr val="tx2"/>
                </a:solidFill>
              </a:rPr>
              <a:t>One-shot, absolute: the next 10 Jan to come</a:t>
            </a:r>
            <a:endParaRPr lang="en-US" sz="1300" dirty="0"/>
          </a:p>
        </p:txBody>
      </p:sp>
      <p:sp>
        <p:nvSpPr>
          <p:cNvPr id="25" name="ex2"/>
          <p:cNvSpPr/>
          <p:nvPr/>
        </p:nvSpPr>
        <p:spPr>
          <a:xfrm>
            <a:off x="8074152" y="3063240"/>
            <a:ext cx="3566160" cy="1097280"/>
          </a:xfrm>
          <a:prstGeom prst="roundRect">
            <a:avLst>
              <a:gd name="adj" fmla="val 6667"/>
            </a:avLst>
          </a:prstGeom>
          <a:solidFill>
            <a:schemeClr val="accent5"/>
          </a:solidFill>
          <a:ln w="12700">
            <a:solidFill>
              <a:schemeClr val="accent5"/>
            </a:solidFill>
            <a:prstDash val="solid"/>
          </a:ln>
        </p:spPr>
      </p:sp>
      <p:sp>
        <p:nvSpPr>
          <p:cNvPr id="26" name="t70"/>
          <p:cNvSpPr txBox="1"/>
          <p:nvPr/>
        </p:nvSpPr>
        <p:spPr>
          <a:xfrm>
            <a:off x="8257032" y="3172968"/>
            <a:ext cx="320040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every: monday 08:00</a:t>
            </a:r>
            <a:endParaRPr lang="en-US" sz="1500" dirty="0"/>
          </a:p>
        </p:txBody>
      </p:sp>
      <p:sp>
        <p:nvSpPr>
          <p:cNvPr id="27" name="t71"/>
          <p:cNvSpPr txBox="1"/>
          <p:nvPr/>
        </p:nvSpPr>
        <p:spPr>
          <a:xfrm>
            <a:off x="8257032" y="3566160"/>
            <a:ext cx="3246120" cy="548640"/>
          </a:xfrm>
          <a:prstGeom prst="rect">
            <a:avLst/>
          </a:prstGeom>
          <a:noFill/>
          <a:ln/>
        </p:spPr>
        <p:txBody>
          <a:bodyPr wrap="square" lIns="0" tIns="0" rIns="0" bIns="0" rtlCol="0" anchor="t"/>
          <a:lstStyle/>
          <a:p>
            <a:pPr indent="0" marL="0">
              <a:buNone/>
            </a:pPr>
            <a:r>
              <a:rPr lang="en-US" sz="1300" dirty="0">
                <a:solidFill>
                  <a:schemeClr val="tx2"/>
                </a:solidFill>
              </a:rPr>
              <a:t>Recurring: the executor re-arms it, even after a failed step</a:t>
            </a:r>
            <a:endParaRPr lang="en-US" sz="1300" dirty="0"/>
          </a:p>
        </p:txBody>
      </p:sp>
      <p:sp>
        <p:nvSpPr>
          <p:cNvPr id="28" name="t72"/>
          <p:cNvSpPr txBox="1"/>
          <p:nvPr/>
        </p:nvSpPr>
        <p:spPr>
          <a:xfrm>
            <a:off x="548640" y="4389120"/>
            <a:ext cx="5486400" cy="365760"/>
          </a:xfrm>
          <a:prstGeom prst="rect">
            <a:avLst/>
          </a:prstGeom>
          <a:noFill/>
          <a:ln/>
        </p:spPr>
        <p:txBody>
          <a:bodyPr wrap="square" lIns="0" tIns="0" rIns="0" bIns="0" rtlCol="0" anchor="t"/>
          <a:lstStyle/>
          <a:p>
            <a:pPr indent="0" marL="0">
              <a:buNone/>
            </a:pPr>
            <a:r>
              <a:rPr lang="en-US" sz="1600" b="1" dirty="0">
                <a:solidFill>
                  <a:schemeClr val="accent2"/>
                </a:solidFill>
              </a:rPr>
              <a:t>The executor makes it reliable</a:t>
            </a:r>
            <a:endParaRPr lang="en-US" sz="1600" dirty="0"/>
          </a:p>
        </p:txBody>
      </p:sp>
      <p:sp>
        <p:nvSpPr>
          <p:cNvPr id="29" name="t73"/>
          <p:cNvSpPr txBox="1"/>
          <p:nvPr/>
        </p:nvSpPr>
        <p:spPr>
          <a:xfrm>
            <a:off x="548640" y="4800600"/>
            <a:ext cx="5440680" cy="685800"/>
          </a:xfrm>
          <a:prstGeom prst="rect">
            <a:avLst/>
          </a:prstGeom>
          <a:noFill/>
          <a:ln/>
        </p:spPr>
        <p:txBody>
          <a:bodyPr wrap="square" lIns="0" tIns="0" rIns="0" bIns="0" rtlCol="0" anchor="t"/>
          <a:lstStyle/>
          <a:p>
            <a:pPr indent="0" marL="0">
              <a:buNone/>
            </a:pPr>
            <a:r>
              <a:rPr lang="en-US" sz="1300" b="1" dirty="0">
                <a:solidFill>
                  <a:schemeClr val="tx1"/>
                </a:solidFill>
              </a:rPr>
              <a:t>Code resolves the date: </a:t>
            </a:r>
            <a:pPr indent="0" marL="0">
              <a:buNone/>
            </a:pPr>
            <a:r>
              <a:rPr lang="en-US" sz="1300" dirty="0">
                <a:solidFill>
                  <a:schemeClr val="tx2"/>
                </a:solidFill>
              </a:rPr>
              <a:t>The model never does date arithmetic; status.md keeps both the expression and the UTC wake_at</a:t>
            </a:r>
            <a:endParaRPr lang="en-US" sz="1300" dirty="0"/>
          </a:p>
        </p:txBody>
      </p:sp>
      <p:sp>
        <p:nvSpPr>
          <p:cNvPr id="30" name="t74"/>
          <p:cNvSpPr txBox="1"/>
          <p:nvPr/>
        </p:nvSpPr>
        <p:spPr>
          <a:xfrm>
            <a:off x="6190488" y="4800600"/>
            <a:ext cx="5440680" cy="685800"/>
          </a:xfrm>
          <a:prstGeom prst="rect">
            <a:avLst/>
          </a:prstGeom>
          <a:noFill/>
          <a:ln/>
        </p:spPr>
        <p:txBody>
          <a:bodyPr wrap="square" lIns="0" tIns="0" rIns="0" bIns="0" rtlCol="0" anchor="t"/>
          <a:lstStyle/>
          <a:p>
            <a:pPr indent="0" marL="0">
              <a:buNone/>
            </a:pPr>
            <a:r>
              <a:rPr lang="en-US" sz="1300" b="1" dirty="0">
                <a:solidFill>
                  <a:schemeClr val="tx1"/>
                </a:solidFill>
              </a:rPr>
              <a:t>Missed wakes catch up once: </a:t>
            </a:r>
            <a:pPr indent="0" marL="0">
              <a:buNone/>
            </a:pPr>
            <a:r>
              <a:rPr lang="en-US" sz="1300" dirty="0">
                <a:solidFill>
                  <a:schemeClr val="tx2"/>
                </a:solidFill>
              </a:rPr>
              <a:t>Machine off on 10 Jan? Run once at the next tick and say "3 days late" (like systemd Persistent=)</a:t>
            </a:r>
            <a:endParaRPr lang="en-US" sz="1300" dirty="0"/>
          </a:p>
        </p:txBody>
      </p:sp>
      <p:sp>
        <p:nvSpPr>
          <p:cNvPr id="31" name="t75"/>
          <p:cNvSpPr txBox="1"/>
          <p:nvPr/>
        </p:nvSpPr>
        <p:spPr>
          <a:xfrm>
            <a:off x="548640" y="5532120"/>
            <a:ext cx="5440680" cy="685800"/>
          </a:xfrm>
          <a:prstGeom prst="rect">
            <a:avLst/>
          </a:prstGeom>
          <a:noFill/>
          <a:ln/>
        </p:spPr>
        <p:txBody>
          <a:bodyPr wrap="square" lIns="0" tIns="0" rIns="0" bIns="0" rtlCol="0" anchor="t"/>
          <a:lstStyle/>
          <a:p>
            <a:pPr indent="0" marL="0">
              <a:buNone/>
            </a:pPr>
            <a:r>
              <a:rPr lang="en-US" sz="1300" b="1" dirty="0">
                <a:solidFill>
                  <a:schemeClr val="tx1"/>
                </a:solidFill>
              </a:rPr>
              <a:t>The wake prompt has context: </a:t>
            </a:r>
            <a:pPr indent="0" marL="0">
              <a:buNone/>
            </a:pPr>
            <a:r>
              <a:rPr lang="en-US" sz="1300" dirty="0">
                <a:solidFill>
                  <a:schemeClr val="tx2"/>
                </a:solidFill>
              </a:rPr>
              <a:t>Now, when it was due, why it slept, and what changed in identity/ meanwhile</a:t>
            </a:r>
            <a:endParaRPr lang="en-US" sz="1300" dirty="0"/>
          </a:p>
        </p:txBody>
      </p:sp>
      <p:sp>
        <p:nvSpPr>
          <p:cNvPr id="32" name="t76"/>
          <p:cNvSpPr txBox="1"/>
          <p:nvPr/>
        </p:nvSpPr>
        <p:spPr>
          <a:xfrm>
            <a:off x="6190488" y="5532120"/>
            <a:ext cx="5440680" cy="685800"/>
          </a:xfrm>
          <a:prstGeom prst="rect">
            <a:avLst/>
          </a:prstGeom>
          <a:noFill/>
          <a:ln/>
        </p:spPr>
        <p:txBody>
          <a:bodyPr wrap="square" lIns="0" tIns="0" rIns="0" bIns="0" rtlCol="0" anchor="t"/>
          <a:lstStyle/>
          <a:p>
            <a:pPr indent="0" marL="0">
              <a:buNone/>
            </a:pPr>
            <a:r>
              <a:rPr lang="en-US" sz="1300" b="1" dirty="0">
                <a:solidFill>
                  <a:schemeClr val="tx1"/>
                </a:solidFill>
              </a:rPr>
              <a:t>A fake clock for tests: </a:t>
            </a:r>
            <a:pPr indent="0" marL="0">
              <a:buNone/>
            </a:pPr>
            <a:r>
              <a:rPr lang="en-US" sz="1300" dirty="0">
                <a:solidFill>
                  <a:schemeClr val="tx2"/>
                </a:solidFill>
              </a:rPr>
              <a:t>WPK_NOW lets "every Monday for a month" run in seconds</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Packets spawn packets</a:t>
            </a:r>
            <a:endParaRPr lang="en-US" sz="3400" dirty="0"/>
          </a:p>
        </p:txBody>
      </p:sp>
      <p:sp>
        <p:nvSpPr>
          <p:cNvPr id="3" name="t77"/>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600" b="1" dirty="0">
                <a:solidFill>
                  <a:schemeClr val="accent2"/>
                </a:solidFill>
              </a:rPr>
              <a:t>Prototype run: test/sub</a:t>
            </a:r>
            <a:endParaRPr lang="en-US" sz="1600" dirty="0"/>
          </a:p>
        </p:txBody>
      </p:sp>
      <p:sp>
        <p:nvSpPr>
          <p:cNvPr id="4" name="parentCard"/>
          <p:cNvSpPr/>
          <p:nvPr/>
        </p:nvSpPr>
        <p:spPr>
          <a:xfrm>
            <a:off x="548640" y="1783080"/>
            <a:ext cx="5120640" cy="4114800"/>
          </a:xfrm>
          <a:prstGeom prst="roundRect">
            <a:avLst>
              <a:gd name="adj" fmla="val 1778"/>
            </a:avLst>
          </a:prstGeom>
          <a:solidFill>
            <a:schemeClr val="bg2"/>
          </a:solidFill>
          <a:ln w="12700">
            <a:solidFill>
              <a:schemeClr val="bg2"/>
            </a:solidFill>
            <a:prstDash val="solid"/>
          </a:ln>
        </p:spPr>
      </p:sp>
      <p:sp>
        <p:nvSpPr>
          <p:cNvPr id="5" name="t78"/>
          <p:cNvSpPr txBox="1"/>
          <p:nvPr/>
        </p:nvSpPr>
        <p:spPr>
          <a:xfrm>
            <a:off x="822960" y="1965960"/>
            <a:ext cx="457200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parent  APID=sub</a:t>
            </a:r>
            <a:endParaRPr lang="en-US" sz="1500" dirty="0"/>
          </a:p>
        </p:txBody>
      </p:sp>
      <p:sp>
        <p:nvSpPr>
          <p:cNvPr id="6" name="t79"/>
          <p:cNvSpPr txBox="1"/>
          <p:nvPr/>
        </p:nvSpPr>
        <p:spPr>
          <a:xfrm>
            <a:off x="822960" y="2468880"/>
            <a:ext cx="45720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next-instr.md: evaluate add_one.md</a:t>
            </a:r>
            <a:endParaRPr lang="en-US" sz="1500" dirty="0"/>
          </a:p>
          <a:p>
            <a:pPr marL="342900" indent="-342900">
              <a:spcAft>
                <a:spcPts val="600"/>
              </a:spcAft>
              <a:buSzPct val="100000"/>
              <a:buChar char="•"/>
            </a:pPr>
            <a:r>
              <a:rPr lang="en-US" sz="1500" dirty="0">
                <a:solidFill>
                  <a:schemeClr val="tx1"/>
                </a:solidFill>
              </a:rPr>
              <a:t>Read count.md, add 1, write it back</a:t>
            </a:r>
            <a:endParaRPr lang="en-US" sz="1500" dirty="0"/>
          </a:p>
          <a:p>
            <a:pPr marL="342900" indent="-342900">
              <a:spcAft>
                <a:spcPts val="600"/>
              </a:spcAft>
              <a:buSzPct val="100000"/>
              <a:buChar char="•"/>
            </a:pPr>
            <a:r>
              <a:rPr lang="en-US" sz="1500" dirty="0">
                <a:solidFill>
                  <a:schemeClr val="tx1"/>
                </a:solidFill>
              </a:rPr>
              <a:t>While count &lt; 8: re-evaluate after 1 s (a new model call each time)</a:t>
            </a:r>
            <a:endParaRPr lang="en-US" sz="1500" dirty="0"/>
          </a:p>
          <a:p>
            <a:pPr marL="342900" indent="-342900">
              <a:spcAft>
                <a:spcPts val="600"/>
              </a:spcAft>
              <a:buSzPct val="100000"/>
              <a:buChar char="•"/>
            </a:pPr>
            <a:r>
              <a:rPr lang="en-US" sz="1500" dirty="0">
                <a:solidFill>
                  <a:schemeClr val="tx1"/>
                </a:solidFill>
              </a:rPr>
              <a:t>Then spawn a child that writes "Hello World" to p.md</a:t>
            </a:r>
            <a:endParaRPr lang="en-US" sz="1500" dirty="0"/>
          </a:p>
        </p:txBody>
      </p:sp>
      <p:sp>
        <p:nvSpPr>
          <p:cNvPr id="7" name="t80"/>
          <p:cNvSpPr txBox="1"/>
          <p:nvPr/>
        </p:nvSpPr>
        <p:spPr>
          <a:xfrm>
            <a:off x="822960" y="5257800"/>
            <a:ext cx="4572000" cy="3657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status.md: COMPLETED  ·  count.md = 9</a:t>
            </a:r>
            <a:endParaRPr lang="en-US" sz="1300" dirty="0"/>
          </a:p>
        </p:txBody>
      </p:sp>
      <p:sp>
        <p:nvSpPr>
          <p:cNvPr id="8" name="spawnArrow"/>
          <p:cNvSpPr/>
          <p:nvPr/>
        </p:nvSpPr>
        <p:spPr>
          <a:xfrm>
            <a:off x="5897880" y="3520440"/>
            <a:ext cx="685800" cy="457200"/>
          </a:xfrm>
          <a:prstGeom prst="rightArrow">
            <a:avLst/>
          </a:prstGeom>
          <a:solidFill>
            <a:schemeClr val="accent1"/>
          </a:solidFill>
          <a:ln w="12700">
            <a:solidFill>
              <a:schemeClr val="accent1"/>
            </a:solidFill>
            <a:prstDash val="solid"/>
          </a:ln>
        </p:spPr>
      </p:sp>
      <p:sp>
        <p:nvSpPr>
          <p:cNvPr id="9" name="childCard"/>
          <p:cNvSpPr/>
          <p:nvPr/>
        </p:nvSpPr>
        <p:spPr>
          <a:xfrm>
            <a:off x="6720840" y="1783080"/>
            <a:ext cx="4919472" cy="1600200"/>
          </a:xfrm>
          <a:prstGeom prst="roundRect">
            <a:avLst>
              <a:gd name="adj" fmla="val 4571"/>
            </a:avLst>
          </a:prstGeom>
          <a:solidFill>
            <a:schemeClr val="tx1"/>
          </a:solidFill>
          <a:ln w="12700">
            <a:solidFill>
              <a:schemeClr val="tx1"/>
            </a:solidFill>
            <a:prstDash val="solid"/>
          </a:ln>
        </p:spPr>
      </p:sp>
      <p:sp>
        <p:nvSpPr>
          <p:cNvPr id="10" name="t81"/>
          <p:cNvSpPr txBox="1"/>
          <p:nvPr/>
        </p:nvSpPr>
        <p:spPr>
          <a:xfrm>
            <a:off x="6995160" y="1965960"/>
            <a:ext cx="448056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child  APID=3550d964-…</a:t>
            </a:r>
            <a:endParaRPr lang="en-US" sz="1500" dirty="0"/>
          </a:p>
        </p:txBody>
      </p:sp>
      <p:sp>
        <p:nvSpPr>
          <p:cNvPr id="11" name="t82"/>
          <p:cNvSpPr txBox="1"/>
          <p:nvPr/>
        </p:nvSpPr>
        <p:spPr>
          <a:xfrm>
            <a:off x="6995160" y="2468880"/>
            <a:ext cx="4480560" cy="1005840"/>
          </a:xfrm>
          <a:prstGeom prst="rect">
            <a:avLst/>
          </a:prstGeom>
          <a:noFill/>
          <a:ln/>
        </p:spPr>
        <p:txBody>
          <a:bodyPr wrap="square" lIns="0" tIns="0" rIns="0" bIns="0" rtlCol="0" anchor="t"/>
          <a:lstStyle/>
          <a:p>
            <a:pPr indent="0" marL="0">
              <a:buNone/>
            </a:pPr>
            <a:r>
              <a:rPr lang="en-US" sz="1400" dirty="0">
                <a:solidFill>
                  <a:schemeClr val="bg1"/>
                </a:solidFill>
              </a:rPr>
              <a:t>next-instr.md: write "Hello World" to p.md</a:t>
            </a:r>
            <a:endParaRPr lang="en-US" sz="1400" dirty="0"/>
          </a:p>
          <a:p>
            <a:pPr indent="0" marL="0">
              <a:buNone/>
            </a:pPr>
            <a:r>
              <a:rPr lang="en-US" sz="1400" dirty="0">
                <a:solidFill>
                  <a:schemeClr val="bg1"/>
                </a:solidFill>
              </a:rPr>
              <a:t>status.md: COMPLETED  (Claude Haiku 4.5)</a:t>
            </a:r>
            <a:endParaRPr lang="en-US" sz="1400" dirty="0"/>
          </a:p>
        </p:txBody>
      </p:sp>
      <p:sp>
        <p:nvSpPr>
          <p:cNvPr id="12" name="t83"/>
          <p:cNvSpPr txBox="1"/>
          <p:nvPr/>
        </p:nvSpPr>
        <p:spPr>
          <a:xfrm>
            <a:off x="6720840" y="3977640"/>
            <a:ext cx="4572000" cy="365760"/>
          </a:xfrm>
          <a:prstGeom prst="rect">
            <a:avLst/>
          </a:prstGeom>
          <a:noFill/>
          <a:ln/>
        </p:spPr>
        <p:txBody>
          <a:bodyPr wrap="square" lIns="0" tIns="0" rIns="0" bIns="0" rtlCol="0" anchor="t"/>
          <a:lstStyle/>
          <a:p>
            <a:pPr indent="0" marL="0">
              <a:buNone/>
            </a:pPr>
            <a:r>
              <a:rPr lang="en-US" sz="1600" b="1" dirty="0">
                <a:solidFill>
                  <a:schemeClr val="tx1"/>
                </a:solidFill>
              </a:rPr>
              <a:t>Spawn inputs (prototype spec)</a:t>
            </a:r>
            <a:endParaRPr lang="en-US" sz="1600" dirty="0"/>
          </a:p>
        </p:txBody>
      </p:sp>
      <p:sp>
        <p:nvSpPr>
          <p:cNvPr id="13" name="t84"/>
          <p:cNvSpPr txBox="1"/>
          <p:nvPr/>
        </p:nvSpPr>
        <p:spPr>
          <a:xfrm>
            <a:off x="6720840" y="4389120"/>
            <a:ext cx="484632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Parent ID</a:t>
            </a:r>
            <a:endParaRPr lang="en-US" sz="1500" dirty="0"/>
          </a:p>
          <a:p>
            <a:pPr marL="342900" indent="-342900">
              <a:spcAft>
                <a:spcPts val="600"/>
              </a:spcAft>
              <a:buSzPct val="100000"/>
              <a:buChar char="•"/>
            </a:pPr>
            <a:r>
              <a:rPr lang="en-US" sz="1500" dirty="0">
                <a:solidFill>
                  <a:schemeClr val="tx1"/>
                </a:solidFill>
              </a:rPr>
              <a:t>What to run: the child's first next-instr.md</a:t>
            </a:r>
            <a:endParaRPr lang="en-US" sz="1500" dirty="0"/>
          </a:p>
          <a:p>
            <a:pPr marL="342900" indent="-342900">
              <a:spcAft>
                <a:spcPts val="600"/>
              </a:spcAft>
              <a:buSzPct val="100000"/>
              <a:buChar char="•"/>
            </a:pPr>
            <a:r>
              <a:rPr lang="en-US" sz="1500" dirty="0">
                <a:solidFill>
                  <a:schemeClr val="tx1"/>
                </a:solidFill>
              </a:rPr>
              <a:t>Which parent state to copy into the child</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What the prototype already shows</a:t>
            </a:r>
            <a:endParaRPr lang="en-US" sz="3400" dirty="0"/>
          </a:p>
        </p:txBody>
      </p:sp>
      <p:sp>
        <p:nvSpPr>
          <p:cNvPr id="3" name="ic85"/>
          <p:cNvSpPr/>
          <p:nvPr/>
        </p:nvSpPr>
        <p:spPr>
          <a:xfrm>
            <a:off x="548640" y="1371600"/>
            <a:ext cx="548640" cy="548640"/>
          </a:xfrm>
          <a:prstGeom prst="ellipse">
            <a:avLst/>
          </a:prstGeom>
          <a:solidFill>
            <a:schemeClr val="accent2"/>
          </a:solidFill>
          <a:ln w="12700">
            <a:solidFill>
              <a:schemeClr val="accent2"/>
            </a:solidFill>
            <a:prstDash val="solid"/>
          </a:ln>
        </p:spPr>
      </p:sp>
      <p:pic>
        <p:nvPicPr>
          <p:cNvPr id="4" name="icimg86" descr="preencoded.png">    </p:cNvPr>
          <p:cNvPicPr>
            <a:picLocks noChangeAspect="1"/>
          </p:cNvPicPr>
          <p:nvPr/>
        </p:nvPicPr>
        <p:blipFill>
          <a:blip r:embed="rId1"/>
          <a:stretch>
            <a:fillRect/>
          </a:stretch>
        </p:blipFill>
        <p:spPr>
          <a:xfrm>
            <a:off x="685800" y="1508760"/>
            <a:ext cx="274320" cy="274320"/>
          </a:xfrm>
          <a:prstGeom prst="rect">
            <a:avLst/>
          </a:prstGeom>
        </p:spPr>
      </p:pic>
      <p:sp>
        <p:nvSpPr>
          <p:cNvPr id="5" name="t87"/>
          <p:cNvSpPr txBox="1"/>
          <p:nvPr/>
        </p:nvSpPr>
        <p:spPr>
          <a:xfrm>
            <a:off x="1280160" y="1417320"/>
            <a:ext cx="4572000" cy="457200"/>
          </a:xfrm>
          <a:prstGeom prst="rect">
            <a:avLst/>
          </a:prstGeom>
          <a:noFill/>
          <a:ln/>
        </p:spPr>
        <p:txBody>
          <a:bodyPr wrap="square" lIns="0" tIns="0" rIns="0" bIns="0" rtlCol="0" anchor="t"/>
          <a:lstStyle/>
          <a:p>
            <a:pPr indent="0" marL="0">
              <a:buNone/>
            </a:pPr>
            <a:r>
              <a:rPr lang="en-US" sz="2000" b="1" dirty="0">
                <a:solidFill>
                  <a:schemeClr val="tx1"/>
                </a:solidFill>
              </a:rPr>
              <a:t>Works</a:t>
            </a:r>
            <a:endParaRPr lang="en-US" sz="2000" dirty="0"/>
          </a:p>
        </p:txBody>
      </p:sp>
      <p:sp>
        <p:nvSpPr>
          <p:cNvPr id="6" name="card88"/>
          <p:cNvSpPr/>
          <p:nvPr/>
        </p:nvSpPr>
        <p:spPr>
          <a:xfrm>
            <a:off x="548640" y="2103120"/>
            <a:ext cx="5394960" cy="841248"/>
          </a:xfrm>
          <a:prstGeom prst="roundRect">
            <a:avLst>
              <a:gd name="adj" fmla="val 8696"/>
            </a:avLst>
          </a:prstGeom>
          <a:solidFill>
            <a:schemeClr val="bg2"/>
          </a:solidFill>
          <a:ln w="12700">
            <a:solidFill>
              <a:schemeClr val="bg2"/>
            </a:solidFill>
            <a:prstDash val="solid"/>
          </a:ln>
        </p:spPr>
      </p:sp>
      <p:sp>
        <p:nvSpPr>
          <p:cNvPr id="7" name="t89"/>
          <p:cNvSpPr txBox="1"/>
          <p:nvPr/>
        </p:nvSpPr>
        <p:spPr>
          <a:xfrm>
            <a:off x="777240" y="2103120"/>
            <a:ext cx="4983480" cy="841248"/>
          </a:xfrm>
          <a:prstGeom prst="rect">
            <a:avLst/>
          </a:prstGeom>
          <a:noFill/>
          <a:ln/>
        </p:spPr>
        <p:txBody>
          <a:bodyPr wrap="square" lIns="0" tIns="0" rIns="0" bIns="0" rtlCol="0" anchor="ctr"/>
          <a:lstStyle/>
          <a:p>
            <a:pPr indent="0" marL="0">
              <a:buNone/>
            </a:pPr>
            <a:r>
              <a:rPr lang="en-US" sz="1400" dirty="0">
                <a:solidFill>
                  <a:schemeClr val="tx1"/>
                </a:solidFill>
              </a:rPr>
              <a:t>A loop survives across separate model calls using only files</a:t>
            </a:r>
            <a:endParaRPr lang="en-US" sz="1400" dirty="0"/>
          </a:p>
        </p:txBody>
      </p:sp>
      <p:sp>
        <p:nvSpPr>
          <p:cNvPr id="8" name="card90"/>
          <p:cNvSpPr/>
          <p:nvPr/>
        </p:nvSpPr>
        <p:spPr>
          <a:xfrm>
            <a:off x="548640" y="3081528"/>
            <a:ext cx="5394960" cy="841248"/>
          </a:xfrm>
          <a:prstGeom prst="roundRect">
            <a:avLst>
              <a:gd name="adj" fmla="val 8696"/>
            </a:avLst>
          </a:prstGeom>
          <a:solidFill>
            <a:schemeClr val="bg2"/>
          </a:solidFill>
          <a:ln w="12700">
            <a:solidFill>
              <a:schemeClr val="bg2"/>
            </a:solidFill>
            <a:prstDash val="solid"/>
          </a:ln>
        </p:spPr>
      </p:sp>
      <p:sp>
        <p:nvSpPr>
          <p:cNvPr id="9" name="t91"/>
          <p:cNvSpPr txBox="1"/>
          <p:nvPr/>
        </p:nvSpPr>
        <p:spPr>
          <a:xfrm>
            <a:off x="777240" y="3081528"/>
            <a:ext cx="4983480" cy="841248"/>
          </a:xfrm>
          <a:prstGeom prst="rect">
            <a:avLst/>
          </a:prstGeom>
          <a:noFill/>
          <a:ln/>
        </p:spPr>
        <p:txBody>
          <a:bodyPr wrap="square" lIns="0" tIns="0" rIns="0" bIns="0" rtlCol="0" anchor="ctr"/>
          <a:lstStyle/>
          <a:p>
            <a:pPr indent="0" marL="0">
              <a:buNone/>
            </a:pPr>
            <a:r>
              <a:rPr lang="en-US" sz="1400" dirty="0">
                <a:solidFill>
                  <a:schemeClr val="tx1"/>
                </a:solidFill>
              </a:rPr>
              <a:t>Children get their own ID and run to completion</a:t>
            </a:r>
            <a:endParaRPr lang="en-US" sz="1400" dirty="0"/>
          </a:p>
        </p:txBody>
      </p:sp>
      <p:sp>
        <p:nvSpPr>
          <p:cNvPr id="10" name="card92"/>
          <p:cNvSpPr/>
          <p:nvPr/>
        </p:nvSpPr>
        <p:spPr>
          <a:xfrm>
            <a:off x="548640" y="4059936"/>
            <a:ext cx="5394960" cy="841248"/>
          </a:xfrm>
          <a:prstGeom prst="roundRect">
            <a:avLst>
              <a:gd name="adj" fmla="val 8696"/>
            </a:avLst>
          </a:prstGeom>
          <a:solidFill>
            <a:schemeClr val="bg2"/>
          </a:solidFill>
          <a:ln w="12700">
            <a:solidFill>
              <a:schemeClr val="bg2"/>
            </a:solidFill>
            <a:prstDash val="solid"/>
          </a:ln>
        </p:spPr>
      </p:sp>
      <p:sp>
        <p:nvSpPr>
          <p:cNvPr id="11" name="t93"/>
          <p:cNvSpPr txBox="1"/>
          <p:nvPr/>
        </p:nvSpPr>
        <p:spPr>
          <a:xfrm>
            <a:off x="777240" y="4059936"/>
            <a:ext cx="4983480" cy="841248"/>
          </a:xfrm>
          <a:prstGeom prst="rect">
            <a:avLst/>
          </a:prstGeom>
          <a:noFill/>
          <a:ln/>
        </p:spPr>
        <p:txBody>
          <a:bodyPr wrap="square" lIns="0" tIns="0" rIns="0" bIns="0" rtlCol="0" anchor="ctr"/>
          <a:lstStyle/>
          <a:p>
            <a:pPr indent="0" marL="0">
              <a:buNone/>
            </a:pPr>
            <a:r>
              <a:rPr lang="en-US" sz="1400" dirty="0">
                <a:solidFill>
                  <a:schemeClr val="tx1"/>
                </a:solidFill>
              </a:rPr>
              <a:t>status.md gives a readable audit trail, including which model ran</a:t>
            </a:r>
            <a:endParaRPr lang="en-US" sz="1400" dirty="0"/>
          </a:p>
        </p:txBody>
      </p:sp>
      <p:sp>
        <p:nvSpPr>
          <p:cNvPr id="12" name="card94"/>
          <p:cNvSpPr/>
          <p:nvPr/>
        </p:nvSpPr>
        <p:spPr>
          <a:xfrm>
            <a:off x="548640" y="5038344"/>
            <a:ext cx="5394960" cy="841248"/>
          </a:xfrm>
          <a:prstGeom prst="roundRect">
            <a:avLst>
              <a:gd name="adj" fmla="val 8696"/>
            </a:avLst>
          </a:prstGeom>
          <a:solidFill>
            <a:schemeClr val="bg2"/>
          </a:solidFill>
          <a:ln w="12700">
            <a:solidFill>
              <a:schemeClr val="bg2"/>
            </a:solidFill>
            <a:prstDash val="solid"/>
          </a:ln>
        </p:spPr>
      </p:sp>
      <p:sp>
        <p:nvSpPr>
          <p:cNvPr id="13" name="t95"/>
          <p:cNvSpPr txBox="1"/>
          <p:nvPr/>
        </p:nvSpPr>
        <p:spPr>
          <a:xfrm>
            <a:off x="777240" y="5038344"/>
            <a:ext cx="4983480" cy="841248"/>
          </a:xfrm>
          <a:prstGeom prst="rect">
            <a:avLst/>
          </a:prstGeom>
          <a:noFill/>
          <a:ln/>
        </p:spPr>
        <p:txBody>
          <a:bodyPr wrap="square" lIns="0" tIns="0" rIns="0" bIns="0" rtlCol="0" anchor="ctr"/>
          <a:lstStyle/>
          <a:p>
            <a:pPr indent="0" marL="0">
              <a:buNone/>
            </a:pPr>
            <a:r>
              <a:rPr lang="en-US" sz="1400" dirty="0">
                <a:solidFill>
                  <a:schemeClr val="tx1"/>
                </a:solidFill>
              </a:rPr>
              <a:t>A small model (Haiku 4.5) is enough for each step</a:t>
            </a:r>
            <a:endParaRPr lang="en-US" sz="1400" dirty="0"/>
          </a:p>
        </p:txBody>
      </p:sp>
      <p:sp>
        <p:nvSpPr>
          <p:cNvPr id="14" name="ic96"/>
          <p:cNvSpPr/>
          <p:nvPr/>
        </p:nvSpPr>
        <p:spPr>
          <a:xfrm>
            <a:off x="6245352" y="1371600"/>
            <a:ext cx="548640" cy="548640"/>
          </a:xfrm>
          <a:prstGeom prst="ellipse">
            <a:avLst/>
          </a:prstGeom>
          <a:solidFill>
            <a:schemeClr val="accent4"/>
          </a:solidFill>
          <a:ln w="12700">
            <a:solidFill>
              <a:schemeClr val="accent4"/>
            </a:solidFill>
            <a:prstDash val="solid"/>
          </a:ln>
        </p:spPr>
      </p:sp>
      <p:pic>
        <p:nvPicPr>
          <p:cNvPr id="15" name="icimg97" descr="preencoded.png">    </p:cNvPr>
          <p:cNvPicPr>
            <a:picLocks noChangeAspect="1"/>
          </p:cNvPicPr>
          <p:nvPr/>
        </p:nvPicPr>
        <p:blipFill>
          <a:blip r:embed="rId2"/>
          <a:stretch>
            <a:fillRect/>
          </a:stretch>
        </p:blipFill>
        <p:spPr>
          <a:xfrm>
            <a:off x="6382512" y="1508760"/>
            <a:ext cx="274320" cy="274320"/>
          </a:xfrm>
          <a:prstGeom prst="rect">
            <a:avLst/>
          </a:prstGeom>
        </p:spPr>
      </p:pic>
      <p:sp>
        <p:nvSpPr>
          <p:cNvPr id="16" name="t98"/>
          <p:cNvSpPr txBox="1"/>
          <p:nvPr/>
        </p:nvSpPr>
        <p:spPr>
          <a:xfrm>
            <a:off x="6976872" y="1417320"/>
            <a:ext cx="4572000" cy="457200"/>
          </a:xfrm>
          <a:prstGeom prst="rect">
            <a:avLst/>
          </a:prstGeom>
          <a:noFill/>
          <a:ln/>
        </p:spPr>
        <p:txBody>
          <a:bodyPr wrap="square" lIns="0" tIns="0" rIns="0" bIns="0" rtlCol="0" anchor="t"/>
          <a:lstStyle/>
          <a:p>
            <a:pPr indent="0" marL="0">
              <a:buNone/>
            </a:pPr>
            <a:r>
              <a:rPr lang="en-US" sz="2000" b="1" dirty="0">
                <a:solidFill>
                  <a:schemeClr val="tx1"/>
                </a:solidFill>
              </a:rPr>
              <a:t>Gaps it exposes</a:t>
            </a:r>
            <a:endParaRPr lang="en-US" sz="2000" dirty="0"/>
          </a:p>
        </p:txBody>
      </p:sp>
      <p:sp>
        <p:nvSpPr>
          <p:cNvPr id="17" name="card99"/>
          <p:cNvSpPr/>
          <p:nvPr/>
        </p:nvSpPr>
        <p:spPr>
          <a:xfrm>
            <a:off x="6245352" y="2103120"/>
            <a:ext cx="5394960" cy="841248"/>
          </a:xfrm>
          <a:prstGeom prst="roundRect">
            <a:avLst>
              <a:gd name="adj" fmla="val 8696"/>
            </a:avLst>
          </a:prstGeom>
          <a:solidFill>
            <a:schemeClr val="bg2"/>
          </a:solidFill>
          <a:ln w="12700">
            <a:solidFill>
              <a:schemeClr val="bg2"/>
            </a:solidFill>
            <a:prstDash val="solid"/>
          </a:ln>
        </p:spPr>
      </p:sp>
      <p:sp>
        <p:nvSpPr>
          <p:cNvPr id="18" name="t100"/>
          <p:cNvSpPr txBox="1"/>
          <p:nvPr/>
        </p:nvSpPr>
        <p:spPr>
          <a:xfrm>
            <a:off x="6473952" y="2103120"/>
            <a:ext cx="4983480" cy="841248"/>
          </a:xfrm>
          <a:prstGeom prst="rect">
            <a:avLst/>
          </a:prstGeom>
          <a:noFill/>
          <a:ln/>
        </p:spPr>
        <p:txBody>
          <a:bodyPr wrap="square" lIns="0" tIns="0" rIns="0" bIns="0" rtlCol="0" anchor="ctr"/>
          <a:lstStyle/>
          <a:p>
            <a:pPr indent="0" marL="0">
              <a:buNone/>
            </a:pPr>
            <a:r>
              <a:rPr lang="en-US" sz="1400" dirty="0">
                <a:solidFill>
                  <a:schemeClr val="tx1"/>
                </a:solidFill>
              </a:rPr>
              <a:t>Last step ran twice: count reached 9 against a limit of 8, and two identical children exist, one never run</a:t>
            </a:r>
            <a:endParaRPr lang="en-US" sz="1400" dirty="0"/>
          </a:p>
        </p:txBody>
      </p:sp>
      <p:sp>
        <p:nvSpPr>
          <p:cNvPr id="19" name="card101"/>
          <p:cNvSpPr/>
          <p:nvPr/>
        </p:nvSpPr>
        <p:spPr>
          <a:xfrm>
            <a:off x="6245352" y="3081528"/>
            <a:ext cx="5394960" cy="841248"/>
          </a:xfrm>
          <a:prstGeom prst="roundRect">
            <a:avLst>
              <a:gd name="adj" fmla="val 8696"/>
            </a:avLst>
          </a:prstGeom>
          <a:solidFill>
            <a:schemeClr val="bg2"/>
          </a:solidFill>
          <a:ln w="12700">
            <a:solidFill>
              <a:schemeClr val="bg2"/>
            </a:solidFill>
            <a:prstDash val="solid"/>
          </a:ln>
        </p:spPr>
      </p:sp>
      <p:sp>
        <p:nvSpPr>
          <p:cNvPr id="20" name="t102"/>
          <p:cNvSpPr txBox="1"/>
          <p:nvPr/>
        </p:nvSpPr>
        <p:spPr>
          <a:xfrm>
            <a:off x="6473952" y="3081528"/>
            <a:ext cx="4983480" cy="841248"/>
          </a:xfrm>
          <a:prstGeom prst="rect">
            <a:avLst/>
          </a:prstGeom>
          <a:noFill/>
          <a:ln/>
        </p:spPr>
        <p:txBody>
          <a:bodyPr wrap="square" lIns="0" tIns="0" rIns="0" bIns="0" rtlCol="0" anchor="ctr"/>
          <a:lstStyle/>
          <a:p>
            <a:pPr indent="0" marL="0">
              <a:buNone/>
            </a:pPr>
            <a:r>
              <a:rPr lang="en-US" sz="1400" dirty="0">
                <a:solidFill>
                  <a:schemeClr val="tx1"/>
                </a:solidFill>
              </a:rPr>
              <a:t>Claimed vs actual: "5 times" reported, 6 lines written to log2.out</a:t>
            </a:r>
            <a:endParaRPr lang="en-US" sz="1400" dirty="0"/>
          </a:p>
        </p:txBody>
      </p:sp>
      <p:sp>
        <p:nvSpPr>
          <p:cNvPr id="21" name="card103"/>
          <p:cNvSpPr/>
          <p:nvPr/>
        </p:nvSpPr>
        <p:spPr>
          <a:xfrm>
            <a:off x="6245352" y="4059936"/>
            <a:ext cx="5394960" cy="841248"/>
          </a:xfrm>
          <a:prstGeom prst="roundRect">
            <a:avLst>
              <a:gd name="adj" fmla="val 8696"/>
            </a:avLst>
          </a:prstGeom>
          <a:solidFill>
            <a:schemeClr val="bg2"/>
          </a:solidFill>
          <a:ln w="12700">
            <a:solidFill>
              <a:schemeClr val="bg2"/>
            </a:solidFill>
            <a:prstDash val="solid"/>
          </a:ln>
        </p:spPr>
      </p:sp>
      <p:sp>
        <p:nvSpPr>
          <p:cNvPr id="22" name="t104"/>
          <p:cNvSpPr txBox="1"/>
          <p:nvPr/>
        </p:nvSpPr>
        <p:spPr>
          <a:xfrm>
            <a:off x="6473952" y="4059936"/>
            <a:ext cx="4983480" cy="841248"/>
          </a:xfrm>
          <a:prstGeom prst="rect">
            <a:avLst/>
          </a:prstGeom>
          <a:noFill/>
          <a:ln/>
        </p:spPr>
        <p:txBody>
          <a:bodyPr wrap="square" lIns="0" tIns="0" rIns="0" bIns="0" rtlCol="0" anchor="ctr"/>
          <a:lstStyle/>
          <a:p>
            <a:pPr indent="0" marL="0">
              <a:buNone/>
            </a:pPr>
            <a:r>
              <a:rPr lang="en-US" sz="1400" dirty="0">
                <a:solidFill>
                  <a:schemeClr val="tx1"/>
                </a:solidFill>
              </a:rPr>
              <a:t>File names drift: next-instr.md, next_instructions, instructions.txt, completion_status.txt</a:t>
            </a:r>
            <a:endParaRPr lang="en-US" sz="1400" dirty="0"/>
          </a:p>
        </p:txBody>
      </p:sp>
      <p:sp>
        <p:nvSpPr>
          <p:cNvPr id="23" name="card105"/>
          <p:cNvSpPr/>
          <p:nvPr/>
        </p:nvSpPr>
        <p:spPr>
          <a:xfrm>
            <a:off x="6245352" y="5038344"/>
            <a:ext cx="5394960" cy="841248"/>
          </a:xfrm>
          <a:prstGeom prst="roundRect">
            <a:avLst>
              <a:gd name="adj" fmla="val 8696"/>
            </a:avLst>
          </a:prstGeom>
          <a:solidFill>
            <a:schemeClr val="bg2"/>
          </a:solidFill>
          <a:ln w="12700">
            <a:solidFill>
              <a:schemeClr val="bg2"/>
            </a:solidFill>
            <a:prstDash val="solid"/>
          </a:ln>
        </p:spPr>
      </p:sp>
      <p:sp>
        <p:nvSpPr>
          <p:cNvPr id="24" name="t106"/>
          <p:cNvSpPr txBox="1"/>
          <p:nvPr/>
        </p:nvSpPr>
        <p:spPr>
          <a:xfrm>
            <a:off x="6473952" y="5038344"/>
            <a:ext cx="4983480" cy="841248"/>
          </a:xfrm>
          <a:prstGeom prst="rect">
            <a:avLst/>
          </a:prstGeom>
          <a:noFill/>
          <a:ln/>
        </p:spPr>
        <p:txBody>
          <a:bodyPr wrap="square" lIns="0" tIns="0" rIns="0" bIns="0" rtlCol="0" anchor="ctr"/>
          <a:lstStyle/>
          <a:p>
            <a:pPr indent="0" marL="0">
              <a:buNone/>
            </a:pPr>
            <a:r>
              <a:rPr lang="en-US" sz="1400" dirty="0">
                <a:solidFill>
                  <a:schemeClr val="tx1"/>
                </a:solidFill>
              </a:rPr>
              <a:t>Steps sleep and loop inside one call instead of yielding</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9144000" cy="1097280"/>
          </a:xfrm>
          <a:prstGeom prst="rect">
            <a:avLst/>
          </a:prstGeom>
          <a:noFill/>
          <a:ln/>
        </p:spPr>
        <p:txBody>
          <a:bodyPr wrap="square" lIns="0" tIns="0" rIns="0" bIns="0" rtlCol="0" anchor="ctr"/>
          <a:lstStyle/>
          <a:p>
            <a:pPr algn="l" indent="0" marL="0">
              <a:buNone/>
            </a:pPr>
            <a:r>
              <a:rPr lang="en-US" sz="4400" b="1" dirty="0">
                <a:solidFill>
                  <a:schemeClr val="bg1"/>
                </a:solidFill>
              </a:rPr>
              <a:t>Prior art</a:t>
            </a:r>
            <a:endParaRPr lang="en-US" sz="4400" dirty="0"/>
          </a:p>
        </p:txBody>
      </p:sp>
      <p:sp>
        <p:nvSpPr>
          <p:cNvPr id="3" name="Text 0"/>
          <p:cNvSpPr/>
          <p:nvPr>
            <p:ph idx="101" type="body" hasCustomPrompt="1"/>
          </p:nvPr>
        </p:nvSpPr>
        <p:spPr>
          <a:xfrm>
            <a:off x="548640" y="3794760"/>
            <a:ext cx="9144000" cy="822960"/>
          </a:xfrm>
          <a:prstGeom prst="rect">
            <a:avLst/>
          </a:prstGeom>
          <a:noFill/>
          <a:ln/>
        </p:spPr>
        <p:txBody>
          <a:bodyPr wrap="square" lIns="0" tIns="0" rIns="0" bIns="0" rtlCol="0" anchor="t"/>
          <a:lstStyle/>
          <a:p>
            <a:pPr indent="0" marL="0">
              <a:buNone/>
            </a:pPr>
            <a:r>
              <a:rPr lang="en-US" sz="1800" dirty="0">
                <a:solidFill>
                  <a:schemeClr val="accent1"/>
                </a:solidFill>
              </a:rPr>
              <a:t>Agent operating systems, durable execution, file-based memory and actors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Six families have tackled parts of this</a:t>
            </a:r>
            <a:endParaRPr lang="en-US" sz="3400" dirty="0"/>
          </a:p>
        </p:txBody>
      </p:sp>
      <p:sp>
        <p:nvSpPr>
          <p:cNvPr id="3" name="fam0"/>
          <p:cNvSpPr/>
          <p:nvPr/>
        </p:nvSpPr>
        <p:spPr>
          <a:xfrm>
            <a:off x="548640" y="1280160"/>
            <a:ext cx="3566160" cy="2240280"/>
          </a:xfrm>
          <a:prstGeom prst="roundRect">
            <a:avLst>
              <a:gd name="adj" fmla="val 3265"/>
            </a:avLst>
          </a:prstGeom>
          <a:solidFill>
            <a:srgbClr val="F6E3C1"/>
          </a:solidFill>
          <a:ln w="12700">
            <a:solidFill>
              <a:srgbClr val="F6E3C1"/>
            </a:solidFill>
            <a:prstDash val="solid"/>
          </a:ln>
        </p:spPr>
      </p:sp>
      <p:sp>
        <p:nvSpPr>
          <p:cNvPr id="4" name="t107"/>
          <p:cNvSpPr txBox="1"/>
          <p:nvPr/>
        </p:nvSpPr>
        <p:spPr>
          <a:xfrm>
            <a:off x="777240" y="144475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Agents as real processes</a:t>
            </a:r>
            <a:endParaRPr lang="en-US" sz="1700" dirty="0"/>
          </a:p>
        </p:txBody>
      </p:sp>
      <p:sp>
        <p:nvSpPr>
          <p:cNvPr id="5" name="t108"/>
          <p:cNvSpPr txBox="1"/>
          <p:nvPr/>
        </p:nvSpPr>
        <p:spPr>
          <a:xfrm>
            <a:off x="777240" y="1847088"/>
            <a:ext cx="3108960" cy="594360"/>
          </a:xfrm>
          <a:prstGeom prst="rect">
            <a:avLst/>
          </a:prstGeom>
          <a:noFill/>
          <a:ln/>
        </p:spPr>
        <p:txBody>
          <a:bodyPr wrap="square" lIns="0" tIns="0" rIns="0" bIns="0" rtlCol="0" anchor="t"/>
          <a:lstStyle/>
          <a:p>
            <a:pPr indent="0" marL="0">
              <a:buNone/>
            </a:pPr>
            <a:r>
              <a:rPr lang="en-US" sz="1200" b="1" dirty="0">
                <a:solidFill>
                  <a:schemeClr val="accent2"/>
                </a:solidFill>
              </a:rPr>
              <a:t>Quine · Gas Town + Beads · Ralph loop · Anthropic long-running harness</a:t>
            </a:r>
            <a:endParaRPr lang="en-US" sz="1200" dirty="0"/>
          </a:p>
        </p:txBody>
      </p:sp>
      <p:sp>
        <p:nvSpPr>
          <p:cNvPr id="6" name="t109"/>
          <p:cNvSpPr txBox="1"/>
          <p:nvPr/>
        </p:nvSpPr>
        <p:spPr>
          <a:xfrm>
            <a:off x="777240" y="2468880"/>
            <a:ext cx="3108960" cy="960120"/>
          </a:xfrm>
          <a:prstGeom prst="rect">
            <a:avLst/>
          </a:prstGeom>
          <a:noFill/>
          <a:ln/>
        </p:spPr>
        <p:txBody>
          <a:bodyPr wrap="square" lIns="0" tIns="0" rIns="0" bIns="0" rtlCol="0" anchor="t"/>
          <a:lstStyle/>
          <a:p>
            <a:pPr indent="0" marL="0">
              <a:buNone/>
            </a:pPr>
            <a:r>
              <a:rPr lang="en-US" sz="1400" dirty="0">
                <a:solidFill>
                  <a:schemeClr val="tx2"/>
                </a:solidFill>
              </a:rPr>
              <a:t>A stateless model call in a loop, with progress in files or git. Closest in spirit to work-packet.</a:t>
            </a:r>
            <a:endParaRPr lang="en-US" sz="1400" dirty="0"/>
          </a:p>
        </p:txBody>
      </p:sp>
      <p:sp>
        <p:nvSpPr>
          <p:cNvPr id="7" name="fam1"/>
          <p:cNvSpPr/>
          <p:nvPr/>
        </p:nvSpPr>
        <p:spPr>
          <a:xfrm>
            <a:off x="4311396" y="1280160"/>
            <a:ext cx="3566160" cy="2240280"/>
          </a:xfrm>
          <a:prstGeom prst="roundRect">
            <a:avLst>
              <a:gd name="adj" fmla="val 3265"/>
            </a:avLst>
          </a:prstGeom>
          <a:solidFill>
            <a:schemeClr val="bg2"/>
          </a:solidFill>
          <a:ln w="12700">
            <a:solidFill>
              <a:schemeClr val="bg2"/>
            </a:solidFill>
            <a:prstDash val="solid"/>
          </a:ln>
        </p:spPr>
      </p:sp>
      <p:sp>
        <p:nvSpPr>
          <p:cNvPr id="8" name="t110"/>
          <p:cNvSpPr txBox="1"/>
          <p:nvPr/>
        </p:nvSpPr>
        <p:spPr>
          <a:xfrm>
            <a:off x="4539996" y="144475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LLM as OS kernel</a:t>
            </a:r>
            <a:endParaRPr lang="en-US" sz="1700" dirty="0"/>
          </a:p>
        </p:txBody>
      </p:sp>
      <p:sp>
        <p:nvSpPr>
          <p:cNvPr id="9" name="t111"/>
          <p:cNvSpPr txBox="1"/>
          <p:nvPr/>
        </p:nvSpPr>
        <p:spPr>
          <a:xfrm>
            <a:off x="4539996" y="1847088"/>
            <a:ext cx="3108960" cy="594360"/>
          </a:xfrm>
          <a:prstGeom prst="rect">
            <a:avLst/>
          </a:prstGeom>
          <a:noFill/>
          <a:ln/>
        </p:spPr>
        <p:txBody>
          <a:bodyPr wrap="square" lIns="0" tIns="0" rIns="0" bIns="0" rtlCol="0" anchor="t"/>
          <a:lstStyle/>
          <a:p>
            <a:pPr indent="0" marL="0">
              <a:buNone/>
            </a:pPr>
            <a:r>
              <a:rPr lang="en-US" sz="1200" b="1" dirty="0">
                <a:solidFill>
                  <a:schemeClr val="accent2"/>
                </a:solidFill>
              </a:rPr>
              <a:t>AIOS · MemGPT / Letta · Agent libOS</a:t>
            </a:r>
            <a:endParaRPr lang="en-US" sz="1200" dirty="0"/>
          </a:p>
        </p:txBody>
      </p:sp>
      <p:sp>
        <p:nvSpPr>
          <p:cNvPr id="10" name="t112"/>
          <p:cNvSpPr txBox="1"/>
          <p:nvPr/>
        </p:nvSpPr>
        <p:spPr>
          <a:xfrm>
            <a:off x="4539996" y="2468880"/>
            <a:ext cx="3108960" cy="960120"/>
          </a:xfrm>
          <a:prstGeom prst="rect">
            <a:avLst/>
          </a:prstGeom>
          <a:noFill/>
          <a:ln/>
        </p:spPr>
        <p:txBody>
          <a:bodyPr wrap="square" lIns="0" tIns="0" rIns="0" bIns="0" rtlCol="0" anchor="t"/>
          <a:lstStyle/>
          <a:p>
            <a:pPr indent="0" marL="0">
              <a:buNone/>
            </a:pPr>
            <a:r>
              <a:rPr lang="en-US" sz="1400" dirty="0">
                <a:solidFill>
                  <a:schemeClr val="tx2"/>
                </a:solidFill>
              </a:rPr>
              <a:t>A kernel that schedules LLM calls, pages memory in and out of context, and snapshots agents.</a:t>
            </a:r>
            <a:endParaRPr lang="en-US" sz="1400" dirty="0"/>
          </a:p>
        </p:txBody>
      </p:sp>
      <p:sp>
        <p:nvSpPr>
          <p:cNvPr id="11" name="fam2"/>
          <p:cNvSpPr/>
          <p:nvPr/>
        </p:nvSpPr>
        <p:spPr>
          <a:xfrm>
            <a:off x="8074152" y="1280160"/>
            <a:ext cx="3566160" cy="2240280"/>
          </a:xfrm>
          <a:prstGeom prst="roundRect">
            <a:avLst>
              <a:gd name="adj" fmla="val 3265"/>
            </a:avLst>
          </a:prstGeom>
          <a:solidFill>
            <a:schemeClr val="bg2"/>
          </a:solidFill>
          <a:ln w="12700">
            <a:solidFill>
              <a:schemeClr val="bg2"/>
            </a:solidFill>
            <a:prstDash val="solid"/>
          </a:ln>
        </p:spPr>
      </p:sp>
      <p:sp>
        <p:nvSpPr>
          <p:cNvPr id="12" name="t113"/>
          <p:cNvSpPr txBox="1"/>
          <p:nvPr/>
        </p:nvSpPr>
        <p:spPr>
          <a:xfrm>
            <a:off x="8302752" y="144475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Durable execution</a:t>
            </a:r>
            <a:endParaRPr lang="en-US" sz="1700" dirty="0"/>
          </a:p>
        </p:txBody>
      </p:sp>
      <p:sp>
        <p:nvSpPr>
          <p:cNvPr id="13" name="t114"/>
          <p:cNvSpPr txBox="1"/>
          <p:nvPr/>
        </p:nvSpPr>
        <p:spPr>
          <a:xfrm>
            <a:off x="8302752" y="1847088"/>
            <a:ext cx="3108960" cy="594360"/>
          </a:xfrm>
          <a:prstGeom prst="rect">
            <a:avLst/>
          </a:prstGeom>
          <a:noFill/>
          <a:ln/>
        </p:spPr>
        <p:txBody>
          <a:bodyPr wrap="square" lIns="0" tIns="0" rIns="0" bIns="0" rtlCol="0" anchor="t"/>
          <a:lstStyle/>
          <a:p>
            <a:pPr indent="0" marL="0">
              <a:buNone/>
            </a:pPr>
            <a:r>
              <a:rPr lang="en-US" sz="1200" b="1" dirty="0">
                <a:solidFill>
                  <a:schemeClr val="accent2"/>
                </a:solidFill>
              </a:rPr>
              <a:t>Temporal · Restate · DBOS · Inngest · MS Durable Task · Cloudflare Agents</a:t>
            </a:r>
            <a:endParaRPr lang="en-US" sz="1200" dirty="0"/>
          </a:p>
        </p:txBody>
      </p:sp>
      <p:sp>
        <p:nvSpPr>
          <p:cNvPr id="14" name="t115"/>
          <p:cNvSpPr txBox="1"/>
          <p:nvPr/>
        </p:nvSpPr>
        <p:spPr>
          <a:xfrm>
            <a:off x="8302752" y="2468880"/>
            <a:ext cx="3108960" cy="960120"/>
          </a:xfrm>
          <a:prstGeom prst="rect">
            <a:avLst/>
          </a:prstGeom>
          <a:noFill/>
          <a:ln/>
        </p:spPr>
        <p:txBody>
          <a:bodyPr wrap="square" lIns="0" tIns="0" rIns="0" bIns="0" rtlCol="0" anchor="t"/>
          <a:lstStyle/>
          <a:p>
            <a:pPr indent="0" marL="0">
              <a:buNone/>
            </a:pPr>
            <a:r>
              <a:rPr lang="en-US" sz="1400" dirty="0">
                <a:solidFill>
                  <a:schemeClr val="tx2"/>
                </a:solidFill>
              </a:rPr>
              <a:t>Journal every step; recover by replay. Durable timers give "resume later".</a:t>
            </a:r>
            <a:endParaRPr lang="en-US" sz="1400" dirty="0"/>
          </a:p>
        </p:txBody>
      </p:sp>
      <p:sp>
        <p:nvSpPr>
          <p:cNvPr id="15" name="fam3"/>
          <p:cNvSpPr/>
          <p:nvPr/>
        </p:nvSpPr>
        <p:spPr>
          <a:xfrm>
            <a:off x="548640" y="3703320"/>
            <a:ext cx="3566160" cy="2240280"/>
          </a:xfrm>
          <a:prstGeom prst="roundRect">
            <a:avLst>
              <a:gd name="adj" fmla="val 3265"/>
            </a:avLst>
          </a:prstGeom>
          <a:solidFill>
            <a:schemeClr val="bg2"/>
          </a:solidFill>
          <a:ln w="12700">
            <a:solidFill>
              <a:schemeClr val="bg2"/>
            </a:solidFill>
            <a:prstDash val="solid"/>
          </a:ln>
        </p:spPr>
      </p:sp>
      <p:sp>
        <p:nvSpPr>
          <p:cNvPr id="16" name="t116"/>
          <p:cNvSpPr txBox="1"/>
          <p:nvPr/>
        </p:nvSpPr>
        <p:spPr>
          <a:xfrm>
            <a:off x="777240" y="386791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Framework sessions</a:t>
            </a:r>
            <a:endParaRPr lang="en-US" sz="1700" dirty="0"/>
          </a:p>
        </p:txBody>
      </p:sp>
      <p:sp>
        <p:nvSpPr>
          <p:cNvPr id="17" name="t117"/>
          <p:cNvSpPr txBox="1"/>
          <p:nvPr/>
        </p:nvSpPr>
        <p:spPr>
          <a:xfrm>
            <a:off x="777240" y="4270248"/>
            <a:ext cx="3108960" cy="594360"/>
          </a:xfrm>
          <a:prstGeom prst="rect">
            <a:avLst/>
          </a:prstGeom>
          <a:noFill/>
          <a:ln/>
        </p:spPr>
        <p:txBody>
          <a:bodyPr wrap="square" lIns="0" tIns="0" rIns="0" bIns="0" rtlCol="0" anchor="t"/>
          <a:lstStyle/>
          <a:p>
            <a:pPr indent="0" marL="0">
              <a:buNone/>
            </a:pPr>
            <a:r>
              <a:rPr lang="en-US" sz="1200" b="1" dirty="0">
                <a:solidFill>
                  <a:schemeClr val="accent2"/>
                </a:solidFill>
              </a:rPr>
              <a:t>LangGraph · OpenAI Agents SDK · Claude Agent SDK · Claude Code teams</a:t>
            </a:r>
            <a:endParaRPr lang="en-US" sz="1200" dirty="0"/>
          </a:p>
        </p:txBody>
      </p:sp>
      <p:sp>
        <p:nvSpPr>
          <p:cNvPr id="18" name="t118"/>
          <p:cNvSpPr txBox="1"/>
          <p:nvPr/>
        </p:nvSpPr>
        <p:spPr>
          <a:xfrm>
            <a:off x="777240" y="4892040"/>
            <a:ext cx="3108960" cy="960120"/>
          </a:xfrm>
          <a:prstGeom prst="rect">
            <a:avLst/>
          </a:prstGeom>
          <a:noFill/>
          <a:ln/>
        </p:spPr>
        <p:txBody>
          <a:bodyPr wrap="square" lIns="0" tIns="0" rIns="0" bIns="0" rtlCol="0" anchor="t"/>
          <a:lstStyle/>
          <a:p>
            <a:pPr indent="0" marL="0">
              <a:buNone/>
            </a:pPr>
            <a:r>
              <a:rPr lang="en-US" sz="1400" dirty="0">
                <a:solidFill>
                  <a:schemeClr val="tx2"/>
                </a:solidFill>
              </a:rPr>
              <a:t>Checkpoint graph state or the transcript per thread ID; interrupt, resume, fork.</a:t>
            </a:r>
            <a:endParaRPr lang="en-US" sz="1400" dirty="0"/>
          </a:p>
        </p:txBody>
      </p:sp>
      <p:sp>
        <p:nvSpPr>
          <p:cNvPr id="19" name="fam4"/>
          <p:cNvSpPr/>
          <p:nvPr/>
        </p:nvSpPr>
        <p:spPr>
          <a:xfrm>
            <a:off x="4311396" y="3703320"/>
            <a:ext cx="3566160" cy="2240280"/>
          </a:xfrm>
          <a:prstGeom prst="roundRect">
            <a:avLst>
              <a:gd name="adj" fmla="val 3265"/>
            </a:avLst>
          </a:prstGeom>
          <a:solidFill>
            <a:schemeClr val="bg2"/>
          </a:solidFill>
          <a:ln w="12700">
            <a:solidFill>
              <a:schemeClr val="bg2"/>
            </a:solidFill>
            <a:prstDash val="solid"/>
          </a:ln>
        </p:spPr>
      </p:sp>
      <p:sp>
        <p:nvSpPr>
          <p:cNvPr id="20" name="t119"/>
          <p:cNvSpPr txBox="1"/>
          <p:nvPr/>
        </p:nvSpPr>
        <p:spPr>
          <a:xfrm>
            <a:off x="4539996" y="386791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Filesystem as context</a:t>
            </a:r>
            <a:endParaRPr lang="en-US" sz="1700" dirty="0"/>
          </a:p>
        </p:txBody>
      </p:sp>
      <p:sp>
        <p:nvSpPr>
          <p:cNvPr id="21" name="t120"/>
          <p:cNvSpPr txBox="1"/>
          <p:nvPr/>
        </p:nvSpPr>
        <p:spPr>
          <a:xfrm>
            <a:off x="4539996" y="4270248"/>
            <a:ext cx="3108960" cy="594360"/>
          </a:xfrm>
          <a:prstGeom prst="rect">
            <a:avLst/>
          </a:prstGeom>
          <a:noFill/>
          <a:ln/>
        </p:spPr>
        <p:txBody>
          <a:bodyPr wrap="square" lIns="0" tIns="0" rIns="0" bIns="0" rtlCol="0" anchor="t"/>
          <a:lstStyle/>
          <a:p>
            <a:pPr indent="0" marL="0">
              <a:buNone/>
            </a:pPr>
            <a:r>
              <a:rPr lang="en-US" sz="1200" b="1" dirty="0">
                <a:solidFill>
                  <a:schemeClr val="accent2"/>
                </a:solidFill>
              </a:rPr>
              <a:t>Manus · Anthropic memory tool · AGFS · Turso AgentFS</a:t>
            </a:r>
            <a:endParaRPr lang="en-US" sz="1200" dirty="0"/>
          </a:p>
        </p:txBody>
      </p:sp>
      <p:sp>
        <p:nvSpPr>
          <p:cNvPr id="22" name="t121"/>
          <p:cNvSpPr txBox="1"/>
          <p:nvPr/>
        </p:nvSpPr>
        <p:spPr>
          <a:xfrm>
            <a:off x="4539996" y="4892040"/>
            <a:ext cx="3108960" cy="960120"/>
          </a:xfrm>
          <a:prstGeom prst="rect">
            <a:avLst/>
          </a:prstGeom>
          <a:noFill/>
          <a:ln/>
        </p:spPr>
        <p:txBody>
          <a:bodyPr wrap="square" lIns="0" tIns="0" rIns="0" bIns="0" rtlCol="0" anchor="t"/>
          <a:lstStyle/>
          <a:p>
            <a:pPr indent="0" marL="0">
              <a:buNone/>
            </a:pPr>
            <a:r>
              <a:rPr lang="en-US" sz="1400" dirty="0">
                <a:solidFill>
                  <a:schemeClr val="tx2"/>
                </a:solidFill>
              </a:rPr>
              <a:t>Files are unlimited, persistent context; keep compression restorable; re-read todo.md.</a:t>
            </a:r>
            <a:endParaRPr lang="en-US" sz="1400" dirty="0"/>
          </a:p>
        </p:txBody>
      </p:sp>
      <p:sp>
        <p:nvSpPr>
          <p:cNvPr id="23" name="fam5"/>
          <p:cNvSpPr/>
          <p:nvPr/>
        </p:nvSpPr>
        <p:spPr>
          <a:xfrm>
            <a:off x="8074152" y="3703320"/>
            <a:ext cx="3566160" cy="2240280"/>
          </a:xfrm>
          <a:prstGeom prst="roundRect">
            <a:avLst>
              <a:gd name="adj" fmla="val 3265"/>
            </a:avLst>
          </a:prstGeom>
          <a:solidFill>
            <a:schemeClr val="bg2"/>
          </a:solidFill>
          <a:ln w="12700">
            <a:solidFill>
              <a:schemeClr val="bg2"/>
            </a:solidFill>
            <a:prstDash val="solid"/>
          </a:ln>
        </p:spPr>
      </p:sp>
      <p:sp>
        <p:nvSpPr>
          <p:cNvPr id="24" name="t122"/>
          <p:cNvSpPr txBox="1"/>
          <p:nvPr/>
        </p:nvSpPr>
        <p:spPr>
          <a:xfrm>
            <a:off x="8302752" y="386791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Actors and supervision</a:t>
            </a:r>
            <a:endParaRPr lang="en-US" sz="1700" dirty="0"/>
          </a:p>
        </p:txBody>
      </p:sp>
      <p:sp>
        <p:nvSpPr>
          <p:cNvPr id="25" name="t123"/>
          <p:cNvSpPr txBox="1"/>
          <p:nvPr/>
        </p:nvSpPr>
        <p:spPr>
          <a:xfrm>
            <a:off x="8302752" y="4270248"/>
            <a:ext cx="3108960" cy="594360"/>
          </a:xfrm>
          <a:prstGeom prst="rect">
            <a:avLst/>
          </a:prstGeom>
          <a:noFill/>
          <a:ln/>
        </p:spPr>
        <p:txBody>
          <a:bodyPr wrap="square" lIns="0" tIns="0" rIns="0" bIns="0" rtlCol="0" anchor="t"/>
          <a:lstStyle/>
          <a:p>
            <a:pPr indent="0" marL="0">
              <a:buNone/>
            </a:pPr>
            <a:r>
              <a:rPr lang="en-US" sz="1200" b="1" dirty="0">
                <a:solidFill>
                  <a:schemeClr val="accent2"/>
                </a:solidFill>
              </a:rPr>
              <a:t>AutoGen Core · OTP supervision trees · Springdrift · Ray</a:t>
            </a:r>
            <a:endParaRPr lang="en-US" sz="1200" dirty="0"/>
          </a:p>
        </p:txBody>
      </p:sp>
      <p:sp>
        <p:nvSpPr>
          <p:cNvPr id="26" name="t124"/>
          <p:cNvSpPr txBox="1"/>
          <p:nvPr/>
        </p:nvSpPr>
        <p:spPr>
          <a:xfrm>
            <a:off x="8302752" y="4892040"/>
            <a:ext cx="3108960" cy="960120"/>
          </a:xfrm>
          <a:prstGeom prst="rect">
            <a:avLst/>
          </a:prstGeom>
          <a:noFill/>
          <a:ln/>
        </p:spPr>
        <p:txBody>
          <a:bodyPr wrap="square" lIns="0" tIns="0" rIns="0" bIns="0" rtlCol="0" anchor="t"/>
          <a:lstStyle/>
          <a:p>
            <a:pPr indent="0" marL="0">
              <a:buNone/>
            </a:pPr>
            <a:r>
              <a:rPr lang="en-US" sz="1400" dirty="0">
                <a:solidFill>
                  <a:schemeClr val="tx2"/>
                </a:solidFill>
              </a:rPr>
              <a:t>Addressable agents, mailboxes, supervisors that restart or escalate failed workers.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How the closest systems compare</a:t>
            </a:r>
            <a:endParaRPr lang="en-US" sz="3400" dirty="0"/>
          </a:p>
        </p:txBody>
      </p:sp>
      <p:graphicFrame>
        <p:nvGraphicFramePr>
          <p:cNvPr id="11" name="matrix"/>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103120"/>
                <a:gridCol w="2194560"/>
                <a:gridCol w="2057400"/>
                <a:gridCol w="1554480"/>
                <a:gridCol w="1216152"/>
                <a:gridCol w="1097280"/>
                <a:gridCol w="868680"/>
              </a:tblGrid>
              <a:tr h="429768">
                <a:tc>
                  <a:txBody>
                    <a:bodyPr/>
                    <a:lstStyle/>
                    <a:p>
                      <a:pPr indent="0" marL="0">
                        <a:buNone/>
                      </a:pPr>
                      <a:r>
                        <a:rPr lang="en-US" sz="1400" b="1" dirty="0">
                          <a:solidFill>
                            <a:schemeClr val="bg1"/>
                          </a:solidFill>
                        </a:rPr>
                        <a:t>System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State lives in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Resume via</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Spawn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Inspectable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Replay</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Infra</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r>
              <a:tr h="429768">
                <a:tc>
                  <a:txBody>
                    <a:bodyPr/>
                    <a:lstStyle/>
                    <a:p>
                      <a:pPr indent="0" marL="0">
                        <a:buNone/>
                      </a:pPr>
                      <a:r>
                        <a:rPr lang="en-US" sz="1400" b="1" dirty="0">
                          <a:solidFill>
                            <a:schemeClr val="tx1"/>
                          </a:solidFill>
                        </a:rPr>
                        <a:t>Quine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Process memory, env, files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exec() a fresh self</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fork / exec</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Medium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Light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29768">
                <a:tc>
                  <a:txBody>
                    <a:bodyPr/>
                    <a:lstStyle/>
                    <a:p>
                      <a:pPr indent="0" marL="0">
                        <a:buNone/>
                      </a:pPr>
                      <a:r>
                        <a:rPr lang="en-US" sz="1400" b="1" dirty="0">
                          <a:solidFill>
                            <a:schemeClr val="tx1"/>
                          </a:solidFill>
                        </a:rPr>
                        <a:t>Gas Town + Beads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Git / Dolt ledger</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Work on the hook</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Mayor → workers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Git history</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29768">
                <a:tc>
                  <a:txBody>
                    <a:bodyPr/>
                    <a:lstStyle/>
                    <a:p>
                      <a:pPr indent="0" marL="0">
                        <a:buNone/>
                      </a:pPr>
                      <a:r>
                        <a:rPr lang="en-US" sz="1400" b="1" dirty="0">
                          <a:solidFill>
                            <a:schemeClr val="tx1"/>
                          </a:solidFill>
                        </a:rPr>
                        <a:t>Anthropic harness, Ralph</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Progress file + git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Loop re-runs prompt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None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High</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Git commits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Tiny</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29768">
                <a:tc>
                  <a:txBody>
                    <a:bodyPr/>
                    <a:lstStyle/>
                    <a:p>
                      <a:pPr indent="0" marL="0">
                        <a:buNone/>
                      </a:pPr>
                      <a:r>
                        <a:rPr lang="en-US" sz="1400" b="1" dirty="0">
                          <a:solidFill>
                            <a:schemeClr val="tx1"/>
                          </a:solidFill>
                        </a:rPr>
                        <a:t>AIOS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Kernel managers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Context snapshot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Via kernel</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Low</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Heavy</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29768">
                <a:tc>
                  <a:txBody>
                    <a:bodyPr/>
                    <a:lstStyle/>
                    <a:p>
                      <a:pPr indent="0" marL="0">
                        <a:buNone/>
                      </a:pPr>
                      <a:r>
                        <a:rPr lang="en-US" sz="1400" b="1" dirty="0">
                          <a:solidFill>
                            <a:schemeClr val="tx1"/>
                          </a:solidFill>
                        </a:rPr>
                        <a:t>Letta / MemGPT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DB + .af export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Server-resident agent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Limited</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Medium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Heavy</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29768">
                <a:tc>
                  <a:txBody>
                    <a:bodyPr/>
                    <a:lstStyle/>
                    <a:p>
                      <a:pPr indent="0" marL="0">
                        <a:buNone/>
                      </a:pPr>
                      <a:r>
                        <a:rPr lang="en-US" sz="1400" b="1" dirty="0">
                          <a:solidFill>
                            <a:schemeClr val="tx1"/>
                          </a:solidFill>
                        </a:rPr>
                        <a:t>Temporal, Restate, DBOS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Event journal</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Replay + durable timers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Child workflows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Strong</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Varies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29768">
                <a:tc>
                  <a:txBody>
                    <a:bodyPr/>
                    <a:lstStyle/>
                    <a:p>
                      <a:pPr indent="0" marL="0">
                        <a:buNone/>
                      </a:pPr>
                      <a:r>
                        <a:rPr lang="en-US" sz="1400" b="1" dirty="0">
                          <a:solidFill>
                            <a:schemeClr val="tx1"/>
                          </a:solidFill>
                        </a:rPr>
                        <a:t>LangGraph</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Checkpointer DB</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interrupt / resume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Subgraphs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Medium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Time-travel</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Light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29768">
                <a:tc>
                  <a:txBody>
                    <a:bodyPr/>
                    <a:lstStyle/>
                    <a:p>
                      <a:pPr indent="0" marL="0">
                        <a:buNone/>
                      </a:pPr>
                      <a:r>
                        <a:rPr lang="en-US" sz="1400" b="1" dirty="0">
                          <a:solidFill>
                            <a:schemeClr val="tx1"/>
                          </a:solidFill>
                        </a:rPr>
                        <a:t>Cloudflare Agents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SQLite per agent ID</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schedule() alarms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Agent → agent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Low</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Vendor</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29768">
                <a:tc>
                  <a:txBody>
                    <a:bodyPr/>
                    <a:lstStyle/>
                    <a:p>
                      <a:pPr indent="0" marL="0">
                        <a:buNone/>
                      </a:pPr>
                      <a:r>
                        <a:rPr lang="en-US" sz="1400" b="1" dirty="0">
                          <a:solidFill>
                            <a:schemeClr val="tx1"/>
                          </a:solidFill>
                        </a:rPr>
                        <a:t>Claude SDK, Code teams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Transcript JSONL, task list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resume / fork_session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Subagents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Medium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Light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29768">
                <a:tc>
                  <a:txBody>
                    <a:bodyPr/>
                    <a:lstStyle/>
                    <a:p>
                      <a:pPr indent="0" marL="0">
                        <a:buNone/>
                      </a:pPr>
                      <a:r>
                        <a:rPr lang="en-US" sz="1400" b="1" dirty="0">
                          <a:solidFill>
                            <a:schemeClr val="tx1"/>
                          </a:solidFill>
                        </a:rPr>
                        <a:t>work-packet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rPr>
                        <a:t>Directory per packet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rPr>
                        <a:t>next-instr.md + wake time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rPr>
                        <a:t>Fork, cloned files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rPr>
                        <a:t>High</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rPr>
                        <a:t>None yet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rPr>
                        <a:t>Tiny</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Who else can resume work later?</a:t>
            </a:r>
            <a:endParaRPr lang="en-US" sz="3400" dirty="0"/>
          </a:p>
        </p:txBody>
      </p:sp>
      <p:graphicFrame>
        <p:nvGraphicFramePr>
          <p:cNvPr id="12" name="timers"/>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377440"/>
                <a:gridCol w="3566160"/>
                <a:gridCol w="2651760"/>
                <a:gridCol w="2496312"/>
              </a:tblGrid>
              <a:tr h="502920">
                <a:tc>
                  <a:txBody>
                    <a:bodyPr/>
                    <a:lstStyle/>
                    <a:p>
                      <a:pPr indent="0" marL="0">
                        <a:buNone/>
                      </a:pPr>
                      <a:r>
                        <a:rPr lang="en-US" sz="1400" b="1" dirty="0">
                          <a:solidFill>
                            <a:schemeClr val="bg1"/>
                          </a:solidFill>
                        </a:rPr>
                        <a:t>System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One-shot "later"</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Recurring</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While waiting</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Temporal</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Durable timer (workflow.sleep)</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Schedules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Server holds the timer</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Cloudflare Agents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schedule(delay | Date, cb)</a:t>
                      </a:r>
                      <a:endParaRPr lang="en-US" sz="1400" dirty="0">
                        <a:latin typeface="Courier New" charset="0"/>
                        <a:ea typeface="Courier New" charset="0"/>
                        <a:cs typeface="Courier New" charset="0"/>
                      </a:endParaRPr>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schedule(cron, cb)</a:t>
                      </a:r>
                      <a:endParaRPr lang="en-US" sz="1400" dirty="0">
                        <a:latin typeface="Courier New" charset="0"/>
                        <a:ea typeface="Courier New" charset="0"/>
                        <a:cs typeface="Courier New" charset="0"/>
                      </a:endParaRPr>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Object sleeps, alarm wakes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Inngest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step.sleep / sleepUntil</a:t>
                      </a:r>
                      <a:endParaRPr lang="en-US" sz="1400" dirty="0">
                        <a:latin typeface="Courier New" charset="0"/>
                        <a:ea typeface="Courier New" charset="0"/>
                        <a:cs typeface="Courier New" charset="0"/>
                      </a:endParaRPr>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Cron triggers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Nothing on your side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Restate, DBOS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Durable sleep, delayed call</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DBOS scheduled workflows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Runtime holds the timer</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LangGraph</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None in OSS library</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Platform cron jobs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Checkpoint in DB</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Ralph, Quine, Claude SDK</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None built in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External cron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Live process, or nothing</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work-packet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resume: in 10 days / on 10 Jan</a:t>
                      </a:r>
                      <a:endParaRPr lang="en-US" sz="1400" dirty="0">
                        <a:latin typeface="Courier New" charset="0"/>
                        <a:ea typeface="Courier New" charset="0"/>
                        <a:cs typeface="Courier New" charset="0"/>
                      </a:endParaRPr>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every: monday 08:00</a:t>
                      </a:r>
                      <a:endParaRPr lang="en-US" sz="1400" dirty="0">
                        <a:latin typeface="Courier New" charset="0"/>
                        <a:ea typeface="Courier New" charset="0"/>
                        <a:cs typeface="Courier New" charset="0"/>
                      </a:endParaRPr>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indent="0" marL="0">
                        <a:buNone/>
                      </a:pPr>
                      <a:r>
                        <a:rPr lang="en-US" sz="1400" dirty="0">
                          <a:solidFill>
                            <a:schemeClr val="tx1"/>
                          </a:solidFill>
                        </a:rPr>
                        <a:t>A directory on disk</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r>
            </a:tbl>
          </a:graphicData>
        </a:graphic>
      </p:graphicFrame>
      <p:sp>
        <p:nvSpPr>
          <p:cNvPr id="4" name="t125"/>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500" i="1" dirty="0">
                <a:solidFill>
                  <a:schemeClr val="accent2"/>
                </a:solidFill>
              </a:rPr>
              <a:t>Durable platforms have timers but need a server. Agent frameworks leave it to cron. work-packet lets the agent pick its own wake time, with nothing running while it sleeps.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Closest neighbours, and what to borrow</a:t>
            </a:r>
            <a:endParaRPr lang="en-US" sz="3400" dirty="0"/>
          </a:p>
        </p:txBody>
      </p:sp>
      <p:sp>
        <p:nvSpPr>
          <p:cNvPr id="3" name="nb0"/>
          <p:cNvSpPr/>
          <p:nvPr/>
        </p:nvSpPr>
        <p:spPr>
          <a:xfrm>
            <a:off x="548640" y="1325880"/>
            <a:ext cx="5394960" cy="2194560"/>
          </a:xfrm>
          <a:prstGeom prst="roundRect">
            <a:avLst>
              <a:gd name="adj" fmla="val 3333"/>
            </a:avLst>
          </a:prstGeom>
          <a:solidFill>
            <a:schemeClr val="bg2"/>
          </a:solidFill>
          <a:ln w="12700">
            <a:solidFill>
              <a:schemeClr val="bg2"/>
            </a:solidFill>
            <a:prstDash val="solid"/>
          </a:ln>
        </p:spPr>
      </p:sp>
      <p:sp>
        <p:nvSpPr>
          <p:cNvPr id="4" name="t126"/>
          <p:cNvSpPr txBox="1"/>
          <p:nvPr/>
        </p:nvSpPr>
        <p:spPr>
          <a:xfrm>
            <a:off x="777240" y="1508760"/>
            <a:ext cx="4937760" cy="365760"/>
          </a:xfrm>
          <a:prstGeom prst="rect">
            <a:avLst/>
          </a:prstGeom>
          <a:noFill/>
          <a:ln/>
        </p:spPr>
        <p:txBody>
          <a:bodyPr wrap="square" lIns="0" tIns="0" rIns="0" bIns="0" rtlCol="0" anchor="t"/>
          <a:lstStyle/>
          <a:p>
            <a:pPr indent="0" marL="0">
              <a:buNone/>
            </a:pPr>
            <a:r>
              <a:rPr lang="en-US" sz="1800" b="1" dirty="0">
                <a:solidFill>
                  <a:schemeClr val="tx1"/>
                </a:solidFill>
              </a:rPr>
              <a:t>Quine: agents as POSIX processes (2026)</a:t>
            </a:r>
            <a:endParaRPr lang="en-US" sz="1800" dirty="0"/>
          </a:p>
        </p:txBody>
      </p:sp>
      <p:sp>
        <p:nvSpPr>
          <p:cNvPr id="5" name="t127"/>
          <p:cNvSpPr txBox="1"/>
          <p:nvPr/>
        </p:nvSpPr>
        <p:spPr>
          <a:xfrm>
            <a:off x="777240" y="1920240"/>
            <a:ext cx="4937760" cy="868680"/>
          </a:xfrm>
          <a:prstGeom prst="rect">
            <a:avLst/>
          </a:prstGeom>
          <a:noFill/>
          <a:ln/>
        </p:spPr>
        <p:txBody>
          <a:bodyPr wrap="square" lIns="0" tIns="0" rIns="0" bIns="0" rtlCol="0" anchor="t"/>
          <a:lstStyle/>
          <a:p>
            <a:pPr indent="0" marL="0">
              <a:buNone/>
            </a:pPr>
            <a:r>
              <a:rPr lang="en-US" sz="1300" dirty="0">
                <a:solidFill>
                  <a:schemeClr val="tx2"/>
                </a:solidFill>
              </a:rPr>
              <a:t>PID is identity, mission in argv. Near the end of its context, an agent saves progress and execs a fresh copy of itself with the same mission.</a:t>
            </a:r>
            <a:endParaRPr lang="en-US" sz="1300" dirty="0"/>
          </a:p>
        </p:txBody>
      </p:sp>
      <p:sp>
        <p:nvSpPr>
          <p:cNvPr id="6" name="t128"/>
          <p:cNvSpPr txBox="1"/>
          <p:nvPr/>
        </p:nvSpPr>
        <p:spPr>
          <a:xfrm>
            <a:off x="777240" y="2788920"/>
            <a:ext cx="4937760" cy="640080"/>
          </a:xfrm>
          <a:prstGeom prst="rect">
            <a:avLst/>
          </a:prstGeom>
          <a:noFill/>
          <a:ln/>
        </p:spPr>
        <p:txBody>
          <a:bodyPr wrap="square" lIns="0" tIns="0" rIns="0" bIns="0" rtlCol="0" anchor="t"/>
          <a:lstStyle/>
          <a:p>
            <a:pPr indent="0" marL="0">
              <a:buNone/>
            </a:pPr>
            <a:r>
              <a:rPr lang="en-US" sz="1300" b="1" dirty="0">
                <a:solidFill>
                  <a:schemeClr val="accent2"/>
                </a:solidFill>
              </a:rPr>
              <a:t>Borrow: </a:t>
            </a:r>
            <a:pPr indent="0" marL="0">
              <a:buNone/>
            </a:pPr>
            <a:r>
              <a:rPr lang="en-US" sz="1300" dirty="0">
                <a:solidFill>
                  <a:schemeClr val="tx1"/>
                </a:solidFill>
              </a:rPr>
              <a:t>three-tier state (memory, inherited env, shared FS) and clean exec semantics.</a:t>
            </a:r>
            <a:endParaRPr lang="en-US" sz="1300" dirty="0"/>
          </a:p>
        </p:txBody>
      </p:sp>
      <p:sp>
        <p:nvSpPr>
          <p:cNvPr id="7" name="nb1"/>
          <p:cNvSpPr/>
          <p:nvPr/>
        </p:nvSpPr>
        <p:spPr>
          <a:xfrm>
            <a:off x="6245352" y="1325880"/>
            <a:ext cx="5394960" cy="2194560"/>
          </a:xfrm>
          <a:prstGeom prst="roundRect">
            <a:avLst>
              <a:gd name="adj" fmla="val 3333"/>
            </a:avLst>
          </a:prstGeom>
          <a:solidFill>
            <a:schemeClr val="bg2"/>
          </a:solidFill>
          <a:ln w="12700">
            <a:solidFill>
              <a:schemeClr val="bg2"/>
            </a:solidFill>
            <a:prstDash val="solid"/>
          </a:ln>
        </p:spPr>
      </p:sp>
      <p:sp>
        <p:nvSpPr>
          <p:cNvPr id="8" name="t129"/>
          <p:cNvSpPr txBox="1"/>
          <p:nvPr/>
        </p:nvSpPr>
        <p:spPr>
          <a:xfrm>
            <a:off x="6473952" y="1508760"/>
            <a:ext cx="4937760" cy="365760"/>
          </a:xfrm>
          <a:prstGeom prst="rect">
            <a:avLst/>
          </a:prstGeom>
          <a:noFill/>
          <a:ln/>
        </p:spPr>
        <p:txBody>
          <a:bodyPr wrap="square" lIns="0" tIns="0" rIns="0" bIns="0" rtlCol="0" anchor="t"/>
          <a:lstStyle/>
          <a:p>
            <a:pPr indent="0" marL="0">
              <a:buNone/>
            </a:pPr>
            <a:r>
              <a:rPr lang="en-US" sz="1800" b="1" dirty="0">
                <a:solidFill>
                  <a:schemeClr val="tx1"/>
                </a:solidFill>
              </a:rPr>
              <a:t>Gas Town + Beads (Yegge)</a:t>
            </a:r>
            <a:endParaRPr lang="en-US" sz="1800" dirty="0"/>
          </a:p>
        </p:txBody>
      </p:sp>
      <p:sp>
        <p:nvSpPr>
          <p:cNvPr id="9" name="t130"/>
          <p:cNvSpPr txBox="1"/>
          <p:nvPr/>
        </p:nvSpPr>
        <p:spPr>
          <a:xfrm>
            <a:off x="6473952" y="1920240"/>
            <a:ext cx="4937760" cy="868680"/>
          </a:xfrm>
          <a:prstGeom prst="rect">
            <a:avLst/>
          </a:prstGeom>
          <a:noFill/>
          <a:ln/>
        </p:spPr>
        <p:txBody>
          <a:bodyPr wrap="square" lIns="0" tIns="0" rIns="0" bIns="0" rtlCol="0" anchor="t"/>
          <a:lstStyle/>
          <a:p>
            <a:pPr indent="0" marL="0">
              <a:buNone/>
            </a:pPr>
            <a:r>
              <a:rPr lang="en-US" sz="1300" dirty="0">
                <a:solidFill>
                  <a:schemeClr val="tx2"/>
                </a:solidFill>
              </a:rPr>
              <a:t>20–30 Claude Code workers with persistent identity and ephemeral sessions. Work on a git-backed "hook" drives the next session; Witness roles spot stuck agents.</a:t>
            </a:r>
            <a:endParaRPr lang="en-US" sz="1300" dirty="0"/>
          </a:p>
        </p:txBody>
      </p:sp>
      <p:sp>
        <p:nvSpPr>
          <p:cNvPr id="10" name="t131"/>
          <p:cNvSpPr txBox="1"/>
          <p:nvPr/>
        </p:nvSpPr>
        <p:spPr>
          <a:xfrm>
            <a:off x="6473952" y="2788920"/>
            <a:ext cx="4937760" cy="640080"/>
          </a:xfrm>
          <a:prstGeom prst="rect">
            <a:avLst/>
          </a:prstGeom>
          <a:noFill/>
          <a:ln/>
        </p:spPr>
        <p:txBody>
          <a:bodyPr wrap="square" lIns="0" tIns="0" rIns="0" bIns="0" rtlCol="0" anchor="t"/>
          <a:lstStyle/>
          <a:p>
            <a:pPr indent="0" marL="0">
              <a:buNone/>
            </a:pPr>
            <a:r>
              <a:rPr lang="en-US" sz="1300" b="1" dirty="0">
                <a:solidFill>
                  <a:schemeClr val="accent2"/>
                </a:solidFill>
              </a:rPr>
              <a:t>Borrow: </a:t>
            </a:r>
            <a:pPr indent="0" marL="0">
              <a:buNone/>
            </a:pPr>
            <a:r>
              <a:rPr lang="en-US" sz="1300" dirty="0">
                <a:solidFill>
                  <a:schemeClr val="tx1"/>
                </a:solidFill>
              </a:rPr>
              <a:t>mail between agents, liveness checks, and a structured ledger instead of piles of plan files.</a:t>
            </a:r>
            <a:endParaRPr lang="en-US" sz="1300" dirty="0"/>
          </a:p>
        </p:txBody>
      </p:sp>
      <p:sp>
        <p:nvSpPr>
          <p:cNvPr id="11" name="nb2"/>
          <p:cNvSpPr/>
          <p:nvPr/>
        </p:nvSpPr>
        <p:spPr>
          <a:xfrm>
            <a:off x="548640" y="3749040"/>
            <a:ext cx="5394960" cy="2194560"/>
          </a:xfrm>
          <a:prstGeom prst="roundRect">
            <a:avLst>
              <a:gd name="adj" fmla="val 3333"/>
            </a:avLst>
          </a:prstGeom>
          <a:solidFill>
            <a:schemeClr val="bg2"/>
          </a:solidFill>
          <a:ln w="12700">
            <a:solidFill>
              <a:schemeClr val="bg2"/>
            </a:solidFill>
            <a:prstDash val="solid"/>
          </a:ln>
        </p:spPr>
      </p:sp>
      <p:sp>
        <p:nvSpPr>
          <p:cNvPr id="12" name="t132"/>
          <p:cNvSpPr txBox="1"/>
          <p:nvPr/>
        </p:nvSpPr>
        <p:spPr>
          <a:xfrm>
            <a:off x="777240" y="3931920"/>
            <a:ext cx="4937760" cy="365760"/>
          </a:xfrm>
          <a:prstGeom prst="rect">
            <a:avLst/>
          </a:prstGeom>
          <a:noFill/>
          <a:ln/>
        </p:spPr>
        <p:txBody>
          <a:bodyPr wrap="square" lIns="0" tIns="0" rIns="0" bIns="0" rtlCol="0" anchor="t"/>
          <a:lstStyle/>
          <a:p>
            <a:pPr indent="0" marL="0">
              <a:buNone/>
            </a:pPr>
            <a:r>
              <a:rPr lang="en-US" sz="1800" b="1" dirty="0">
                <a:solidFill>
                  <a:schemeClr val="tx1"/>
                </a:solidFill>
              </a:rPr>
              <a:t>Temporal / Restate / DBOS</a:t>
            </a:r>
            <a:endParaRPr lang="en-US" sz="1800" dirty="0"/>
          </a:p>
        </p:txBody>
      </p:sp>
      <p:sp>
        <p:nvSpPr>
          <p:cNvPr id="13" name="t133"/>
          <p:cNvSpPr txBox="1"/>
          <p:nvPr/>
        </p:nvSpPr>
        <p:spPr>
          <a:xfrm>
            <a:off x="777240" y="4343400"/>
            <a:ext cx="4937760" cy="868680"/>
          </a:xfrm>
          <a:prstGeom prst="rect">
            <a:avLst/>
          </a:prstGeom>
          <a:noFill/>
          <a:ln/>
        </p:spPr>
        <p:txBody>
          <a:bodyPr wrap="square" lIns="0" tIns="0" rIns="0" bIns="0" rtlCol="0" anchor="t"/>
          <a:lstStyle/>
          <a:p>
            <a:pPr indent="0" marL="0">
              <a:buNone/>
            </a:pPr>
            <a:r>
              <a:rPr lang="en-US" sz="1300" dirty="0">
                <a:solidFill>
                  <a:schemeClr val="tx2"/>
                </a:solidFill>
              </a:rPr>
              <a:t>Each LLM or tool call is a journaled step. Crashes resume from the last completed step; durable timers and signals handle waits and humans.</a:t>
            </a:r>
            <a:endParaRPr lang="en-US" sz="1300" dirty="0"/>
          </a:p>
        </p:txBody>
      </p:sp>
      <p:sp>
        <p:nvSpPr>
          <p:cNvPr id="14" name="t134"/>
          <p:cNvSpPr txBox="1"/>
          <p:nvPr/>
        </p:nvSpPr>
        <p:spPr>
          <a:xfrm>
            <a:off x="777240" y="5212080"/>
            <a:ext cx="4937760" cy="640080"/>
          </a:xfrm>
          <a:prstGeom prst="rect">
            <a:avLst/>
          </a:prstGeom>
          <a:noFill/>
          <a:ln/>
        </p:spPr>
        <p:txBody>
          <a:bodyPr wrap="square" lIns="0" tIns="0" rIns="0" bIns="0" rtlCol="0" anchor="t"/>
          <a:lstStyle/>
          <a:p>
            <a:pPr indent="0" marL="0">
              <a:buNone/>
            </a:pPr>
            <a:r>
              <a:rPr lang="en-US" sz="1300" b="1" dirty="0">
                <a:solidFill>
                  <a:schemeClr val="accent2"/>
                </a:solidFill>
              </a:rPr>
              <a:t>Borrow: </a:t>
            </a:r>
            <a:pPr indent="0" marL="0">
              <a:buNone/>
            </a:pPr>
            <a:r>
              <a:rPr lang="en-US" sz="1300" dirty="0">
                <a:solidFill>
                  <a:schemeClr val="tx1"/>
                </a:solidFill>
              </a:rPr>
              <a:t>step journal, idempotency keys, atomic commit of the next instruction.</a:t>
            </a:r>
            <a:endParaRPr lang="en-US" sz="1300" dirty="0"/>
          </a:p>
        </p:txBody>
      </p:sp>
      <p:sp>
        <p:nvSpPr>
          <p:cNvPr id="15" name="nb3"/>
          <p:cNvSpPr/>
          <p:nvPr/>
        </p:nvSpPr>
        <p:spPr>
          <a:xfrm>
            <a:off x="6245352" y="3749040"/>
            <a:ext cx="5394960" cy="2194560"/>
          </a:xfrm>
          <a:prstGeom prst="roundRect">
            <a:avLst>
              <a:gd name="adj" fmla="val 3333"/>
            </a:avLst>
          </a:prstGeom>
          <a:solidFill>
            <a:schemeClr val="bg2"/>
          </a:solidFill>
          <a:ln w="12700">
            <a:solidFill>
              <a:schemeClr val="bg2"/>
            </a:solidFill>
            <a:prstDash val="solid"/>
          </a:ln>
        </p:spPr>
      </p:sp>
      <p:sp>
        <p:nvSpPr>
          <p:cNvPr id="16" name="t135"/>
          <p:cNvSpPr txBox="1"/>
          <p:nvPr/>
        </p:nvSpPr>
        <p:spPr>
          <a:xfrm>
            <a:off x="6473952" y="3931920"/>
            <a:ext cx="4937760" cy="365760"/>
          </a:xfrm>
          <a:prstGeom prst="rect">
            <a:avLst/>
          </a:prstGeom>
          <a:noFill/>
          <a:ln/>
        </p:spPr>
        <p:txBody>
          <a:bodyPr wrap="square" lIns="0" tIns="0" rIns="0" bIns="0" rtlCol="0" anchor="t"/>
          <a:lstStyle/>
          <a:p>
            <a:pPr indent="0" marL="0">
              <a:buNone/>
            </a:pPr>
            <a:r>
              <a:rPr lang="en-US" sz="1800" b="1" dirty="0">
                <a:solidFill>
                  <a:schemeClr val="tx1"/>
                </a:solidFill>
              </a:rPr>
              <a:t>LangGraph checkpointers</a:t>
            </a:r>
            <a:endParaRPr lang="en-US" sz="1800" dirty="0"/>
          </a:p>
        </p:txBody>
      </p:sp>
      <p:sp>
        <p:nvSpPr>
          <p:cNvPr id="17" name="t136"/>
          <p:cNvSpPr txBox="1"/>
          <p:nvPr/>
        </p:nvSpPr>
        <p:spPr>
          <a:xfrm>
            <a:off x="6473952" y="4343400"/>
            <a:ext cx="4937760" cy="868680"/>
          </a:xfrm>
          <a:prstGeom prst="rect">
            <a:avLst/>
          </a:prstGeom>
          <a:noFill/>
          <a:ln/>
        </p:spPr>
        <p:txBody>
          <a:bodyPr wrap="square" lIns="0" tIns="0" rIns="0" bIns="0" rtlCol="0" anchor="t"/>
          <a:lstStyle/>
          <a:p>
            <a:pPr indent="0" marL="0">
              <a:buNone/>
            </a:pPr>
            <a:r>
              <a:rPr lang="en-US" sz="1300" dirty="0">
                <a:solidFill>
                  <a:schemeClr val="tx2"/>
                </a:solidFill>
              </a:rPr>
              <a:t>Full state checkpointed per thread_id; interrupt() pauses, Command(resume) continues, and any checkpoint can be forked (time-travel).</a:t>
            </a:r>
            <a:endParaRPr lang="en-US" sz="1300" dirty="0"/>
          </a:p>
        </p:txBody>
      </p:sp>
      <p:sp>
        <p:nvSpPr>
          <p:cNvPr id="18" name="t137"/>
          <p:cNvSpPr txBox="1"/>
          <p:nvPr/>
        </p:nvSpPr>
        <p:spPr>
          <a:xfrm>
            <a:off x="6473952" y="5212080"/>
            <a:ext cx="4937760" cy="640080"/>
          </a:xfrm>
          <a:prstGeom prst="rect">
            <a:avLst/>
          </a:prstGeom>
          <a:noFill/>
          <a:ln/>
        </p:spPr>
        <p:txBody>
          <a:bodyPr wrap="square" lIns="0" tIns="0" rIns="0" bIns="0" rtlCol="0" anchor="t"/>
          <a:lstStyle/>
          <a:p>
            <a:pPr indent="0" marL="0">
              <a:buNone/>
            </a:pPr>
            <a:r>
              <a:rPr lang="en-US" sz="1300" b="1" dirty="0">
                <a:solidFill>
                  <a:schemeClr val="accent2"/>
                </a:solidFill>
              </a:rPr>
              <a:t>Borrow: </a:t>
            </a:r>
            <a:pPr indent="0" marL="0">
              <a:buNone/>
            </a:pPr>
            <a:r>
              <a:rPr lang="en-US" sz="1300" dirty="0">
                <a:solidFill>
                  <a:schemeClr val="tx1"/>
                </a:solidFill>
              </a:rPr>
              <a:t>checkpoint per step so any process can be rewound or branched.</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What is distinctive about work-packet</a:t>
            </a:r>
            <a:endParaRPr lang="en-US" sz="3400" dirty="0"/>
          </a:p>
        </p:txBody>
      </p:sp>
      <p:sp>
        <p:nvSpPr>
          <p:cNvPr id="3" name="ic138"/>
          <p:cNvSpPr/>
          <p:nvPr/>
        </p:nvSpPr>
        <p:spPr>
          <a:xfrm>
            <a:off x="548640" y="1417320"/>
            <a:ext cx="548640" cy="548640"/>
          </a:xfrm>
          <a:prstGeom prst="ellipse">
            <a:avLst/>
          </a:prstGeom>
          <a:solidFill>
            <a:schemeClr val="accent1"/>
          </a:solidFill>
          <a:ln w="12700">
            <a:solidFill>
              <a:schemeClr val="accent1"/>
            </a:solidFill>
            <a:prstDash val="solid"/>
          </a:ln>
        </p:spPr>
      </p:sp>
      <p:pic>
        <p:nvPicPr>
          <p:cNvPr id="4" name="icimg139" descr="preencoded.png">    </p:cNvPr>
          <p:cNvPicPr>
            <a:picLocks noChangeAspect="1"/>
          </p:cNvPicPr>
          <p:nvPr/>
        </p:nvPicPr>
        <p:blipFill>
          <a:blip r:embed="rId1"/>
          <a:stretch>
            <a:fillRect/>
          </a:stretch>
        </p:blipFill>
        <p:spPr>
          <a:xfrm>
            <a:off x="685800" y="1554480"/>
            <a:ext cx="274320" cy="274320"/>
          </a:xfrm>
          <a:prstGeom prst="rect">
            <a:avLst/>
          </a:prstGeom>
        </p:spPr>
      </p:pic>
      <p:sp>
        <p:nvSpPr>
          <p:cNvPr id="5" name="t140"/>
          <p:cNvSpPr txBox="1"/>
          <p:nvPr/>
        </p:nvSpPr>
        <p:spPr>
          <a:xfrm>
            <a:off x="1325880" y="1371600"/>
            <a:ext cx="10241280" cy="365760"/>
          </a:xfrm>
          <a:prstGeom prst="rect">
            <a:avLst/>
          </a:prstGeom>
          <a:noFill/>
          <a:ln/>
        </p:spPr>
        <p:txBody>
          <a:bodyPr wrap="square" lIns="0" tIns="0" rIns="0" bIns="0" rtlCol="0" anchor="t"/>
          <a:lstStyle/>
          <a:p>
            <a:pPr indent="0" marL="0">
              <a:buNone/>
            </a:pPr>
            <a:r>
              <a:rPr lang="en-US" sz="1700" b="1" dirty="0">
                <a:solidFill>
                  <a:schemeClr val="tx1"/>
                </a:solidFill>
              </a:rPr>
              <a:t>The packet is a directory</a:t>
            </a:r>
            <a:endParaRPr lang="en-US" sz="1700" dirty="0"/>
          </a:p>
        </p:txBody>
      </p:sp>
      <p:sp>
        <p:nvSpPr>
          <p:cNvPr id="6" name="t141"/>
          <p:cNvSpPr txBox="1"/>
          <p:nvPr/>
        </p:nvSpPr>
        <p:spPr>
          <a:xfrm>
            <a:off x="1325880" y="1737360"/>
            <a:ext cx="10241280" cy="502920"/>
          </a:xfrm>
          <a:prstGeom prst="rect">
            <a:avLst/>
          </a:prstGeom>
          <a:noFill/>
          <a:ln/>
        </p:spPr>
        <p:txBody>
          <a:bodyPr wrap="square" lIns="0" tIns="0" rIns="0" bIns="0" rtlCol="0" anchor="t"/>
          <a:lstStyle/>
          <a:p>
            <a:pPr indent="0" marL="0">
              <a:buNone/>
            </a:pPr>
            <a:r>
              <a:rPr lang="en-US" sz="1400" dirty="0">
                <a:solidFill>
                  <a:schemeClr val="tx2"/>
                </a:solidFill>
              </a:rPr>
              <a:t>Identity, state, continuation, status and stack sit together in plain files, not in journals or databases.</a:t>
            </a:r>
            <a:endParaRPr lang="en-US" sz="1400" dirty="0"/>
          </a:p>
        </p:txBody>
      </p:sp>
      <p:sp>
        <p:nvSpPr>
          <p:cNvPr id="7" name="ic142"/>
          <p:cNvSpPr/>
          <p:nvPr/>
        </p:nvSpPr>
        <p:spPr>
          <a:xfrm>
            <a:off x="548640" y="2331720"/>
            <a:ext cx="548640" cy="548640"/>
          </a:xfrm>
          <a:prstGeom prst="ellipse">
            <a:avLst/>
          </a:prstGeom>
          <a:solidFill>
            <a:schemeClr val="accent1"/>
          </a:solidFill>
          <a:ln w="12700">
            <a:solidFill>
              <a:schemeClr val="accent1"/>
            </a:solidFill>
            <a:prstDash val="solid"/>
          </a:ln>
        </p:spPr>
      </p:sp>
      <p:pic>
        <p:nvPicPr>
          <p:cNvPr id="8" name="icimg143" descr="preencoded.png">    </p:cNvPr>
          <p:cNvPicPr>
            <a:picLocks noChangeAspect="1"/>
          </p:cNvPicPr>
          <p:nvPr/>
        </p:nvPicPr>
        <p:blipFill>
          <a:blip r:embed="rId2"/>
          <a:stretch>
            <a:fillRect/>
          </a:stretch>
        </p:blipFill>
        <p:spPr>
          <a:xfrm>
            <a:off x="685800" y="2468880"/>
            <a:ext cx="274320" cy="274320"/>
          </a:xfrm>
          <a:prstGeom prst="rect">
            <a:avLst/>
          </a:prstGeom>
        </p:spPr>
      </p:pic>
      <p:sp>
        <p:nvSpPr>
          <p:cNvPr id="9" name="t144"/>
          <p:cNvSpPr txBox="1"/>
          <p:nvPr/>
        </p:nvSpPr>
        <p:spPr>
          <a:xfrm>
            <a:off x="1325880" y="2286000"/>
            <a:ext cx="10241280" cy="365760"/>
          </a:xfrm>
          <a:prstGeom prst="rect">
            <a:avLst/>
          </a:prstGeom>
          <a:noFill/>
          <a:ln/>
        </p:spPr>
        <p:txBody>
          <a:bodyPr wrap="square" lIns="0" tIns="0" rIns="0" bIns="0" rtlCol="0" anchor="t"/>
          <a:lstStyle/>
          <a:p>
            <a:pPr indent="0" marL="0">
              <a:buNone/>
            </a:pPr>
            <a:r>
              <a:rPr lang="en-US" sz="1700" b="1" dirty="0">
                <a:solidFill>
                  <a:schemeClr val="tx1"/>
                </a:solidFill>
              </a:rPr>
              <a:t>The agent writes its own continuation</a:t>
            </a:r>
            <a:endParaRPr lang="en-US" sz="1700" dirty="0"/>
          </a:p>
        </p:txBody>
      </p:sp>
      <p:sp>
        <p:nvSpPr>
          <p:cNvPr id="10" name="t145"/>
          <p:cNvSpPr txBox="1"/>
          <p:nvPr/>
        </p:nvSpPr>
        <p:spPr>
          <a:xfrm>
            <a:off x="1325880" y="2651760"/>
            <a:ext cx="10241280" cy="502920"/>
          </a:xfrm>
          <a:prstGeom prst="rect">
            <a:avLst/>
          </a:prstGeom>
          <a:noFill/>
          <a:ln/>
        </p:spPr>
        <p:txBody>
          <a:bodyPr wrap="square" lIns="0" tIns="0" rIns="0" bIns="0" rtlCol="0" anchor="t"/>
          <a:lstStyle/>
          <a:p>
            <a:pPr indent="0" marL="0">
              <a:buNone/>
            </a:pPr>
            <a:r>
              <a:rPr lang="en-US" sz="1400" dirty="0">
                <a:solidFill>
                  <a:schemeClr val="tx2"/>
                </a:solidFill>
              </a:rPr>
              <a:t>Durable systems resume by replaying code; session systems by replaying the transcript. Here a memento file says what to do next.</a:t>
            </a:r>
            <a:endParaRPr lang="en-US" sz="1400" dirty="0"/>
          </a:p>
        </p:txBody>
      </p:sp>
      <p:sp>
        <p:nvSpPr>
          <p:cNvPr id="11" name="ic146"/>
          <p:cNvSpPr/>
          <p:nvPr/>
        </p:nvSpPr>
        <p:spPr>
          <a:xfrm>
            <a:off x="548640" y="3246120"/>
            <a:ext cx="548640" cy="548640"/>
          </a:xfrm>
          <a:prstGeom prst="ellipse">
            <a:avLst/>
          </a:prstGeom>
          <a:solidFill>
            <a:schemeClr val="accent1"/>
          </a:solidFill>
          <a:ln w="12700">
            <a:solidFill>
              <a:schemeClr val="accent1"/>
            </a:solidFill>
            <a:prstDash val="solid"/>
          </a:ln>
        </p:spPr>
      </p:sp>
      <p:pic>
        <p:nvPicPr>
          <p:cNvPr id="12" name="icimg147" descr="preencoded.png">    </p:cNvPr>
          <p:cNvPicPr>
            <a:picLocks noChangeAspect="1"/>
          </p:cNvPicPr>
          <p:nvPr/>
        </p:nvPicPr>
        <p:blipFill>
          <a:blip r:embed="rId3"/>
          <a:stretch>
            <a:fillRect/>
          </a:stretch>
        </p:blipFill>
        <p:spPr>
          <a:xfrm>
            <a:off x="685800" y="3383280"/>
            <a:ext cx="274320" cy="274320"/>
          </a:xfrm>
          <a:prstGeom prst="rect">
            <a:avLst/>
          </a:prstGeom>
        </p:spPr>
      </p:pic>
      <p:sp>
        <p:nvSpPr>
          <p:cNvPr id="13" name="t148"/>
          <p:cNvSpPr txBox="1"/>
          <p:nvPr/>
        </p:nvSpPr>
        <p:spPr>
          <a:xfrm>
            <a:off x="1325880" y="3200400"/>
            <a:ext cx="10241280" cy="365760"/>
          </a:xfrm>
          <a:prstGeom prst="rect">
            <a:avLst/>
          </a:prstGeom>
          <a:noFill/>
          <a:ln/>
        </p:spPr>
        <p:txBody>
          <a:bodyPr wrap="square" lIns="0" tIns="0" rIns="0" bIns="0" rtlCol="0" anchor="t"/>
          <a:lstStyle/>
          <a:p>
            <a:pPr indent="0" marL="0">
              <a:buNone/>
            </a:pPr>
            <a:r>
              <a:rPr lang="en-US" sz="1700" b="1" dirty="0">
                <a:solidFill>
                  <a:schemeClr val="tx1"/>
                </a:solidFill>
              </a:rPr>
              <a:t>Fork clones files, not the transcript</a:t>
            </a:r>
            <a:endParaRPr lang="en-US" sz="1700" dirty="0"/>
          </a:p>
        </p:txBody>
      </p:sp>
      <p:sp>
        <p:nvSpPr>
          <p:cNvPr id="14" name="t149"/>
          <p:cNvSpPr txBox="1"/>
          <p:nvPr/>
        </p:nvSpPr>
        <p:spPr>
          <a:xfrm>
            <a:off x="1325880" y="3566160"/>
            <a:ext cx="10241280" cy="502920"/>
          </a:xfrm>
          <a:prstGeom prst="rect">
            <a:avLst/>
          </a:prstGeom>
          <a:noFill/>
          <a:ln/>
        </p:spPr>
        <p:txBody>
          <a:bodyPr wrap="square" lIns="0" tIns="0" rIns="0" bIns="0" rtlCol="0" anchor="t"/>
          <a:lstStyle/>
          <a:p>
            <a:pPr indent="0" marL="0">
              <a:buNone/>
            </a:pPr>
            <a:r>
              <a:rPr lang="en-US" sz="1400" dirty="0">
                <a:solidFill>
                  <a:schemeClr val="tx2"/>
                </a:solidFill>
              </a:rPr>
              <a:t>Selective state copy plus read-only symlinked resources: close to copy-on-write fork(), unlike fork_session.</a:t>
            </a:r>
            <a:endParaRPr lang="en-US" sz="1400" dirty="0"/>
          </a:p>
        </p:txBody>
      </p:sp>
      <p:sp>
        <p:nvSpPr>
          <p:cNvPr id="15" name="ic150"/>
          <p:cNvSpPr/>
          <p:nvPr/>
        </p:nvSpPr>
        <p:spPr>
          <a:xfrm>
            <a:off x="548640" y="4160520"/>
            <a:ext cx="548640" cy="548640"/>
          </a:xfrm>
          <a:prstGeom prst="ellipse">
            <a:avLst/>
          </a:prstGeom>
          <a:solidFill>
            <a:schemeClr val="accent1"/>
          </a:solidFill>
          <a:ln w="12700">
            <a:solidFill>
              <a:schemeClr val="accent1"/>
            </a:solidFill>
            <a:prstDash val="solid"/>
          </a:ln>
        </p:spPr>
      </p:sp>
      <p:pic>
        <p:nvPicPr>
          <p:cNvPr id="16" name="icimg151" descr="preencoded.png">    </p:cNvPr>
          <p:cNvPicPr>
            <a:picLocks noChangeAspect="1"/>
          </p:cNvPicPr>
          <p:nvPr/>
        </p:nvPicPr>
        <p:blipFill>
          <a:blip r:embed="rId4"/>
          <a:stretch>
            <a:fillRect/>
          </a:stretch>
        </p:blipFill>
        <p:spPr>
          <a:xfrm>
            <a:off x="685800" y="4297680"/>
            <a:ext cx="274320" cy="274320"/>
          </a:xfrm>
          <a:prstGeom prst="rect">
            <a:avLst/>
          </a:prstGeom>
        </p:spPr>
      </p:pic>
      <p:sp>
        <p:nvSpPr>
          <p:cNvPr id="17" name="t152"/>
          <p:cNvSpPr txBox="1"/>
          <p:nvPr/>
        </p:nvSpPr>
        <p:spPr>
          <a:xfrm>
            <a:off x="1325880" y="4114800"/>
            <a:ext cx="10241280" cy="365760"/>
          </a:xfrm>
          <a:prstGeom prst="rect">
            <a:avLst/>
          </a:prstGeom>
          <a:noFill/>
          <a:ln/>
        </p:spPr>
        <p:txBody>
          <a:bodyPr wrap="square" lIns="0" tIns="0" rIns="0" bIns="0" rtlCol="0" anchor="t"/>
          <a:lstStyle/>
          <a:p>
            <a:pPr indent="0" marL="0">
              <a:buNone/>
            </a:pPr>
            <a:r>
              <a:rPr lang="en-US" sz="1700" b="1" dirty="0">
                <a:solidFill>
                  <a:schemeClr val="tx1"/>
                </a:solidFill>
              </a:rPr>
              <a:t>A call stack per packet</a:t>
            </a:r>
            <a:endParaRPr lang="en-US" sz="1700" dirty="0"/>
          </a:p>
        </p:txBody>
      </p:sp>
      <p:sp>
        <p:nvSpPr>
          <p:cNvPr id="18" name="t153"/>
          <p:cNvSpPr txBox="1"/>
          <p:nvPr/>
        </p:nvSpPr>
        <p:spPr>
          <a:xfrm>
            <a:off x="1325880" y="4480560"/>
            <a:ext cx="10241280" cy="502920"/>
          </a:xfrm>
          <a:prstGeom prst="rect">
            <a:avLst/>
          </a:prstGeom>
          <a:noFill/>
          <a:ln/>
        </p:spPr>
        <p:txBody>
          <a:bodyPr wrap="square" lIns="0" tIns="0" rIns="0" bIns="0" rtlCol="0" anchor="t"/>
          <a:lstStyle/>
          <a:p>
            <a:pPr indent="0" marL="0">
              <a:buNone/>
            </a:pPr>
            <a:r>
              <a:rPr lang="en-US" sz="1400" dirty="0">
                <a:solidFill>
                  <a:schemeClr val="tx2"/>
                </a:solidFill>
              </a:rPr>
              <a:t>Nested tasks push and pop frames. Most prior art has flat threads or a task DAG.</a:t>
            </a:r>
            <a:endParaRPr lang="en-US" sz="1400" dirty="0"/>
          </a:p>
        </p:txBody>
      </p:sp>
      <p:sp>
        <p:nvSpPr>
          <p:cNvPr id="19" name="ic154"/>
          <p:cNvSpPr/>
          <p:nvPr/>
        </p:nvSpPr>
        <p:spPr>
          <a:xfrm>
            <a:off x="548640" y="5074920"/>
            <a:ext cx="548640" cy="548640"/>
          </a:xfrm>
          <a:prstGeom prst="ellipse">
            <a:avLst/>
          </a:prstGeom>
          <a:solidFill>
            <a:schemeClr val="accent1"/>
          </a:solidFill>
          <a:ln w="12700">
            <a:solidFill>
              <a:schemeClr val="accent1"/>
            </a:solidFill>
            <a:prstDash val="solid"/>
          </a:ln>
        </p:spPr>
      </p:sp>
      <p:pic>
        <p:nvPicPr>
          <p:cNvPr id="20" name="icimg155" descr="preencoded.png">    </p:cNvPr>
          <p:cNvPicPr>
            <a:picLocks noChangeAspect="1"/>
          </p:cNvPicPr>
          <p:nvPr/>
        </p:nvPicPr>
        <p:blipFill>
          <a:blip r:embed="rId5"/>
          <a:stretch>
            <a:fillRect/>
          </a:stretch>
        </p:blipFill>
        <p:spPr>
          <a:xfrm>
            <a:off x="685800" y="5212080"/>
            <a:ext cx="274320" cy="274320"/>
          </a:xfrm>
          <a:prstGeom prst="rect">
            <a:avLst/>
          </a:prstGeom>
        </p:spPr>
      </p:pic>
      <p:sp>
        <p:nvSpPr>
          <p:cNvPr id="21" name="t156"/>
          <p:cNvSpPr txBox="1"/>
          <p:nvPr/>
        </p:nvSpPr>
        <p:spPr>
          <a:xfrm>
            <a:off x="1325880" y="5029200"/>
            <a:ext cx="10241280" cy="365760"/>
          </a:xfrm>
          <a:prstGeom prst="rect">
            <a:avLst/>
          </a:prstGeom>
          <a:noFill/>
          <a:ln/>
        </p:spPr>
        <p:txBody>
          <a:bodyPr wrap="square" lIns="0" tIns="0" rIns="0" bIns="0" rtlCol="0" anchor="t"/>
          <a:lstStyle/>
          <a:p>
            <a:pPr indent="0" marL="0">
              <a:buNone/>
            </a:pPr>
            <a:r>
              <a:rPr lang="en-US" sz="1700" b="1" dirty="0">
                <a:solidFill>
                  <a:schemeClr val="tx1"/>
                </a:solidFill>
              </a:rPr>
              <a:t>The agent sets its own wake time</a:t>
            </a:r>
            <a:endParaRPr lang="en-US" sz="1700" dirty="0"/>
          </a:p>
        </p:txBody>
      </p:sp>
      <p:sp>
        <p:nvSpPr>
          <p:cNvPr id="22" name="t157"/>
          <p:cNvSpPr txBox="1"/>
          <p:nvPr/>
        </p:nvSpPr>
        <p:spPr>
          <a:xfrm>
            <a:off x="1325880" y="5394960"/>
            <a:ext cx="10241280" cy="502920"/>
          </a:xfrm>
          <a:prstGeom prst="rect">
            <a:avLst/>
          </a:prstGeom>
          <a:noFill/>
          <a:ln/>
        </p:spPr>
        <p:txBody>
          <a:bodyPr wrap="square" lIns="0" tIns="0" rIns="0" bIns="0" rtlCol="0" anchor="t"/>
          <a:lstStyle/>
          <a:p>
            <a:pPr indent="0" marL="0">
              <a:buNone/>
            </a:pPr>
            <a:r>
              <a:rPr lang="en-US" sz="1400" dirty="0">
                <a:solidFill>
                  <a:schemeClr val="tx2"/>
                </a:solidFill>
              </a:rPr>
              <a:t>"Resume in 10 days", "on 10 Jan", "every Monday". Like Cloudflare schedule(), but with any LLM CLI, no server, and zero cost while asleep.</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Risks that prior art has already hit</a:t>
            </a:r>
            <a:endParaRPr lang="en-US" sz="3400" dirty="0"/>
          </a:p>
        </p:txBody>
      </p:sp>
      <p:sp>
        <p:nvSpPr>
          <p:cNvPr id="3" name="risk0"/>
          <p:cNvSpPr/>
          <p:nvPr/>
        </p:nvSpPr>
        <p:spPr>
          <a:xfrm>
            <a:off x="548640" y="1325880"/>
            <a:ext cx="3566160" cy="2194560"/>
          </a:xfrm>
          <a:prstGeom prst="roundRect">
            <a:avLst>
              <a:gd name="adj" fmla="val 3333"/>
            </a:avLst>
          </a:prstGeom>
          <a:solidFill>
            <a:srgbClr val="F6E3C1"/>
          </a:solidFill>
          <a:ln w="12700">
            <a:solidFill>
              <a:srgbClr val="F6E3C1"/>
            </a:solidFill>
            <a:prstDash val="solid"/>
          </a:ln>
        </p:spPr>
      </p:sp>
      <p:sp>
        <p:nvSpPr>
          <p:cNvPr id="4" name="t158"/>
          <p:cNvSpPr txBox="1"/>
          <p:nvPr/>
        </p:nvSpPr>
        <p:spPr>
          <a:xfrm>
            <a:off x="777240" y="1508760"/>
            <a:ext cx="3108960" cy="594360"/>
          </a:xfrm>
          <a:prstGeom prst="rect">
            <a:avLst/>
          </a:prstGeom>
          <a:noFill/>
          <a:ln/>
        </p:spPr>
        <p:txBody>
          <a:bodyPr wrap="square" lIns="0" tIns="0" rIns="0" bIns="0" rtlCol="0" anchor="t"/>
          <a:lstStyle/>
          <a:p>
            <a:pPr indent="0" marL="0">
              <a:buNone/>
            </a:pPr>
            <a:r>
              <a:rPr lang="en-US" sz="1600" b="1" dirty="0">
                <a:solidFill>
                  <a:schemeClr val="tx1"/>
                </a:solidFill>
              </a:rPr>
              <a:t>Repeated side effects</a:t>
            </a:r>
            <a:endParaRPr lang="en-US" sz="1600" dirty="0"/>
          </a:p>
        </p:txBody>
      </p:sp>
      <p:sp>
        <p:nvSpPr>
          <p:cNvPr id="5" name="t159"/>
          <p:cNvSpPr txBox="1"/>
          <p:nvPr/>
        </p:nvSpPr>
        <p:spPr>
          <a:xfrm>
            <a:off x="777240" y="2011680"/>
            <a:ext cx="3108960" cy="1417320"/>
          </a:xfrm>
          <a:prstGeom prst="rect">
            <a:avLst/>
          </a:prstGeom>
          <a:noFill/>
          <a:ln/>
        </p:spPr>
        <p:txBody>
          <a:bodyPr wrap="square" lIns="0" tIns="0" rIns="0" bIns="0" rtlCol="0" anchor="t"/>
          <a:lstStyle/>
          <a:p>
            <a:pPr indent="0" marL="0">
              <a:buNone/>
            </a:pPr>
            <a:r>
              <a:rPr lang="en-US" sz="1500" dirty="0">
                <a:solidFill>
                  <a:schemeClr val="tx2"/>
                </a:solidFill>
              </a:rPr>
              <a:t>A crash or re-run between acting and recording repeats the action. The prototype already ran its last step twice.</a:t>
            </a:r>
            <a:endParaRPr lang="en-US" sz="1500" dirty="0"/>
          </a:p>
        </p:txBody>
      </p:sp>
      <p:sp>
        <p:nvSpPr>
          <p:cNvPr id="6" name="risk1"/>
          <p:cNvSpPr/>
          <p:nvPr/>
        </p:nvSpPr>
        <p:spPr>
          <a:xfrm>
            <a:off x="4311396" y="1325880"/>
            <a:ext cx="3566160" cy="2194560"/>
          </a:xfrm>
          <a:prstGeom prst="roundRect">
            <a:avLst>
              <a:gd name="adj" fmla="val 3333"/>
            </a:avLst>
          </a:prstGeom>
          <a:solidFill>
            <a:schemeClr val="bg2"/>
          </a:solidFill>
          <a:ln w="12700">
            <a:solidFill>
              <a:schemeClr val="bg2"/>
            </a:solidFill>
            <a:prstDash val="solid"/>
          </a:ln>
        </p:spPr>
      </p:sp>
      <p:sp>
        <p:nvSpPr>
          <p:cNvPr id="7" name="t160"/>
          <p:cNvSpPr txBox="1"/>
          <p:nvPr/>
        </p:nvSpPr>
        <p:spPr>
          <a:xfrm>
            <a:off x="4539996" y="1508760"/>
            <a:ext cx="3108960" cy="594360"/>
          </a:xfrm>
          <a:prstGeom prst="rect">
            <a:avLst/>
          </a:prstGeom>
          <a:noFill/>
          <a:ln/>
        </p:spPr>
        <p:txBody>
          <a:bodyPr wrap="square" lIns="0" tIns="0" rIns="0" bIns="0" rtlCol="0" anchor="t"/>
          <a:lstStyle/>
          <a:p>
            <a:pPr indent="0" marL="0">
              <a:buNone/>
            </a:pPr>
            <a:r>
              <a:rPr lang="en-US" sz="1600" b="1" dirty="0">
                <a:solidFill>
                  <a:schemeClr val="tx1"/>
                </a:solidFill>
              </a:rPr>
              <a:t>Free-form file drift</a:t>
            </a:r>
            <a:endParaRPr lang="en-US" sz="1600" dirty="0"/>
          </a:p>
        </p:txBody>
      </p:sp>
      <p:sp>
        <p:nvSpPr>
          <p:cNvPr id="8" name="t161"/>
          <p:cNvSpPr txBox="1"/>
          <p:nvPr/>
        </p:nvSpPr>
        <p:spPr>
          <a:xfrm>
            <a:off x="4539996" y="2011680"/>
            <a:ext cx="3108960" cy="1417320"/>
          </a:xfrm>
          <a:prstGeom prst="rect">
            <a:avLst/>
          </a:prstGeom>
          <a:noFill/>
          <a:ln/>
        </p:spPr>
        <p:txBody>
          <a:bodyPr wrap="square" lIns="0" tIns="0" rIns="0" bIns="0" rtlCol="0" anchor="t"/>
          <a:lstStyle/>
          <a:p>
            <a:pPr indent="0" marL="0">
              <a:buNone/>
            </a:pPr>
            <a:r>
              <a:rPr lang="en-US" sz="1500" dirty="0">
                <a:solidFill>
                  <a:schemeClr val="tx2"/>
                </a:solidFill>
              </a:rPr>
              <a:t>Yegge's 605 plan files led to Beads. Fix schemas for status, memento and stack, and keep a bounded ledger.</a:t>
            </a:r>
            <a:endParaRPr lang="en-US" sz="1500" dirty="0"/>
          </a:p>
        </p:txBody>
      </p:sp>
      <p:sp>
        <p:nvSpPr>
          <p:cNvPr id="9" name="risk2"/>
          <p:cNvSpPr/>
          <p:nvPr/>
        </p:nvSpPr>
        <p:spPr>
          <a:xfrm>
            <a:off x="8074152" y="1325880"/>
            <a:ext cx="3566160" cy="2194560"/>
          </a:xfrm>
          <a:prstGeom prst="roundRect">
            <a:avLst>
              <a:gd name="adj" fmla="val 3333"/>
            </a:avLst>
          </a:prstGeom>
          <a:solidFill>
            <a:srgbClr val="F6E3C1"/>
          </a:solidFill>
          <a:ln w="12700">
            <a:solidFill>
              <a:srgbClr val="F6E3C1"/>
            </a:solidFill>
            <a:prstDash val="solid"/>
          </a:ln>
        </p:spPr>
      </p:sp>
      <p:sp>
        <p:nvSpPr>
          <p:cNvPr id="10" name="t162"/>
          <p:cNvSpPr txBox="1"/>
          <p:nvPr/>
        </p:nvSpPr>
        <p:spPr>
          <a:xfrm>
            <a:off x="8302752" y="1508760"/>
            <a:ext cx="3108960" cy="594360"/>
          </a:xfrm>
          <a:prstGeom prst="rect">
            <a:avLst/>
          </a:prstGeom>
          <a:noFill/>
          <a:ln/>
        </p:spPr>
        <p:txBody>
          <a:bodyPr wrap="square" lIns="0" tIns="0" rIns="0" bIns="0" rtlCol="0" anchor="t"/>
          <a:lstStyle/>
          <a:p>
            <a:pPr indent="0" marL="0">
              <a:buNone/>
            </a:pPr>
            <a:r>
              <a:rPr lang="en-US" sz="1600" b="1" dirty="0">
                <a:solidFill>
                  <a:schemeClr val="tx1"/>
                </a:solidFill>
              </a:rPr>
              <a:t>Concurrent writers</a:t>
            </a:r>
            <a:endParaRPr lang="en-US" sz="1600" dirty="0"/>
          </a:p>
        </p:txBody>
      </p:sp>
      <p:sp>
        <p:nvSpPr>
          <p:cNvPr id="11" name="t163"/>
          <p:cNvSpPr txBox="1"/>
          <p:nvPr/>
        </p:nvSpPr>
        <p:spPr>
          <a:xfrm>
            <a:off x="8302752" y="2011680"/>
            <a:ext cx="3108960" cy="1417320"/>
          </a:xfrm>
          <a:prstGeom prst="rect">
            <a:avLst/>
          </a:prstGeom>
          <a:noFill/>
          <a:ln/>
        </p:spPr>
        <p:txBody>
          <a:bodyPr wrap="square" lIns="0" tIns="0" rIns="0" bIns="0" rtlCol="0" anchor="t"/>
          <a:lstStyle/>
          <a:p>
            <a:pPr indent="0" marL="0">
              <a:buNone/>
            </a:pPr>
            <a:r>
              <a:rPr lang="en-US" sz="1500" dirty="0">
                <a:solidFill>
                  <a:schemeClr val="tx2"/>
                </a:solidFill>
              </a:rPr>
              <a:t>Teams on shared data need claims, leases or locks, plus liveness checks and a supervisor that restarts or escalates.</a:t>
            </a:r>
            <a:endParaRPr lang="en-US" sz="1500" dirty="0"/>
          </a:p>
        </p:txBody>
      </p:sp>
      <p:sp>
        <p:nvSpPr>
          <p:cNvPr id="12" name="risk3"/>
          <p:cNvSpPr/>
          <p:nvPr/>
        </p:nvSpPr>
        <p:spPr>
          <a:xfrm>
            <a:off x="548640" y="3749040"/>
            <a:ext cx="3566160" cy="2194560"/>
          </a:xfrm>
          <a:prstGeom prst="roundRect">
            <a:avLst>
              <a:gd name="adj" fmla="val 3333"/>
            </a:avLst>
          </a:prstGeom>
          <a:solidFill>
            <a:schemeClr val="bg2"/>
          </a:solidFill>
          <a:ln w="12700">
            <a:solidFill>
              <a:schemeClr val="bg2"/>
            </a:solidFill>
            <a:prstDash val="solid"/>
          </a:ln>
        </p:spPr>
      </p:sp>
      <p:sp>
        <p:nvSpPr>
          <p:cNvPr id="13" name="t164"/>
          <p:cNvSpPr txBox="1"/>
          <p:nvPr/>
        </p:nvSpPr>
        <p:spPr>
          <a:xfrm>
            <a:off x="777240" y="3931920"/>
            <a:ext cx="3108960" cy="594360"/>
          </a:xfrm>
          <a:prstGeom prst="rect">
            <a:avLst/>
          </a:prstGeom>
          <a:noFill/>
          <a:ln/>
        </p:spPr>
        <p:txBody>
          <a:bodyPr wrap="square" lIns="0" tIns="0" rIns="0" bIns="0" rtlCol="0" anchor="t"/>
          <a:lstStyle/>
          <a:p>
            <a:pPr indent="0" marL="0">
              <a:buNone/>
            </a:pPr>
            <a:r>
              <a:rPr lang="en-US" sz="1600" b="1" dirty="0">
                <a:solidFill>
                  <a:schemeClr val="tx1"/>
                </a:solidFill>
              </a:rPr>
              <a:t>Start-up cost per step</a:t>
            </a:r>
            <a:endParaRPr lang="en-US" sz="1600" dirty="0"/>
          </a:p>
        </p:txBody>
      </p:sp>
      <p:sp>
        <p:nvSpPr>
          <p:cNvPr id="14" name="t165"/>
          <p:cNvSpPr txBox="1"/>
          <p:nvPr/>
        </p:nvSpPr>
        <p:spPr>
          <a:xfrm>
            <a:off x="777240" y="4434840"/>
            <a:ext cx="3108960" cy="1417320"/>
          </a:xfrm>
          <a:prstGeom prst="rect">
            <a:avLst/>
          </a:prstGeom>
          <a:noFill/>
          <a:ln/>
        </p:spPr>
        <p:txBody>
          <a:bodyPr wrap="square" lIns="0" tIns="0" rIns="0" bIns="0" rtlCol="0" anchor="t"/>
          <a:lstStyle/>
          <a:p>
            <a:pPr indent="0" marL="0">
              <a:buNone/>
            </a:pPr>
            <a:r>
              <a:rPr lang="en-US" sz="1500" dirty="0">
                <a:solidFill>
                  <a:schemeClr val="tx2"/>
                </a:solidFill>
              </a:rPr>
              <a:t>Every fresh call re-reads context. Keep the preamble stable for KV-cache hits and per-packet context small.</a:t>
            </a:r>
            <a:endParaRPr lang="en-US" sz="1500" dirty="0"/>
          </a:p>
        </p:txBody>
      </p:sp>
      <p:sp>
        <p:nvSpPr>
          <p:cNvPr id="15" name="risk4"/>
          <p:cNvSpPr/>
          <p:nvPr/>
        </p:nvSpPr>
        <p:spPr>
          <a:xfrm>
            <a:off x="4311396" y="3749040"/>
            <a:ext cx="3566160" cy="2194560"/>
          </a:xfrm>
          <a:prstGeom prst="roundRect">
            <a:avLst>
              <a:gd name="adj" fmla="val 3333"/>
            </a:avLst>
          </a:prstGeom>
          <a:solidFill>
            <a:srgbClr val="F6E3C1"/>
          </a:solidFill>
          <a:ln w="12700">
            <a:solidFill>
              <a:srgbClr val="F6E3C1"/>
            </a:solidFill>
            <a:prstDash val="solid"/>
          </a:ln>
        </p:spPr>
      </p:sp>
      <p:sp>
        <p:nvSpPr>
          <p:cNvPr id="16" name="t166"/>
          <p:cNvSpPr txBox="1"/>
          <p:nvPr/>
        </p:nvSpPr>
        <p:spPr>
          <a:xfrm>
            <a:off x="4539996" y="3931920"/>
            <a:ext cx="3108960" cy="594360"/>
          </a:xfrm>
          <a:prstGeom prst="rect">
            <a:avLst/>
          </a:prstGeom>
          <a:noFill/>
          <a:ln/>
        </p:spPr>
        <p:txBody>
          <a:bodyPr wrap="square" lIns="0" tIns="0" rIns="0" bIns="0" rtlCol="0" anchor="t"/>
          <a:lstStyle/>
          <a:p>
            <a:pPr indent="0" marL="0">
              <a:buNone/>
            </a:pPr>
            <a:r>
              <a:rPr lang="en-US" sz="1600" b="1" dirty="0">
                <a:solidFill>
                  <a:schemeClr val="tx1"/>
                </a:solidFill>
              </a:rPr>
              <a:t>Capabilities and injection</a:t>
            </a:r>
            <a:endParaRPr lang="en-US" sz="1600" dirty="0"/>
          </a:p>
        </p:txBody>
      </p:sp>
      <p:sp>
        <p:nvSpPr>
          <p:cNvPr id="17" name="t167"/>
          <p:cNvSpPr txBox="1"/>
          <p:nvPr/>
        </p:nvSpPr>
        <p:spPr>
          <a:xfrm>
            <a:off x="4539996" y="4434840"/>
            <a:ext cx="3108960" cy="1417320"/>
          </a:xfrm>
          <a:prstGeom prst="rect">
            <a:avLst/>
          </a:prstGeom>
          <a:noFill/>
          <a:ln/>
        </p:spPr>
        <p:txBody>
          <a:bodyPr wrap="square" lIns="0" tIns="0" rIns="0" bIns="0" rtlCol="0" anchor="t"/>
          <a:lstStyle/>
          <a:p>
            <a:pPr indent="0" marL="0">
              <a:buNone/>
            </a:pPr>
            <a:r>
              <a:rPr lang="en-US" sz="1500" dirty="0">
                <a:solidFill>
                  <a:schemeClr val="tx2"/>
                </a:solidFill>
              </a:rPr>
              <a:t>Symlinked identity and inherited state can carry privileges or injected text into children. Scope what each packet can touch.</a:t>
            </a:r>
            <a:endParaRPr lang="en-US" sz="1500" dirty="0"/>
          </a:p>
        </p:txBody>
      </p:sp>
      <p:sp>
        <p:nvSpPr>
          <p:cNvPr id="18" name="risk5"/>
          <p:cNvSpPr/>
          <p:nvPr/>
        </p:nvSpPr>
        <p:spPr>
          <a:xfrm>
            <a:off x="8074152" y="3749040"/>
            <a:ext cx="3566160" cy="2194560"/>
          </a:xfrm>
          <a:prstGeom prst="roundRect">
            <a:avLst>
              <a:gd name="adj" fmla="val 3333"/>
            </a:avLst>
          </a:prstGeom>
          <a:solidFill>
            <a:schemeClr val="bg2"/>
          </a:solidFill>
          <a:ln w="12700">
            <a:solidFill>
              <a:schemeClr val="bg2"/>
            </a:solidFill>
            <a:prstDash val="solid"/>
          </a:ln>
        </p:spPr>
      </p:sp>
      <p:sp>
        <p:nvSpPr>
          <p:cNvPr id="19" name="t168"/>
          <p:cNvSpPr txBox="1"/>
          <p:nvPr/>
        </p:nvSpPr>
        <p:spPr>
          <a:xfrm>
            <a:off x="8302752" y="3931920"/>
            <a:ext cx="3108960" cy="594360"/>
          </a:xfrm>
          <a:prstGeom prst="rect">
            <a:avLst/>
          </a:prstGeom>
          <a:noFill/>
          <a:ln/>
        </p:spPr>
        <p:txBody>
          <a:bodyPr wrap="square" lIns="0" tIns="0" rIns="0" bIns="0" rtlCol="0" anchor="t"/>
          <a:lstStyle/>
          <a:p>
            <a:pPr indent="0" marL="0">
              <a:buNone/>
            </a:pPr>
            <a:r>
              <a:rPr lang="en-US" sz="1600" b="1" dirty="0">
                <a:solidFill>
                  <a:schemeClr val="tx1"/>
                </a:solidFill>
              </a:rPr>
              <a:t>Non-deterministic steps</a:t>
            </a:r>
            <a:endParaRPr lang="en-US" sz="1600" dirty="0"/>
          </a:p>
        </p:txBody>
      </p:sp>
      <p:sp>
        <p:nvSpPr>
          <p:cNvPr id="20" name="t169"/>
          <p:cNvSpPr txBox="1"/>
          <p:nvPr/>
        </p:nvSpPr>
        <p:spPr>
          <a:xfrm>
            <a:off x="8302752" y="4434840"/>
            <a:ext cx="3108960" cy="1417320"/>
          </a:xfrm>
          <a:prstGeom prst="rect">
            <a:avLst/>
          </a:prstGeom>
          <a:noFill/>
          <a:ln/>
        </p:spPr>
        <p:txBody>
          <a:bodyPr wrap="square" lIns="0" tIns="0" rIns="0" bIns="0" rtlCol="0" anchor="t"/>
          <a:lstStyle/>
          <a:p>
            <a:pPr indent="0" marL="0">
              <a:buNone/>
            </a:pPr>
            <a:r>
              <a:rPr lang="en-US" sz="1500" dirty="0">
                <a:solidFill>
                  <a:schemeClr val="tx2"/>
                </a:solidFill>
              </a:rPr>
              <a:t>LLM output can't be replayed like code. Record step outputs and snapshot directories (git, ZFS) to rewind or branch.</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9144000" cy="1097280"/>
          </a:xfrm>
          <a:prstGeom prst="rect">
            <a:avLst/>
          </a:prstGeom>
          <a:noFill/>
          <a:ln/>
        </p:spPr>
        <p:txBody>
          <a:bodyPr wrap="square" lIns="0" tIns="0" rIns="0" bIns="0" rtlCol="0" anchor="ctr"/>
          <a:lstStyle/>
          <a:p>
            <a:pPr algn="l" indent="0" marL="0">
              <a:buNone/>
            </a:pPr>
            <a:r>
              <a:rPr lang="en-US" sz="4400" b="1" dirty="0">
                <a:solidFill>
                  <a:schemeClr val="bg1"/>
                </a:solidFill>
              </a:rPr>
              <a:t>Using work-packet day to day</a:t>
            </a:r>
            <a:endParaRPr lang="en-US" sz="4400" dirty="0"/>
          </a:p>
        </p:txBody>
      </p:sp>
      <p:sp>
        <p:nvSpPr>
          <p:cNvPr id="3" name="Text 0"/>
          <p:cNvSpPr/>
          <p:nvPr>
            <p:ph idx="101" type="body" hasCustomPrompt="1"/>
          </p:nvPr>
        </p:nvSpPr>
        <p:spPr>
          <a:xfrm>
            <a:off x="548640" y="3794760"/>
            <a:ext cx="9144000" cy="822960"/>
          </a:xfrm>
          <a:prstGeom prst="rect">
            <a:avLst/>
          </a:prstGeom>
          <a:noFill/>
          <a:ln/>
        </p:spPr>
        <p:txBody>
          <a:bodyPr wrap="square" lIns="0" tIns="0" rIns="0" bIns="0" rtlCol="0" anchor="t"/>
          <a:lstStyle/>
          <a:p>
            <a:pPr indent="0" marL="0">
              <a:buNone/>
            </a:pPr>
            <a:r>
              <a:rPr lang="en-US" sz="1800" dirty="0">
                <a:solidFill>
                  <a:schemeClr val="accent1"/>
                </a:solidFill>
              </a:rPr>
              <a:t>One command to start a project, one runner to keep it going, one board to watch</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 day with work-packet</a:t>
            </a:r>
            <a:endParaRPr lang="en-US" sz="3400" dirty="0"/>
          </a:p>
        </p:txBody>
      </p:sp>
      <p:sp>
        <p:nvSpPr>
          <p:cNvPr id="3" name="ic170"/>
          <p:cNvSpPr/>
          <p:nvPr/>
        </p:nvSpPr>
        <p:spPr>
          <a:xfrm>
            <a:off x="1182319" y="1371600"/>
            <a:ext cx="768096" cy="768096"/>
          </a:xfrm>
          <a:prstGeom prst="ellipse">
            <a:avLst/>
          </a:prstGeom>
          <a:solidFill>
            <a:schemeClr val="accent2"/>
          </a:solidFill>
          <a:ln w="12700">
            <a:solidFill>
              <a:schemeClr val="accent2"/>
            </a:solidFill>
            <a:prstDash val="solid"/>
          </a:ln>
        </p:spPr>
      </p:sp>
      <p:pic>
        <p:nvPicPr>
          <p:cNvPr id="4" name="icimg171" descr="preencoded.png">    </p:cNvPr>
          <p:cNvPicPr>
            <a:picLocks noChangeAspect="1"/>
          </p:cNvPicPr>
          <p:nvPr/>
        </p:nvPicPr>
        <p:blipFill>
          <a:blip r:embed="rId1"/>
          <a:stretch>
            <a:fillRect/>
          </a:stretch>
        </p:blipFill>
        <p:spPr>
          <a:xfrm>
            <a:off x="1374343" y="1563624"/>
            <a:ext cx="384048" cy="384048"/>
          </a:xfrm>
          <a:prstGeom prst="rect">
            <a:avLst/>
          </a:prstGeom>
        </p:spPr>
      </p:pic>
      <p:sp>
        <p:nvSpPr>
          <p:cNvPr id="5" name="jarr0"/>
          <p:cNvSpPr/>
          <p:nvPr/>
        </p:nvSpPr>
        <p:spPr>
          <a:xfrm>
            <a:off x="2611526" y="1645920"/>
            <a:ext cx="173736" cy="237744"/>
          </a:xfrm>
          <a:prstGeom prst="chevron">
            <a:avLst/>
          </a:prstGeom>
          <a:solidFill>
            <a:schemeClr val="accent3"/>
          </a:solidFill>
          <a:ln w="12700">
            <a:solidFill>
              <a:schemeClr val="accent3"/>
            </a:solidFill>
            <a:prstDash val="solid"/>
          </a:ln>
        </p:spPr>
      </p:sp>
      <p:sp>
        <p:nvSpPr>
          <p:cNvPr id="6" name="t172"/>
          <p:cNvSpPr txBox="1"/>
          <p:nvPr/>
        </p:nvSpPr>
        <p:spPr>
          <a:xfrm>
            <a:off x="548640" y="2331720"/>
            <a:ext cx="2035454" cy="365760"/>
          </a:xfrm>
          <a:prstGeom prst="rect">
            <a:avLst/>
          </a:prstGeom>
          <a:noFill/>
          <a:ln/>
        </p:spPr>
        <p:txBody>
          <a:bodyPr wrap="square" lIns="0" tIns="0" rIns="0" bIns="0" rtlCol="0" anchor="t"/>
          <a:lstStyle/>
          <a:p>
            <a:pPr algn="ctr" indent="0" marL="0">
              <a:buNone/>
            </a:pPr>
            <a:r>
              <a:rPr lang="en-US" sz="1600" b="1" dirty="0">
                <a:solidFill>
                  <a:schemeClr val="tx1"/>
                </a:solidFill>
              </a:rPr>
              <a:t>1. Start a project</a:t>
            </a:r>
            <a:endParaRPr lang="en-US" sz="1600" dirty="0"/>
          </a:p>
        </p:txBody>
      </p:sp>
      <p:sp>
        <p:nvSpPr>
          <p:cNvPr id="7" name="t173"/>
          <p:cNvSpPr txBox="1"/>
          <p:nvPr/>
        </p:nvSpPr>
        <p:spPr>
          <a:xfrm>
            <a:off x="548640" y="2743200"/>
            <a:ext cx="2035454" cy="1143000"/>
          </a:xfrm>
          <a:prstGeom prst="rect">
            <a:avLst/>
          </a:prstGeom>
          <a:noFill/>
          <a:ln/>
        </p:spPr>
        <p:txBody>
          <a:bodyPr wrap="square" lIns="0" tIns="0" rIns="0" bIns="0" rtlCol="0" anchor="t"/>
          <a:lstStyle/>
          <a:p>
            <a:pPr algn="ctr" indent="0" marL="0">
              <a:buNone/>
            </a:pPr>
            <a:r>
              <a:rPr lang="en-US" sz="1300" dirty="0">
                <a:solidFill>
                  <a:schemeClr val="tx2"/>
                </a:solidFill>
              </a:rPr>
              <a:t>One command creates the root packet from a prompt or template and registers it.</a:t>
            </a:r>
            <a:endParaRPr lang="en-US" sz="1300" dirty="0"/>
          </a:p>
        </p:txBody>
      </p:sp>
      <p:sp>
        <p:nvSpPr>
          <p:cNvPr id="8" name="jcmd0"/>
          <p:cNvSpPr/>
          <p:nvPr/>
        </p:nvSpPr>
        <p:spPr>
          <a:xfrm>
            <a:off x="548640" y="3749040"/>
            <a:ext cx="2035454" cy="1188720"/>
          </a:xfrm>
          <a:prstGeom prst="roundRect">
            <a:avLst>
              <a:gd name="adj" fmla="val 6154"/>
            </a:avLst>
          </a:prstGeom>
          <a:solidFill>
            <a:schemeClr val="tx1"/>
          </a:solidFill>
          <a:ln w="12700">
            <a:solidFill>
              <a:schemeClr val="tx1"/>
            </a:solidFill>
            <a:prstDash val="solid"/>
          </a:ln>
        </p:spPr>
      </p:sp>
      <p:sp>
        <p:nvSpPr>
          <p:cNvPr id="9" name="t174"/>
          <p:cNvSpPr txBox="1"/>
          <p:nvPr/>
        </p:nvSpPr>
        <p:spPr>
          <a:xfrm>
            <a:off x="685800" y="3840480"/>
            <a:ext cx="1761134" cy="1005840"/>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wpk new triage</a:t>
            </a:r>
            <a:endParaRPr lang="en-US" sz="1050" dirty="0"/>
          </a:p>
          <a:p>
            <a:pPr indent="0" marL="0">
              <a:buNone/>
            </a:pPr>
            <a:r>
              <a:rPr lang="en-US" sz="1050" dirty="0">
                <a:solidFill>
                  <a:schemeClr val="accent1"/>
                </a:solidFill>
                <a:latin typeface="Courier New" pitchFamily="34" charset="0"/>
                <a:ea typeface="Courier New" pitchFamily="34" charset="-122"/>
                <a:cs typeface="Courier New" pitchFamily="34" charset="-120"/>
              </a:rPr>
              <a:t>  -t nightly-triage</a:t>
            </a:r>
            <a:endParaRPr lang="en-US" sz="1050" dirty="0"/>
          </a:p>
          <a:p>
            <a:pPr indent="0" marL="0">
              <a:buNone/>
            </a:pPr>
            <a:r>
              <a:rPr lang="en-US" sz="1050" dirty="0">
                <a:solidFill>
                  <a:schemeClr val="accent1"/>
                </a:solidFill>
                <a:latin typeface="Courier New" pitchFamily="34" charset="0"/>
                <a:ea typeface="Courier New" pitchFamily="34" charset="-122"/>
                <a:cs typeface="Courier New" pitchFamily="34" charset="-120"/>
              </a:rPr>
              <a:t>  --every daily</a:t>
            </a:r>
            <a:endParaRPr lang="en-US" sz="1050" dirty="0"/>
          </a:p>
        </p:txBody>
      </p:sp>
      <p:sp>
        <p:nvSpPr>
          <p:cNvPr id="10" name="ic175"/>
          <p:cNvSpPr/>
          <p:nvPr/>
        </p:nvSpPr>
        <p:spPr>
          <a:xfrm>
            <a:off x="3446374" y="1371600"/>
            <a:ext cx="768096" cy="768096"/>
          </a:xfrm>
          <a:prstGeom prst="ellipse">
            <a:avLst/>
          </a:prstGeom>
          <a:solidFill>
            <a:schemeClr val="accent2"/>
          </a:solidFill>
          <a:ln w="12700">
            <a:solidFill>
              <a:schemeClr val="accent2"/>
            </a:solidFill>
            <a:prstDash val="solid"/>
          </a:ln>
        </p:spPr>
      </p:sp>
      <p:pic>
        <p:nvPicPr>
          <p:cNvPr id="11" name="icimg176" descr="preencoded.png">    </p:cNvPr>
          <p:cNvPicPr>
            <a:picLocks noChangeAspect="1"/>
          </p:cNvPicPr>
          <p:nvPr/>
        </p:nvPicPr>
        <p:blipFill>
          <a:blip r:embed="rId2"/>
          <a:stretch>
            <a:fillRect/>
          </a:stretch>
        </p:blipFill>
        <p:spPr>
          <a:xfrm>
            <a:off x="3638398" y="1563624"/>
            <a:ext cx="384048" cy="384048"/>
          </a:xfrm>
          <a:prstGeom prst="rect">
            <a:avLst/>
          </a:prstGeom>
        </p:spPr>
      </p:pic>
      <p:sp>
        <p:nvSpPr>
          <p:cNvPr id="12" name="jarr1"/>
          <p:cNvSpPr/>
          <p:nvPr/>
        </p:nvSpPr>
        <p:spPr>
          <a:xfrm>
            <a:off x="4875581" y="1645920"/>
            <a:ext cx="173736" cy="237744"/>
          </a:xfrm>
          <a:prstGeom prst="chevron">
            <a:avLst/>
          </a:prstGeom>
          <a:solidFill>
            <a:schemeClr val="accent3"/>
          </a:solidFill>
          <a:ln w="12700">
            <a:solidFill>
              <a:schemeClr val="accent3"/>
            </a:solidFill>
            <a:prstDash val="solid"/>
          </a:ln>
        </p:spPr>
      </p:sp>
      <p:sp>
        <p:nvSpPr>
          <p:cNvPr id="13" name="t177"/>
          <p:cNvSpPr txBox="1"/>
          <p:nvPr/>
        </p:nvSpPr>
        <p:spPr>
          <a:xfrm>
            <a:off x="2812694" y="2331720"/>
            <a:ext cx="2035454" cy="365760"/>
          </a:xfrm>
          <a:prstGeom prst="rect">
            <a:avLst/>
          </a:prstGeom>
          <a:noFill/>
          <a:ln/>
        </p:spPr>
        <p:txBody>
          <a:bodyPr wrap="square" lIns="0" tIns="0" rIns="0" bIns="0" rtlCol="0" anchor="t"/>
          <a:lstStyle/>
          <a:p>
            <a:pPr algn="ctr" indent="0" marL="0">
              <a:buNone/>
            </a:pPr>
            <a:r>
              <a:rPr lang="en-US" sz="1600" b="1" dirty="0">
                <a:solidFill>
                  <a:schemeClr val="tx1"/>
                </a:solidFill>
              </a:rPr>
              <a:t>2. Runner takes over</a:t>
            </a:r>
            <a:endParaRPr lang="en-US" sz="1600" dirty="0"/>
          </a:p>
        </p:txBody>
      </p:sp>
      <p:sp>
        <p:nvSpPr>
          <p:cNvPr id="14" name="t178"/>
          <p:cNvSpPr txBox="1"/>
          <p:nvPr/>
        </p:nvSpPr>
        <p:spPr>
          <a:xfrm>
            <a:off x="2812694" y="2743200"/>
            <a:ext cx="2035454" cy="1143000"/>
          </a:xfrm>
          <a:prstGeom prst="rect">
            <a:avLst/>
          </a:prstGeom>
          <a:noFill/>
          <a:ln/>
        </p:spPr>
        <p:txBody>
          <a:bodyPr wrap="square" lIns="0" tIns="0" rIns="0" bIns="0" rtlCol="0" anchor="t"/>
          <a:lstStyle/>
          <a:p>
            <a:pPr algn="ctr" indent="0" marL="0">
              <a:buNone/>
            </a:pPr>
            <a:r>
              <a:rPr lang="en-US" sz="1300" dirty="0">
                <a:solidFill>
                  <a:schemeClr val="tx2"/>
                </a:solidFill>
              </a:rPr>
              <a:t>One runner per user wakes every project on time, within limits and budget.</a:t>
            </a:r>
            <a:endParaRPr lang="en-US" sz="1300" dirty="0"/>
          </a:p>
        </p:txBody>
      </p:sp>
      <p:sp>
        <p:nvSpPr>
          <p:cNvPr id="15" name="jcmd1"/>
          <p:cNvSpPr/>
          <p:nvPr/>
        </p:nvSpPr>
        <p:spPr>
          <a:xfrm>
            <a:off x="2812694" y="3749040"/>
            <a:ext cx="2035454" cy="1188720"/>
          </a:xfrm>
          <a:prstGeom prst="roundRect">
            <a:avLst>
              <a:gd name="adj" fmla="val 6154"/>
            </a:avLst>
          </a:prstGeom>
          <a:solidFill>
            <a:schemeClr val="tx1"/>
          </a:solidFill>
          <a:ln w="12700">
            <a:solidFill>
              <a:schemeClr val="tx1"/>
            </a:solidFill>
            <a:prstDash val="solid"/>
          </a:ln>
        </p:spPr>
      </p:sp>
      <p:sp>
        <p:nvSpPr>
          <p:cNvPr id="16" name="t179"/>
          <p:cNvSpPr txBox="1"/>
          <p:nvPr/>
        </p:nvSpPr>
        <p:spPr>
          <a:xfrm>
            <a:off x="2949854" y="3840480"/>
            <a:ext cx="1761134" cy="1005840"/>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systemctl --user \</a:t>
            </a:r>
            <a:endParaRPr lang="en-US" sz="1050" dirty="0"/>
          </a:p>
          <a:p>
            <a:pPr indent="0" marL="0">
              <a:buNone/>
            </a:pPr>
            <a:r>
              <a:rPr lang="en-US" sz="1050" dirty="0">
                <a:solidFill>
                  <a:schemeClr val="accent1"/>
                </a:solidFill>
                <a:latin typeface="Courier New" pitchFamily="34" charset="0"/>
                <a:ea typeface="Courier New" pitchFamily="34" charset="-122"/>
                <a:cs typeface="Courier New" pitchFamily="34" charset="-120"/>
              </a:rPr>
              <a:t>  enable --now \</a:t>
            </a:r>
            <a:endParaRPr lang="en-US" sz="1050" dirty="0"/>
          </a:p>
          <a:p>
            <a:pPr indent="0" marL="0">
              <a:buNone/>
            </a:pPr>
            <a:r>
              <a:rPr lang="en-US" sz="1050" dirty="0">
                <a:solidFill>
                  <a:schemeClr val="accent1"/>
                </a:solidFill>
                <a:latin typeface="Courier New" pitchFamily="34" charset="0"/>
                <a:ea typeface="Courier New" pitchFamily="34" charset="-122"/>
                <a:cs typeface="Courier New" pitchFamily="34" charset="-120"/>
              </a:rPr>
              <a:t>  wpkd</a:t>
            </a:r>
            <a:endParaRPr lang="en-US" sz="1050" dirty="0"/>
          </a:p>
        </p:txBody>
      </p:sp>
      <p:sp>
        <p:nvSpPr>
          <p:cNvPr id="17" name="ic180"/>
          <p:cNvSpPr/>
          <p:nvPr/>
        </p:nvSpPr>
        <p:spPr>
          <a:xfrm>
            <a:off x="5710428" y="1371600"/>
            <a:ext cx="768096" cy="768096"/>
          </a:xfrm>
          <a:prstGeom prst="ellipse">
            <a:avLst/>
          </a:prstGeom>
          <a:solidFill>
            <a:schemeClr val="accent2"/>
          </a:solidFill>
          <a:ln w="12700">
            <a:solidFill>
              <a:schemeClr val="accent2"/>
            </a:solidFill>
            <a:prstDash val="solid"/>
          </a:ln>
        </p:spPr>
      </p:sp>
      <p:pic>
        <p:nvPicPr>
          <p:cNvPr id="18" name="icimg181" descr="preencoded.png">    </p:cNvPr>
          <p:cNvPicPr>
            <a:picLocks noChangeAspect="1"/>
          </p:cNvPicPr>
          <p:nvPr/>
        </p:nvPicPr>
        <p:blipFill>
          <a:blip r:embed="rId3"/>
          <a:stretch>
            <a:fillRect/>
          </a:stretch>
        </p:blipFill>
        <p:spPr>
          <a:xfrm>
            <a:off x="5902452" y="1563624"/>
            <a:ext cx="384048" cy="384048"/>
          </a:xfrm>
          <a:prstGeom prst="rect">
            <a:avLst/>
          </a:prstGeom>
        </p:spPr>
      </p:pic>
      <p:sp>
        <p:nvSpPr>
          <p:cNvPr id="19" name="jarr2"/>
          <p:cNvSpPr/>
          <p:nvPr/>
        </p:nvSpPr>
        <p:spPr>
          <a:xfrm>
            <a:off x="7139635" y="1645920"/>
            <a:ext cx="173736" cy="237744"/>
          </a:xfrm>
          <a:prstGeom prst="chevron">
            <a:avLst/>
          </a:prstGeom>
          <a:solidFill>
            <a:schemeClr val="accent3"/>
          </a:solidFill>
          <a:ln w="12700">
            <a:solidFill>
              <a:schemeClr val="accent3"/>
            </a:solidFill>
            <a:prstDash val="solid"/>
          </a:ln>
        </p:spPr>
      </p:sp>
      <p:sp>
        <p:nvSpPr>
          <p:cNvPr id="20" name="t182"/>
          <p:cNvSpPr txBox="1"/>
          <p:nvPr/>
        </p:nvSpPr>
        <p:spPr>
          <a:xfrm>
            <a:off x="5076749" y="2331720"/>
            <a:ext cx="2035454" cy="365760"/>
          </a:xfrm>
          <a:prstGeom prst="rect">
            <a:avLst/>
          </a:prstGeom>
          <a:noFill/>
          <a:ln/>
        </p:spPr>
        <p:txBody>
          <a:bodyPr wrap="square" lIns="0" tIns="0" rIns="0" bIns="0" rtlCol="0" anchor="t"/>
          <a:lstStyle/>
          <a:p>
            <a:pPr algn="ctr" indent="0" marL="0">
              <a:buNone/>
            </a:pPr>
            <a:r>
              <a:rPr lang="en-US" sz="1600" b="1" dirty="0">
                <a:solidFill>
                  <a:schemeClr val="tx1"/>
                </a:solidFill>
              </a:rPr>
              <a:t>3. Watch the board</a:t>
            </a:r>
            <a:endParaRPr lang="en-US" sz="1600" dirty="0"/>
          </a:p>
        </p:txBody>
      </p:sp>
      <p:sp>
        <p:nvSpPr>
          <p:cNvPr id="21" name="t183"/>
          <p:cNvSpPr txBox="1"/>
          <p:nvPr/>
        </p:nvSpPr>
        <p:spPr>
          <a:xfrm>
            <a:off x="5076749" y="2743200"/>
            <a:ext cx="2035454" cy="1143000"/>
          </a:xfrm>
          <a:prstGeom prst="rect">
            <a:avLst/>
          </a:prstGeom>
          <a:noFill/>
          <a:ln/>
        </p:spPr>
        <p:txBody>
          <a:bodyPr wrap="square" lIns="0" tIns="0" rIns="0" bIns="0" rtlCol="0" anchor="t"/>
          <a:lstStyle/>
          <a:p>
            <a:pPr algn="ctr" indent="0" marL="0">
              <a:buNone/>
            </a:pPr>
            <a:r>
              <a:rPr lang="en-US" sz="1300" dirty="0">
                <a:solidFill>
                  <a:schemeClr val="tx2"/>
                </a:solidFill>
              </a:rPr>
              <a:t>A local web board shows every project. Cards move as states change.</a:t>
            </a:r>
            <a:endParaRPr lang="en-US" sz="1300" dirty="0"/>
          </a:p>
        </p:txBody>
      </p:sp>
      <p:sp>
        <p:nvSpPr>
          <p:cNvPr id="22" name="jcmd2"/>
          <p:cNvSpPr/>
          <p:nvPr/>
        </p:nvSpPr>
        <p:spPr>
          <a:xfrm>
            <a:off x="5076749" y="3749040"/>
            <a:ext cx="2035454" cy="1188720"/>
          </a:xfrm>
          <a:prstGeom prst="roundRect">
            <a:avLst>
              <a:gd name="adj" fmla="val 6154"/>
            </a:avLst>
          </a:prstGeom>
          <a:solidFill>
            <a:schemeClr val="tx1"/>
          </a:solidFill>
          <a:ln w="12700">
            <a:solidFill>
              <a:schemeClr val="tx1"/>
            </a:solidFill>
            <a:prstDash val="solid"/>
          </a:ln>
        </p:spPr>
      </p:sp>
      <p:sp>
        <p:nvSpPr>
          <p:cNvPr id="23" name="t184"/>
          <p:cNvSpPr txBox="1"/>
          <p:nvPr/>
        </p:nvSpPr>
        <p:spPr>
          <a:xfrm>
            <a:off x="5213909" y="3840480"/>
            <a:ext cx="1761134" cy="1005840"/>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wpk dash</a:t>
            </a:r>
            <a:endParaRPr lang="en-US" sz="1050" dirty="0"/>
          </a:p>
          <a:p>
            <a:pPr indent="0" marL="0">
              <a:buNone/>
            </a:pPr>
            <a:r>
              <a:rPr lang="en-US" sz="1050" dirty="0">
                <a:solidFill>
                  <a:schemeClr val="accent1"/>
                </a:solidFill>
                <a:latin typeface="Courier New" pitchFamily="34" charset="0"/>
                <a:ea typeface="Courier New" pitchFamily="34" charset="-122"/>
                <a:cs typeface="Courier New" pitchFamily="34" charset="-120"/>
              </a:rPr>
              <a:t>→ 127.0.0.1:7878</a:t>
            </a:r>
            <a:endParaRPr lang="en-US" sz="1050" dirty="0"/>
          </a:p>
        </p:txBody>
      </p:sp>
      <p:sp>
        <p:nvSpPr>
          <p:cNvPr id="24" name="ic185"/>
          <p:cNvSpPr/>
          <p:nvPr/>
        </p:nvSpPr>
        <p:spPr>
          <a:xfrm>
            <a:off x="7974482" y="1371600"/>
            <a:ext cx="768096" cy="768096"/>
          </a:xfrm>
          <a:prstGeom prst="ellipse">
            <a:avLst/>
          </a:prstGeom>
          <a:solidFill>
            <a:schemeClr val="accent1"/>
          </a:solidFill>
          <a:ln w="12700">
            <a:solidFill>
              <a:schemeClr val="accent1"/>
            </a:solidFill>
            <a:prstDash val="solid"/>
          </a:ln>
        </p:spPr>
      </p:sp>
      <p:pic>
        <p:nvPicPr>
          <p:cNvPr id="25" name="icimg186" descr="preencoded.png">    </p:cNvPr>
          <p:cNvPicPr>
            <a:picLocks noChangeAspect="1"/>
          </p:cNvPicPr>
          <p:nvPr/>
        </p:nvPicPr>
        <p:blipFill>
          <a:blip r:embed="rId4"/>
          <a:stretch>
            <a:fillRect/>
          </a:stretch>
        </p:blipFill>
        <p:spPr>
          <a:xfrm>
            <a:off x="8166506" y="1563624"/>
            <a:ext cx="384048" cy="384048"/>
          </a:xfrm>
          <a:prstGeom prst="rect">
            <a:avLst/>
          </a:prstGeom>
        </p:spPr>
      </p:pic>
      <p:sp>
        <p:nvSpPr>
          <p:cNvPr id="26" name="jarr3"/>
          <p:cNvSpPr/>
          <p:nvPr/>
        </p:nvSpPr>
        <p:spPr>
          <a:xfrm>
            <a:off x="9403690" y="1645920"/>
            <a:ext cx="173736" cy="237744"/>
          </a:xfrm>
          <a:prstGeom prst="chevron">
            <a:avLst/>
          </a:prstGeom>
          <a:solidFill>
            <a:schemeClr val="accent3"/>
          </a:solidFill>
          <a:ln w="12700">
            <a:solidFill>
              <a:schemeClr val="accent3"/>
            </a:solidFill>
            <a:prstDash val="solid"/>
          </a:ln>
        </p:spPr>
      </p:sp>
      <p:sp>
        <p:nvSpPr>
          <p:cNvPr id="27" name="t187"/>
          <p:cNvSpPr txBox="1"/>
          <p:nvPr/>
        </p:nvSpPr>
        <p:spPr>
          <a:xfrm>
            <a:off x="7340803" y="2331720"/>
            <a:ext cx="2035454" cy="365760"/>
          </a:xfrm>
          <a:prstGeom prst="rect">
            <a:avLst/>
          </a:prstGeom>
          <a:noFill/>
          <a:ln/>
        </p:spPr>
        <p:txBody>
          <a:bodyPr wrap="square" lIns="0" tIns="0" rIns="0" bIns="0" rtlCol="0" anchor="t"/>
          <a:lstStyle/>
          <a:p>
            <a:pPr algn="ctr" indent="0" marL="0">
              <a:buNone/>
            </a:pPr>
            <a:r>
              <a:rPr lang="en-US" sz="1600" b="1" dirty="0">
                <a:solidFill>
                  <a:schemeClr val="tx1"/>
                </a:solidFill>
              </a:rPr>
              <a:t>4. Answer when asked</a:t>
            </a:r>
            <a:endParaRPr lang="en-US" sz="1600" dirty="0"/>
          </a:p>
        </p:txBody>
      </p:sp>
      <p:sp>
        <p:nvSpPr>
          <p:cNvPr id="28" name="t188"/>
          <p:cNvSpPr txBox="1"/>
          <p:nvPr/>
        </p:nvSpPr>
        <p:spPr>
          <a:xfrm>
            <a:off x="7340803" y="2743200"/>
            <a:ext cx="2035454" cy="1143000"/>
          </a:xfrm>
          <a:prstGeom prst="rect">
            <a:avLst/>
          </a:prstGeom>
          <a:noFill/>
          <a:ln/>
        </p:spPr>
        <p:txBody>
          <a:bodyPr wrap="square" lIns="0" tIns="0" rIns="0" bIns="0" rtlCol="0" anchor="t"/>
          <a:lstStyle/>
          <a:p>
            <a:pPr algn="ctr" indent="0" marL="0">
              <a:buNone/>
            </a:pPr>
            <a:r>
              <a:rPr lang="en-US" sz="1300" dirty="0">
                <a:solidFill>
                  <a:schemeClr val="tx2"/>
                </a:solidFill>
              </a:rPr>
              <a:t>A packet that needs a decision notifies you. Your reply wakes it.</a:t>
            </a:r>
            <a:endParaRPr lang="en-US" sz="1300" dirty="0"/>
          </a:p>
        </p:txBody>
      </p:sp>
      <p:sp>
        <p:nvSpPr>
          <p:cNvPr id="29" name="jcmd3"/>
          <p:cNvSpPr/>
          <p:nvPr/>
        </p:nvSpPr>
        <p:spPr>
          <a:xfrm>
            <a:off x="7340803" y="3749040"/>
            <a:ext cx="2035454" cy="1188720"/>
          </a:xfrm>
          <a:prstGeom prst="roundRect">
            <a:avLst>
              <a:gd name="adj" fmla="val 6154"/>
            </a:avLst>
          </a:prstGeom>
          <a:solidFill>
            <a:schemeClr val="tx1"/>
          </a:solidFill>
          <a:ln w="12700">
            <a:solidFill>
              <a:schemeClr val="tx1"/>
            </a:solidFill>
            <a:prstDash val="solid"/>
          </a:ln>
        </p:spPr>
      </p:sp>
      <p:sp>
        <p:nvSpPr>
          <p:cNvPr id="30" name="t189"/>
          <p:cNvSpPr txBox="1"/>
          <p:nvPr/>
        </p:nvSpPr>
        <p:spPr>
          <a:xfrm>
            <a:off x="7477963" y="3840480"/>
            <a:ext cx="1761134" cy="1005840"/>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wpk send triage</a:t>
            </a:r>
            <a:endParaRPr lang="en-US" sz="1050" dirty="0"/>
          </a:p>
          <a:p>
            <a:pPr indent="0" marL="0">
              <a:buNone/>
            </a:pPr>
            <a:r>
              <a:rPr lang="en-US" sz="1050" dirty="0">
                <a:solidFill>
                  <a:schemeClr val="accent1"/>
                </a:solidFill>
                <a:latin typeface="Courier New" pitchFamily="34" charset="0"/>
                <a:ea typeface="Courier New" pitchFamily="34" charset="-122"/>
                <a:cs typeface="Courier New" pitchFamily="34" charset="-120"/>
              </a:rPr>
              <a:t>  'one bug'</a:t>
            </a:r>
            <a:endParaRPr lang="en-US" sz="1050" dirty="0"/>
          </a:p>
        </p:txBody>
      </p:sp>
      <p:sp>
        <p:nvSpPr>
          <p:cNvPr id="31" name="ic190"/>
          <p:cNvSpPr/>
          <p:nvPr/>
        </p:nvSpPr>
        <p:spPr>
          <a:xfrm>
            <a:off x="10238537" y="1371600"/>
            <a:ext cx="768096" cy="768096"/>
          </a:xfrm>
          <a:prstGeom prst="ellipse">
            <a:avLst/>
          </a:prstGeom>
          <a:solidFill>
            <a:schemeClr val="accent2"/>
          </a:solidFill>
          <a:ln w="12700">
            <a:solidFill>
              <a:schemeClr val="accent2"/>
            </a:solidFill>
            <a:prstDash val="solid"/>
          </a:ln>
        </p:spPr>
      </p:sp>
      <p:pic>
        <p:nvPicPr>
          <p:cNvPr id="32" name="icimg191" descr="preencoded.png">    </p:cNvPr>
          <p:cNvPicPr>
            <a:picLocks noChangeAspect="1"/>
          </p:cNvPicPr>
          <p:nvPr/>
        </p:nvPicPr>
        <p:blipFill>
          <a:blip r:embed="rId5"/>
          <a:stretch>
            <a:fillRect/>
          </a:stretch>
        </p:blipFill>
        <p:spPr>
          <a:xfrm>
            <a:off x="10430561" y="1563624"/>
            <a:ext cx="384048" cy="384048"/>
          </a:xfrm>
          <a:prstGeom prst="rect">
            <a:avLst/>
          </a:prstGeom>
        </p:spPr>
      </p:pic>
      <p:sp>
        <p:nvSpPr>
          <p:cNvPr id="33" name="t192"/>
          <p:cNvSpPr txBox="1"/>
          <p:nvPr/>
        </p:nvSpPr>
        <p:spPr>
          <a:xfrm>
            <a:off x="9604858" y="2331720"/>
            <a:ext cx="2035454" cy="365760"/>
          </a:xfrm>
          <a:prstGeom prst="rect">
            <a:avLst/>
          </a:prstGeom>
          <a:noFill/>
          <a:ln/>
        </p:spPr>
        <p:txBody>
          <a:bodyPr wrap="square" lIns="0" tIns="0" rIns="0" bIns="0" rtlCol="0" anchor="t"/>
          <a:lstStyle/>
          <a:p>
            <a:pPr algn="ctr" indent="0" marL="0">
              <a:buNone/>
            </a:pPr>
            <a:r>
              <a:rPr lang="en-US" sz="1600" b="1" dirty="0">
                <a:solidFill>
                  <a:schemeClr val="tx1"/>
                </a:solidFill>
              </a:rPr>
              <a:t>5. Dig into any step</a:t>
            </a:r>
            <a:endParaRPr lang="en-US" sz="1600" dirty="0"/>
          </a:p>
        </p:txBody>
      </p:sp>
      <p:sp>
        <p:nvSpPr>
          <p:cNvPr id="34" name="t193"/>
          <p:cNvSpPr txBox="1"/>
          <p:nvPr/>
        </p:nvSpPr>
        <p:spPr>
          <a:xfrm>
            <a:off x="9604858" y="2743200"/>
            <a:ext cx="2035454" cy="1143000"/>
          </a:xfrm>
          <a:prstGeom prst="rect">
            <a:avLst/>
          </a:prstGeom>
          <a:noFill/>
          <a:ln/>
        </p:spPr>
        <p:txBody>
          <a:bodyPr wrap="square" lIns="0" tIns="0" rIns="0" bIns="0" rtlCol="0" anchor="t"/>
          <a:lstStyle/>
          <a:p>
            <a:pPr algn="ctr" indent="0" marL="0">
              <a:buNone/>
            </a:pPr>
            <a:r>
              <a:rPr lang="en-US" sz="1300" dirty="0">
                <a:solidFill>
                  <a:schemeClr val="tx2"/>
                </a:solidFill>
              </a:rPr>
              <a:t>Every step keeps its prompt, transcript, change and cost on disk.</a:t>
            </a:r>
            <a:endParaRPr lang="en-US" sz="1300" dirty="0"/>
          </a:p>
        </p:txBody>
      </p:sp>
      <p:sp>
        <p:nvSpPr>
          <p:cNvPr id="35" name="jcmd4"/>
          <p:cNvSpPr/>
          <p:nvPr/>
        </p:nvSpPr>
        <p:spPr>
          <a:xfrm>
            <a:off x="9604858" y="3749040"/>
            <a:ext cx="2035454" cy="1188720"/>
          </a:xfrm>
          <a:prstGeom prst="roundRect">
            <a:avLst>
              <a:gd name="adj" fmla="val 6154"/>
            </a:avLst>
          </a:prstGeom>
          <a:solidFill>
            <a:schemeClr val="tx1"/>
          </a:solidFill>
          <a:ln w="12700">
            <a:solidFill>
              <a:schemeClr val="tx1"/>
            </a:solidFill>
            <a:prstDash val="solid"/>
          </a:ln>
        </p:spPr>
      </p:sp>
      <p:sp>
        <p:nvSpPr>
          <p:cNvPr id="36" name="t194"/>
          <p:cNvSpPr txBox="1"/>
          <p:nvPr/>
        </p:nvSpPr>
        <p:spPr>
          <a:xfrm>
            <a:off x="9742018" y="3840480"/>
            <a:ext cx="1761134" cy="1005840"/>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wpk show triage</a:t>
            </a:r>
            <a:endParaRPr lang="en-US" sz="1050" dirty="0"/>
          </a:p>
          <a:p>
            <a:pPr indent="0" marL="0">
              <a:buNone/>
            </a:pPr>
            <a:r>
              <a:rPr lang="en-US" sz="1050" dirty="0">
                <a:solidFill>
                  <a:schemeClr val="accent1"/>
                </a:solidFill>
                <a:latin typeface="Courier New" pitchFamily="34" charset="0"/>
                <a:ea typeface="Courier New" pitchFamily="34" charset="-122"/>
                <a:cs typeface="Courier New" pitchFamily="34" charset="-120"/>
              </a:rPr>
              <a:t>  --step 7</a:t>
            </a:r>
            <a:endParaRPr lang="en-US" sz="1050" dirty="0"/>
          </a:p>
        </p:txBody>
      </p:sp>
      <p:sp>
        <p:nvSpPr>
          <p:cNvPr id="37" name="t195"/>
          <p:cNvSpPr txBox="1"/>
          <p:nvPr/>
        </p:nvSpPr>
        <p:spPr>
          <a:xfrm>
            <a:off x="548640" y="5303520"/>
            <a:ext cx="11064240" cy="411480"/>
          </a:xfrm>
          <a:prstGeom prst="rect">
            <a:avLst/>
          </a:prstGeom>
          <a:noFill/>
          <a:ln/>
        </p:spPr>
        <p:txBody>
          <a:bodyPr wrap="square" lIns="0" tIns="0" rIns="0" bIns="0" rtlCol="0" anchor="t"/>
          <a:lstStyle/>
          <a:p>
            <a:pPr indent="0" marL="0">
              <a:buNone/>
            </a:pPr>
            <a:r>
              <a:rPr lang="en-US" sz="1500" i="1" dirty="0">
                <a:solidFill>
                  <a:schemeClr val="accent2"/>
                </a:solidFill>
              </a:rPr>
              <a:t>You start a project with one command, then mostly watch. It comes to you when it needs a decision.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board: every project at a glance</a:t>
            </a:r>
            <a:endParaRPr lang="en-US" sz="3400" dirty="0"/>
          </a:p>
        </p:txBody>
      </p:sp>
      <p:sp>
        <p:nvSpPr>
          <p:cNvPr id="3" name="win196"/>
          <p:cNvSpPr/>
          <p:nvPr/>
        </p:nvSpPr>
        <p:spPr>
          <a:xfrm>
            <a:off x="548640" y="1188720"/>
            <a:ext cx="11091672" cy="4617720"/>
          </a:xfrm>
          <a:prstGeom prst="roundRect">
            <a:avLst>
              <a:gd name="adj" fmla="val 1584"/>
            </a:avLst>
          </a:prstGeom>
          <a:solidFill>
            <a:schemeClr val="bg2"/>
          </a:solidFill>
          <a:ln w="9525">
            <a:solidFill>
              <a:srgbClr val="C9D1D9"/>
            </a:solidFill>
            <a:prstDash val="solid"/>
          </a:ln>
        </p:spPr>
      </p:sp>
      <p:sp>
        <p:nvSpPr>
          <p:cNvPr id="4" name="winbar197"/>
          <p:cNvSpPr/>
          <p:nvPr/>
        </p:nvSpPr>
        <p:spPr>
          <a:xfrm>
            <a:off x="548640" y="1188720"/>
            <a:ext cx="11091672" cy="384048"/>
          </a:xfrm>
          <a:prstGeom prst="roundRect">
            <a:avLst>
              <a:gd name="adj" fmla="val 19048"/>
            </a:avLst>
          </a:prstGeom>
          <a:solidFill>
            <a:schemeClr val="tx2"/>
          </a:solidFill>
          <a:ln w="12700">
            <a:solidFill>
              <a:schemeClr val="tx2"/>
            </a:solidFill>
            <a:prstDash val="solid"/>
          </a:ln>
        </p:spPr>
      </p:sp>
      <p:sp>
        <p:nvSpPr>
          <p:cNvPr id="5" name="winbar198"/>
          <p:cNvSpPr/>
          <p:nvPr/>
        </p:nvSpPr>
        <p:spPr>
          <a:xfrm>
            <a:off x="548640" y="1463040"/>
            <a:ext cx="11091672" cy="109728"/>
          </a:xfrm>
          <a:prstGeom prst="rect">
            <a:avLst/>
          </a:prstGeom>
          <a:solidFill>
            <a:schemeClr val="tx2"/>
          </a:solidFill>
          <a:ln w="12700">
            <a:solidFill>
              <a:schemeClr val="tx2"/>
            </a:solidFill>
            <a:prstDash val="solid"/>
          </a:ln>
        </p:spPr>
      </p:sp>
      <p:sp>
        <p:nvSpPr>
          <p:cNvPr id="6" name="wdot199"/>
          <p:cNvSpPr/>
          <p:nvPr/>
        </p:nvSpPr>
        <p:spPr>
          <a:xfrm>
            <a:off x="713232" y="1316736"/>
            <a:ext cx="118872" cy="118872"/>
          </a:xfrm>
          <a:prstGeom prst="ellipse">
            <a:avLst/>
          </a:prstGeom>
          <a:solidFill>
            <a:schemeClr val="accent4"/>
          </a:solidFill>
          <a:ln w="12700">
            <a:solidFill>
              <a:schemeClr val="accent4"/>
            </a:solidFill>
            <a:prstDash val="solid"/>
          </a:ln>
        </p:spPr>
      </p:sp>
      <p:sp>
        <p:nvSpPr>
          <p:cNvPr id="7" name="wdot200"/>
          <p:cNvSpPr/>
          <p:nvPr/>
        </p:nvSpPr>
        <p:spPr>
          <a:xfrm>
            <a:off x="896112" y="1316736"/>
            <a:ext cx="118872" cy="118872"/>
          </a:xfrm>
          <a:prstGeom prst="ellipse">
            <a:avLst/>
          </a:prstGeom>
          <a:solidFill>
            <a:schemeClr val="accent1"/>
          </a:solidFill>
          <a:ln w="12700">
            <a:solidFill>
              <a:schemeClr val="accent1"/>
            </a:solidFill>
            <a:prstDash val="solid"/>
          </a:ln>
        </p:spPr>
      </p:sp>
      <p:sp>
        <p:nvSpPr>
          <p:cNvPr id="8" name="wdot201"/>
          <p:cNvSpPr/>
          <p:nvPr/>
        </p:nvSpPr>
        <p:spPr>
          <a:xfrm>
            <a:off x="1078992" y="1316736"/>
            <a:ext cx="118872" cy="118872"/>
          </a:xfrm>
          <a:prstGeom prst="ellipse">
            <a:avLst/>
          </a:prstGeom>
          <a:solidFill>
            <a:schemeClr val="accent2"/>
          </a:solidFill>
          <a:ln w="12700">
            <a:solidFill>
              <a:schemeClr val="accent2"/>
            </a:solidFill>
            <a:prstDash val="solid"/>
          </a:ln>
        </p:spPr>
      </p:sp>
      <p:sp>
        <p:nvSpPr>
          <p:cNvPr id="9" name="url202"/>
          <p:cNvSpPr/>
          <p:nvPr/>
        </p:nvSpPr>
        <p:spPr>
          <a:xfrm>
            <a:off x="1417320" y="1261872"/>
            <a:ext cx="3840480" cy="237744"/>
          </a:xfrm>
          <a:prstGeom prst="roundRect">
            <a:avLst>
              <a:gd name="adj" fmla="val 50000"/>
            </a:avLst>
          </a:prstGeom>
          <a:solidFill>
            <a:schemeClr val="tx1"/>
          </a:solidFill>
          <a:ln w="12700">
            <a:solidFill>
              <a:schemeClr val="tx1"/>
            </a:solidFill>
            <a:prstDash val="solid"/>
          </a:ln>
        </p:spPr>
      </p:sp>
      <p:sp>
        <p:nvSpPr>
          <p:cNvPr id="10" name="t203"/>
          <p:cNvSpPr txBox="1"/>
          <p:nvPr/>
        </p:nvSpPr>
        <p:spPr>
          <a:xfrm>
            <a:off x="1554480" y="1261872"/>
            <a:ext cx="3657600" cy="237744"/>
          </a:xfrm>
          <a:prstGeom prst="rect">
            <a:avLst/>
          </a:prstGeom>
          <a:noFill/>
          <a:ln/>
        </p:spPr>
        <p:txBody>
          <a:bodyPr wrap="square" lIns="0" tIns="0" rIns="0" bIns="0" rtlCol="0" anchor="ctr"/>
          <a:lstStyle/>
          <a:p>
            <a:pPr indent="0" marL="0">
              <a:buNone/>
            </a:pPr>
            <a:r>
              <a:rPr lang="en-US" sz="1000" dirty="0">
                <a:solidFill>
                  <a:srgbClr val="B8C2CC"/>
                </a:solidFill>
                <a:latin typeface="Courier New" pitchFamily="34" charset="0"/>
                <a:ea typeface="Courier New" pitchFamily="34" charset="-122"/>
                <a:cs typeface="Courier New" pitchFamily="34" charset="-120"/>
              </a:rPr>
              <a:t>127.0.0.1:7878/board</a:t>
            </a:r>
            <a:endParaRPr lang="en-US" sz="1000" dirty="0"/>
          </a:p>
        </p:txBody>
      </p:sp>
      <p:sp>
        <p:nvSpPr>
          <p:cNvPr id="11" name="t204"/>
          <p:cNvSpPr txBox="1"/>
          <p:nvPr/>
        </p:nvSpPr>
        <p:spPr>
          <a:xfrm>
            <a:off x="7799832" y="1261872"/>
            <a:ext cx="3657600" cy="237744"/>
          </a:xfrm>
          <a:prstGeom prst="rect">
            <a:avLst/>
          </a:prstGeom>
          <a:noFill/>
          <a:ln/>
        </p:spPr>
        <p:txBody>
          <a:bodyPr wrap="square" lIns="0" tIns="0" rIns="0" bIns="0" rtlCol="0" anchor="ctr"/>
          <a:lstStyle/>
          <a:p>
            <a:pPr algn="r" indent="0" marL="0">
              <a:buNone/>
            </a:pPr>
            <a:r>
              <a:rPr lang="en-US" sz="1000" dirty="0">
                <a:solidFill>
                  <a:schemeClr val="bg1"/>
                </a:solidFill>
              </a:rPr>
              <a:t>2 running · 1 needs you · $3.10 today</a:t>
            </a:r>
            <a:endParaRPr lang="en-US" sz="1000" dirty="0"/>
          </a:p>
        </p:txBody>
      </p:sp>
      <p:sp>
        <p:nvSpPr>
          <p:cNvPr id="12" name="col0"/>
          <p:cNvSpPr/>
          <p:nvPr/>
        </p:nvSpPr>
        <p:spPr>
          <a:xfrm>
            <a:off x="685800" y="1691640"/>
            <a:ext cx="1711452" cy="3977640"/>
          </a:xfrm>
          <a:prstGeom prst="roundRect">
            <a:avLst>
              <a:gd name="adj" fmla="val 4274"/>
            </a:avLst>
          </a:prstGeom>
          <a:solidFill>
            <a:schemeClr val="bg1"/>
          </a:solidFill>
          <a:ln w="12700">
            <a:solidFill>
              <a:schemeClr val="bg1"/>
            </a:solidFill>
            <a:prstDash val="solid"/>
          </a:ln>
        </p:spPr>
      </p:sp>
      <p:sp>
        <p:nvSpPr>
          <p:cNvPr id="13" name="dot205"/>
          <p:cNvSpPr/>
          <p:nvPr/>
        </p:nvSpPr>
        <p:spPr>
          <a:xfrm>
            <a:off x="822960" y="1828800"/>
            <a:ext cx="128016" cy="128016"/>
          </a:xfrm>
          <a:prstGeom prst="ellipse">
            <a:avLst/>
          </a:prstGeom>
          <a:solidFill>
            <a:schemeClr val="accent2"/>
          </a:solidFill>
          <a:ln w="12700">
            <a:solidFill>
              <a:schemeClr val="accent2"/>
            </a:solidFill>
            <a:prstDash val="solid"/>
          </a:ln>
        </p:spPr>
      </p:sp>
      <p:sp>
        <p:nvSpPr>
          <p:cNvPr id="14" name="t206"/>
          <p:cNvSpPr txBox="1"/>
          <p:nvPr/>
        </p:nvSpPr>
        <p:spPr>
          <a:xfrm>
            <a:off x="1024128" y="1755648"/>
            <a:ext cx="1299972" cy="274320"/>
          </a:xfrm>
          <a:prstGeom prst="rect">
            <a:avLst/>
          </a:prstGeom>
          <a:noFill/>
          <a:ln/>
        </p:spPr>
        <p:txBody>
          <a:bodyPr wrap="square" lIns="0" tIns="0" rIns="0" bIns="0" rtlCol="0" anchor="ctr"/>
          <a:lstStyle/>
          <a:p>
            <a:pPr indent="0" marL="0">
              <a:buNone/>
            </a:pPr>
            <a:r>
              <a:rPr lang="en-US" sz="1200" b="1" dirty="0">
                <a:solidFill>
                  <a:schemeClr val="tx1"/>
                </a:solidFill>
              </a:rPr>
              <a:t>Running</a:t>
            </a:r>
            <a:pPr indent="0" marL="0">
              <a:buNone/>
            </a:pPr>
            <a:r>
              <a:rPr lang="en-US" sz="1200" dirty="0">
                <a:solidFill>
                  <a:schemeClr val="accent3"/>
                </a:solidFill>
              </a:rPr>
              <a:t>  2</a:t>
            </a:r>
            <a:endParaRPr lang="en-US" sz="1200" dirty="0"/>
          </a:p>
        </p:txBody>
      </p:sp>
      <p:sp>
        <p:nvSpPr>
          <p:cNvPr id="15" name="bcard0_0"/>
          <p:cNvSpPr/>
          <p:nvPr/>
        </p:nvSpPr>
        <p:spPr>
          <a:xfrm>
            <a:off x="777240" y="2130552"/>
            <a:ext cx="1528572" cy="914400"/>
          </a:xfrm>
          <a:prstGeom prst="roundRect">
            <a:avLst>
              <a:gd name="adj" fmla="val 6000"/>
            </a:avLst>
          </a:prstGeom>
          <a:solidFill>
            <a:schemeClr val="bg2"/>
          </a:solidFill>
          <a:ln w="6350">
            <a:solidFill>
              <a:srgbClr val="D5DBE1"/>
            </a:solidFill>
            <a:prstDash val="solid"/>
          </a:ln>
        </p:spPr>
      </p:sp>
      <p:sp>
        <p:nvSpPr>
          <p:cNvPr id="16" name="t207"/>
          <p:cNvSpPr txBox="1"/>
          <p:nvPr/>
        </p:nvSpPr>
        <p:spPr>
          <a:xfrm>
            <a:off x="868680" y="2203704"/>
            <a:ext cx="1345692" cy="228600"/>
          </a:xfrm>
          <a:prstGeom prst="rect">
            <a:avLst/>
          </a:prstGeom>
          <a:noFill/>
          <a:ln/>
        </p:spPr>
        <p:txBody>
          <a:bodyPr wrap="square" lIns="0" tIns="0" rIns="0" bIns="0" rtlCol="0" anchor="t"/>
          <a:lstStyle/>
          <a:p>
            <a:pPr indent="0" marL="0">
              <a:buNone/>
            </a:pPr>
            <a:r>
              <a:rPr lang="en-US" sz="1100" b="1" dirty="0">
                <a:solidFill>
                  <a:schemeClr val="tx1"/>
                </a:solidFill>
              </a:rPr>
              <a:t>uvm-port-research</a:t>
            </a:r>
            <a:endParaRPr lang="en-US" sz="1100" dirty="0"/>
          </a:p>
        </p:txBody>
      </p:sp>
      <p:sp>
        <p:nvSpPr>
          <p:cNvPr id="17" name="t208"/>
          <p:cNvSpPr txBox="1"/>
          <p:nvPr/>
        </p:nvSpPr>
        <p:spPr>
          <a:xfrm>
            <a:off x="868680" y="2441448"/>
            <a:ext cx="1345692" cy="365760"/>
          </a:xfrm>
          <a:prstGeom prst="rect">
            <a:avLst/>
          </a:prstGeom>
          <a:noFill/>
          <a:ln/>
        </p:spPr>
        <p:txBody>
          <a:bodyPr wrap="square" lIns="0" tIns="0" rIns="0" bIns="0" rtlCol="0" anchor="t"/>
          <a:lstStyle/>
          <a:p>
            <a:pPr indent="0" marL="0">
              <a:buNone/>
            </a:pPr>
            <a:r>
              <a:rPr lang="en-US" sz="950" dirty="0">
                <a:solidFill>
                  <a:schemeClr val="tx2"/>
                </a:solidFill>
              </a:rPr>
              <a:t>child 3 of 5 surveying pyhdl-if</a:t>
            </a:r>
            <a:endParaRPr lang="en-US" sz="950" dirty="0"/>
          </a:p>
        </p:txBody>
      </p:sp>
      <p:sp>
        <p:nvSpPr>
          <p:cNvPr id="18" name="t209"/>
          <p:cNvSpPr txBox="1"/>
          <p:nvPr/>
        </p:nvSpPr>
        <p:spPr>
          <a:xfrm>
            <a:off x="868680" y="2807208"/>
            <a:ext cx="1345692" cy="182880"/>
          </a:xfrm>
          <a:prstGeom prst="rect">
            <a:avLst/>
          </a:prstGeom>
          <a:noFill/>
          <a:ln/>
        </p:spPr>
        <p:txBody>
          <a:bodyPr wrap="square" lIns="0" tIns="0" rIns="0" bIns="0" rtlCol="0" anchor="t"/>
          <a:lstStyle/>
          <a:p>
            <a:pPr indent="0" marL="0">
              <a:buNone/>
            </a:pPr>
            <a:r>
              <a:rPr lang="en-US" sz="850" dirty="0">
                <a:solidFill>
                  <a:schemeClr val="accent3"/>
                </a:solidFill>
              </a:rPr>
              <a:t>step 14 · 4 min · $1.12</a:t>
            </a:r>
            <a:endParaRPr lang="en-US" sz="850" dirty="0"/>
          </a:p>
        </p:txBody>
      </p:sp>
      <p:sp>
        <p:nvSpPr>
          <p:cNvPr id="19" name="bcard0_1"/>
          <p:cNvSpPr/>
          <p:nvPr/>
        </p:nvSpPr>
        <p:spPr>
          <a:xfrm>
            <a:off x="777240" y="3154680"/>
            <a:ext cx="1528572" cy="914400"/>
          </a:xfrm>
          <a:prstGeom prst="roundRect">
            <a:avLst>
              <a:gd name="adj" fmla="val 6000"/>
            </a:avLst>
          </a:prstGeom>
          <a:solidFill>
            <a:schemeClr val="bg2"/>
          </a:solidFill>
          <a:ln w="6350">
            <a:solidFill>
              <a:srgbClr val="D5DBE1"/>
            </a:solidFill>
            <a:prstDash val="solid"/>
          </a:ln>
        </p:spPr>
      </p:sp>
      <p:sp>
        <p:nvSpPr>
          <p:cNvPr id="20" name="t210"/>
          <p:cNvSpPr txBox="1"/>
          <p:nvPr/>
        </p:nvSpPr>
        <p:spPr>
          <a:xfrm>
            <a:off x="868680" y="3227832"/>
            <a:ext cx="1345692" cy="228600"/>
          </a:xfrm>
          <a:prstGeom prst="rect">
            <a:avLst/>
          </a:prstGeom>
          <a:noFill/>
          <a:ln/>
        </p:spPr>
        <p:txBody>
          <a:bodyPr wrap="square" lIns="0" tIns="0" rIns="0" bIns="0" rtlCol="0" anchor="t"/>
          <a:lstStyle/>
          <a:p>
            <a:pPr indent="0" marL="0">
              <a:buNone/>
            </a:pPr>
            <a:r>
              <a:rPr lang="en-US" sz="1100" b="1" dirty="0">
                <a:solidFill>
                  <a:schemeClr val="tx1"/>
                </a:solidFill>
              </a:rPr>
              <a:t>lint-cleanup</a:t>
            </a:r>
            <a:endParaRPr lang="en-US" sz="1100" dirty="0"/>
          </a:p>
        </p:txBody>
      </p:sp>
      <p:sp>
        <p:nvSpPr>
          <p:cNvPr id="21" name="t211"/>
          <p:cNvSpPr txBox="1"/>
          <p:nvPr/>
        </p:nvSpPr>
        <p:spPr>
          <a:xfrm>
            <a:off x="868680" y="3465576"/>
            <a:ext cx="1345692" cy="365760"/>
          </a:xfrm>
          <a:prstGeom prst="rect">
            <a:avLst/>
          </a:prstGeom>
          <a:noFill/>
          <a:ln/>
        </p:spPr>
        <p:txBody>
          <a:bodyPr wrap="square" lIns="0" tIns="0" rIns="0" bIns="0" rtlCol="0" anchor="t"/>
          <a:lstStyle/>
          <a:p>
            <a:pPr indent="0" marL="0">
              <a:buNone/>
            </a:pPr>
            <a:r>
              <a:rPr lang="en-US" sz="950" dirty="0">
                <a:solidFill>
                  <a:schemeClr val="tx2"/>
                </a:solidFill>
              </a:rPr>
              <a:t>fixing verilator warnings</a:t>
            </a:r>
            <a:endParaRPr lang="en-US" sz="950" dirty="0"/>
          </a:p>
        </p:txBody>
      </p:sp>
      <p:sp>
        <p:nvSpPr>
          <p:cNvPr id="22" name="t212"/>
          <p:cNvSpPr txBox="1"/>
          <p:nvPr/>
        </p:nvSpPr>
        <p:spPr>
          <a:xfrm>
            <a:off x="868680" y="3831336"/>
            <a:ext cx="1345692" cy="182880"/>
          </a:xfrm>
          <a:prstGeom prst="rect">
            <a:avLst/>
          </a:prstGeom>
          <a:noFill/>
          <a:ln/>
        </p:spPr>
        <p:txBody>
          <a:bodyPr wrap="square" lIns="0" tIns="0" rIns="0" bIns="0" rtlCol="0" anchor="t"/>
          <a:lstStyle/>
          <a:p>
            <a:pPr indent="0" marL="0">
              <a:buNone/>
            </a:pPr>
            <a:r>
              <a:rPr lang="en-US" sz="850" dirty="0">
                <a:solidFill>
                  <a:schemeClr val="accent3"/>
                </a:solidFill>
              </a:rPr>
              <a:t>step 3 · 1 min · $0.08</a:t>
            </a:r>
            <a:endParaRPr lang="en-US" sz="850" dirty="0"/>
          </a:p>
        </p:txBody>
      </p:sp>
      <p:sp>
        <p:nvSpPr>
          <p:cNvPr id="23" name="col1"/>
          <p:cNvSpPr/>
          <p:nvPr/>
        </p:nvSpPr>
        <p:spPr>
          <a:xfrm>
            <a:off x="2506980" y="1691640"/>
            <a:ext cx="1711452" cy="3977640"/>
          </a:xfrm>
          <a:prstGeom prst="roundRect">
            <a:avLst>
              <a:gd name="adj" fmla="val 4274"/>
            </a:avLst>
          </a:prstGeom>
          <a:solidFill>
            <a:schemeClr val="bg1"/>
          </a:solidFill>
          <a:ln w="12700">
            <a:solidFill>
              <a:schemeClr val="bg1"/>
            </a:solidFill>
            <a:prstDash val="solid"/>
          </a:ln>
        </p:spPr>
      </p:sp>
      <p:sp>
        <p:nvSpPr>
          <p:cNvPr id="24" name="dot213"/>
          <p:cNvSpPr/>
          <p:nvPr/>
        </p:nvSpPr>
        <p:spPr>
          <a:xfrm>
            <a:off x="2644140" y="1828800"/>
            <a:ext cx="128016" cy="128016"/>
          </a:xfrm>
          <a:prstGeom prst="ellipse">
            <a:avLst/>
          </a:prstGeom>
          <a:solidFill>
            <a:schemeClr val="accent3"/>
          </a:solidFill>
          <a:ln w="12700">
            <a:solidFill>
              <a:schemeClr val="accent3"/>
            </a:solidFill>
            <a:prstDash val="solid"/>
          </a:ln>
        </p:spPr>
      </p:sp>
      <p:sp>
        <p:nvSpPr>
          <p:cNvPr id="25" name="t214"/>
          <p:cNvSpPr txBox="1"/>
          <p:nvPr/>
        </p:nvSpPr>
        <p:spPr>
          <a:xfrm>
            <a:off x="2845308" y="1755648"/>
            <a:ext cx="1299972" cy="274320"/>
          </a:xfrm>
          <a:prstGeom prst="rect">
            <a:avLst/>
          </a:prstGeom>
          <a:noFill/>
          <a:ln/>
        </p:spPr>
        <p:txBody>
          <a:bodyPr wrap="square" lIns="0" tIns="0" rIns="0" bIns="0" rtlCol="0" anchor="ctr"/>
          <a:lstStyle/>
          <a:p>
            <a:pPr indent="0" marL="0">
              <a:buNone/>
            </a:pPr>
            <a:r>
              <a:rPr lang="en-US" sz="1200" b="1" dirty="0">
                <a:solidFill>
                  <a:schemeClr val="tx1"/>
                </a:solidFill>
              </a:rPr>
              <a:t>Sleeping</a:t>
            </a:r>
            <a:pPr indent="0" marL="0">
              <a:buNone/>
            </a:pPr>
            <a:r>
              <a:rPr lang="en-US" sz="1200" dirty="0">
                <a:solidFill>
                  <a:schemeClr val="accent3"/>
                </a:solidFill>
              </a:rPr>
              <a:t>  3</a:t>
            </a:r>
            <a:endParaRPr lang="en-US" sz="1200" dirty="0"/>
          </a:p>
        </p:txBody>
      </p:sp>
      <p:sp>
        <p:nvSpPr>
          <p:cNvPr id="26" name="bcard1_0"/>
          <p:cNvSpPr/>
          <p:nvPr/>
        </p:nvSpPr>
        <p:spPr>
          <a:xfrm>
            <a:off x="2598420" y="2130552"/>
            <a:ext cx="1528572" cy="914400"/>
          </a:xfrm>
          <a:prstGeom prst="roundRect">
            <a:avLst>
              <a:gd name="adj" fmla="val 6000"/>
            </a:avLst>
          </a:prstGeom>
          <a:solidFill>
            <a:schemeClr val="bg2"/>
          </a:solidFill>
          <a:ln w="6350">
            <a:solidFill>
              <a:srgbClr val="D5DBE1"/>
            </a:solidFill>
            <a:prstDash val="solid"/>
          </a:ln>
        </p:spPr>
      </p:sp>
      <p:sp>
        <p:nvSpPr>
          <p:cNvPr id="27" name="t215"/>
          <p:cNvSpPr txBox="1"/>
          <p:nvPr/>
        </p:nvSpPr>
        <p:spPr>
          <a:xfrm>
            <a:off x="2689860" y="2203704"/>
            <a:ext cx="1345692" cy="228600"/>
          </a:xfrm>
          <a:prstGeom prst="rect">
            <a:avLst/>
          </a:prstGeom>
          <a:noFill/>
          <a:ln/>
        </p:spPr>
        <p:txBody>
          <a:bodyPr wrap="square" lIns="0" tIns="0" rIns="0" bIns="0" rtlCol="0" anchor="t"/>
          <a:lstStyle/>
          <a:p>
            <a:pPr indent="0" marL="0">
              <a:buNone/>
            </a:pPr>
            <a:r>
              <a:rPr lang="en-US" sz="1100" b="1" dirty="0">
                <a:solidFill>
                  <a:schemeClr val="tx1"/>
                </a:solidFill>
              </a:rPr>
              <a:t>nightly-triage</a:t>
            </a:r>
            <a:endParaRPr lang="en-US" sz="1100" dirty="0"/>
          </a:p>
        </p:txBody>
      </p:sp>
      <p:sp>
        <p:nvSpPr>
          <p:cNvPr id="28" name="t216"/>
          <p:cNvSpPr txBox="1"/>
          <p:nvPr/>
        </p:nvSpPr>
        <p:spPr>
          <a:xfrm>
            <a:off x="2689860" y="2441448"/>
            <a:ext cx="1345692" cy="365760"/>
          </a:xfrm>
          <a:prstGeom prst="rect">
            <a:avLst/>
          </a:prstGeom>
          <a:noFill/>
          <a:ln/>
        </p:spPr>
        <p:txBody>
          <a:bodyPr wrap="square" lIns="0" tIns="0" rIns="0" bIns="0" rtlCol="0" anchor="t"/>
          <a:lstStyle/>
          <a:p>
            <a:pPr indent="0" marL="0">
              <a:buNone/>
            </a:pPr>
            <a:r>
              <a:rPr lang="en-US" sz="950" dirty="0">
                <a:solidFill>
                  <a:schemeClr val="tx2"/>
                </a:solidFill>
              </a:rPr>
              <a:t>next: Thu 06:00 · daily</a:t>
            </a:r>
            <a:endParaRPr lang="en-US" sz="950" dirty="0"/>
          </a:p>
        </p:txBody>
      </p:sp>
      <p:sp>
        <p:nvSpPr>
          <p:cNvPr id="29" name="t217"/>
          <p:cNvSpPr txBox="1"/>
          <p:nvPr/>
        </p:nvSpPr>
        <p:spPr>
          <a:xfrm>
            <a:off x="2689860" y="2807208"/>
            <a:ext cx="1345692" cy="182880"/>
          </a:xfrm>
          <a:prstGeom prst="rect">
            <a:avLst/>
          </a:prstGeom>
          <a:noFill/>
          <a:ln/>
        </p:spPr>
        <p:txBody>
          <a:bodyPr wrap="square" lIns="0" tIns="0" rIns="0" bIns="0" rtlCol="0" anchor="t"/>
          <a:lstStyle/>
          <a:p>
            <a:pPr indent="0" marL="0">
              <a:buNone/>
            </a:pPr>
            <a:r>
              <a:rPr lang="en-US" sz="850" dirty="0">
                <a:solidFill>
                  <a:schemeClr val="accent3"/>
                </a:solidFill>
              </a:rPr>
              <a:t>31 steps · $0.84 today</a:t>
            </a:r>
            <a:endParaRPr lang="en-US" sz="850" dirty="0"/>
          </a:p>
        </p:txBody>
      </p:sp>
      <p:sp>
        <p:nvSpPr>
          <p:cNvPr id="30" name="bcard1_1"/>
          <p:cNvSpPr/>
          <p:nvPr/>
        </p:nvSpPr>
        <p:spPr>
          <a:xfrm>
            <a:off x="2598420" y="3154680"/>
            <a:ext cx="1528572" cy="914400"/>
          </a:xfrm>
          <a:prstGeom prst="roundRect">
            <a:avLst>
              <a:gd name="adj" fmla="val 6000"/>
            </a:avLst>
          </a:prstGeom>
          <a:solidFill>
            <a:schemeClr val="bg2"/>
          </a:solidFill>
          <a:ln w="6350">
            <a:solidFill>
              <a:srgbClr val="D5DBE1"/>
            </a:solidFill>
            <a:prstDash val="solid"/>
          </a:ln>
        </p:spPr>
      </p:sp>
      <p:sp>
        <p:nvSpPr>
          <p:cNvPr id="31" name="t218"/>
          <p:cNvSpPr txBox="1"/>
          <p:nvPr/>
        </p:nvSpPr>
        <p:spPr>
          <a:xfrm>
            <a:off x="2689860" y="3227832"/>
            <a:ext cx="1345692" cy="228600"/>
          </a:xfrm>
          <a:prstGeom prst="rect">
            <a:avLst/>
          </a:prstGeom>
          <a:noFill/>
          <a:ln/>
        </p:spPr>
        <p:txBody>
          <a:bodyPr wrap="square" lIns="0" tIns="0" rIns="0" bIns="0" rtlCol="0" anchor="t"/>
          <a:lstStyle/>
          <a:p>
            <a:pPr indent="0" marL="0">
              <a:buNone/>
            </a:pPr>
            <a:r>
              <a:rPr lang="en-US" sz="1100" b="1" dirty="0">
                <a:solidFill>
                  <a:schemeClr val="tx1"/>
                </a:solidFill>
              </a:rPr>
              <a:t>dep-watch</a:t>
            </a:r>
            <a:endParaRPr lang="en-US" sz="1100" dirty="0"/>
          </a:p>
        </p:txBody>
      </p:sp>
      <p:sp>
        <p:nvSpPr>
          <p:cNvPr id="32" name="t219"/>
          <p:cNvSpPr txBox="1"/>
          <p:nvPr/>
        </p:nvSpPr>
        <p:spPr>
          <a:xfrm>
            <a:off x="2689860" y="3465576"/>
            <a:ext cx="1345692" cy="365760"/>
          </a:xfrm>
          <a:prstGeom prst="rect">
            <a:avLst/>
          </a:prstGeom>
          <a:noFill/>
          <a:ln/>
        </p:spPr>
        <p:txBody>
          <a:bodyPr wrap="square" lIns="0" tIns="0" rIns="0" bIns="0" rtlCol="0" anchor="t"/>
          <a:lstStyle/>
          <a:p>
            <a:pPr indent="0" marL="0">
              <a:buNone/>
            </a:pPr>
            <a:r>
              <a:rPr lang="en-US" sz="950" dirty="0">
                <a:solidFill>
                  <a:schemeClr val="tx2"/>
                </a:solidFill>
              </a:rPr>
              <a:t>next: Sat 31 Oct · in 10 days</a:t>
            </a:r>
            <a:endParaRPr lang="en-US" sz="950" dirty="0"/>
          </a:p>
        </p:txBody>
      </p:sp>
      <p:sp>
        <p:nvSpPr>
          <p:cNvPr id="33" name="t220"/>
          <p:cNvSpPr txBox="1"/>
          <p:nvPr/>
        </p:nvSpPr>
        <p:spPr>
          <a:xfrm>
            <a:off x="2689860" y="3831336"/>
            <a:ext cx="1345692" cy="182880"/>
          </a:xfrm>
          <a:prstGeom prst="rect">
            <a:avLst/>
          </a:prstGeom>
          <a:noFill/>
          <a:ln/>
        </p:spPr>
        <p:txBody>
          <a:bodyPr wrap="square" lIns="0" tIns="0" rIns="0" bIns="0" rtlCol="0" anchor="t"/>
          <a:lstStyle/>
          <a:p>
            <a:pPr indent="0" marL="0">
              <a:buNone/>
            </a:pPr>
            <a:r>
              <a:rPr lang="en-US" sz="850" dirty="0">
                <a:solidFill>
                  <a:schemeClr val="accent3"/>
                </a:solidFill>
              </a:rPr>
              <a:t>4 steps · $0.02</a:t>
            </a:r>
            <a:endParaRPr lang="en-US" sz="850" dirty="0"/>
          </a:p>
        </p:txBody>
      </p:sp>
      <p:sp>
        <p:nvSpPr>
          <p:cNvPr id="34" name="bcard1_2"/>
          <p:cNvSpPr/>
          <p:nvPr/>
        </p:nvSpPr>
        <p:spPr>
          <a:xfrm>
            <a:off x="2598420" y="4178808"/>
            <a:ext cx="1528572" cy="914400"/>
          </a:xfrm>
          <a:prstGeom prst="roundRect">
            <a:avLst>
              <a:gd name="adj" fmla="val 6000"/>
            </a:avLst>
          </a:prstGeom>
          <a:solidFill>
            <a:schemeClr val="bg2"/>
          </a:solidFill>
          <a:ln w="6350">
            <a:solidFill>
              <a:srgbClr val="D5DBE1"/>
            </a:solidFill>
            <a:prstDash val="solid"/>
          </a:ln>
        </p:spPr>
      </p:sp>
      <p:sp>
        <p:nvSpPr>
          <p:cNvPr id="35" name="t221"/>
          <p:cNvSpPr txBox="1"/>
          <p:nvPr/>
        </p:nvSpPr>
        <p:spPr>
          <a:xfrm>
            <a:off x="2689860" y="4251960"/>
            <a:ext cx="1345692" cy="228600"/>
          </a:xfrm>
          <a:prstGeom prst="rect">
            <a:avLst/>
          </a:prstGeom>
          <a:noFill/>
          <a:ln/>
        </p:spPr>
        <p:txBody>
          <a:bodyPr wrap="square" lIns="0" tIns="0" rIns="0" bIns="0" rtlCol="0" anchor="t"/>
          <a:lstStyle/>
          <a:p>
            <a:pPr indent="0" marL="0">
              <a:buNone/>
            </a:pPr>
            <a:r>
              <a:rPr lang="en-US" sz="1100" b="1" dirty="0">
                <a:solidFill>
                  <a:schemeClr val="tx1"/>
                </a:solidFill>
              </a:rPr>
              <a:t>weekly-report</a:t>
            </a:r>
            <a:endParaRPr lang="en-US" sz="1100" dirty="0"/>
          </a:p>
        </p:txBody>
      </p:sp>
      <p:sp>
        <p:nvSpPr>
          <p:cNvPr id="36" name="t222"/>
          <p:cNvSpPr txBox="1"/>
          <p:nvPr/>
        </p:nvSpPr>
        <p:spPr>
          <a:xfrm>
            <a:off x="2689860" y="4489704"/>
            <a:ext cx="1345692" cy="365760"/>
          </a:xfrm>
          <a:prstGeom prst="rect">
            <a:avLst/>
          </a:prstGeom>
          <a:noFill/>
          <a:ln/>
        </p:spPr>
        <p:txBody>
          <a:bodyPr wrap="square" lIns="0" tIns="0" rIns="0" bIns="0" rtlCol="0" anchor="t"/>
          <a:lstStyle/>
          <a:p>
            <a:pPr indent="0" marL="0">
              <a:buNone/>
            </a:pPr>
            <a:r>
              <a:rPr lang="en-US" sz="950" dirty="0">
                <a:solidFill>
                  <a:schemeClr val="tx2"/>
                </a:solidFill>
              </a:rPr>
              <a:t>next: Mon 08:00 · weekly</a:t>
            </a:r>
            <a:endParaRPr lang="en-US" sz="950" dirty="0"/>
          </a:p>
        </p:txBody>
      </p:sp>
      <p:sp>
        <p:nvSpPr>
          <p:cNvPr id="37" name="t223"/>
          <p:cNvSpPr txBox="1"/>
          <p:nvPr/>
        </p:nvSpPr>
        <p:spPr>
          <a:xfrm>
            <a:off x="2689860" y="4855464"/>
            <a:ext cx="1345692" cy="182880"/>
          </a:xfrm>
          <a:prstGeom prst="rect">
            <a:avLst/>
          </a:prstGeom>
          <a:noFill/>
          <a:ln/>
        </p:spPr>
        <p:txBody>
          <a:bodyPr wrap="square" lIns="0" tIns="0" rIns="0" bIns="0" rtlCol="0" anchor="t"/>
          <a:lstStyle/>
          <a:p>
            <a:pPr indent="0" marL="0">
              <a:buNone/>
            </a:pPr>
            <a:r>
              <a:rPr lang="en-US" sz="850" dirty="0">
                <a:solidFill>
                  <a:schemeClr val="accent3"/>
                </a:solidFill>
              </a:rPr>
              <a:t>12 steps · $0.00 today</a:t>
            </a:r>
            <a:endParaRPr lang="en-US" sz="850" dirty="0"/>
          </a:p>
        </p:txBody>
      </p:sp>
      <p:sp>
        <p:nvSpPr>
          <p:cNvPr id="38" name="col2"/>
          <p:cNvSpPr/>
          <p:nvPr/>
        </p:nvSpPr>
        <p:spPr>
          <a:xfrm>
            <a:off x="4328160" y="1691640"/>
            <a:ext cx="1711452" cy="3977640"/>
          </a:xfrm>
          <a:prstGeom prst="roundRect">
            <a:avLst>
              <a:gd name="adj" fmla="val 4274"/>
            </a:avLst>
          </a:prstGeom>
          <a:solidFill>
            <a:schemeClr val="bg1"/>
          </a:solidFill>
          <a:ln w="12700">
            <a:solidFill>
              <a:schemeClr val="bg1"/>
            </a:solidFill>
            <a:prstDash val="solid"/>
          </a:ln>
        </p:spPr>
      </p:sp>
      <p:sp>
        <p:nvSpPr>
          <p:cNvPr id="39" name="dot224"/>
          <p:cNvSpPr/>
          <p:nvPr/>
        </p:nvSpPr>
        <p:spPr>
          <a:xfrm>
            <a:off x="4465320" y="1828800"/>
            <a:ext cx="128016" cy="128016"/>
          </a:xfrm>
          <a:prstGeom prst="ellipse">
            <a:avLst/>
          </a:prstGeom>
          <a:solidFill>
            <a:schemeClr val="tx2"/>
          </a:solidFill>
          <a:ln w="12700">
            <a:solidFill>
              <a:schemeClr val="tx2"/>
            </a:solidFill>
            <a:prstDash val="solid"/>
          </a:ln>
        </p:spPr>
      </p:sp>
      <p:sp>
        <p:nvSpPr>
          <p:cNvPr id="40" name="t225"/>
          <p:cNvSpPr txBox="1"/>
          <p:nvPr/>
        </p:nvSpPr>
        <p:spPr>
          <a:xfrm>
            <a:off x="4666488" y="1755648"/>
            <a:ext cx="1299972" cy="274320"/>
          </a:xfrm>
          <a:prstGeom prst="rect">
            <a:avLst/>
          </a:prstGeom>
          <a:noFill/>
          <a:ln/>
        </p:spPr>
        <p:txBody>
          <a:bodyPr wrap="square" lIns="0" tIns="0" rIns="0" bIns="0" rtlCol="0" anchor="ctr"/>
          <a:lstStyle/>
          <a:p>
            <a:pPr indent="0" marL="0">
              <a:buNone/>
            </a:pPr>
            <a:r>
              <a:rPr lang="en-US" sz="1200" b="1" dirty="0">
                <a:solidFill>
                  <a:schemeClr val="tx1"/>
                </a:solidFill>
              </a:rPr>
              <a:t>Waiting</a:t>
            </a:r>
            <a:pPr indent="0" marL="0">
              <a:buNone/>
            </a:pPr>
            <a:r>
              <a:rPr lang="en-US" sz="1200" dirty="0">
                <a:solidFill>
                  <a:schemeClr val="accent3"/>
                </a:solidFill>
              </a:rPr>
              <a:t>  1</a:t>
            </a:r>
            <a:endParaRPr lang="en-US" sz="1200" dirty="0"/>
          </a:p>
        </p:txBody>
      </p:sp>
      <p:sp>
        <p:nvSpPr>
          <p:cNvPr id="41" name="bcard2_0"/>
          <p:cNvSpPr/>
          <p:nvPr/>
        </p:nvSpPr>
        <p:spPr>
          <a:xfrm>
            <a:off x="4419600" y="2130552"/>
            <a:ext cx="1528572" cy="914400"/>
          </a:xfrm>
          <a:prstGeom prst="roundRect">
            <a:avLst>
              <a:gd name="adj" fmla="val 6000"/>
            </a:avLst>
          </a:prstGeom>
          <a:solidFill>
            <a:schemeClr val="bg2"/>
          </a:solidFill>
          <a:ln w="6350">
            <a:solidFill>
              <a:srgbClr val="D5DBE1"/>
            </a:solidFill>
            <a:prstDash val="solid"/>
          </a:ln>
        </p:spPr>
      </p:sp>
      <p:sp>
        <p:nvSpPr>
          <p:cNvPr id="42" name="t226"/>
          <p:cNvSpPr txBox="1"/>
          <p:nvPr/>
        </p:nvSpPr>
        <p:spPr>
          <a:xfrm>
            <a:off x="4511040" y="2203704"/>
            <a:ext cx="1345692" cy="228600"/>
          </a:xfrm>
          <a:prstGeom prst="rect">
            <a:avLst/>
          </a:prstGeom>
          <a:noFill/>
          <a:ln/>
        </p:spPr>
        <p:txBody>
          <a:bodyPr wrap="square" lIns="0" tIns="0" rIns="0" bIns="0" rtlCol="0" anchor="t"/>
          <a:lstStyle/>
          <a:p>
            <a:pPr indent="0" marL="0">
              <a:buNone/>
            </a:pPr>
            <a:r>
              <a:rPr lang="en-US" sz="1100" b="1" dirty="0">
                <a:solidFill>
                  <a:schemeClr val="tx1"/>
                </a:solidFill>
              </a:rPr>
              <a:t>fpga-timing</a:t>
            </a:r>
            <a:endParaRPr lang="en-US" sz="1100" dirty="0"/>
          </a:p>
        </p:txBody>
      </p:sp>
      <p:sp>
        <p:nvSpPr>
          <p:cNvPr id="43" name="t227"/>
          <p:cNvSpPr txBox="1"/>
          <p:nvPr/>
        </p:nvSpPr>
        <p:spPr>
          <a:xfrm>
            <a:off x="4511040" y="2441448"/>
            <a:ext cx="1345692" cy="365760"/>
          </a:xfrm>
          <a:prstGeom prst="rect">
            <a:avLst/>
          </a:prstGeom>
          <a:noFill/>
          <a:ln/>
        </p:spPr>
        <p:txBody>
          <a:bodyPr wrap="square" lIns="0" tIns="0" rIns="0" bIns="0" rtlCol="0" anchor="t"/>
          <a:lstStyle/>
          <a:p>
            <a:pPr indent="0" marL="0">
              <a:buNone/>
            </a:pPr>
            <a:r>
              <a:rPr lang="en-US" sz="950" dirty="0">
                <a:solidFill>
                  <a:schemeClr val="tx2"/>
                </a:solidFill>
              </a:rPr>
              <a:t>waiting for 2 children</a:t>
            </a:r>
            <a:endParaRPr lang="en-US" sz="950" dirty="0"/>
          </a:p>
        </p:txBody>
      </p:sp>
      <p:sp>
        <p:nvSpPr>
          <p:cNvPr id="44" name="t228"/>
          <p:cNvSpPr txBox="1"/>
          <p:nvPr/>
        </p:nvSpPr>
        <p:spPr>
          <a:xfrm>
            <a:off x="4511040" y="2807208"/>
            <a:ext cx="1345692" cy="182880"/>
          </a:xfrm>
          <a:prstGeom prst="rect">
            <a:avLst/>
          </a:prstGeom>
          <a:noFill/>
          <a:ln/>
        </p:spPr>
        <p:txBody>
          <a:bodyPr wrap="square" lIns="0" tIns="0" rIns="0" bIns="0" rtlCol="0" anchor="t"/>
          <a:lstStyle/>
          <a:p>
            <a:pPr indent="0" marL="0">
              <a:buNone/>
            </a:pPr>
            <a:r>
              <a:rPr lang="en-US" sz="850" dirty="0">
                <a:solidFill>
                  <a:schemeClr val="accent3"/>
                </a:solidFill>
              </a:rPr>
              <a:t>until: in 3 days</a:t>
            </a:r>
            <a:endParaRPr lang="en-US" sz="850" dirty="0"/>
          </a:p>
        </p:txBody>
      </p:sp>
      <p:sp>
        <p:nvSpPr>
          <p:cNvPr id="45" name="col3"/>
          <p:cNvSpPr/>
          <p:nvPr/>
        </p:nvSpPr>
        <p:spPr>
          <a:xfrm>
            <a:off x="6149340" y="1691640"/>
            <a:ext cx="1711452" cy="3977640"/>
          </a:xfrm>
          <a:prstGeom prst="roundRect">
            <a:avLst>
              <a:gd name="adj" fmla="val 4274"/>
            </a:avLst>
          </a:prstGeom>
          <a:solidFill>
            <a:schemeClr val="bg1"/>
          </a:solidFill>
          <a:ln w="12700">
            <a:solidFill>
              <a:schemeClr val="bg1"/>
            </a:solidFill>
            <a:prstDash val="solid"/>
          </a:ln>
        </p:spPr>
      </p:sp>
      <p:sp>
        <p:nvSpPr>
          <p:cNvPr id="46" name="dot229"/>
          <p:cNvSpPr/>
          <p:nvPr/>
        </p:nvSpPr>
        <p:spPr>
          <a:xfrm>
            <a:off x="6286500" y="1828800"/>
            <a:ext cx="128016" cy="128016"/>
          </a:xfrm>
          <a:prstGeom prst="ellipse">
            <a:avLst/>
          </a:prstGeom>
          <a:solidFill>
            <a:schemeClr val="accent1"/>
          </a:solidFill>
          <a:ln w="12700">
            <a:solidFill>
              <a:schemeClr val="accent1"/>
            </a:solidFill>
            <a:prstDash val="solid"/>
          </a:ln>
        </p:spPr>
      </p:sp>
      <p:sp>
        <p:nvSpPr>
          <p:cNvPr id="47" name="t230"/>
          <p:cNvSpPr txBox="1"/>
          <p:nvPr/>
        </p:nvSpPr>
        <p:spPr>
          <a:xfrm>
            <a:off x="6487668" y="1755648"/>
            <a:ext cx="1299972" cy="274320"/>
          </a:xfrm>
          <a:prstGeom prst="rect">
            <a:avLst/>
          </a:prstGeom>
          <a:noFill/>
          <a:ln/>
        </p:spPr>
        <p:txBody>
          <a:bodyPr wrap="square" lIns="0" tIns="0" rIns="0" bIns="0" rtlCol="0" anchor="ctr"/>
          <a:lstStyle/>
          <a:p>
            <a:pPr indent="0" marL="0">
              <a:buNone/>
            </a:pPr>
            <a:r>
              <a:rPr lang="en-US" sz="1200" b="1" dirty="0">
                <a:solidFill>
                  <a:schemeClr val="tx1"/>
                </a:solidFill>
              </a:rPr>
              <a:t>Needs you</a:t>
            </a:r>
            <a:pPr indent="0" marL="0">
              <a:buNone/>
            </a:pPr>
            <a:r>
              <a:rPr lang="en-US" sz="1200" dirty="0">
                <a:solidFill>
                  <a:schemeClr val="accent3"/>
                </a:solidFill>
              </a:rPr>
              <a:t>  1</a:t>
            </a:r>
            <a:endParaRPr lang="en-US" sz="1200" dirty="0"/>
          </a:p>
        </p:txBody>
      </p:sp>
      <p:sp>
        <p:nvSpPr>
          <p:cNvPr id="48" name="bcard3_0"/>
          <p:cNvSpPr/>
          <p:nvPr/>
        </p:nvSpPr>
        <p:spPr>
          <a:xfrm>
            <a:off x="6240780" y="2130552"/>
            <a:ext cx="1528572" cy="914400"/>
          </a:xfrm>
          <a:prstGeom prst="roundRect">
            <a:avLst>
              <a:gd name="adj" fmla="val 6000"/>
            </a:avLst>
          </a:prstGeom>
          <a:solidFill>
            <a:srgbClr val="F6E3C1"/>
          </a:solidFill>
          <a:ln w="15875">
            <a:solidFill>
              <a:schemeClr val="accent1"/>
            </a:solidFill>
            <a:prstDash val="solid"/>
          </a:ln>
        </p:spPr>
      </p:sp>
      <p:sp>
        <p:nvSpPr>
          <p:cNvPr id="49" name="t231"/>
          <p:cNvSpPr txBox="1"/>
          <p:nvPr/>
        </p:nvSpPr>
        <p:spPr>
          <a:xfrm>
            <a:off x="6332220" y="2203704"/>
            <a:ext cx="1345692" cy="228600"/>
          </a:xfrm>
          <a:prstGeom prst="rect">
            <a:avLst/>
          </a:prstGeom>
          <a:noFill/>
          <a:ln/>
        </p:spPr>
        <p:txBody>
          <a:bodyPr wrap="square" lIns="0" tIns="0" rIns="0" bIns="0" rtlCol="0" anchor="t"/>
          <a:lstStyle/>
          <a:p>
            <a:pPr indent="0" marL="0">
              <a:buNone/>
            </a:pPr>
            <a:r>
              <a:rPr lang="en-US" sz="1100" b="1" dirty="0">
                <a:solidFill>
                  <a:schemeClr val="tx1"/>
                </a:solidFill>
              </a:rPr>
              <a:t>regress-bisect</a:t>
            </a:r>
            <a:endParaRPr lang="en-US" sz="1100" dirty="0"/>
          </a:p>
        </p:txBody>
      </p:sp>
      <p:sp>
        <p:nvSpPr>
          <p:cNvPr id="50" name="t232"/>
          <p:cNvSpPr txBox="1"/>
          <p:nvPr/>
        </p:nvSpPr>
        <p:spPr>
          <a:xfrm>
            <a:off x="6332220" y="2441448"/>
            <a:ext cx="1345692" cy="365760"/>
          </a:xfrm>
          <a:prstGeom prst="rect">
            <a:avLst/>
          </a:prstGeom>
          <a:noFill/>
          <a:ln/>
        </p:spPr>
        <p:txBody>
          <a:bodyPr wrap="square" lIns="0" tIns="0" rIns="0" bIns="0" rtlCol="0" anchor="t"/>
          <a:lstStyle/>
          <a:p>
            <a:pPr indent="0" marL="0">
              <a:buNone/>
            </a:pPr>
            <a:r>
              <a:rPr lang="en-US" sz="950" dirty="0">
                <a:solidFill>
                  <a:schemeClr val="tx2"/>
                </a:solidFill>
              </a:rPr>
              <a:t>"File one bug or three?"</a:t>
            </a:r>
            <a:endParaRPr lang="en-US" sz="950" dirty="0"/>
          </a:p>
        </p:txBody>
      </p:sp>
      <p:sp>
        <p:nvSpPr>
          <p:cNvPr id="51" name="t233"/>
          <p:cNvSpPr txBox="1"/>
          <p:nvPr/>
        </p:nvSpPr>
        <p:spPr>
          <a:xfrm>
            <a:off x="6332220" y="2807208"/>
            <a:ext cx="1345692" cy="182880"/>
          </a:xfrm>
          <a:prstGeom prst="rect">
            <a:avLst/>
          </a:prstGeom>
          <a:noFill/>
          <a:ln/>
        </p:spPr>
        <p:txBody>
          <a:bodyPr wrap="square" lIns="0" tIns="0" rIns="0" bIns="0" rtlCol="0" anchor="t"/>
          <a:lstStyle/>
          <a:p>
            <a:pPr indent="0" marL="0">
              <a:buNone/>
            </a:pPr>
            <a:r>
              <a:rPr lang="en-US" sz="850" dirty="0">
                <a:solidFill>
                  <a:schemeClr val="accent3"/>
                </a:solidFill>
              </a:rPr>
              <a:t>asked 2 h ago · Reply</a:t>
            </a:r>
            <a:endParaRPr lang="en-US" sz="850" dirty="0"/>
          </a:p>
        </p:txBody>
      </p:sp>
      <p:sp>
        <p:nvSpPr>
          <p:cNvPr id="52" name="col4"/>
          <p:cNvSpPr/>
          <p:nvPr/>
        </p:nvSpPr>
        <p:spPr>
          <a:xfrm>
            <a:off x="7970520" y="1691640"/>
            <a:ext cx="1711452" cy="3977640"/>
          </a:xfrm>
          <a:prstGeom prst="roundRect">
            <a:avLst>
              <a:gd name="adj" fmla="val 4274"/>
            </a:avLst>
          </a:prstGeom>
          <a:solidFill>
            <a:schemeClr val="bg1"/>
          </a:solidFill>
          <a:ln w="12700">
            <a:solidFill>
              <a:schemeClr val="bg1"/>
            </a:solidFill>
            <a:prstDash val="solid"/>
          </a:ln>
        </p:spPr>
      </p:sp>
      <p:sp>
        <p:nvSpPr>
          <p:cNvPr id="53" name="dot234"/>
          <p:cNvSpPr/>
          <p:nvPr/>
        </p:nvSpPr>
        <p:spPr>
          <a:xfrm>
            <a:off x="8107680" y="1828800"/>
            <a:ext cx="128016" cy="128016"/>
          </a:xfrm>
          <a:prstGeom prst="ellipse">
            <a:avLst/>
          </a:prstGeom>
          <a:solidFill>
            <a:schemeClr val="accent4"/>
          </a:solidFill>
          <a:ln w="12700">
            <a:solidFill>
              <a:schemeClr val="accent4"/>
            </a:solidFill>
            <a:prstDash val="solid"/>
          </a:ln>
        </p:spPr>
      </p:sp>
      <p:sp>
        <p:nvSpPr>
          <p:cNvPr id="54" name="t235"/>
          <p:cNvSpPr txBox="1"/>
          <p:nvPr/>
        </p:nvSpPr>
        <p:spPr>
          <a:xfrm>
            <a:off x="8308848" y="1755648"/>
            <a:ext cx="1299972" cy="274320"/>
          </a:xfrm>
          <a:prstGeom prst="rect">
            <a:avLst/>
          </a:prstGeom>
          <a:noFill/>
          <a:ln/>
        </p:spPr>
        <p:txBody>
          <a:bodyPr wrap="square" lIns="0" tIns="0" rIns="0" bIns="0" rtlCol="0" anchor="ctr"/>
          <a:lstStyle/>
          <a:p>
            <a:pPr indent="0" marL="0">
              <a:buNone/>
            </a:pPr>
            <a:r>
              <a:rPr lang="en-US" sz="1200" b="1" dirty="0">
                <a:solidFill>
                  <a:schemeClr val="tx1"/>
                </a:solidFill>
              </a:rPr>
              <a:t>Failed</a:t>
            </a:r>
            <a:pPr indent="0" marL="0">
              <a:buNone/>
            </a:pPr>
            <a:r>
              <a:rPr lang="en-US" sz="1200" dirty="0">
                <a:solidFill>
                  <a:schemeClr val="accent3"/>
                </a:solidFill>
              </a:rPr>
              <a:t>  1</a:t>
            </a:r>
            <a:endParaRPr lang="en-US" sz="1200" dirty="0"/>
          </a:p>
        </p:txBody>
      </p:sp>
      <p:sp>
        <p:nvSpPr>
          <p:cNvPr id="55" name="bcard4_0"/>
          <p:cNvSpPr/>
          <p:nvPr/>
        </p:nvSpPr>
        <p:spPr>
          <a:xfrm>
            <a:off x="8061960" y="2130552"/>
            <a:ext cx="1528572" cy="914400"/>
          </a:xfrm>
          <a:prstGeom prst="roundRect">
            <a:avLst>
              <a:gd name="adj" fmla="val 6000"/>
            </a:avLst>
          </a:prstGeom>
          <a:solidFill>
            <a:schemeClr val="bg2"/>
          </a:solidFill>
          <a:ln w="6350">
            <a:solidFill>
              <a:srgbClr val="D5DBE1"/>
            </a:solidFill>
            <a:prstDash val="solid"/>
          </a:ln>
        </p:spPr>
      </p:sp>
      <p:sp>
        <p:nvSpPr>
          <p:cNvPr id="56" name="t236"/>
          <p:cNvSpPr txBox="1"/>
          <p:nvPr/>
        </p:nvSpPr>
        <p:spPr>
          <a:xfrm>
            <a:off x="8153400" y="2203704"/>
            <a:ext cx="1345692" cy="228600"/>
          </a:xfrm>
          <a:prstGeom prst="rect">
            <a:avLst/>
          </a:prstGeom>
          <a:noFill/>
          <a:ln/>
        </p:spPr>
        <p:txBody>
          <a:bodyPr wrap="square" lIns="0" tIns="0" rIns="0" bIns="0" rtlCol="0" anchor="t"/>
          <a:lstStyle/>
          <a:p>
            <a:pPr indent="0" marL="0">
              <a:buNone/>
            </a:pPr>
            <a:r>
              <a:rPr lang="en-US" sz="1100" b="1" dirty="0">
                <a:solidFill>
                  <a:schemeClr val="tx1"/>
                </a:solidFill>
              </a:rPr>
              <a:t>doc-sync</a:t>
            </a:r>
            <a:endParaRPr lang="en-US" sz="1100" dirty="0"/>
          </a:p>
        </p:txBody>
      </p:sp>
      <p:sp>
        <p:nvSpPr>
          <p:cNvPr id="57" name="t237"/>
          <p:cNvSpPr txBox="1"/>
          <p:nvPr/>
        </p:nvSpPr>
        <p:spPr>
          <a:xfrm>
            <a:off x="8153400" y="2441448"/>
            <a:ext cx="1345692" cy="365760"/>
          </a:xfrm>
          <a:prstGeom prst="rect">
            <a:avLst/>
          </a:prstGeom>
          <a:noFill/>
          <a:ln/>
        </p:spPr>
        <p:txBody>
          <a:bodyPr wrap="square" lIns="0" tIns="0" rIns="0" bIns="0" rtlCol="0" anchor="t"/>
          <a:lstStyle/>
          <a:p>
            <a:pPr indent="0" marL="0">
              <a:buNone/>
            </a:pPr>
            <a:r>
              <a:rPr lang="en-US" sz="950" dirty="0">
                <a:solidFill>
                  <a:schemeClr val="tx2"/>
                </a:solidFill>
              </a:rPr>
              <a:t>pip install failed in step 6</a:t>
            </a:r>
            <a:endParaRPr lang="en-US" sz="950" dirty="0"/>
          </a:p>
        </p:txBody>
      </p:sp>
      <p:sp>
        <p:nvSpPr>
          <p:cNvPr id="58" name="t238"/>
          <p:cNvSpPr txBox="1"/>
          <p:nvPr/>
        </p:nvSpPr>
        <p:spPr>
          <a:xfrm>
            <a:off x="8153400" y="2807208"/>
            <a:ext cx="1345692" cy="182880"/>
          </a:xfrm>
          <a:prstGeom prst="rect">
            <a:avLst/>
          </a:prstGeom>
          <a:noFill/>
          <a:ln/>
        </p:spPr>
        <p:txBody>
          <a:bodyPr wrap="square" lIns="0" tIns="0" rIns="0" bIns="0" rtlCol="0" anchor="t"/>
          <a:lstStyle/>
          <a:p>
            <a:pPr indent="0" marL="0">
              <a:buNone/>
            </a:pPr>
            <a:r>
              <a:rPr lang="en-US" sz="850" dirty="0">
                <a:solidFill>
                  <a:schemeClr val="accent3"/>
                </a:solidFill>
              </a:rPr>
              <a:t>Retry · Open step</a:t>
            </a:r>
            <a:endParaRPr lang="en-US" sz="850" dirty="0"/>
          </a:p>
        </p:txBody>
      </p:sp>
      <p:sp>
        <p:nvSpPr>
          <p:cNvPr id="59" name="col5"/>
          <p:cNvSpPr/>
          <p:nvPr/>
        </p:nvSpPr>
        <p:spPr>
          <a:xfrm>
            <a:off x="9791700" y="1691640"/>
            <a:ext cx="1711452" cy="3977640"/>
          </a:xfrm>
          <a:prstGeom prst="roundRect">
            <a:avLst>
              <a:gd name="adj" fmla="val 4274"/>
            </a:avLst>
          </a:prstGeom>
          <a:solidFill>
            <a:schemeClr val="bg1"/>
          </a:solidFill>
          <a:ln w="12700">
            <a:solidFill>
              <a:schemeClr val="bg1"/>
            </a:solidFill>
            <a:prstDash val="solid"/>
          </a:ln>
        </p:spPr>
      </p:sp>
      <p:sp>
        <p:nvSpPr>
          <p:cNvPr id="60" name="dot239"/>
          <p:cNvSpPr/>
          <p:nvPr/>
        </p:nvSpPr>
        <p:spPr>
          <a:xfrm>
            <a:off x="9928860" y="1828800"/>
            <a:ext cx="128016" cy="128016"/>
          </a:xfrm>
          <a:prstGeom prst="ellipse">
            <a:avLst/>
          </a:prstGeom>
          <a:solidFill>
            <a:schemeClr val="accent6"/>
          </a:solidFill>
          <a:ln w="12700">
            <a:solidFill>
              <a:schemeClr val="accent2"/>
            </a:solidFill>
            <a:prstDash val="solid"/>
          </a:ln>
        </p:spPr>
      </p:sp>
      <p:sp>
        <p:nvSpPr>
          <p:cNvPr id="61" name="t240"/>
          <p:cNvSpPr txBox="1"/>
          <p:nvPr/>
        </p:nvSpPr>
        <p:spPr>
          <a:xfrm>
            <a:off x="10130028" y="1755648"/>
            <a:ext cx="1299972" cy="274320"/>
          </a:xfrm>
          <a:prstGeom prst="rect">
            <a:avLst/>
          </a:prstGeom>
          <a:noFill/>
          <a:ln/>
        </p:spPr>
        <p:txBody>
          <a:bodyPr wrap="square" lIns="0" tIns="0" rIns="0" bIns="0" rtlCol="0" anchor="ctr"/>
          <a:lstStyle/>
          <a:p>
            <a:pPr indent="0" marL="0">
              <a:buNone/>
            </a:pPr>
            <a:r>
              <a:rPr lang="en-US" sz="1200" b="1" dirty="0">
                <a:solidFill>
                  <a:schemeClr val="tx1"/>
                </a:solidFill>
              </a:rPr>
              <a:t>Done</a:t>
            </a:r>
            <a:pPr indent="0" marL="0">
              <a:buNone/>
            </a:pPr>
            <a:r>
              <a:rPr lang="en-US" sz="1200" dirty="0">
                <a:solidFill>
                  <a:schemeClr val="accent3"/>
                </a:solidFill>
              </a:rPr>
              <a:t>  1</a:t>
            </a:r>
            <a:endParaRPr lang="en-US" sz="1200" dirty="0"/>
          </a:p>
        </p:txBody>
      </p:sp>
      <p:sp>
        <p:nvSpPr>
          <p:cNvPr id="62" name="bcard5_0"/>
          <p:cNvSpPr/>
          <p:nvPr/>
        </p:nvSpPr>
        <p:spPr>
          <a:xfrm>
            <a:off x="9883140" y="2130552"/>
            <a:ext cx="1528572" cy="914400"/>
          </a:xfrm>
          <a:prstGeom prst="roundRect">
            <a:avLst>
              <a:gd name="adj" fmla="val 6000"/>
            </a:avLst>
          </a:prstGeom>
          <a:solidFill>
            <a:schemeClr val="bg2"/>
          </a:solidFill>
          <a:ln w="6350">
            <a:solidFill>
              <a:srgbClr val="D5DBE1"/>
            </a:solidFill>
            <a:prstDash val="solid"/>
          </a:ln>
        </p:spPr>
      </p:sp>
      <p:sp>
        <p:nvSpPr>
          <p:cNvPr id="63" name="t241"/>
          <p:cNvSpPr txBox="1"/>
          <p:nvPr/>
        </p:nvSpPr>
        <p:spPr>
          <a:xfrm>
            <a:off x="9974580" y="2203704"/>
            <a:ext cx="1345692" cy="228600"/>
          </a:xfrm>
          <a:prstGeom prst="rect">
            <a:avLst/>
          </a:prstGeom>
          <a:noFill/>
          <a:ln/>
        </p:spPr>
        <p:txBody>
          <a:bodyPr wrap="square" lIns="0" tIns="0" rIns="0" bIns="0" rtlCol="0" anchor="t"/>
          <a:lstStyle/>
          <a:p>
            <a:pPr indent="0" marL="0">
              <a:buNone/>
            </a:pPr>
            <a:r>
              <a:rPr lang="en-US" sz="1100" b="1" dirty="0">
                <a:solidFill>
                  <a:schemeClr val="tx1"/>
                </a:solidFill>
              </a:rPr>
              <a:t>cov-merge</a:t>
            </a:r>
            <a:endParaRPr lang="en-US" sz="1100" dirty="0"/>
          </a:p>
        </p:txBody>
      </p:sp>
      <p:sp>
        <p:nvSpPr>
          <p:cNvPr id="64" name="t242"/>
          <p:cNvSpPr txBox="1"/>
          <p:nvPr/>
        </p:nvSpPr>
        <p:spPr>
          <a:xfrm>
            <a:off x="9974580" y="2441448"/>
            <a:ext cx="1345692" cy="365760"/>
          </a:xfrm>
          <a:prstGeom prst="rect">
            <a:avLst/>
          </a:prstGeom>
          <a:noFill/>
          <a:ln/>
        </p:spPr>
        <p:txBody>
          <a:bodyPr wrap="square" lIns="0" tIns="0" rIns="0" bIns="0" rtlCol="0" anchor="t"/>
          <a:lstStyle/>
          <a:p>
            <a:pPr indent="0" marL="0">
              <a:buNone/>
            </a:pPr>
            <a:r>
              <a:rPr lang="en-US" sz="950" dirty="0">
                <a:solidFill>
                  <a:schemeClr val="tx2"/>
                </a:solidFill>
              </a:rPr>
              <a:t>merged 48 coverage DBs</a:t>
            </a:r>
            <a:endParaRPr lang="en-US" sz="950" dirty="0"/>
          </a:p>
        </p:txBody>
      </p:sp>
      <p:sp>
        <p:nvSpPr>
          <p:cNvPr id="65" name="t243"/>
          <p:cNvSpPr txBox="1"/>
          <p:nvPr/>
        </p:nvSpPr>
        <p:spPr>
          <a:xfrm>
            <a:off x="9974580" y="2807208"/>
            <a:ext cx="1345692" cy="182880"/>
          </a:xfrm>
          <a:prstGeom prst="rect">
            <a:avLst/>
          </a:prstGeom>
          <a:noFill/>
          <a:ln/>
        </p:spPr>
        <p:txBody>
          <a:bodyPr wrap="square" lIns="0" tIns="0" rIns="0" bIns="0" rtlCol="0" anchor="t"/>
          <a:lstStyle/>
          <a:p>
            <a:pPr indent="0" marL="0">
              <a:buNone/>
            </a:pPr>
            <a:r>
              <a:rPr lang="en-US" sz="850" dirty="0">
                <a:solidFill>
                  <a:schemeClr val="accent3"/>
                </a:solidFill>
              </a:rPr>
              <a:t>finished yesterday · $0.61</a:t>
            </a:r>
            <a:endParaRPr lang="en-US" sz="850" dirty="0"/>
          </a:p>
        </p:txBody>
      </p:sp>
      <p:sp>
        <p:nvSpPr>
          <p:cNvPr id="66" name="t244"/>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i="1" dirty="0">
                <a:solidFill>
                  <a:schemeClr val="accent2"/>
                </a:solidFill>
              </a:rPr>
              <a:t>The runner sets the column from packet state. Ready and Paused columns are hidden here when empty.</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Project page: tree, timeline and files</a:t>
            </a:r>
            <a:endParaRPr lang="en-US" sz="3400" dirty="0"/>
          </a:p>
        </p:txBody>
      </p:sp>
      <p:sp>
        <p:nvSpPr>
          <p:cNvPr id="3" name="win245"/>
          <p:cNvSpPr/>
          <p:nvPr/>
        </p:nvSpPr>
        <p:spPr>
          <a:xfrm>
            <a:off x="548640" y="1188720"/>
            <a:ext cx="11091672" cy="4617720"/>
          </a:xfrm>
          <a:prstGeom prst="roundRect">
            <a:avLst>
              <a:gd name="adj" fmla="val 1584"/>
            </a:avLst>
          </a:prstGeom>
          <a:solidFill>
            <a:schemeClr val="bg2"/>
          </a:solidFill>
          <a:ln w="9525">
            <a:solidFill>
              <a:srgbClr val="C9D1D9"/>
            </a:solidFill>
            <a:prstDash val="solid"/>
          </a:ln>
        </p:spPr>
      </p:sp>
      <p:sp>
        <p:nvSpPr>
          <p:cNvPr id="4" name="winbar246"/>
          <p:cNvSpPr/>
          <p:nvPr/>
        </p:nvSpPr>
        <p:spPr>
          <a:xfrm>
            <a:off x="548640" y="1188720"/>
            <a:ext cx="11091672" cy="384048"/>
          </a:xfrm>
          <a:prstGeom prst="roundRect">
            <a:avLst>
              <a:gd name="adj" fmla="val 19048"/>
            </a:avLst>
          </a:prstGeom>
          <a:solidFill>
            <a:schemeClr val="tx2"/>
          </a:solidFill>
          <a:ln w="12700">
            <a:solidFill>
              <a:schemeClr val="tx2"/>
            </a:solidFill>
            <a:prstDash val="solid"/>
          </a:ln>
        </p:spPr>
      </p:sp>
      <p:sp>
        <p:nvSpPr>
          <p:cNvPr id="5" name="winbar247"/>
          <p:cNvSpPr/>
          <p:nvPr/>
        </p:nvSpPr>
        <p:spPr>
          <a:xfrm>
            <a:off x="548640" y="1463040"/>
            <a:ext cx="11091672" cy="109728"/>
          </a:xfrm>
          <a:prstGeom prst="rect">
            <a:avLst/>
          </a:prstGeom>
          <a:solidFill>
            <a:schemeClr val="tx2"/>
          </a:solidFill>
          <a:ln w="12700">
            <a:solidFill>
              <a:schemeClr val="tx2"/>
            </a:solidFill>
            <a:prstDash val="solid"/>
          </a:ln>
        </p:spPr>
      </p:sp>
      <p:sp>
        <p:nvSpPr>
          <p:cNvPr id="6" name="wdot248"/>
          <p:cNvSpPr/>
          <p:nvPr/>
        </p:nvSpPr>
        <p:spPr>
          <a:xfrm>
            <a:off x="713232" y="1316736"/>
            <a:ext cx="118872" cy="118872"/>
          </a:xfrm>
          <a:prstGeom prst="ellipse">
            <a:avLst/>
          </a:prstGeom>
          <a:solidFill>
            <a:schemeClr val="accent4"/>
          </a:solidFill>
          <a:ln w="12700">
            <a:solidFill>
              <a:schemeClr val="accent4"/>
            </a:solidFill>
            <a:prstDash val="solid"/>
          </a:ln>
        </p:spPr>
      </p:sp>
      <p:sp>
        <p:nvSpPr>
          <p:cNvPr id="7" name="wdot249"/>
          <p:cNvSpPr/>
          <p:nvPr/>
        </p:nvSpPr>
        <p:spPr>
          <a:xfrm>
            <a:off x="896112" y="1316736"/>
            <a:ext cx="118872" cy="118872"/>
          </a:xfrm>
          <a:prstGeom prst="ellipse">
            <a:avLst/>
          </a:prstGeom>
          <a:solidFill>
            <a:schemeClr val="accent1"/>
          </a:solidFill>
          <a:ln w="12700">
            <a:solidFill>
              <a:schemeClr val="accent1"/>
            </a:solidFill>
            <a:prstDash val="solid"/>
          </a:ln>
        </p:spPr>
      </p:sp>
      <p:sp>
        <p:nvSpPr>
          <p:cNvPr id="8" name="wdot250"/>
          <p:cNvSpPr/>
          <p:nvPr/>
        </p:nvSpPr>
        <p:spPr>
          <a:xfrm>
            <a:off x="1078992" y="1316736"/>
            <a:ext cx="118872" cy="118872"/>
          </a:xfrm>
          <a:prstGeom prst="ellipse">
            <a:avLst/>
          </a:prstGeom>
          <a:solidFill>
            <a:schemeClr val="accent2"/>
          </a:solidFill>
          <a:ln w="12700">
            <a:solidFill>
              <a:schemeClr val="accent2"/>
            </a:solidFill>
            <a:prstDash val="solid"/>
          </a:ln>
        </p:spPr>
      </p:sp>
      <p:sp>
        <p:nvSpPr>
          <p:cNvPr id="9" name="url251"/>
          <p:cNvSpPr/>
          <p:nvPr/>
        </p:nvSpPr>
        <p:spPr>
          <a:xfrm>
            <a:off x="1417320" y="1261872"/>
            <a:ext cx="3840480" cy="237744"/>
          </a:xfrm>
          <a:prstGeom prst="roundRect">
            <a:avLst>
              <a:gd name="adj" fmla="val 50000"/>
            </a:avLst>
          </a:prstGeom>
          <a:solidFill>
            <a:schemeClr val="tx1"/>
          </a:solidFill>
          <a:ln w="12700">
            <a:solidFill>
              <a:schemeClr val="tx1"/>
            </a:solidFill>
            <a:prstDash val="solid"/>
          </a:ln>
        </p:spPr>
      </p:sp>
      <p:sp>
        <p:nvSpPr>
          <p:cNvPr id="10" name="t252"/>
          <p:cNvSpPr txBox="1"/>
          <p:nvPr/>
        </p:nvSpPr>
        <p:spPr>
          <a:xfrm>
            <a:off x="1554480" y="1261872"/>
            <a:ext cx="3657600" cy="237744"/>
          </a:xfrm>
          <a:prstGeom prst="rect">
            <a:avLst/>
          </a:prstGeom>
          <a:noFill/>
          <a:ln/>
        </p:spPr>
        <p:txBody>
          <a:bodyPr wrap="square" lIns="0" tIns="0" rIns="0" bIns="0" rtlCol="0" anchor="ctr"/>
          <a:lstStyle/>
          <a:p>
            <a:pPr indent="0" marL="0">
              <a:buNone/>
            </a:pPr>
            <a:r>
              <a:rPr lang="en-US" sz="1000" dirty="0">
                <a:solidFill>
                  <a:srgbClr val="B8C2CC"/>
                </a:solidFill>
                <a:latin typeface="Courier New" pitchFamily="34" charset="0"/>
                <a:ea typeface="Courier New" pitchFamily="34" charset="-122"/>
                <a:cs typeface="Courier New" pitchFamily="34" charset="-120"/>
              </a:rPr>
              <a:t>127.0.0.1:7878/p/nightly-triage</a:t>
            </a:r>
            <a:endParaRPr lang="en-US" sz="1000" dirty="0"/>
          </a:p>
        </p:txBody>
      </p:sp>
      <p:sp>
        <p:nvSpPr>
          <p:cNvPr id="11" name="t253"/>
          <p:cNvSpPr txBox="1"/>
          <p:nvPr/>
        </p:nvSpPr>
        <p:spPr>
          <a:xfrm>
            <a:off x="7799832" y="1261872"/>
            <a:ext cx="3657600" cy="237744"/>
          </a:xfrm>
          <a:prstGeom prst="rect">
            <a:avLst/>
          </a:prstGeom>
          <a:noFill/>
          <a:ln/>
        </p:spPr>
        <p:txBody>
          <a:bodyPr wrap="square" lIns="0" tIns="0" rIns="0" bIns="0" rtlCol="0" anchor="ctr"/>
          <a:lstStyle/>
          <a:p>
            <a:pPr algn="r" indent="0" marL="0">
              <a:buNone/>
            </a:pPr>
            <a:r>
              <a:rPr lang="en-US" sz="1000" dirty="0">
                <a:solidFill>
                  <a:schemeClr val="bg1"/>
                </a:solidFill>
              </a:rPr>
              <a:t>nightly-triage · daily 06:00</a:t>
            </a:r>
            <a:endParaRPr lang="en-US" sz="1000" dirty="0"/>
          </a:p>
        </p:txBody>
      </p:sp>
      <p:sp>
        <p:nvSpPr>
          <p:cNvPr id="12" name="treepanel"/>
          <p:cNvSpPr/>
          <p:nvPr/>
        </p:nvSpPr>
        <p:spPr>
          <a:xfrm>
            <a:off x="685800" y="1691640"/>
            <a:ext cx="3383280" cy="3977640"/>
          </a:xfrm>
          <a:prstGeom prst="roundRect">
            <a:avLst>
              <a:gd name="adj" fmla="val 2162"/>
            </a:avLst>
          </a:prstGeom>
          <a:solidFill>
            <a:schemeClr val="bg1"/>
          </a:solidFill>
          <a:ln w="12700">
            <a:solidFill>
              <a:schemeClr val="bg1"/>
            </a:solidFill>
            <a:prstDash val="solid"/>
          </a:ln>
        </p:spPr>
      </p:sp>
      <p:sp>
        <p:nvSpPr>
          <p:cNvPr id="13" name="t254"/>
          <p:cNvSpPr txBox="1"/>
          <p:nvPr/>
        </p:nvSpPr>
        <p:spPr>
          <a:xfrm>
            <a:off x="822960" y="1783080"/>
            <a:ext cx="3108960" cy="274320"/>
          </a:xfrm>
          <a:prstGeom prst="rect">
            <a:avLst/>
          </a:prstGeom>
          <a:noFill/>
          <a:ln/>
        </p:spPr>
        <p:txBody>
          <a:bodyPr wrap="square" lIns="0" tIns="0" rIns="0" bIns="0" rtlCol="0" anchor="t"/>
          <a:lstStyle/>
          <a:p>
            <a:pPr indent="0" marL="0">
              <a:buNone/>
            </a:pPr>
            <a:r>
              <a:rPr lang="en-US" sz="1200" b="1" dirty="0">
                <a:solidFill>
                  <a:schemeClr val="tx1"/>
                </a:solidFill>
              </a:rPr>
              <a:t>Packet tree</a:t>
            </a:r>
            <a:endParaRPr lang="en-US" sz="1200" dirty="0"/>
          </a:p>
        </p:txBody>
      </p:sp>
      <p:sp>
        <p:nvSpPr>
          <p:cNvPr id="14" name="dot255"/>
          <p:cNvSpPr/>
          <p:nvPr/>
        </p:nvSpPr>
        <p:spPr>
          <a:xfrm>
            <a:off x="868680" y="2203704"/>
            <a:ext cx="118872" cy="118872"/>
          </a:xfrm>
          <a:prstGeom prst="ellipse">
            <a:avLst/>
          </a:prstGeom>
          <a:solidFill>
            <a:schemeClr val="accent3"/>
          </a:solidFill>
          <a:ln w="12700">
            <a:solidFill>
              <a:schemeClr val="accent3"/>
            </a:solidFill>
            <a:prstDash val="solid"/>
          </a:ln>
        </p:spPr>
      </p:sp>
      <p:sp>
        <p:nvSpPr>
          <p:cNvPr id="15" name="t256"/>
          <p:cNvSpPr txBox="1"/>
          <p:nvPr/>
        </p:nvSpPr>
        <p:spPr>
          <a:xfrm>
            <a:off x="1069848" y="2148840"/>
            <a:ext cx="2834640" cy="22860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nightly-triage</a:t>
            </a:r>
            <a:endParaRPr lang="en-US" sz="1100" dirty="0"/>
          </a:p>
        </p:txBody>
      </p:sp>
      <p:sp>
        <p:nvSpPr>
          <p:cNvPr id="16" name="t257"/>
          <p:cNvSpPr txBox="1"/>
          <p:nvPr/>
        </p:nvSpPr>
        <p:spPr>
          <a:xfrm>
            <a:off x="1069848" y="2368296"/>
            <a:ext cx="2834640" cy="201168"/>
          </a:xfrm>
          <a:prstGeom prst="rect">
            <a:avLst/>
          </a:prstGeom>
          <a:noFill/>
          <a:ln/>
        </p:spPr>
        <p:txBody>
          <a:bodyPr wrap="square" lIns="0" tIns="0" rIns="0" bIns="0" rtlCol="0" anchor="t"/>
          <a:lstStyle/>
          <a:p>
            <a:pPr indent="0" marL="0">
              <a:buNone/>
            </a:pPr>
            <a:r>
              <a:rPr lang="en-US" sz="950" dirty="0">
                <a:solidFill>
                  <a:schemeClr val="tx2"/>
                </a:solidFill>
              </a:rPr>
              <a:t>Sleeping · root · step 31 · wakes Thu 06:00</a:t>
            </a:r>
            <a:endParaRPr lang="en-US" sz="950" dirty="0"/>
          </a:p>
        </p:txBody>
      </p:sp>
      <p:sp>
        <p:nvSpPr>
          <p:cNvPr id="17" name="t258"/>
          <p:cNvSpPr txBox="1"/>
          <p:nvPr/>
        </p:nvSpPr>
        <p:spPr>
          <a:xfrm>
            <a:off x="941832" y="2651760"/>
            <a:ext cx="182880" cy="22860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a:t>
            </a:r>
            <a:endParaRPr lang="en-US" sz="1100" dirty="0"/>
          </a:p>
        </p:txBody>
      </p:sp>
      <p:sp>
        <p:nvSpPr>
          <p:cNvPr id="18" name="dot259"/>
          <p:cNvSpPr/>
          <p:nvPr/>
        </p:nvSpPr>
        <p:spPr>
          <a:xfrm>
            <a:off x="1143000" y="2706624"/>
            <a:ext cx="118872" cy="118872"/>
          </a:xfrm>
          <a:prstGeom prst="ellipse">
            <a:avLst/>
          </a:prstGeom>
          <a:solidFill>
            <a:schemeClr val="accent6"/>
          </a:solidFill>
          <a:ln w="12700">
            <a:solidFill>
              <a:schemeClr val="accent2"/>
            </a:solidFill>
            <a:prstDash val="solid"/>
          </a:ln>
        </p:spPr>
      </p:sp>
      <p:sp>
        <p:nvSpPr>
          <p:cNvPr id="19" name="t260"/>
          <p:cNvSpPr txBox="1"/>
          <p:nvPr/>
        </p:nvSpPr>
        <p:spPr>
          <a:xfrm>
            <a:off x="1344168" y="2651760"/>
            <a:ext cx="2834640" cy="22860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run-suite</a:t>
            </a:r>
            <a:endParaRPr lang="en-US" sz="1100" dirty="0"/>
          </a:p>
        </p:txBody>
      </p:sp>
      <p:sp>
        <p:nvSpPr>
          <p:cNvPr id="20" name="t261"/>
          <p:cNvSpPr txBox="1"/>
          <p:nvPr/>
        </p:nvSpPr>
        <p:spPr>
          <a:xfrm>
            <a:off x="1344168" y="2871216"/>
            <a:ext cx="2560320" cy="201168"/>
          </a:xfrm>
          <a:prstGeom prst="rect">
            <a:avLst/>
          </a:prstGeom>
          <a:noFill/>
          <a:ln/>
        </p:spPr>
        <p:txBody>
          <a:bodyPr wrap="square" lIns="0" tIns="0" rIns="0" bIns="0" rtlCol="0" anchor="t"/>
          <a:lstStyle/>
          <a:p>
            <a:pPr indent="0" marL="0">
              <a:buNone/>
            </a:pPr>
            <a:r>
              <a:rPr lang="en-US" sz="950" dirty="0">
                <a:solidFill>
                  <a:schemeClr val="tx2"/>
                </a:solidFill>
              </a:rPr>
              <a:t>Done · 12 steps · ran regress/full</a:t>
            </a:r>
            <a:endParaRPr lang="en-US" sz="950" dirty="0"/>
          </a:p>
        </p:txBody>
      </p:sp>
      <p:sp>
        <p:nvSpPr>
          <p:cNvPr id="21" name="t262"/>
          <p:cNvSpPr txBox="1"/>
          <p:nvPr/>
        </p:nvSpPr>
        <p:spPr>
          <a:xfrm>
            <a:off x="941832" y="3154680"/>
            <a:ext cx="182880" cy="22860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a:t>
            </a:r>
            <a:endParaRPr lang="en-US" sz="1100" dirty="0"/>
          </a:p>
        </p:txBody>
      </p:sp>
      <p:sp>
        <p:nvSpPr>
          <p:cNvPr id="22" name="dot263"/>
          <p:cNvSpPr/>
          <p:nvPr/>
        </p:nvSpPr>
        <p:spPr>
          <a:xfrm>
            <a:off x="1143000" y="3209544"/>
            <a:ext cx="118872" cy="118872"/>
          </a:xfrm>
          <a:prstGeom prst="ellipse">
            <a:avLst/>
          </a:prstGeom>
          <a:solidFill>
            <a:schemeClr val="accent6"/>
          </a:solidFill>
          <a:ln w="12700">
            <a:solidFill>
              <a:schemeClr val="accent2"/>
            </a:solidFill>
            <a:prstDash val="solid"/>
          </a:ln>
        </p:spPr>
      </p:sp>
      <p:sp>
        <p:nvSpPr>
          <p:cNvPr id="23" name="t264"/>
          <p:cNvSpPr txBox="1"/>
          <p:nvPr/>
        </p:nvSpPr>
        <p:spPr>
          <a:xfrm>
            <a:off x="1344168" y="3154680"/>
            <a:ext cx="2834640" cy="22860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triage-axi</a:t>
            </a:r>
            <a:endParaRPr lang="en-US" sz="1100" dirty="0"/>
          </a:p>
        </p:txBody>
      </p:sp>
      <p:sp>
        <p:nvSpPr>
          <p:cNvPr id="24" name="t265"/>
          <p:cNvSpPr txBox="1"/>
          <p:nvPr/>
        </p:nvSpPr>
        <p:spPr>
          <a:xfrm>
            <a:off x="1344168" y="3374136"/>
            <a:ext cx="2560320" cy="201168"/>
          </a:xfrm>
          <a:prstGeom prst="rect">
            <a:avLst/>
          </a:prstGeom>
          <a:noFill/>
          <a:ln/>
        </p:spPr>
        <p:txBody>
          <a:bodyPr wrap="square" lIns="0" tIns="0" rIns="0" bIns="0" rtlCol="0" anchor="t"/>
          <a:lstStyle/>
          <a:p>
            <a:pPr indent="0" marL="0">
              <a:buNone/>
            </a:pPr>
            <a:r>
              <a:rPr lang="en-US" sz="950" dirty="0">
                <a:solidFill>
                  <a:schemeClr val="tx2"/>
                </a:solidFill>
              </a:rPr>
              <a:t>Done · 5 steps · bug filed</a:t>
            </a:r>
            <a:endParaRPr lang="en-US" sz="950" dirty="0"/>
          </a:p>
        </p:txBody>
      </p:sp>
      <p:sp>
        <p:nvSpPr>
          <p:cNvPr id="25" name="t266"/>
          <p:cNvSpPr txBox="1"/>
          <p:nvPr/>
        </p:nvSpPr>
        <p:spPr>
          <a:xfrm>
            <a:off x="941832" y="3657600"/>
            <a:ext cx="182880" cy="22860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a:t>
            </a:r>
            <a:endParaRPr lang="en-US" sz="1100" dirty="0"/>
          </a:p>
        </p:txBody>
      </p:sp>
      <p:sp>
        <p:nvSpPr>
          <p:cNvPr id="26" name="dot267"/>
          <p:cNvSpPr/>
          <p:nvPr/>
        </p:nvSpPr>
        <p:spPr>
          <a:xfrm>
            <a:off x="1143000" y="3712464"/>
            <a:ext cx="118872" cy="118872"/>
          </a:xfrm>
          <a:prstGeom prst="ellipse">
            <a:avLst/>
          </a:prstGeom>
          <a:solidFill>
            <a:schemeClr val="accent1"/>
          </a:solidFill>
          <a:ln w="12700">
            <a:solidFill>
              <a:schemeClr val="accent1"/>
            </a:solidFill>
            <a:prstDash val="solid"/>
          </a:ln>
        </p:spPr>
      </p:sp>
      <p:sp>
        <p:nvSpPr>
          <p:cNvPr id="27" name="t268"/>
          <p:cNvSpPr txBox="1"/>
          <p:nvPr/>
        </p:nvSpPr>
        <p:spPr>
          <a:xfrm>
            <a:off x="1344168" y="3657600"/>
            <a:ext cx="2834640" cy="22860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triage-dma</a:t>
            </a:r>
            <a:endParaRPr lang="en-US" sz="1100" dirty="0"/>
          </a:p>
        </p:txBody>
      </p:sp>
      <p:sp>
        <p:nvSpPr>
          <p:cNvPr id="28" name="t269"/>
          <p:cNvSpPr txBox="1"/>
          <p:nvPr/>
        </p:nvSpPr>
        <p:spPr>
          <a:xfrm>
            <a:off x="1344168" y="3877056"/>
            <a:ext cx="2560320" cy="201168"/>
          </a:xfrm>
          <a:prstGeom prst="rect">
            <a:avLst/>
          </a:prstGeom>
          <a:noFill/>
          <a:ln/>
        </p:spPr>
        <p:txBody>
          <a:bodyPr wrap="square" lIns="0" tIns="0" rIns="0" bIns="0" rtlCol="0" anchor="t"/>
          <a:lstStyle/>
          <a:p>
            <a:pPr indent="0" marL="0">
              <a:buNone/>
            </a:pPr>
            <a:r>
              <a:rPr lang="en-US" sz="950" dirty="0">
                <a:solidFill>
                  <a:schemeClr val="tx2"/>
                </a:solidFill>
              </a:rPr>
              <a:t>Needs you · step 7 · asked you 2 h ago</a:t>
            </a:r>
            <a:endParaRPr lang="en-US" sz="950" dirty="0"/>
          </a:p>
        </p:txBody>
      </p:sp>
      <p:sp>
        <p:nvSpPr>
          <p:cNvPr id="29" name="t270"/>
          <p:cNvSpPr txBox="1"/>
          <p:nvPr/>
        </p:nvSpPr>
        <p:spPr>
          <a:xfrm>
            <a:off x="822960" y="4251960"/>
            <a:ext cx="3108960" cy="228600"/>
          </a:xfrm>
          <a:prstGeom prst="rect">
            <a:avLst/>
          </a:prstGeom>
          <a:noFill/>
          <a:ln/>
        </p:spPr>
        <p:txBody>
          <a:bodyPr wrap="square" lIns="0" tIns="0" rIns="0" bIns="0" rtlCol="0" anchor="t"/>
          <a:lstStyle/>
          <a:p>
            <a:pPr indent="0" marL="0">
              <a:buNone/>
            </a:pPr>
            <a:r>
              <a:rPr lang="en-US" sz="1100" b="1" dirty="0">
                <a:solidFill>
                  <a:schemeClr val="tx1"/>
                </a:solidFill>
              </a:rPr>
              <a:t>status.md</a:t>
            </a:r>
            <a:endParaRPr lang="en-US" sz="1100" dirty="0"/>
          </a:p>
        </p:txBody>
      </p:sp>
      <p:sp>
        <p:nvSpPr>
          <p:cNvPr id="30" name="statusbox"/>
          <p:cNvSpPr/>
          <p:nvPr/>
        </p:nvSpPr>
        <p:spPr>
          <a:xfrm>
            <a:off x="822960" y="4507992"/>
            <a:ext cx="3108960" cy="1024128"/>
          </a:xfrm>
          <a:prstGeom prst="roundRect">
            <a:avLst>
              <a:gd name="adj" fmla="val 7143"/>
            </a:avLst>
          </a:prstGeom>
          <a:solidFill>
            <a:schemeClr val="tx1"/>
          </a:solidFill>
          <a:ln w="12700">
            <a:solidFill>
              <a:schemeClr val="tx1"/>
            </a:solidFill>
            <a:prstDash val="solid"/>
          </a:ln>
        </p:spPr>
      </p:sp>
      <p:sp>
        <p:nvSpPr>
          <p:cNvPr id="31" name="t271"/>
          <p:cNvSpPr txBox="1"/>
          <p:nvPr/>
        </p:nvSpPr>
        <p:spPr>
          <a:xfrm>
            <a:off x="932688" y="4572000"/>
            <a:ext cx="2926080" cy="914400"/>
          </a:xfrm>
          <a:prstGeom prst="rect">
            <a:avLst/>
          </a:prstGeom>
          <a:noFill/>
          <a:ln/>
        </p:spPr>
        <p:txBody>
          <a:bodyPr wrap="square" lIns="0" tIns="0" rIns="0" bIns="0" rtlCol="0" anchor="t"/>
          <a:lstStyle/>
          <a:p>
            <a:pPr indent="0" marL="0">
              <a:buNone/>
            </a:pPr>
            <a:r>
              <a:rPr lang="en-US" sz="950" dirty="0">
                <a:solidFill>
                  <a:schemeClr val="accent1"/>
                </a:solidFill>
                <a:latin typeface="Courier New" pitchFamily="34" charset="0"/>
                <a:ea typeface="Courier New" pitchFamily="34" charset="-122"/>
                <a:cs typeface="Courier New" pitchFamily="34" charset="-120"/>
              </a:rPr>
              <a:t>state: SLEEPING</a:t>
            </a:r>
            <a:endParaRPr lang="en-US" sz="950" dirty="0"/>
          </a:p>
          <a:p>
            <a:pPr indent="0" marL="0">
              <a:buNone/>
            </a:pPr>
            <a:r>
              <a:rPr lang="en-US" sz="950" dirty="0">
                <a:solidFill>
                  <a:schemeClr val="accent1"/>
                </a:solidFill>
                <a:latin typeface="Courier New" pitchFamily="34" charset="0"/>
                <a:ea typeface="Courier New" pitchFamily="34" charset="-122"/>
                <a:cs typeface="Courier New" pitchFamily="34" charset="-120"/>
              </a:rPr>
              <a:t>step: 31</a:t>
            </a:r>
            <a:endParaRPr lang="en-US" sz="950" dirty="0"/>
          </a:p>
          <a:p>
            <a:pPr indent="0" marL="0">
              <a:buNone/>
            </a:pPr>
            <a:r>
              <a:rPr lang="en-US" sz="950" dirty="0">
                <a:solidFill>
                  <a:schemeClr val="accent1"/>
                </a:solidFill>
                <a:latin typeface="Courier New" pitchFamily="34" charset="0"/>
                <a:ea typeface="Courier New" pitchFamily="34" charset="-122"/>
                <a:cs typeface="Courier New" pitchFamily="34" charset="-120"/>
              </a:rPr>
              <a:t>every: daily 06:00</a:t>
            </a:r>
            <a:endParaRPr lang="en-US" sz="950" dirty="0"/>
          </a:p>
          <a:p>
            <a:pPr indent="0" marL="0">
              <a:buNone/>
            </a:pPr>
            <a:r>
              <a:rPr lang="en-US" sz="950" dirty="0">
                <a:solidFill>
                  <a:schemeClr val="accent1"/>
                </a:solidFill>
                <a:latin typeface="Courier New" pitchFamily="34" charset="0"/>
                <a:ea typeface="Courier New" pitchFamily="34" charset="-122"/>
                <a:cs typeface="Courier New" pitchFamily="34" charset="-120"/>
              </a:rPr>
              <a:t>wake_at: 2026-10-22T06:00Z</a:t>
            </a:r>
            <a:endParaRPr lang="en-US" sz="950" dirty="0"/>
          </a:p>
          <a:p>
            <a:pPr indent="0" marL="0">
              <a:buNone/>
            </a:pPr>
            <a:r>
              <a:rPr lang="en-US" sz="950" dirty="0">
                <a:solidFill>
                  <a:schemeClr val="accent1"/>
                </a:solidFill>
                <a:latin typeface="Courier New" pitchFamily="34" charset="0"/>
                <a:ea typeface="Courier New" pitchFamily="34" charset="-122"/>
                <a:cs typeface="Courier New" pitchFamily="34" charset="-120"/>
              </a:rPr>
              <a:t>spend_today: $0.84</a:t>
            </a:r>
            <a:endParaRPr lang="en-US" sz="950" dirty="0"/>
          </a:p>
        </p:txBody>
      </p:sp>
      <p:sp>
        <p:nvSpPr>
          <p:cNvPr id="32" name="tlpanel"/>
          <p:cNvSpPr/>
          <p:nvPr/>
        </p:nvSpPr>
        <p:spPr>
          <a:xfrm>
            <a:off x="4206240" y="1691640"/>
            <a:ext cx="7296912" cy="3977640"/>
          </a:xfrm>
          <a:prstGeom prst="roundRect">
            <a:avLst>
              <a:gd name="adj" fmla="val 1839"/>
            </a:avLst>
          </a:prstGeom>
          <a:solidFill>
            <a:schemeClr val="bg1"/>
          </a:solidFill>
          <a:ln w="12700">
            <a:solidFill>
              <a:schemeClr val="bg1"/>
            </a:solidFill>
            <a:prstDash val="solid"/>
          </a:ln>
        </p:spPr>
      </p:sp>
      <p:sp>
        <p:nvSpPr>
          <p:cNvPr id="33" name="t272"/>
          <p:cNvSpPr txBox="1"/>
          <p:nvPr/>
        </p:nvSpPr>
        <p:spPr>
          <a:xfrm>
            <a:off x="4343400" y="1783080"/>
            <a:ext cx="7022592" cy="274320"/>
          </a:xfrm>
          <a:prstGeom prst="rect">
            <a:avLst/>
          </a:prstGeom>
          <a:noFill/>
          <a:ln/>
        </p:spPr>
        <p:txBody>
          <a:bodyPr wrap="square" lIns="0" tIns="0" rIns="0" bIns="0" rtlCol="0" anchor="t"/>
          <a:lstStyle/>
          <a:p>
            <a:pPr indent="0" marL="0">
              <a:buNone/>
            </a:pPr>
            <a:r>
              <a:rPr lang="en-US" sz="1200" b="1" dirty="0">
                <a:solidFill>
                  <a:schemeClr val="tx1"/>
                </a:solidFill>
              </a:rPr>
              <a:t>Timeline, last 24 hours</a:t>
            </a:r>
            <a:endParaRPr lang="en-US" sz="1200" dirty="0"/>
          </a:p>
        </p:txBody>
      </p:sp>
      <p:sp>
        <p:nvSpPr>
          <p:cNvPr id="34" name="t273"/>
          <p:cNvSpPr txBox="1"/>
          <p:nvPr/>
        </p:nvSpPr>
        <p:spPr>
          <a:xfrm>
            <a:off x="5303520" y="2103120"/>
            <a:ext cx="548640" cy="182880"/>
          </a:xfrm>
          <a:prstGeom prst="rect">
            <a:avLst/>
          </a:prstGeom>
          <a:noFill/>
          <a:ln/>
        </p:spPr>
        <p:txBody>
          <a:bodyPr wrap="square" lIns="0" tIns="0" rIns="0" bIns="0" rtlCol="0" anchor="t"/>
          <a:lstStyle/>
          <a:p>
            <a:pPr algn="ctr" indent="0" marL="0">
              <a:buNone/>
            </a:pPr>
            <a:r>
              <a:rPr lang="en-US" sz="900" dirty="0">
                <a:solidFill>
                  <a:schemeClr val="accent3"/>
                </a:solidFill>
              </a:rPr>
              <a:t>06:00</a:t>
            </a:r>
            <a:endParaRPr lang="en-US" sz="900" dirty="0"/>
          </a:p>
        </p:txBody>
      </p:sp>
      <p:sp>
        <p:nvSpPr>
          <p:cNvPr id="35" name="tick0"/>
          <p:cNvSpPr/>
          <p:nvPr/>
        </p:nvSpPr>
        <p:spPr>
          <a:xfrm>
            <a:off x="5577840" y="2313432"/>
            <a:ext cx="0" cy="2011680"/>
          </a:xfrm>
          <a:prstGeom prst="line">
            <a:avLst/>
          </a:prstGeom>
          <a:noFill/>
          <a:ln w="6350">
            <a:solidFill>
              <a:srgbClr val="D5DBE1"/>
            </a:solidFill>
            <a:prstDash val="solid"/>
          </a:ln>
        </p:spPr>
      </p:sp>
      <p:sp>
        <p:nvSpPr>
          <p:cNvPr id="36" name="t274"/>
          <p:cNvSpPr txBox="1"/>
          <p:nvPr/>
        </p:nvSpPr>
        <p:spPr>
          <a:xfrm>
            <a:off x="6739128" y="2103120"/>
            <a:ext cx="548640" cy="182880"/>
          </a:xfrm>
          <a:prstGeom prst="rect">
            <a:avLst/>
          </a:prstGeom>
          <a:noFill/>
          <a:ln/>
        </p:spPr>
        <p:txBody>
          <a:bodyPr wrap="square" lIns="0" tIns="0" rIns="0" bIns="0" rtlCol="0" anchor="t"/>
          <a:lstStyle/>
          <a:p>
            <a:pPr algn="ctr" indent="0" marL="0">
              <a:buNone/>
            </a:pPr>
            <a:r>
              <a:rPr lang="en-US" sz="900" dirty="0">
                <a:solidFill>
                  <a:schemeClr val="accent3"/>
                </a:solidFill>
              </a:rPr>
              <a:t>12:00</a:t>
            </a:r>
            <a:endParaRPr lang="en-US" sz="900" dirty="0"/>
          </a:p>
        </p:txBody>
      </p:sp>
      <p:sp>
        <p:nvSpPr>
          <p:cNvPr id="37" name="tick1"/>
          <p:cNvSpPr/>
          <p:nvPr/>
        </p:nvSpPr>
        <p:spPr>
          <a:xfrm>
            <a:off x="7013448" y="2313432"/>
            <a:ext cx="0" cy="2011680"/>
          </a:xfrm>
          <a:prstGeom prst="line">
            <a:avLst/>
          </a:prstGeom>
          <a:noFill/>
          <a:ln w="6350">
            <a:solidFill>
              <a:srgbClr val="D5DBE1"/>
            </a:solidFill>
            <a:prstDash val="solid"/>
          </a:ln>
        </p:spPr>
      </p:sp>
      <p:sp>
        <p:nvSpPr>
          <p:cNvPr id="38" name="t275"/>
          <p:cNvSpPr txBox="1"/>
          <p:nvPr/>
        </p:nvSpPr>
        <p:spPr>
          <a:xfrm>
            <a:off x="8174736" y="2103120"/>
            <a:ext cx="548640" cy="182880"/>
          </a:xfrm>
          <a:prstGeom prst="rect">
            <a:avLst/>
          </a:prstGeom>
          <a:noFill/>
          <a:ln/>
        </p:spPr>
        <p:txBody>
          <a:bodyPr wrap="square" lIns="0" tIns="0" rIns="0" bIns="0" rtlCol="0" anchor="t"/>
          <a:lstStyle/>
          <a:p>
            <a:pPr algn="ctr" indent="0" marL="0">
              <a:buNone/>
            </a:pPr>
            <a:r>
              <a:rPr lang="en-US" sz="900" dirty="0">
                <a:solidFill>
                  <a:schemeClr val="accent3"/>
                </a:solidFill>
              </a:rPr>
              <a:t>18:00</a:t>
            </a:r>
            <a:endParaRPr lang="en-US" sz="900" dirty="0"/>
          </a:p>
        </p:txBody>
      </p:sp>
      <p:sp>
        <p:nvSpPr>
          <p:cNvPr id="39" name="tick2"/>
          <p:cNvSpPr/>
          <p:nvPr/>
        </p:nvSpPr>
        <p:spPr>
          <a:xfrm>
            <a:off x="8449056" y="2313432"/>
            <a:ext cx="0" cy="2011680"/>
          </a:xfrm>
          <a:prstGeom prst="line">
            <a:avLst/>
          </a:prstGeom>
          <a:noFill/>
          <a:ln w="6350">
            <a:solidFill>
              <a:srgbClr val="D5DBE1"/>
            </a:solidFill>
            <a:prstDash val="solid"/>
          </a:ln>
        </p:spPr>
      </p:sp>
      <p:sp>
        <p:nvSpPr>
          <p:cNvPr id="40" name="t276"/>
          <p:cNvSpPr txBox="1"/>
          <p:nvPr/>
        </p:nvSpPr>
        <p:spPr>
          <a:xfrm>
            <a:off x="9610344" y="2103120"/>
            <a:ext cx="548640" cy="182880"/>
          </a:xfrm>
          <a:prstGeom prst="rect">
            <a:avLst/>
          </a:prstGeom>
          <a:noFill/>
          <a:ln/>
        </p:spPr>
        <p:txBody>
          <a:bodyPr wrap="square" lIns="0" tIns="0" rIns="0" bIns="0" rtlCol="0" anchor="t"/>
          <a:lstStyle/>
          <a:p>
            <a:pPr algn="ctr" indent="0" marL="0">
              <a:buNone/>
            </a:pPr>
            <a:r>
              <a:rPr lang="en-US" sz="900" dirty="0">
                <a:solidFill>
                  <a:schemeClr val="accent3"/>
                </a:solidFill>
              </a:rPr>
              <a:t>00:00</a:t>
            </a:r>
            <a:endParaRPr lang="en-US" sz="900" dirty="0"/>
          </a:p>
        </p:txBody>
      </p:sp>
      <p:sp>
        <p:nvSpPr>
          <p:cNvPr id="41" name="tick3"/>
          <p:cNvSpPr/>
          <p:nvPr/>
        </p:nvSpPr>
        <p:spPr>
          <a:xfrm>
            <a:off x="9884664" y="2313432"/>
            <a:ext cx="0" cy="2011680"/>
          </a:xfrm>
          <a:prstGeom prst="line">
            <a:avLst/>
          </a:prstGeom>
          <a:noFill/>
          <a:ln w="6350">
            <a:solidFill>
              <a:srgbClr val="D5DBE1"/>
            </a:solidFill>
            <a:prstDash val="solid"/>
          </a:ln>
        </p:spPr>
      </p:sp>
      <p:sp>
        <p:nvSpPr>
          <p:cNvPr id="42" name="t277"/>
          <p:cNvSpPr txBox="1"/>
          <p:nvPr/>
        </p:nvSpPr>
        <p:spPr>
          <a:xfrm>
            <a:off x="11045952" y="2103120"/>
            <a:ext cx="548640" cy="182880"/>
          </a:xfrm>
          <a:prstGeom prst="rect">
            <a:avLst/>
          </a:prstGeom>
          <a:noFill/>
          <a:ln/>
        </p:spPr>
        <p:txBody>
          <a:bodyPr wrap="square" lIns="0" tIns="0" rIns="0" bIns="0" rtlCol="0" anchor="t"/>
          <a:lstStyle/>
          <a:p>
            <a:pPr algn="ctr" indent="0" marL="0">
              <a:buNone/>
            </a:pPr>
            <a:r>
              <a:rPr lang="en-US" sz="900" dirty="0">
                <a:solidFill>
                  <a:schemeClr val="accent3"/>
                </a:solidFill>
              </a:rPr>
              <a:t>06:00</a:t>
            </a:r>
            <a:endParaRPr lang="en-US" sz="900" dirty="0"/>
          </a:p>
        </p:txBody>
      </p:sp>
      <p:sp>
        <p:nvSpPr>
          <p:cNvPr id="43" name="tick4"/>
          <p:cNvSpPr/>
          <p:nvPr/>
        </p:nvSpPr>
        <p:spPr>
          <a:xfrm>
            <a:off x="11320272" y="2313432"/>
            <a:ext cx="0" cy="2011680"/>
          </a:xfrm>
          <a:prstGeom prst="line">
            <a:avLst/>
          </a:prstGeom>
          <a:noFill/>
          <a:ln w="6350">
            <a:solidFill>
              <a:srgbClr val="D5DBE1"/>
            </a:solidFill>
            <a:prstDash val="solid"/>
          </a:ln>
        </p:spPr>
      </p:sp>
      <p:sp>
        <p:nvSpPr>
          <p:cNvPr id="44" name="t278"/>
          <p:cNvSpPr txBox="1"/>
          <p:nvPr/>
        </p:nvSpPr>
        <p:spPr>
          <a:xfrm>
            <a:off x="4343400" y="2423160"/>
            <a:ext cx="1188720" cy="292608"/>
          </a:xfrm>
          <a:prstGeom prst="rect">
            <a:avLst/>
          </a:prstGeom>
          <a:noFill/>
          <a:ln/>
        </p:spPr>
        <p:txBody>
          <a:bodyPr wrap="square" lIns="0" tIns="0" rIns="0" bIns="0" rtlCol="0" anchor="ctr"/>
          <a:lstStyle/>
          <a:p>
            <a:pPr indent="0" marL="0">
              <a:buNone/>
            </a:pPr>
            <a:r>
              <a:rPr lang="en-US" sz="950" dirty="0">
                <a:solidFill>
                  <a:schemeClr val="tx1"/>
                </a:solidFill>
                <a:latin typeface="Courier New" pitchFamily="34" charset="0"/>
                <a:ea typeface="Courier New" pitchFamily="34" charset="-122"/>
                <a:cs typeface="Courier New" pitchFamily="34" charset="-120"/>
              </a:rPr>
              <a:t>nightly-triage</a:t>
            </a:r>
            <a:endParaRPr lang="en-US" sz="950" dirty="0"/>
          </a:p>
        </p:txBody>
      </p:sp>
      <p:sp>
        <p:nvSpPr>
          <p:cNvPr id="45" name="blk0_0"/>
          <p:cNvSpPr/>
          <p:nvPr/>
        </p:nvSpPr>
        <p:spPr>
          <a:xfrm>
            <a:off x="5577840" y="2459736"/>
            <a:ext cx="71780" cy="219456"/>
          </a:xfrm>
          <a:prstGeom prst="rect">
            <a:avLst/>
          </a:prstGeom>
          <a:solidFill>
            <a:schemeClr val="accent2"/>
          </a:solidFill>
          <a:ln w="12700">
            <a:solidFill>
              <a:schemeClr val="accent2"/>
            </a:solidFill>
            <a:prstDash val="solid"/>
          </a:ln>
        </p:spPr>
      </p:sp>
      <p:sp>
        <p:nvSpPr>
          <p:cNvPr id="46" name="blk0_1"/>
          <p:cNvSpPr/>
          <p:nvPr/>
        </p:nvSpPr>
        <p:spPr>
          <a:xfrm>
            <a:off x="6199937" y="2459736"/>
            <a:ext cx="71780" cy="219456"/>
          </a:xfrm>
          <a:prstGeom prst="rect">
            <a:avLst/>
          </a:prstGeom>
          <a:solidFill>
            <a:schemeClr val="accent2"/>
          </a:solidFill>
          <a:ln w="12700">
            <a:solidFill>
              <a:schemeClr val="accent2"/>
            </a:solidFill>
            <a:prstDash val="solid"/>
          </a:ln>
        </p:spPr>
      </p:sp>
      <p:sp>
        <p:nvSpPr>
          <p:cNvPr id="47" name="gap0_2"/>
          <p:cNvSpPr/>
          <p:nvPr/>
        </p:nvSpPr>
        <p:spPr>
          <a:xfrm>
            <a:off x="6317437" y="2569464"/>
            <a:ext cx="5002835" cy="0"/>
          </a:xfrm>
          <a:prstGeom prst="line">
            <a:avLst/>
          </a:prstGeom>
          <a:noFill/>
          <a:ln w="19050">
            <a:solidFill>
              <a:schemeClr val="accent3"/>
            </a:solidFill>
            <a:prstDash val="dash"/>
          </a:ln>
        </p:spPr>
      </p:sp>
      <p:sp>
        <p:nvSpPr>
          <p:cNvPr id="48" name="t279"/>
          <p:cNvSpPr txBox="1"/>
          <p:nvPr/>
        </p:nvSpPr>
        <p:spPr>
          <a:xfrm>
            <a:off x="7734757" y="2468880"/>
            <a:ext cx="2377440" cy="201168"/>
          </a:xfrm>
          <a:prstGeom prst="rect">
            <a:avLst/>
          </a:prstGeom>
          <a:solidFill>
            <a:schemeClr val="bg1"/>
          </a:solidFill>
          <a:ln/>
        </p:spPr>
        <p:txBody>
          <a:bodyPr wrap="square" lIns="0" tIns="0" rIns="0" bIns="0" rtlCol="0" anchor="ctr"/>
          <a:lstStyle/>
          <a:p>
            <a:pPr algn="ctr" indent="0" marL="0">
              <a:buNone/>
            </a:pPr>
            <a:r>
              <a:rPr lang="en-US" sz="900" dirty="0">
                <a:solidFill>
                  <a:schemeClr val="accent3"/>
                </a:solidFill>
              </a:rPr>
              <a:t>sleeping until Thu 06:00</a:t>
            </a:r>
            <a:endParaRPr lang="en-US" sz="900" dirty="0"/>
          </a:p>
        </p:txBody>
      </p:sp>
      <p:sp>
        <p:nvSpPr>
          <p:cNvPr id="49" name="t280"/>
          <p:cNvSpPr txBox="1"/>
          <p:nvPr/>
        </p:nvSpPr>
        <p:spPr>
          <a:xfrm>
            <a:off x="4343400" y="2898648"/>
            <a:ext cx="1188720" cy="292608"/>
          </a:xfrm>
          <a:prstGeom prst="rect">
            <a:avLst/>
          </a:prstGeom>
          <a:noFill/>
          <a:ln/>
        </p:spPr>
        <p:txBody>
          <a:bodyPr wrap="square" lIns="0" tIns="0" rIns="0" bIns="0" rtlCol="0" anchor="ctr"/>
          <a:lstStyle/>
          <a:p>
            <a:pPr indent="0" marL="0">
              <a:buNone/>
            </a:pPr>
            <a:r>
              <a:rPr lang="en-US" sz="950" dirty="0">
                <a:solidFill>
                  <a:schemeClr val="tx1"/>
                </a:solidFill>
                <a:latin typeface="Courier New" pitchFamily="34" charset="0"/>
                <a:ea typeface="Courier New" pitchFamily="34" charset="-122"/>
                <a:cs typeface="Courier New" pitchFamily="34" charset="-120"/>
              </a:rPr>
              <a:t>run-suite</a:t>
            </a:r>
            <a:endParaRPr lang="en-US" sz="950" dirty="0"/>
          </a:p>
        </p:txBody>
      </p:sp>
      <p:sp>
        <p:nvSpPr>
          <p:cNvPr id="50" name="blk1_0"/>
          <p:cNvSpPr/>
          <p:nvPr/>
        </p:nvSpPr>
        <p:spPr>
          <a:xfrm>
            <a:off x="5601767" y="2935224"/>
            <a:ext cx="71780" cy="219456"/>
          </a:xfrm>
          <a:prstGeom prst="rect">
            <a:avLst/>
          </a:prstGeom>
          <a:solidFill>
            <a:schemeClr val="accent2"/>
          </a:solidFill>
          <a:ln w="12700">
            <a:solidFill>
              <a:schemeClr val="accent2"/>
            </a:solidFill>
            <a:prstDash val="solid"/>
          </a:ln>
        </p:spPr>
      </p:sp>
      <p:sp>
        <p:nvSpPr>
          <p:cNvPr id="51" name="blk1_1"/>
          <p:cNvSpPr/>
          <p:nvPr/>
        </p:nvSpPr>
        <p:spPr>
          <a:xfrm>
            <a:off x="5697474" y="2935224"/>
            <a:ext cx="95707" cy="219456"/>
          </a:xfrm>
          <a:prstGeom prst="rect">
            <a:avLst/>
          </a:prstGeom>
          <a:solidFill>
            <a:schemeClr val="accent2"/>
          </a:solidFill>
          <a:ln w="12700">
            <a:solidFill>
              <a:schemeClr val="accent2"/>
            </a:solidFill>
            <a:prstDash val="solid"/>
          </a:ln>
        </p:spPr>
      </p:sp>
      <p:sp>
        <p:nvSpPr>
          <p:cNvPr id="52" name="blk1_2"/>
          <p:cNvSpPr/>
          <p:nvPr/>
        </p:nvSpPr>
        <p:spPr>
          <a:xfrm>
            <a:off x="5817108" y="2935224"/>
            <a:ext cx="119634" cy="219456"/>
          </a:xfrm>
          <a:prstGeom prst="rect">
            <a:avLst/>
          </a:prstGeom>
          <a:solidFill>
            <a:schemeClr val="accent2"/>
          </a:solidFill>
          <a:ln w="12700">
            <a:solidFill>
              <a:schemeClr val="accent2"/>
            </a:solidFill>
            <a:prstDash val="solid"/>
          </a:ln>
        </p:spPr>
      </p:sp>
      <p:sp>
        <p:nvSpPr>
          <p:cNvPr id="53" name="t281"/>
          <p:cNvSpPr txBox="1"/>
          <p:nvPr/>
        </p:nvSpPr>
        <p:spPr>
          <a:xfrm>
            <a:off x="4343400" y="3374136"/>
            <a:ext cx="1188720" cy="292608"/>
          </a:xfrm>
          <a:prstGeom prst="rect">
            <a:avLst/>
          </a:prstGeom>
          <a:noFill/>
          <a:ln/>
        </p:spPr>
        <p:txBody>
          <a:bodyPr wrap="square" lIns="0" tIns="0" rIns="0" bIns="0" rtlCol="0" anchor="ctr"/>
          <a:lstStyle/>
          <a:p>
            <a:pPr indent="0" marL="0">
              <a:buNone/>
            </a:pPr>
            <a:r>
              <a:rPr lang="en-US" sz="950" dirty="0">
                <a:solidFill>
                  <a:schemeClr val="tx1"/>
                </a:solidFill>
                <a:latin typeface="Courier New" pitchFamily="34" charset="0"/>
                <a:ea typeface="Courier New" pitchFamily="34" charset="-122"/>
                <a:cs typeface="Courier New" pitchFamily="34" charset="-120"/>
              </a:rPr>
              <a:t>triage-axi</a:t>
            </a:r>
            <a:endParaRPr lang="en-US" sz="950" dirty="0"/>
          </a:p>
        </p:txBody>
      </p:sp>
      <p:sp>
        <p:nvSpPr>
          <p:cNvPr id="54" name="blk2_0"/>
          <p:cNvSpPr/>
          <p:nvPr/>
        </p:nvSpPr>
        <p:spPr>
          <a:xfrm>
            <a:off x="5960669" y="3410712"/>
            <a:ext cx="71780" cy="219456"/>
          </a:xfrm>
          <a:prstGeom prst="rect">
            <a:avLst/>
          </a:prstGeom>
          <a:solidFill>
            <a:schemeClr val="accent2"/>
          </a:solidFill>
          <a:ln w="12700">
            <a:solidFill>
              <a:schemeClr val="accent2"/>
            </a:solidFill>
            <a:prstDash val="solid"/>
          </a:ln>
        </p:spPr>
      </p:sp>
      <p:sp>
        <p:nvSpPr>
          <p:cNvPr id="55" name="blk2_1"/>
          <p:cNvSpPr/>
          <p:nvPr/>
        </p:nvSpPr>
        <p:spPr>
          <a:xfrm>
            <a:off x="6056376" y="3410712"/>
            <a:ext cx="71780" cy="219456"/>
          </a:xfrm>
          <a:prstGeom prst="rect">
            <a:avLst/>
          </a:prstGeom>
          <a:solidFill>
            <a:schemeClr val="accent2"/>
          </a:solidFill>
          <a:ln w="12700">
            <a:solidFill>
              <a:schemeClr val="accent2"/>
            </a:solidFill>
            <a:prstDash val="solid"/>
          </a:ln>
        </p:spPr>
      </p:sp>
      <p:sp>
        <p:nvSpPr>
          <p:cNvPr id="56" name="t282"/>
          <p:cNvSpPr txBox="1"/>
          <p:nvPr/>
        </p:nvSpPr>
        <p:spPr>
          <a:xfrm>
            <a:off x="4343400" y="3849624"/>
            <a:ext cx="1188720" cy="292608"/>
          </a:xfrm>
          <a:prstGeom prst="rect">
            <a:avLst/>
          </a:prstGeom>
          <a:noFill/>
          <a:ln/>
        </p:spPr>
        <p:txBody>
          <a:bodyPr wrap="square" lIns="0" tIns="0" rIns="0" bIns="0" rtlCol="0" anchor="ctr"/>
          <a:lstStyle/>
          <a:p>
            <a:pPr indent="0" marL="0">
              <a:buNone/>
            </a:pPr>
            <a:r>
              <a:rPr lang="en-US" sz="950" dirty="0">
                <a:solidFill>
                  <a:schemeClr val="tx1"/>
                </a:solidFill>
                <a:latin typeface="Courier New" pitchFamily="34" charset="0"/>
                <a:ea typeface="Courier New" pitchFamily="34" charset="-122"/>
                <a:cs typeface="Courier New" pitchFamily="34" charset="-120"/>
              </a:rPr>
              <a:t>triage-dma</a:t>
            </a:r>
            <a:endParaRPr lang="en-US" sz="950" dirty="0"/>
          </a:p>
        </p:txBody>
      </p:sp>
      <p:sp>
        <p:nvSpPr>
          <p:cNvPr id="57" name="blk3_0"/>
          <p:cNvSpPr/>
          <p:nvPr/>
        </p:nvSpPr>
        <p:spPr>
          <a:xfrm>
            <a:off x="5960669" y="3886200"/>
            <a:ext cx="71780" cy="219456"/>
          </a:xfrm>
          <a:prstGeom prst="rect">
            <a:avLst/>
          </a:prstGeom>
          <a:solidFill>
            <a:schemeClr val="accent2"/>
          </a:solidFill>
          <a:ln w="12700">
            <a:solidFill>
              <a:schemeClr val="accent2"/>
            </a:solidFill>
            <a:prstDash val="solid"/>
          </a:ln>
        </p:spPr>
      </p:sp>
      <p:sp>
        <p:nvSpPr>
          <p:cNvPr id="58" name="blk3_1"/>
          <p:cNvSpPr/>
          <p:nvPr/>
        </p:nvSpPr>
        <p:spPr>
          <a:xfrm>
            <a:off x="6056376" y="3886200"/>
            <a:ext cx="95707" cy="219456"/>
          </a:xfrm>
          <a:prstGeom prst="rect">
            <a:avLst/>
          </a:prstGeom>
          <a:solidFill>
            <a:schemeClr val="accent2"/>
          </a:solidFill>
          <a:ln w="12700">
            <a:solidFill>
              <a:schemeClr val="accent2"/>
            </a:solidFill>
            <a:prstDash val="solid"/>
          </a:ln>
        </p:spPr>
      </p:sp>
      <p:sp>
        <p:nvSpPr>
          <p:cNvPr id="59" name="gap3_2"/>
          <p:cNvSpPr/>
          <p:nvPr/>
        </p:nvSpPr>
        <p:spPr>
          <a:xfrm>
            <a:off x="6197803" y="3995928"/>
            <a:ext cx="5122469" cy="0"/>
          </a:xfrm>
          <a:prstGeom prst="line">
            <a:avLst/>
          </a:prstGeom>
          <a:noFill/>
          <a:ln w="19050">
            <a:solidFill>
              <a:schemeClr val="accent1"/>
            </a:solidFill>
            <a:prstDash val="dash"/>
          </a:ln>
        </p:spPr>
      </p:sp>
      <p:sp>
        <p:nvSpPr>
          <p:cNvPr id="60" name="t283"/>
          <p:cNvSpPr txBox="1"/>
          <p:nvPr/>
        </p:nvSpPr>
        <p:spPr>
          <a:xfrm>
            <a:off x="7615123" y="3895344"/>
            <a:ext cx="2377440" cy="201168"/>
          </a:xfrm>
          <a:prstGeom prst="rect">
            <a:avLst/>
          </a:prstGeom>
          <a:solidFill>
            <a:schemeClr val="bg1"/>
          </a:solidFill>
          <a:ln/>
        </p:spPr>
        <p:txBody>
          <a:bodyPr wrap="square" lIns="0" tIns="0" rIns="0" bIns="0" rtlCol="0" anchor="ctr"/>
          <a:lstStyle/>
          <a:p>
            <a:pPr algn="ctr" indent="0" marL="0">
              <a:buNone/>
            </a:pPr>
            <a:r>
              <a:rPr lang="en-US" sz="900" dirty="0">
                <a:solidFill>
                  <a:schemeClr val="accent4"/>
                </a:solidFill>
              </a:rPr>
              <a:t>waiting for your answer</a:t>
            </a:r>
            <a:endParaRPr lang="en-US" sz="900" dirty="0"/>
          </a:p>
        </p:txBody>
      </p:sp>
      <p:sp>
        <p:nvSpPr>
          <p:cNvPr id="61" name="t284"/>
          <p:cNvSpPr txBox="1"/>
          <p:nvPr/>
        </p:nvSpPr>
        <p:spPr>
          <a:xfrm>
            <a:off x="4343400" y="4526280"/>
            <a:ext cx="1828800" cy="228600"/>
          </a:xfrm>
          <a:prstGeom prst="rect">
            <a:avLst/>
          </a:prstGeom>
          <a:noFill/>
          <a:ln/>
        </p:spPr>
        <p:txBody>
          <a:bodyPr wrap="square" lIns="0" tIns="0" rIns="0" bIns="0" rtlCol="0" anchor="t"/>
          <a:lstStyle/>
          <a:p>
            <a:pPr indent="0" marL="0">
              <a:buNone/>
            </a:pPr>
            <a:r>
              <a:rPr lang="en-US" sz="1100" b="1" dirty="0">
                <a:solidFill>
                  <a:schemeClr val="tx1"/>
                </a:solidFill>
              </a:rPr>
              <a:t>Actions</a:t>
            </a:r>
            <a:endParaRPr lang="en-US" sz="1100" dirty="0"/>
          </a:p>
        </p:txBody>
      </p:sp>
      <p:sp>
        <p:nvSpPr>
          <p:cNvPr id="62" name="pill285"/>
          <p:cNvSpPr/>
          <p:nvPr/>
        </p:nvSpPr>
        <p:spPr>
          <a:xfrm>
            <a:off x="4343400" y="4818888"/>
            <a:ext cx="662940" cy="292608"/>
          </a:xfrm>
          <a:prstGeom prst="roundRect">
            <a:avLst>
              <a:gd name="adj" fmla="val 50000"/>
            </a:avLst>
          </a:prstGeom>
          <a:solidFill>
            <a:schemeClr val="bg1"/>
          </a:solidFill>
          <a:ln w="9525">
            <a:solidFill>
              <a:schemeClr val="accent3"/>
            </a:solidFill>
            <a:prstDash val="solid"/>
          </a:ln>
        </p:spPr>
      </p:sp>
      <p:sp>
        <p:nvSpPr>
          <p:cNvPr id="63" name="t286"/>
          <p:cNvSpPr txBox="1"/>
          <p:nvPr/>
        </p:nvSpPr>
        <p:spPr>
          <a:xfrm>
            <a:off x="4343400" y="4818888"/>
            <a:ext cx="662940" cy="292608"/>
          </a:xfrm>
          <a:prstGeom prst="rect">
            <a:avLst/>
          </a:prstGeom>
          <a:noFill/>
          <a:ln/>
        </p:spPr>
        <p:txBody>
          <a:bodyPr wrap="square" lIns="0" tIns="0" rIns="0" bIns="0" rtlCol="0" anchor="ctr"/>
          <a:lstStyle/>
          <a:p>
            <a:pPr algn="ctr" indent="0" marL="0">
              <a:buNone/>
            </a:pPr>
            <a:r>
              <a:rPr lang="en-US" sz="1000" dirty="0">
                <a:solidFill>
                  <a:schemeClr val="tx1"/>
                </a:solidFill>
              </a:rPr>
              <a:t>Pause</a:t>
            </a:r>
            <a:endParaRPr lang="en-US" sz="1000" dirty="0"/>
          </a:p>
        </p:txBody>
      </p:sp>
      <p:sp>
        <p:nvSpPr>
          <p:cNvPr id="64" name="pill287"/>
          <p:cNvSpPr/>
          <p:nvPr/>
        </p:nvSpPr>
        <p:spPr>
          <a:xfrm>
            <a:off x="5116068" y="4818888"/>
            <a:ext cx="868680" cy="292608"/>
          </a:xfrm>
          <a:prstGeom prst="roundRect">
            <a:avLst>
              <a:gd name="adj" fmla="val 50000"/>
            </a:avLst>
          </a:prstGeom>
          <a:solidFill>
            <a:schemeClr val="accent2"/>
          </a:solidFill>
          <a:ln w="9525">
            <a:solidFill>
              <a:schemeClr val="accent2"/>
            </a:solidFill>
            <a:prstDash val="solid"/>
          </a:ln>
        </p:spPr>
      </p:sp>
      <p:sp>
        <p:nvSpPr>
          <p:cNvPr id="65" name="t288"/>
          <p:cNvSpPr txBox="1"/>
          <p:nvPr/>
        </p:nvSpPr>
        <p:spPr>
          <a:xfrm>
            <a:off x="5116068" y="4818888"/>
            <a:ext cx="868680" cy="292608"/>
          </a:xfrm>
          <a:prstGeom prst="rect">
            <a:avLst/>
          </a:prstGeom>
          <a:noFill/>
          <a:ln/>
        </p:spPr>
        <p:txBody>
          <a:bodyPr wrap="square" lIns="0" tIns="0" rIns="0" bIns="0" rtlCol="0" anchor="ctr"/>
          <a:lstStyle/>
          <a:p>
            <a:pPr algn="ctr" indent="0" marL="0">
              <a:buNone/>
            </a:pPr>
            <a:r>
              <a:rPr lang="en-US" sz="1000" b="1" dirty="0">
                <a:solidFill>
                  <a:schemeClr val="bg1"/>
                </a:solidFill>
              </a:rPr>
              <a:t>Wake now</a:t>
            </a:r>
            <a:endParaRPr lang="en-US" sz="1000" dirty="0"/>
          </a:p>
        </p:txBody>
      </p:sp>
      <p:sp>
        <p:nvSpPr>
          <p:cNvPr id="66" name="pill289"/>
          <p:cNvSpPr/>
          <p:nvPr/>
        </p:nvSpPr>
        <p:spPr>
          <a:xfrm>
            <a:off x="6094476" y="4818888"/>
            <a:ext cx="1280160" cy="292608"/>
          </a:xfrm>
          <a:prstGeom prst="roundRect">
            <a:avLst>
              <a:gd name="adj" fmla="val 50000"/>
            </a:avLst>
          </a:prstGeom>
          <a:solidFill>
            <a:schemeClr val="bg1"/>
          </a:solidFill>
          <a:ln w="9525">
            <a:solidFill>
              <a:schemeClr val="accent3"/>
            </a:solidFill>
            <a:prstDash val="solid"/>
          </a:ln>
        </p:spPr>
      </p:sp>
      <p:sp>
        <p:nvSpPr>
          <p:cNvPr id="67" name="t290"/>
          <p:cNvSpPr txBox="1"/>
          <p:nvPr/>
        </p:nvSpPr>
        <p:spPr>
          <a:xfrm>
            <a:off x="6094476" y="4818888"/>
            <a:ext cx="1280160" cy="292608"/>
          </a:xfrm>
          <a:prstGeom prst="rect">
            <a:avLst/>
          </a:prstGeom>
          <a:noFill/>
          <a:ln/>
        </p:spPr>
        <p:txBody>
          <a:bodyPr wrap="square" lIns="0" tIns="0" rIns="0" bIns="0" rtlCol="0" anchor="ctr"/>
          <a:lstStyle/>
          <a:p>
            <a:pPr algn="ctr" indent="0" marL="0">
              <a:buNone/>
            </a:pPr>
            <a:r>
              <a:rPr lang="en-US" sz="1000" dirty="0">
                <a:solidFill>
                  <a:schemeClr val="tx1"/>
                </a:solidFill>
              </a:rPr>
              <a:t>Edit wake time</a:t>
            </a:r>
            <a:endParaRPr lang="en-US" sz="1000" dirty="0"/>
          </a:p>
        </p:txBody>
      </p:sp>
      <p:sp>
        <p:nvSpPr>
          <p:cNvPr id="68" name="pill291"/>
          <p:cNvSpPr/>
          <p:nvPr/>
        </p:nvSpPr>
        <p:spPr>
          <a:xfrm>
            <a:off x="7484364" y="4818888"/>
            <a:ext cx="1143000" cy="292608"/>
          </a:xfrm>
          <a:prstGeom prst="roundRect">
            <a:avLst>
              <a:gd name="adj" fmla="val 50000"/>
            </a:avLst>
          </a:prstGeom>
          <a:solidFill>
            <a:schemeClr val="bg1"/>
          </a:solidFill>
          <a:ln w="9525">
            <a:solidFill>
              <a:schemeClr val="accent3"/>
            </a:solidFill>
            <a:prstDash val="solid"/>
          </a:ln>
        </p:spPr>
      </p:sp>
      <p:sp>
        <p:nvSpPr>
          <p:cNvPr id="69" name="t292"/>
          <p:cNvSpPr txBox="1"/>
          <p:nvPr/>
        </p:nvSpPr>
        <p:spPr>
          <a:xfrm>
            <a:off x="7484364" y="4818888"/>
            <a:ext cx="1143000" cy="292608"/>
          </a:xfrm>
          <a:prstGeom prst="rect">
            <a:avLst/>
          </a:prstGeom>
          <a:noFill/>
          <a:ln/>
        </p:spPr>
        <p:txBody>
          <a:bodyPr wrap="square" lIns="0" tIns="0" rIns="0" bIns="0" rtlCol="0" anchor="ctr"/>
          <a:lstStyle/>
          <a:p>
            <a:pPr algn="ctr" indent="0" marL="0">
              <a:buNone/>
            </a:pPr>
            <a:r>
              <a:rPr lang="en-US" sz="1000" dirty="0">
                <a:solidFill>
                  <a:schemeClr val="tx1"/>
                </a:solidFill>
              </a:rPr>
              <a:t>Send message</a:t>
            </a:r>
            <a:endParaRPr lang="en-US" sz="1000" dirty="0"/>
          </a:p>
        </p:txBody>
      </p:sp>
      <p:sp>
        <p:nvSpPr>
          <p:cNvPr id="70" name="pill293"/>
          <p:cNvSpPr/>
          <p:nvPr/>
        </p:nvSpPr>
        <p:spPr>
          <a:xfrm>
            <a:off x="8737092" y="4818888"/>
            <a:ext cx="1280160" cy="292608"/>
          </a:xfrm>
          <a:prstGeom prst="roundRect">
            <a:avLst>
              <a:gd name="adj" fmla="val 50000"/>
            </a:avLst>
          </a:prstGeom>
          <a:solidFill>
            <a:schemeClr val="bg1"/>
          </a:solidFill>
          <a:ln w="9525">
            <a:solidFill>
              <a:schemeClr val="accent3"/>
            </a:solidFill>
            <a:prstDash val="solid"/>
          </a:ln>
        </p:spPr>
      </p:sp>
      <p:sp>
        <p:nvSpPr>
          <p:cNvPr id="71" name="t294"/>
          <p:cNvSpPr txBox="1"/>
          <p:nvPr/>
        </p:nvSpPr>
        <p:spPr>
          <a:xfrm>
            <a:off x="8737092" y="4818888"/>
            <a:ext cx="1280160" cy="292608"/>
          </a:xfrm>
          <a:prstGeom prst="rect">
            <a:avLst/>
          </a:prstGeom>
          <a:noFill/>
          <a:ln/>
        </p:spPr>
        <p:txBody>
          <a:bodyPr wrap="square" lIns="0" tIns="0" rIns="0" bIns="0" rtlCol="0" anchor="ctr"/>
          <a:lstStyle/>
          <a:p>
            <a:pPr algn="ctr" indent="0" marL="0">
              <a:buNone/>
            </a:pPr>
            <a:r>
              <a:rPr lang="en-US" sz="1000" dirty="0">
                <a:solidFill>
                  <a:schemeClr val="tx1"/>
                </a:solidFill>
              </a:rPr>
              <a:t>Fork from step</a:t>
            </a:r>
            <a:endParaRPr lang="en-US" sz="1000" dirty="0"/>
          </a:p>
        </p:txBody>
      </p:sp>
      <p:sp>
        <p:nvSpPr>
          <p:cNvPr id="72" name="t295"/>
          <p:cNvSpPr txBox="1"/>
          <p:nvPr/>
        </p:nvSpPr>
        <p:spPr>
          <a:xfrm>
            <a:off x="4343400" y="5257800"/>
            <a:ext cx="7022592" cy="274320"/>
          </a:xfrm>
          <a:prstGeom prst="rect">
            <a:avLst/>
          </a:prstGeom>
          <a:noFill/>
          <a:ln/>
        </p:spPr>
        <p:txBody>
          <a:bodyPr wrap="square" lIns="0" tIns="0" rIns="0" bIns="0" rtlCol="0" anchor="t"/>
          <a:lstStyle/>
          <a:p>
            <a:pPr indent="0" marL="0">
              <a:buNone/>
            </a:pPr>
            <a:r>
              <a:rPr lang="en-US" sz="1000" dirty="0">
                <a:solidFill>
                  <a:schemeClr val="tx2"/>
                </a:solidFill>
              </a:rPr>
              <a:t>Click a packet to see its state/, memento.md and steps. Fork from step arrives with P4 snapshots.</a:t>
            </a:r>
            <a:endParaRPr lang="en-US" sz="1000" dirty="0"/>
          </a:p>
        </p:txBody>
      </p:sp>
      <p:sp>
        <p:nvSpPr>
          <p:cNvPr id="73" name="t296"/>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i="1" dirty="0">
                <a:solidFill>
                  <a:schemeClr val="accent2"/>
                </a:solidFill>
              </a:rPr>
              <a:t>The timeline answers "what happened overnight?" for the whole tree, sleeps included.</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Step viewer: what the model saw and did</a:t>
            </a:r>
            <a:endParaRPr lang="en-US" sz="3400" dirty="0"/>
          </a:p>
        </p:txBody>
      </p:sp>
      <p:sp>
        <p:nvSpPr>
          <p:cNvPr id="3" name="win297"/>
          <p:cNvSpPr/>
          <p:nvPr/>
        </p:nvSpPr>
        <p:spPr>
          <a:xfrm>
            <a:off x="548640" y="1188720"/>
            <a:ext cx="11091672" cy="4617720"/>
          </a:xfrm>
          <a:prstGeom prst="roundRect">
            <a:avLst>
              <a:gd name="adj" fmla="val 1584"/>
            </a:avLst>
          </a:prstGeom>
          <a:solidFill>
            <a:schemeClr val="bg2"/>
          </a:solidFill>
          <a:ln w="9525">
            <a:solidFill>
              <a:srgbClr val="C9D1D9"/>
            </a:solidFill>
            <a:prstDash val="solid"/>
          </a:ln>
        </p:spPr>
      </p:sp>
      <p:sp>
        <p:nvSpPr>
          <p:cNvPr id="4" name="winbar298"/>
          <p:cNvSpPr/>
          <p:nvPr/>
        </p:nvSpPr>
        <p:spPr>
          <a:xfrm>
            <a:off x="548640" y="1188720"/>
            <a:ext cx="11091672" cy="384048"/>
          </a:xfrm>
          <a:prstGeom prst="roundRect">
            <a:avLst>
              <a:gd name="adj" fmla="val 19048"/>
            </a:avLst>
          </a:prstGeom>
          <a:solidFill>
            <a:schemeClr val="tx2"/>
          </a:solidFill>
          <a:ln w="12700">
            <a:solidFill>
              <a:schemeClr val="tx2"/>
            </a:solidFill>
            <a:prstDash val="solid"/>
          </a:ln>
        </p:spPr>
      </p:sp>
      <p:sp>
        <p:nvSpPr>
          <p:cNvPr id="5" name="winbar299"/>
          <p:cNvSpPr/>
          <p:nvPr/>
        </p:nvSpPr>
        <p:spPr>
          <a:xfrm>
            <a:off x="548640" y="1463040"/>
            <a:ext cx="11091672" cy="109728"/>
          </a:xfrm>
          <a:prstGeom prst="rect">
            <a:avLst/>
          </a:prstGeom>
          <a:solidFill>
            <a:schemeClr val="tx2"/>
          </a:solidFill>
          <a:ln w="12700">
            <a:solidFill>
              <a:schemeClr val="tx2"/>
            </a:solidFill>
            <a:prstDash val="solid"/>
          </a:ln>
        </p:spPr>
      </p:sp>
      <p:sp>
        <p:nvSpPr>
          <p:cNvPr id="6" name="wdot300"/>
          <p:cNvSpPr/>
          <p:nvPr/>
        </p:nvSpPr>
        <p:spPr>
          <a:xfrm>
            <a:off x="713232" y="1316736"/>
            <a:ext cx="118872" cy="118872"/>
          </a:xfrm>
          <a:prstGeom prst="ellipse">
            <a:avLst/>
          </a:prstGeom>
          <a:solidFill>
            <a:schemeClr val="accent4"/>
          </a:solidFill>
          <a:ln w="12700">
            <a:solidFill>
              <a:schemeClr val="accent4"/>
            </a:solidFill>
            <a:prstDash val="solid"/>
          </a:ln>
        </p:spPr>
      </p:sp>
      <p:sp>
        <p:nvSpPr>
          <p:cNvPr id="7" name="wdot301"/>
          <p:cNvSpPr/>
          <p:nvPr/>
        </p:nvSpPr>
        <p:spPr>
          <a:xfrm>
            <a:off x="896112" y="1316736"/>
            <a:ext cx="118872" cy="118872"/>
          </a:xfrm>
          <a:prstGeom prst="ellipse">
            <a:avLst/>
          </a:prstGeom>
          <a:solidFill>
            <a:schemeClr val="accent1"/>
          </a:solidFill>
          <a:ln w="12700">
            <a:solidFill>
              <a:schemeClr val="accent1"/>
            </a:solidFill>
            <a:prstDash val="solid"/>
          </a:ln>
        </p:spPr>
      </p:sp>
      <p:sp>
        <p:nvSpPr>
          <p:cNvPr id="8" name="wdot302"/>
          <p:cNvSpPr/>
          <p:nvPr/>
        </p:nvSpPr>
        <p:spPr>
          <a:xfrm>
            <a:off x="1078992" y="1316736"/>
            <a:ext cx="118872" cy="118872"/>
          </a:xfrm>
          <a:prstGeom prst="ellipse">
            <a:avLst/>
          </a:prstGeom>
          <a:solidFill>
            <a:schemeClr val="accent2"/>
          </a:solidFill>
          <a:ln w="12700">
            <a:solidFill>
              <a:schemeClr val="accent2"/>
            </a:solidFill>
            <a:prstDash val="solid"/>
          </a:ln>
        </p:spPr>
      </p:sp>
      <p:sp>
        <p:nvSpPr>
          <p:cNvPr id="9" name="url303"/>
          <p:cNvSpPr/>
          <p:nvPr/>
        </p:nvSpPr>
        <p:spPr>
          <a:xfrm>
            <a:off x="1417320" y="1261872"/>
            <a:ext cx="3840480" cy="237744"/>
          </a:xfrm>
          <a:prstGeom prst="roundRect">
            <a:avLst>
              <a:gd name="adj" fmla="val 50000"/>
            </a:avLst>
          </a:prstGeom>
          <a:solidFill>
            <a:schemeClr val="tx1"/>
          </a:solidFill>
          <a:ln w="12700">
            <a:solidFill>
              <a:schemeClr val="tx1"/>
            </a:solidFill>
            <a:prstDash val="solid"/>
          </a:ln>
        </p:spPr>
      </p:sp>
      <p:sp>
        <p:nvSpPr>
          <p:cNvPr id="10" name="t304"/>
          <p:cNvSpPr txBox="1"/>
          <p:nvPr/>
        </p:nvSpPr>
        <p:spPr>
          <a:xfrm>
            <a:off x="1554480" y="1261872"/>
            <a:ext cx="3657600" cy="237744"/>
          </a:xfrm>
          <a:prstGeom prst="rect">
            <a:avLst/>
          </a:prstGeom>
          <a:noFill/>
          <a:ln/>
        </p:spPr>
        <p:txBody>
          <a:bodyPr wrap="square" lIns="0" tIns="0" rIns="0" bIns="0" rtlCol="0" anchor="ctr"/>
          <a:lstStyle/>
          <a:p>
            <a:pPr indent="0" marL="0">
              <a:buNone/>
            </a:pPr>
            <a:r>
              <a:rPr lang="en-US" sz="1000" dirty="0">
                <a:solidFill>
                  <a:srgbClr val="B8C2CC"/>
                </a:solidFill>
                <a:latin typeface="Courier New" pitchFamily="34" charset="0"/>
                <a:ea typeface="Courier New" pitchFamily="34" charset="-122"/>
                <a:cs typeface="Courier New" pitchFamily="34" charset="-120"/>
              </a:rPr>
              <a:t>127.0.0.1:7878/p/nightly-triage/triage-dma/7</a:t>
            </a:r>
            <a:endParaRPr lang="en-US" sz="1000" dirty="0"/>
          </a:p>
        </p:txBody>
      </p:sp>
      <p:sp>
        <p:nvSpPr>
          <p:cNvPr id="11" name="t305"/>
          <p:cNvSpPr txBox="1"/>
          <p:nvPr/>
        </p:nvSpPr>
        <p:spPr>
          <a:xfrm>
            <a:off x="731520" y="1691640"/>
            <a:ext cx="6400800" cy="292608"/>
          </a:xfrm>
          <a:prstGeom prst="rect">
            <a:avLst/>
          </a:prstGeom>
          <a:noFill/>
          <a:ln/>
        </p:spPr>
        <p:txBody>
          <a:bodyPr wrap="square" lIns="0" tIns="0" rIns="0" bIns="0" rtlCol="0" anchor="ctr"/>
          <a:lstStyle/>
          <a:p>
            <a:pPr indent="0" marL="0">
              <a:buNone/>
            </a:pPr>
            <a:r>
              <a:rPr lang="en-US" sz="1300" b="1" dirty="0">
                <a:solidFill>
                  <a:schemeClr val="tx1"/>
                </a:solidFill>
              </a:rPr>
              <a:t>nightly-triage  ›  triage-dma  ›  step 7 of 7</a:t>
            </a:r>
            <a:endParaRPr lang="en-US" sz="1300" dirty="0"/>
          </a:p>
        </p:txBody>
      </p:sp>
      <p:sp>
        <p:nvSpPr>
          <p:cNvPr id="12" name="pill306"/>
          <p:cNvSpPr/>
          <p:nvPr/>
        </p:nvSpPr>
        <p:spPr>
          <a:xfrm>
            <a:off x="9491472" y="1691640"/>
            <a:ext cx="914400" cy="274320"/>
          </a:xfrm>
          <a:prstGeom prst="roundRect">
            <a:avLst>
              <a:gd name="adj" fmla="val 50000"/>
            </a:avLst>
          </a:prstGeom>
          <a:solidFill>
            <a:schemeClr val="bg1"/>
          </a:solidFill>
          <a:ln w="9525">
            <a:solidFill>
              <a:schemeClr val="accent3"/>
            </a:solidFill>
            <a:prstDash val="solid"/>
          </a:ln>
        </p:spPr>
      </p:sp>
      <p:sp>
        <p:nvSpPr>
          <p:cNvPr id="13" name="t307"/>
          <p:cNvSpPr txBox="1"/>
          <p:nvPr/>
        </p:nvSpPr>
        <p:spPr>
          <a:xfrm>
            <a:off x="9491472" y="1691640"/>
            <a:ext cx="914400" cy="274320"/>
          </a:xfrm>
          <a:prstGeom prst="rect">
            <a:avLst/>
          </a:prstGeom>
          <a:noFill/>
          <a:ln/>
        </p:spPr>
        <p:txBody>
          <a:bodyPr wrap="square" lIns="0" tIns="0" rIns="0" bIns="0" rtlCol="0" anchor="ctr"/>
          <a:lstStyle/>
          <a:p>
            <a:pPr algn="ctr" indent="0" marL="0">
              <a:buNone/>
            </a:pPr>
            <a:r>
              <a:rPr lang="en-US" sz="1000" dirty="0">
                <a:solidFill>
                  <a:schemeClr val="tx1"/>
                </a:solidFill>
              </a:rPr>
              <a:t>◂ Step 6</a:t>
            </a:r>
            <a:endParaRPr lang="en-US" sz="1000" dirty="0"/>
          </a:p>
        </p:txBody>
      </p:sp>
      <p:sp>
        <p:nvSpPr>
          <p:cNvPr id="14" name="pill308"/>
          <p:cNvSpPr/>
          <p:nvPr/>
        </p:nvSpPr>
        <p:spPr>
          <a:xfrm>
            <a:off x="10497312" y="1691640"/>
            <a:ext cx="914400" cy="274320"/>
          </a:xfrm>
          <a:prstGeom prst="roundRect">
            <a:avLst>
              <a:gd name="adj" fmla="val 50000"/>
            </a:avLst>
          </a:prstGeom>
          <a:solidFill>
            <a:schemeClr val="bg1"/>
          </a:solidFill>
          <a:ln w="9525">
            <a:solidFill>
              <a:srgbClr val="D5DBE1"/>
            </a:solidFill>
            <a:prstDash val="solid"/>
          </a:ln>
        </p:spPr>
      </p:sp>
      <p:sp>
        <p:nvSpPr>
          <p:cNvPr id="15" name="t309"/>
          <p:cNvSpPr txBox="1"/>
          <p:nvPr/>
        </p:nvSpPr>
        <p:spPr>
          <a:xfrm>
            <a:off x="10497312" y="1691640"/>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Step 8 ▸</a:t>
            </a:r>
            <a:endParaRPr lang="en-US" sz="1000" dirty="0"/>
          </a:p>
        </p:txBody>
      </p:sp>
      <p:sp>
        <p:nvSpPr>
          <p:cNvPr id="16" name="tr0"/>
          <p:cNvSpPr/>
          <p:nvPr/>
        </p:nvSpPr>
        <p:spPr>
          <a:xfrm>
            <a:off x="685800" y="2103120"/>
            <a:ext cx="6903720" cy="594360"/>
          </a:xfrm>
          <a:prstGeom prst="roundRect">
            <a:avLst>
              <a:gd name="adj" fmla="val 12308"/>
            </a:avLst>
          </a:prstGeom>
          <a:solidFill>
            <a:schemeClr val="bg1"/>
          </a:solidFill>
          <a:ln w="12700">
            <a:solidFill>
              <a:schemeClr val="bg1"/>
            </a:solidFill>
            <a:prstDash val="solid"/>
          </a:ln>
        </p:spPr>
      </p:sp>
      <p:sp>
        <p:nvSpPr>
          <p:cNvPr id="17" name="pill310"/>
          <p:cNvSpPr/>
          <p:nvPr/>
        </p:nvSpPr>
        <p:spPr>
          <a:xfrm>
            <a:off x="795528" y="2258568"/>
            <a:ext cx="868680" cy="274320"/>
          </a:xfrm>
          <a:prstGeom prst="roundRect">
            <a:avLst>
              <a:gd name="adj" fmla="val 50000"/>
            </a:avLst>
          </a:prstGeom>
          <a:solidFill>
            <a:schemeClr val="accent3"/>
          </a:solidFill>
          <a:ln w="9525">
            <a:solidFill>
              <a:schemeClr val="accent3"/>
            </a:solidFill>
            <a:prstDash val="solid"/>
          </a:ln>
        </p:spPr>
      </p:sp>
      <p:sp>
        <p:nvSpPr>
          <p:cNvPr id="18" name="t311"/>
          <p:cNvSpPr txBox="1"/>
          <p:nvPr/>
        </p:nvSpPr>
        <p:spPr>
          <a:xfrm>
            <a:off x="795528" y="2258568"/>
            <a:ext cx="868680" cy="274320"/>
          </a:xfrm>
          <a:prstGeom prst="rect">
            <a:avLst/>
          </a:prstGeom>
          <a:noFill/>
          <a:ln/>
        </p:spPr>
        <p:txBody>
          <a:bodyPr wrap="square" lIns="0" tIns="0" rIns="0" bIns="0" rtlCol="0" anchor="ctr"/>
          <a:lstStyle/>
          <a:p>
            <a:pPr algn="ctr" indent="0" marL="0">
              <a:buNone/>
            </a:pPr>
            <a:r>
              <a:rPr lang="en-US" sz="950" b="1" dirty="0">
                <a:solidFill>
                  <a:schemeClr val="bg1"/>
                </a:solidFill>
              </a:rPr>
              <a:t>prompt</a:t>
            </a:r>
            <a:endParaRPr lang="en-US" sz="950" dirty="0"/>
          </a:p>
        </p:txBody>
      </p:sp>
      <p:sp>
        <p:nvSpPr>
          <p:cNvPr id="19" name="t312"/>
          <p:cNvSpPr txBox="1"/>
          <p:nvPr/>
        </p:nvSpPr>
        <p:spPr>
          <a:xfrm>
            <a:off x="1783080" y="2148840"/>
            <a:ext cx="5669280" cy="502920"/>
          </a:xfrm>
          <a:prstGeom prst="rect">
            <a:avLst/>
          </a:prstGeom>
          <a:noFill/>
          <a:ln/>
        </p:spPr>
        <p:txBody>
          <a:bodyPr wrap="square" lIns="0" tIns="0" rIns="0" bIns="0" rtlCol="0" anchor="ctr"/>
          <a:lstStyle/>
          <a:p>
            <a:pPr indent="0" marL="0">
              <a:buNone/>
            </a:pPr>
            <a:r>
              <a:rPr lang="en-US" sz="1100" dirty="0">
                <a:solidFill>
                  <a:schemeClr val="tx1"/>
                </a:solidFill>
              </a:rPr>
              <a:t>Prompt sent: memento, status, agent.md, mailbox  ·  3.1k tokens  ▸</a:t>
            </a:r>
            <a:endParaRPr lang="en-US" sz="1100" dirty="0"/>
          </a:p>
        </p:txBody>
      </p:sp>
      <p:sp>
        <p:nvSpPr>
          <p:cNvPr id="20" name="tr1"/>
          <p:cNvSpPr/>
          <p:nvPr/>
        </p:nvSpPr>
        <p:spPr>
          <a:xfrm>
            <a:off x="685800" y="2788920"/>
            <a:ext cx="6903720" cy="594360"/>
          </a:xfrm>
          <a:prstGeom prst="roundRect">
            <a:avLst>
              <a:gd name="adj" fmla="val 12308"/>
            </a:avLst>
          </a:prstGeom>
          <a:solidFill>
            <a:schemeClr val="bg1"/>
          </a:solidFill>
          <a:ln w="12700">
            <a:solidFill>
              <a:schemeClr val="bg1"/>
            </a:solidFill>
            <a:prstDash val="solid"/>
          </a:ln>
        </p:spPr>
      </p:sp>
      <p:sp>
        <p:nvSpPr>
          <p:cNvPr id="21" name="pill313"/>
          <p:cNvSpPr/>
          <p:nvPr/>
        </p:nvSpPr>
        <p:spPr>
          <a:xfrm>
            <a:off x="795528" y="2944368"/>
            <a:ext cx="868680" cy="274320"/>
          </a:xfrm>
          <a:prstGeom prst="roundRect">
            <a:avLst>
              <a:gd name="adj" fmla="val 50000"/>
            </a:avLst>
          </a:prstGeom>
          <a:solidFill>
            <a:schemeClr val="accent2"/>
          </a:solidFill>
          <a:ln w="9525">
            <a:solidFill>
              <a:schemeClr val="accent2"/>
            </a:solidFill>
            <a:prstDash val="solid"/>
          </a:ln>
        </p:spPr>
      </p:sp>
      <p:sp>
        <p:nvSpPr>
          <p:cNvPr id="22" name="t314"/>
          <p:cNvSpPr txBox="1"/>
          <p:nvPr/>
        </p:nvSpPr>
        <p:spPr>
          <a:xfrm>
            <a:off x="795528" y="2944368"/>
            <a:ext cx="868680" cy="274320"/>
          </a:xfrm>
          <a:prstGeom prst="rect">
            <a:avLst/>
          </a:prstGeom>
          <a:noFill/>
          <a:ln/>
        </p:spPr>
        <p:txBody>
          <a:bodyPr wrap="square" lIns="0" tIns="0" rIns="0" bIns="0" rtlCol="0" anchor="ctr"/>
          <a:lstStyle/>
          <a:p>
            <a:pPr algn="ctr" indent="0" marL="0">
              <a:buNone/>
            </a:pPr>
            <a:r>
              <a:rPr lang="en-US" sz="950" b="1" dirty="0">
                <a:solidFill>
                  <a:schemeClr val="bg1"/>
                </a:solidFill>
              </a:rPr>
              <a:t>model</a:t>
            </a:r>
            <a:endParaRPr lang="en-US" sz="950" dirty="0"/>
          </a:p>
        </p:txBody>
      </p:sp>
      <p:sp>
        <p:nvSpPr>
          <p:cNvPr id="23" name="t315"/>
          <p:cNvSpPr txBox="1"/>
          <p:nvPr/>
        </p:nvSpPr>
        <p:spPr>
          <a:xfrm>
            <a:off x="1783080" y="2834640"/>
            <a:ext cx="5669280" cy="502920"/>
          </a:xfrm>
          <a:prstGeom prst="rect">
            <a:avLst/>
          </a:prstGeom>
          <a:noFill/>
          <a:ln/>
        </p:spPr>
        <p:txBody>
          <a:bodyPr wrap="square" lIns="0" tIns="0" rIns="0" bIns="0" rtlCol="0" anchor="ctr"/>
          <a:lstStyle/>
          <a:p>
            <a:pPr indent="0" marL="0">
              <a:buNone/>
            </a:pPr>
            <a:r>
              <a:rPr lang="en-US" sz="1100" dirty="0">
                <a:solidFill>
                  <a:schemeClr val="tx1"/>
                </a:solidFill>
              </a:rPr>
              <a:t>Reading state/failures.md and the three new failure logs.</a:t>
            </a:r>
            <a:endParaRPr lang="en-US" sz="1100" dirty="0"/>
          </a:p>
        </p:txBody>
      </p:sp>
      <p:sp>
        <p:nvSpPr>
          <p:cNvPr id="24" name="tr2"/>
          <p:cNvSpPr/>
          <p:nvPr/>
        </p:nvSpPr>
        <p:spPr>
          <a:xfrm>
            <a:off x="685800" y="3474720"/>
            <a:ext cx="6903720" cy="594360"/>
          </a:xfrm>
          <a:prstGeom prst="roundRect">
            <a:avLst>
              <a:gd name="adj" fmla="val 12308"/>
            </a:avLst>
          </a:prstGeom>
          <a:solidFill>
            <a:schemeClr val="bg1"/>
          </a:solidFill>
          <a:ln w="12700">
            <a:solidFill>
              <a:schemeClr val="bg1"/>
            </a:solidFill>
            <a:prstDash val="solid"/>
          </a:ln>
        </p:spPr>
      </p:sp>
      <p:sp>
        <p:nvSpPr>
          <p:cNvPr id="25" name="pill316"/>
          <p:cNvSpPr/>
          <p:nvPr/>
        </p:nvSpPr>
        <p:spPr>
          <a:xfrm>
            <a:off x="795528" y="3630168"/>
            <a:ext cx="868680" cy="274320"/>
          </a:xfrm>
          <a:prstGeom prst="roundRect">
            <a:avLst>
              <a:gd name="adj" fmla="val 50000"/>
            </a:avLst>
          </a:prstGeom>
          <a:solidFill>
            <a:schemeClr val="tx2"/>
          </a:solidFill>
          <a:ln w="9525">
            <a:solidFill>
              <a:schemeClr val="tx2"/>
            </a:solidFill>
            <a:prstDash val="solid"/>
          </a:ln>
        </p:spPr>
      </p:sp>
      <p:sp>
        <p:nvSpPr>
          <p:cNvPr id="26" name="t317"/>
          <p:cNvSpPr txBox="1"/>
          <p:nvPr/>
        </p:nvSpPr>
        <p:spPr>
          <a:xfrm>
            <a:off x="795528" y="3630168"/>
            <a:ext cx="868680" cy="274320"/>
          </a:xfrm>
          <a:prstGeom prst="rect">
            <a:avLst/>
          </a:prstGeom>
          <a:noFill/>
          <a:ln/>
        </p:spPr>
        <p:txBody>
          <a:bodyPr wrap="square" lIns="0" tIns="0" rIns="0" bIns="0" rtlCol="0" anchor="ctr"/>
          <a:lstStyle/>
          <a:p>
            <a:pPr algn="ctr" indent="0" marL="0">
              <a:buNone/>
            </a:pPr>
            <a:r>
              <a:rPr lang="en-US" sz="950" b="1" dirty="0">
                <a:solidFill>
                  <a:schemeClr val="bg1"/>
                </a:solidFill>
              </a:rPr>
              <a:t>tool</a:t>
            </a:r>
            <a:endParaRPr lang="en-US" sz="950" dirty="0"/>
          </a:p>
        </p:txBody>
      </p:sp>
      <p:sp>
        <p:nvSpPr>
          <p:cNvPr id="27" name="t318"/>
          <p:cNvSpPr txBox="1"/>
          <p:nvPr/>
        </p:nvSpPr>
        <p:spPr>
          <a:xfrm>
            <a:off x="1783080" y="3520440"/>
            <a:ext cx="5669280" cy="50292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Bash   dfm run regress/axi_dma -k timeout   →  exit 1, 212 lines  ▸</a:t>
            </a:r>
            <a:endParaRPr lang="en-US" sz="1000" dirty="0"/>
          </a:p>
        </p:txBody>
      </p:sp>
      <p:sp>
        <p:nvSpPr>
          <p:cNvPr id="28" name="tr3"/>
          <p:cNvSpPr/>
          <p:nvPr/>
        </p:nvSpPr>
        <p:spPr>
          <a:xfrm>
            <a:off x="685800" y="4160520"/>
            <a:ext cx="6903720" cy="594360"/>
          </a:xfrm>
          <a:prstGeom prst="roundRect">
            <a:avLst>
              <a:gd name="adj" fmla="val 12308"/>
            </a:avLst>
          </a:prstGeom>
          <a:solidFill>
            <a:schemeClr val="bg1"/>
          </a:solidFill>
          <a:ln w="12700">
            <a:solidFill>
              <a:schemeClr val="bg1"/>
            </a:solidFill>
            <a:prstDash val="solid"/>
          </a:ln>
        </p:spPr>
      </p:sp>
      <p:sp>
        <p:nvSpPr>
          <p:cNvPr id="29" name="pill319"/>
          <p:cNvSpPr/>
          <p:nvPr/>
        </p:nvSpPr>
        <p:spPr>
          <a:xfrm>
            <a:off x="795528" y="4315968"/>
            <a:ext cx="868680" cy="274320"/>
          </a:xfrm>
          <a:prstGeom prst="roundRect">
            <a:avLst>
              <a:gd name="adj" fmla="val 50000"/>
            </a:avLst>
          </a:prstGeom>
          <a:solidFill>
            <a:schemeClr val="accent2"/>
          </a:solidFill>
          <a:ln w="9525">
            <a:solidFill>
              <a:schemeClr val="accent2"/>
            </a:solidFill>
            <a:prstDash val="solid"/>
          </a:ln>
        </p:spPr>
      </p:sp>
      <p:sp>
        <p:nvSpPr>
          <p:cNvPr id="30" name="t320"/>
          <p:cNvSpPr txBox="1"/>
          <p:nvPr/>
        </p:nvSpPr>
        <p:spPr>
          <a:xfrm>
            <a:off x="795528" y="4315968"/>
            <a:ext cx="868680" cy="274320"/>
          </a:xfrm>
          <a:prstGeom prst="rect">
            <a:avLst/>
          </a:prstGeom>
          <a:noFill/>
          <a:ln/>
        </p:spPr>
        <p:txBody>
          <a:bodyPr wrap="square" lIns="0" tIns="0" rIns="0" bIns="0" rtlCol="0" anchor="ctr"/>
          <a:lstStyle/>
          <a:p>
            <a:pPr algn="ctr" indent="0" marL="0">
              <a:buNone/>
            </a:pPr>
            <a:r>
              <a:rPr lang="en-US" sz="950" b="1" dirty="0">
                <a:solidFill>
                  <a:schemeClr val="bg1"/>
                </a:solidFill>
              </a:rPr>
              <a:t>model</a:t>
            </a:r>
            <a:endParaRPr lang="en-US" sz="950" dirty="0"/>
          </a:p>
        </p:txBody>
      </p:sp>
      <p:sp>
        <p:nvSpPr>
          <p:cNvPr id="31" name="t321"/>
          <p:cNvSpPr txBox="1"/>
          <p:nvPr/>
        </p:nvSpPr>
        <p:spPr>
          <a:xfrm>
            <a:off x="1783080" y="4206240"/>
            <a:ext cx="5669280" cy="502920"/>
          </a:xfrm>
          <a:prstGeom prst="rect">
            <a:avLst/>
          </a:prstGeom>
          <a:noFill/>
          <a:ln/>
        </p:spPr>
        <p:txBody>
          <a:bodyPr wrap="square" lIns="0" tIns="0" rIns="0" bIns="0" rtlCol="0" anchor="ctr"/>
          <a:lstStyle/>
          <a:p>
            <a:pPr indent="0" marL="0">
              <a:buNone/>
            </a:pPr>
            <a:r>
              <a:rPr lang="en-US" sz="1100" dirty="0">
                <a:solidFill>
                  <a:schemeClr val="tx1"/>
                </a:solidFill>
              </a:rPr>
              <a:t>All three stop at the same AXI write-response timeout in dma_ch2. Probably one root cause, but the stimulus differs.</a:t>
            </a:r>
            <a:endParaRPr lang="en-US" sz="1100" dirty="0"/>
          </a:p>
        </p:txBody>
      </p:sp>
      <p:sp>
        <p:nvSpPr>
          <p:cNvPr id="32" name="tr4"/>
          <p:cNvSpPr/>
          <p:nvPr/>
        </p:nvSpPr>
        <p:spPr>
          <a:xfrm>
            <a:off x="685800" y="4846320"/>
            <a:ext cx="6903720" cy="594360"/>
          </a:xfrm>
          <a:prstGeom prst="roundRect">
            <a:avLst>
              <a:gd name="adj" fmla="val 12308"/>
            </a:avLst>
          </a:prstGeom>
          <a:solidFill>
            <a:srgbClr val="F6E3C1"/>
          </a:solidFill>
          <a:ln w="12700">
            <a:solidFill>
              <a:srgbClr val="F6E3C1"/>
            </a:solidFill>
            <a:prstDash val="solid"/>
          </a:ln>
        </p:spPr>
      </p:sp>
      <p:sp>
        <p:nvSpPr>
          <p:cNvPr id="33" name="pill322"/>
          <p:cNvSpPr/>
          <p:nvPr/>
        </p:nvSpPr>
        <p:spPr>
          <a:xfrm>
            <a:off x="795528" y="5001768"/>
            <a:ext cx="868680" cy="274320"/>
          </a:xfrm>
          <a:prstGeom prst="roundRect">
            <a:avLst>
              <a:gd name="adj" fmla="val 50000"/>
            </a:avLst>
          </a:prstGeom>
          <a:solidFill>
            <a:schemeClr val="accent1"/>
          </a:solidFill>
          <a:ln w="9525">
            <a:solidFill>
              <a:schemeClr val="accent1"/>
            </a:solidFill>
            <a:prstDash val="solid"/>
          </a:ln>
        </p:spPr>
      </p:sp>
      <p:sp>
        <p:nvSpPr>
          <p:cNvPr id="34" name="t323"/>
          <p:cNvSpPr txBox="1"/>
          <p:nvPr/>
        </p:nvSpPr>
        <p:spPr>
          <a:xfrm>
            <a:off x="795528" y="5001768"/>
            <a:ext cx="868680" cy="274320"/>
          </a:xfrm>
          <a:prstGeom prst="rect">
            <a:avLst/>
          </a:prstGeom>
          <a:noFill/>
          <a:ln/>
        </p:spPr>
        <p:txBody>
          <a:bodyPr wrap="square" lIns="0" tIns="0" rIns="0" bIns="0" rtlCol="0" anchor="ctr"/>
          <a:lstStyle/>
          <a:p>
            <a:pPr algn="ctr" indent="0" marL="0">
              <a:buNone/>
            </a:pPr>
            <a:r>
              <a:rPr lang="en-US" sz="950" b="1" dirty="0">
                <a:solidFill>
                  <a:schemeClr val="tx1"/>
                </a:solidFill>
              </a:rPr>
              <a:t>proposal</a:t>
            </a:r>
            <a:endParaRPr lang="en-US" sz="950" dirty="0"/>
          </a:p>
        </p:txBody>
      </p:sp>
      <p:sp>
        <p:nvSpPr>
          <p:cNvPr id="35" name="t324"/>
          <p:cNvSpPr txBox="1"/>
          <p:nvPr/>
        </p:nvSpPr>
        <p:spPr>
          <a:xfrm>
            <a:off x="1783080" y="4892040"/>
            <a:ext cx="5669280" cy="50292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ask: File one bug or three?   choices: [one, three]   until: in 2 days</a:t>
            </a:r>
            <a:endParaRPr lang="en-US" sz="1000" dirty="0"/>
          </a:p>
        </p:txBody>
      </p:sp>
      <p:sp>
        <p:nvSpPr>
          <p:cNvPr id="36" name="metapanel"/>
          <p:cNvSpPr/>
          <p:nvPr/>
        </p:nvSpPr>
        <p:spPr>
          <a:xfrm>
            <a:off x="7772400" y="2103120"/>
            <a:ext cx="3730752" cy="3566160"/>
          </a:xfrm>
          <a:prstGeom prst="roundRect">
            <a:avLst>
              <a:gd name="adj" fmla="val 2051"/>
            </a:avLst>
          </a:prstGeom>
          <a:solidFill>
            <a:schemeClr val="bg1"/>
          </a:solidFill>
          <a:ln w="12700">
            <a:solidFill>
              <a:schemeClr val="bg1"/>
            </a:solidFill>
            <a:prstDash val="solid"/>
          </a:ln>
        </p:spPr>
      </p:sp>
      <p:sp>
        <p:nvSpPr>
          <p:cNvPr id="37" name="t325"/>
          <p:cNvSpPr txBox="1"/>
          <p:nvPr/>
        </p:nvSpPr>
        <p:spPr>
          <a:xfrm>
            <a:off x="7909560" y="2240280"/>
            <a:ext cx="1005840" cy="256032"/>
          </a:xfrm>
          <a:prstGeom prst="rect">
            <a:avLst/>
          </a:prstGeom>
          <a:noFill/>
          <a:ln/>
        </p:spPr>
        <p:txBody>
          <a:bodyPr wrap="square" lIns="0" tIns="0" rIns="0" bIns="0" rtlCol="0" anchor="t"/>
          <a:lstStyle/>
          <a:p>
            <a:pPr indent="0" marL="0">
              <a:buNone/>
            </a:pPr>
            <a:r>
              <a:rPr lang="en-US" sz="1050" dirty="0">
                <a:solidFill>
                  <a:schemeClr val="accent3"/>
                </a:solidFill>
              </a:rPr>
              <a:t>Duration</a:t>
            </a:r>
            <a:endParaRPr lang="en-US" sz="1050" dirty="0"/>
          </a:p>
        </p:txBody>
      </p:sp>
      <p:sp>
        <p:nvSpPr>
          <p:cNvPr id="38" name="t326"/>
          <p:cNvSpPr txBox="1"/>
          <p:nvPr/>
        </p:nvSpPr>
        <p:spPr>
          <a:xfrm>
            <a:off x="8915400" y="2240280"/>
            <a:ext cx="2450592" cy="256032"/>
          </a:xfrm>
          <a:prstGeom prst="rect">
            <a:avLst/>
          </a:prstGeom>
          <a:noFill/>
          <a:ln/>
        </p:spPr>
        <p:txBody>
          <a:bodyPr wrap="square" lIns="0" tIns="0" rIns="0" bIns="0" rtlCol="0" anchor="t"/>
          <a:lstStyle/>
          <a:p>
            <a:pPr indent="0" marL="0">
              <a:buNone/>
            </a:pPr>
            <a:r>
              <a:rPr lang="en-US" sz="1050" b="1" dirty="0">
                <a:solidFill>
                  <a:schemeClr val="tx1"/>
                </a:solidFill>
              </a:rPr>
              <a:t>2 min 41 s</a:t>
            </a:r>
            <a:endParaRPr lang="en-US" sz="1050" dirty="0"/>
          </a:p>
        </p:txBody>
      </p:sp>
      <p:sp>
        <p:nvSpPr>
          <p:cNvPr id="39" name="t327"/>
          <p:cNvSpPr txBox="1"/>
          <p:nvPr/>
        </p:nvSpPr>
        <p:spPr>
          <a:xfrm>
            <a:off x="7909560" y="2514600"/>
            <a:ext cx="1005840" cy="256032"/>
          </a:xfrm>
          <a:prstGeom prst="rect">
            <a:avLst/>
          </a:prstGeom>
          <a:noFill/>
          <a:ln/>
        </p:spPr>
        <p:txBody>
          <a:bodyPr wrap="square" lIns="0" tIns="0" rIns="0" bIns="0" rtlCol="0" anchor="t"/>
          <a:lstStyle/>
          <a:p>
            <a:pPr indent="0" marL="0">
              <a:buNone/>
            </a:pPr>
            <a:r>
              <a:rPr lang="en-US" sz="1050" dirty="0">
                <a:solidFill>
                  <a:schemeClr val="accent3"/>
                </a:solidFill>
              </a:rPr>
              <a:t>Tokens</a:t>
            </a:r>
            <a:endParaRPr lang="en-US" sz="1050" dirty="0"/>
          </a:p>
        </p:txBody>
      </p:sp>
      <p:sp>
        <p:nvSpPr>
          <p:cNvPr id="40" name="t328"/>
          <p:cNvSpPr txBox="1"/>
          <p:nvPr/>
        </p:nvSpPr>
        <p:spPr>
          <a:xfrm>
            <a:off x="8915400" y="2514600"/>
            <a:ext cx="2450592" cy="256032"/>
          </a:xfrm>
          <a:prstGeom prst="rect">
            <a:avLst/>
          </a:prstGeom>
          <a:noFill/>
          <a:ln/>
        </p:spPr>
        <p:txBody>
          <a:bodyPr wrap="square" lIns="0" tIns="0" rIns="0" bIns="0" rtlCol="0" anchor="t"/>
          <a:lstStyle/>
          <a:p>
            <a:pPr indent="0" marL="0">
              <a:buNone/>
            </a:pPr>
            <a:r>
              <a:rPr lang="en-US" sz="1050" b="1" dirty="0">
                <a:solidFill>
                  <a:schemeClr val="tx1"/>
                </a:solidFill>
              </a:rPr>
              <a:t>38.2k in · 2.1k out</a:t>
            </a:r>
            <a:endParaRPr lang="en-US" sz="1050" dirty="0"/>
          </a:p>
        </p:txBody>
      </p:sp>
      <p:sp>
        <p:nvSpPr>
          <p:cNvPr id="41" name="t329"/>
          <p:cNvSpPr txBox="1"/>
          <p:nvPr/>
        </p:nvSpPr>
        <p:spPr>
          <a:xfrm>
            <a:off x="7909560" y="2788920"/>
            <a:ext cx="1005840" cy="256032"/>
          </a:xfrm>
          <a:prstGeom prst="rect">
            <a:avLst/>
          </a:prstGeom>
          <a:noFill/>
          <a:ln/>
        </p:spPr>
        <p:txBody>
          <a:bodyPr wrap="square" lIns="0" tIns="0" rIns="0" bIns="0" rtlCol="0" anchor="t"/>
          <a:lstStyle/>
          <a:p>
            <a:pPr indent="0" marL="0">
              <a:buNone/>
            </a:pPr>
            <a:r>
              <a:rPr lang="en-US" sz="1050" dirty="0">
                <a:solidFill>
                  <a:schemeClr val="accent3"/>
                </a:solidFill>
              </a:rPr>
              <a:t>Cost</a:t>
            </a:r>
            <a:endParaRPr lang="en-US" sz="1050" dirty="0"/>
          </a:p>
        </p:txBody>
      </p:sp>
      <p:sp>
        <p:nvSpPr>
          <p:cNvPr id="42" name="t330"/>
          <p:cNvSpPr txBox="1"/>
          <p:nvPr/>
        </p:nvSpPr>
        <p:spPr>
          <a:xfrm>
            <a:off x="8915400" y="2788920"/>
            <a:ext cx="2450592" cy="256032"/>
          </a:xfrm>
          <a:prstGeom prst="rect">
            <a:avLst/>
          </a:prstGeom>
          <a:noFill/>
          <a:ln/>
        </p:spPr>
        <p:txBody>
          <a:bodyPr wrap="square" lIns="0" tIns="0" rIns="0" bIns="0" rtlCol="0" anchor="t"/>
          <a:lstStyle/>
          <a:p>
            <a:pPr indent="0" marL="0">
              <a:buNone/>
            </a:pPr>
            <a:r>
              <a:rPr lang="en-US" sz="1050" b="1" dirty="0">
                <a:solidFill>
                  <a:schemeClr val="tx1"/>
                </a:solidFill>
              </a:rPr>
              <a:t>$0.21</a:t>
            </a:r>
            <a:endParaRPr lang="en-US" sz="1050" dirty="0"/>
          </a:p>
        </p:txBody>
      </p:sp>
      <p:sp>
        <p:nvSpPr>
          <p:cNvPr id="43" name="t331"/>
          <p:cNvSpPr txBox="1"/>
          <p:nvPr/>
        </p:nvSpPr>
        <p:spPr>
          <a:xfrm>
            <a:off x="7909560" y="3063240"/>
            <a:ext cx="1005840" cy="256032"/>
          </a:xfrm>
          <a:prstGeom prst="rect">
            <a:avLst/>
          </a:prstGeom>
          <a:noFill/>
          <a:ln/>
        </p:spPr>
        <p:txBody>
          <a:bodyPr wrap="square" lIns="0" tIns="0" rIns="0" bIns="0" rtlCol="0" anchor="t"/>
          <a:lstStyle/>
          <a:p>
            <a:pPr indent="0" marL="0">
              <a:buNone/>
            </a:pPr>
            <a:r>
              <a:rPr lang="en-US" sz="1050" dirty="0">
                <a:solidFill>
                  <a:schemeClr val="accent3"/>
                </a:solidFill>
              </a:rPr>
              <a:t>Model</a:t>
            </a:r>
            <a:endParaRPr lang="en-US" sz="1050" dirty="0"/>
          </a:p>
        </p:txBody>
      </p:sp>
      <p:sp>
        <p:nvSpPr>
          <p:cNvPr id="44" name="t332"/>
          <p:cNvSpPr txBox="1"/>
          <p:nvPr/>
        </p:nvSpPr>
        <p:spPr>
          <a:xfrm>
            <a:off x="8915400" y="3063240"/>
            <a:ext cx="2450592" cy="256032"/>
          </a:xfrm>
          <a:prstGeom prst="rect">
            <a:avLst/>
          </a:prstGeom>
          <a:noFill/>
          <a:ln/>
        </p:spPr>
        <p:txBody>
          <a:bodyPr wrap="square" lIns="0" tIns="0" rIns="0" bIns="0" rtlCol="0" anchor="t"/>
          <a:lstStyle/>
          <a:p>
            <a:pPr indent="0" marL="0">
              <a:buNone/>
            </a:pPr>
            <a:r>
              <a:rPr lang="en-US" sz="1050" b="1" dirty="0">
                <a:solidFill>
                  <a:schemeClr val="tx1"/>
                </a:solidFill>
              </a:rPr>
              <a:t>claude-sonnet-5</a:t>
            </a:r>
            <a:endParaRPr lang="en-US" sz="1050" dirty="0"/>
          </a:p>
        </p:txBody>
      </p:sp>
      <p:sp>
        <p:nvSpPr>
          <p:cNvPr id="45" name="t333"/>
          <p:cNvSpPr txBox="1"/>
          <p:nvPr/>
        </p:nvSpPr>
        <p:spPr>
          <a:xfrm>
            <a:off x="7909560" y="3429000"/>
            <a:ext cx="1828800" cy="228600"/>
          </a:xfrm>
          <a:prstGeom prst="rect">
            <a:avLst/>
          </a:prstGeom>
          <a:noFill/>
          <a:ln/>
        </p:spPr>
        <p:txBody>
          <a:bodyPr wrap="square" lIns="0" tIns="0" rIns="0" bIns="0" rtlCol="0" anchor="t"/>
          <a:lstStyle/>
          <a:p>
            <a:pPr indent="0" marL="0">
              <a:buNone/>
            </a:pPr>
            <a:r>
              <a:rPr lang="en-US" sz="1100" b="1" dirty="0">
                <a:solidFill>
                  <a:schemeClr val="tx1"/>
                </a:solidFill>
              </a:rPr>
              <a:t>Changes</a:t>
            </a:r>
            <a:endParaRPr lang="en-US" sz="1100" dirty="0"/>
          </a:p>
        </p:txBody>
      </p:sp>
      <p:sp>
        <p:nvSpPr>
          <p:cNvPr id="46" name="t334"/>
          <p:cNvSpPr txBox="1"/>
          <p:nvPr/>
        </p:nvSpPr>
        <p:spPr>
          <a:xfrm>
            <a:off x="7909560" y="3685032"/>
            <a:ext cx="3456432" cy="1143000"/>
          </a:xfrm>
          <a:prstGeom prst="rect">
            <a:avLst/>
          </a:prstGeom>
          <a:noFill/>
          <a:ln/>
        </p:spPr>
        <p:txBody>
          <a:bodyPr wrap="square" lIns="0" tIns="0" rIns="0" bIns="0" rtlCol="0" anchor="t"/>
          <a:lstStyle/>
          <a:p>
            <a:pPr indent="0" marL="0">
              <a:buNone/>
            </a:pPr>
            <a:r>
              <a:rPr lang="en-US" sz="950" b="1" dirty="0">
                <a:solidFill>
                  <a:schemeClr val="tx1"/>
                </a:solidFill>
                <a:latin typeface="Courier New" pitchFamily="34" charset="0"/>
                <a:ea typeface="Courier New" pitchFamily="34" charset="-122"/>
                <a:cs typeface="Courier New" pitchFamily="34" charset="-120"/>
              </a:rPr>
              <a:t>state/failures.md</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 axi_dma_timeout_1  same root cause?</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 axi_dma_timeout_2</a:t>
            </a:r>
            <a:endParaRPr lang="en-US" sz="950" dirty="0"/>
          </a:p>
          <a:p>
            <a:pPr indent="0" marL="0">
              <a:buNone/>
            </a:pPr>
            <a:r>
              <a:rPr lang="en-US" sz="950" b="1" dirty="0">
                <a:solidFill>
                  <a:schemeClr val="tx1"/>
                </a:solidFill>
                <a:latin typeface="Courier New" pitchFamily="34" charset="0"/>
                <a:ea typeface="Courier New" pitchFamily="34" charset="-122"/>
                <a:cs typeface="Courier New" pitchFamily="34" charset="-120"/>
              </a:rPr>
              <a:t>memento.md</a:t>
            </a:r>
            <a:endParaRPr lang="en-US" sz="950" dirty="0"/>
          </a:p>
          <a:p>
            <a:pPr indent="0" marL="0">
              <a:buNone/>
            </a:pPr>
            <a:r>
              <a:rPr lang="en-US" sz="950" dirty="0">
                <a:solidFill>
                  <a:schemeClr val="accent4"/>
                </a:solidFill>
                <a:latin typeface="Courier New" pitchFamily="34" charset="0"/>
                <a:ea typeface="Courier New" pitchFamily="34" charset="-122"/>
                <a:cs typeface="Courier New" pitchFamily="34" charset="-120"/>
              </a:rPr>
              <a:t>- triage the three new failures</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 ask: one bug or three?</a:t>
            </a:r>
            <a:endParaRPr lang="en-US" sz="950" dirty="0"/>
          </a:p>
        </p:txBody>
      </p:sp>
      <p:sp>
        <p:nvSpPr>
          <p:cNvPr id="47" name="pill335"/>
          <p:cNvSpPr/>
          <p:nvPr/>
        </p:nvSpPr>
        <p:spPr>
          <a:xfrm>
            <a:off x="7909560" y="4937760"/>
            <a:ext cx="1828800" cy="292608"/>
          </a:xfrm>
          <a:prstGeom prst="roundRect">
            <a:avLst>
              <a:gd name="adj" fmla="val 50000"/>
            </a:avLst>
          </a:prstGeom>
          <a:solidFill>
            <a:schemeClr val="accent2"/>
          </a:solidFill>
          <a:ln w="9525">
            <a:solidFill>
              <a:schemeClr val="accent2"/>
            </a:solidFill>
            <a:prstDash val="solid"/>
          </a:ln>
        </p:spPr>
      </p:sp>
      <p:sp>
        <p:nvSpPr>
          <p:cNvPr id="48" name="t336"/>
          <p:cNvSpPr txBox="1"/>
          <p:nvPr/>
        </p:nvSpPr>
        <p:spPr>
          <a:xfrm>
            <a:off x="7909560" y="4937760"/>
            <a:ext cx="1828800" cy="292608"/>
          </a:xfrm>
          <a:prstGeom prst="rect">
            <a:avLst/>
          </a:prstGeom>
          <a:noFill/>
          <a:ln/>
        </p:spPr>
        <p:txBody>
          <a:bodyPr wrap="square" lIns="0" tIns="0" rIns="0" bIns="0" rtlCol="0" anchor="ctr"/>
          <a:lstStyle/>
          <a:p>
            <a:pPr algn="ctr" indent="0" marL="0">
              <a:buNone/>
            </a:pPr>
            <a:r>
              <a:rPr lang="en-US" sz="1000" b="1" dirty="0">
                <a:solidFill>
                  <a:schemeClr val="bg1"/>
                </a:solidFill>
              </a:rPr>
              <a:t>Open in Claude Code</a:t>
            </a:r>
            <a:endParaRPr lang="en-US" sz="1000" dirty="0"/>
          </a:p>
        </p:txBody>
      </p:sp>
      <p:sp>
        <p:nvSpPr>
          <p:cNvPr id="49" name="t337"/>
          <p:cNvSpPr txBox="1"/>
          <p:nvPr/>
        </p:nvSpPr>
        <p:spPr>
          <a:xfrm>
            <a:off x="7909560" y="5303520"/>
            <a:ext cx="3456432" cy="228600"/>
          </a:xfrm>
          <a:prstGeom prst="rect">
            <a:avLst/>
          </a:prstGeom>
          <a:noFill/>
          <a:ln/>
        </p:spPr>
        <p:txBody>
          <a:bodyPr wrap="square" lIns="0" tIns="0" rIns="0" bIns="0" rtlCol="0" anchor="t"/>
          <a:lstStyle/>
          <a:p>
            <a:pPr indent="0" marL="0">
              <a:buNone/>
            </a:pPr>
            <a:r>
              <a:rPr lang="en-US" sz="900" dirty="0">
                <a:solidFill>
                  <a:schemeClr val="tx2"/>
                </a:solidFill>
                <a:latin typeface="Courier New" pitchFamily="34" charset="0"/>
                <a:ea typeface="Courier New" pitchFamily="34" charset="-122"/>
                <a:cs typeface="Courier New" pitchFamily="34" charset="-120"/>
              </a:rPr>
              <a:t>claude --resume 9c1e… --fork-session</a:t>
            </a:r>
            <a:endParaRPr lang="en-US" sz="900" dirty="0"/>
          </a:p>
        </p:txBody>
      </p:sp>
      <p:sp>
        <p:nvSpPr>
          <p:cNvPr id="50" name="t338"/>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i="1" dirty="0">
                <a:solidFill>
                  <a:schemeClr val="accent2"/>
                </a:solidFill>
              </a:rPr>
              <a:t>Every step's prompt, transcript, diff and cost is in steps/&lt;n&gt;/, written by the executor, not the model.</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When a packet needs you, and what wakes next</a:t>
            </a:r>
            <a:endParaRPr lang="en-US" sz="3400" dirty="0"/>
          </a:p>
        </p:txBody>
      </p:sp>
      <p:sp>
        <p:nvSpPr>
          <p:cNvPr id="3" name="panel0"/>
          <p:cNvSpPr/>
          <p:nvPr/>
        </p:nvSpPr>
        <p:spPr>
          <a:xfrm>
            <a:off x="548640" y="1280160"/>
            <a:ext cx="5394960" cy="4343400"/>
          </a:xfrm>
          <a:prstGeom prst="roundRect">
            <a:avLst>
              <a:gd name="adj" fmla="val 1684"/>
            </a:avLst>
          </a:prstGeom>
          <a:solidFill>
            <a:schemeClr val="bg2"/>
          </a:solidFill>
          <a:ln w="12700">
            <a:solidFill>
              <a:schemeClr val="bg2"/>
            </a:solidFill>
            <a:prstDash val="solid"/>
          </a:ln>
        </p:spPr>
      </p:sp>
      <p:sp>
        <p:nvSpPr>
          <p:cNvPr id="4" name="t339"/>
          <p:cNvSpPr txBox="1"/>
          <p:nvPr/>
        </p:nvSpPr>
        <p:spPr>
          <a:xfrm>
            <a:off x="731520" y="1417320"/>
            <a:ext cx="5029200" cy="320040"/>
          </a:xfrm>
          <a:prstGeom prst="rect">
            <a:avLst/>
          </a:prstGeom>
          <a:noFill/>
          <a:ln/>
        </p:spPr>
        <p:txBody>
          <a:bodyPr wrap="square" lIns="0" tIns="0" rIns="0" bIns="0" rtlCol="0" anchor="ctr"/>
          <a:lstStyle/>
          <a:p>
            <a:pPr indent="0" marL="0">
              <a:buNone/>
            </a:pPr>
            <a:r>
              <a:rPr lang="en-US" sz="1500" b="1" dirty="0">
                <a:solidFill>
                  <a:schemeClr val="tx1"/>
                </a:solidFill>
              </a:rPr>
              <a:t>Inbox</a:t>
            </a:r>
            <a:pPr indent="0" marL="0">
              <a:buNone/>
            </a:pPr>
            <a:r>
              <a:rPr lang="en-US" sz="1100" dirty="0">
                <a:solidFill>
                  <a:schemeClr val="accent3"/>
                </a:solidFill>
              </a:rPr>
              <a:t>   1 waiting</a:t>
            </a:r>
            <a:endParaRPr lang="en-US" sz="1500" dirty="0"/>
          </a:p>
        </p:txBody>
      </p:sp>
      <p:sp>
        <p:nvSpPr>
          <p:cNvPr id="5" name="panel1"/>
          <p:cNvSpPr/>
          <p:nvPr/>
        </p:nvSpPr>
        <p:spPr>
          <a:xfrm>
            <a:off x="6245352" y="1280160"/>
            <a:ext cx="5394960" cy="4343400"/>
          </a:xfrm>
          <a:prstGeom prst="roundRect">
            <a:avLst>
              <a:gd name="adj" fmla="val 1684"/>
            </a:avLst>
          </a:prstGeom>
          <a:solidFill>
            <a:schemeClr val="bg2"/>
          </a:solidFill>
          <a:ln w="12700">
            <a:solidFill>
              <a:schemeClr val="bg2"/>
            </a:solidFill>
            <a:prstDash val="solid"/>
          </a:ln>
        </p:spPr>
      </p:sp>
      <p:sp>
        <p:nvSpPr>
          <p:cNvPr id="6" name="t340"/>
          <p:cNvSpPr txBox="1"/>
          <p:nvPr/>
        </p:nvSpPr>
        <p:spPr>
          <a:xfrm>
            <a:off x="6428232" y="1417320"/>
            <a:ext cx="5029200" cy="320040"/>
          </a:xfrm>
          <a:prstGeom prst="rect">
            <a:avLst/>
          </a:prstGeom>
          <a:noFill/>
          <a:ln/>
        </p:spPr>
        <p:txBody>
          <a:bodyPr wrap="square" lIns="0" tIns="0" rIns="0" bIns="0" rtlCol="0" anchor="ctr"/>
          <a:lstStyle/>
          <a:p>
            <a:pPr indent="0" marL="0">
              <a:buNone/>
            </a:pPr>
            <a:r>
              <a:rPr lang="en-US" sz="1500" b="1" dirty="0">
                <a:solidFill>
                  <a:schemeClr val="tx1"/>
                </a:solidFill>
              </a:rPr>
              <a:t>Upcoming wakes</a:t>
            </a:r>
            <a:pPr indent="0" marL="0">
              <a:buNone/>
            </a:pPr>
            <a:r>
              <a:rPr lang="en-US" sz="1100" dirty="0">
                <a:solidFill>
                  <a:schemeClr val="accent3"/>
                </a:solidFill>
              </a:rPr>
              <a:t>   all projects</a:t>
            </a:r>
            <a:endParaRPr lang="en-US" sz="1500" dirty="0"/>
          </a:p>
        </p:txBody>
      </p:sp>
      <p:sp>
        <p:nvSpPr>
          <p:cNvPr id="7" name="askcard"/>
          <p:cNvSpPr/>
          <p:nvPr/>
        </p:nvSpPr>
        <p:spPr>
          <a:xfrm>
            <a:off x="731520" y="1874520"/>
            <a:ext cx="5029200" cy="2743200"/>
          </a:xfrm>
          <a:prstGeom prst="roundRect">
            <a:avLst>
              <a:gd name="adj" fmla="val 2000"/>
            </a:avLst>
          </a:prstGeom>
          <a:solidFill>
            <a:schemeClr val="bg1"/>
          </a:solidFill>
          <a:ln w="15875">
            <a:solidFill>
              <a:schemeClr val="accent1"/>
            </a:solidFill>
            <a:prstDash val="solid"/>
          </a:ln>
        </p:spPr>
      </p:sp>
      <p:sp>
        <p:nvSpPr>
          <p:cNvPr id="8" name="t341"/>
          <p:cNvSpPr txBox="1"/>
          <p:nvPr/>
        </p:nvSpPr>
        <p:spPr>
          <a:xfrm>
            <a:off x="914400" y="2011680"/>
            <a:ext cx="4663440" cy="228600"/>
          </a:xfrm>
          <a:prstGeom prst="rect">
            <a:avLst/>
          </a:prstGeom>
          <a:noFill/>
          <a:ln/>
        </p:spPr>
        <p:txBody>
          <a:bodyPr wrap="square" lIns="0" tIns="0" rIns="0" bIns="0" rtlCol="0" anchor="t"/>
          <a:lstStyle/>
          <a:p>
            <a:pPr indent="0" marL="0">
              <a:buNone/>
            </a:pPr>
            <a:r>
              <a:rPr lang="en-US" sz="1050" dirty="0">
                <a:solidFill>
                  <a:schemeClr val="accent3"/>
                </a:solidFill>
              </a:rPr>
              <a:t>regress-bisect  ›  triage-dma  ·  asked 2 h ago</a:t>
            </a:r>
            <a:endParaRPr lang="en-US" sz="1050" dirty="0"/>
          </a:p>
        </p:txBody>
      </p:sp>
      <p:sp>
        <p:nvSpPr>
          <p:cNvPr id="9" name="t342"/>
          <p:cNvSpPr txBox="1"/>
          <p:nvPr/>
        </p:nvSpPr>
        <p:spPr>
          <a:xfrm>
            <a:off x="914400" y="2286000"/>
            <a:ext cx="4663440" cy="594360"/>
          </a:xfrm>
          <a:prstGeom prst="rect">
            <a:avLst/>
          </a:prstGeom>
          <a:noFill/>
          <a:ln/>
        </p:spPr>
        <p:txBody>
          <a:bodyPr wrap="square" lIns="0" tIns="0" rIns="0" bIns="0" rtlCol="0" anchor="t"/>
          <a:lstStyle/>
          <a:p>
            <a:pPr indent="0" marL="0">
              <a:buNone/>
            </a:pPr>
            <a:r>
              <a:rPr lang="en-US" sz="1500" b="1" dirty="0">
                <a:solidFill>
                  <a:schemeClr val="tx1"/>
                </a:solidFill>
              </a:rPr>
              <a:t>Three new failures look like the same AXI timeout. File one bug or three?</a:t>
            </a:r>
            <a:endParaRPr lang="en-US" sz="1500" dirty="0"/>
          </a:p>
        </p:txBody>
      </p:sp>
      <p:sp>
        <p:nvSpPr>
          <p:cNvPr id="10" name="pill343"/>
          <p:cNvSpPr/>
          <p:nvPr/>
        </p:nvSpPr>
        <p:spPr>
          <a:xfrm>
            <a:off x="914400" y="2971800"/>
            <a:ext cx="822960" cy="310896"/>
          </a:xfrm>
          <a:prstGeom prst="roundRect">
            <a:avLst>
              <a:gd name="adj" fmla="val 50000"/>
            </a:avLst>
          </a:prstGeom>
          <a:solidFill>
            <a:schemeClr val="accent2"/>
          </a:solidFill>
          <a:ln w="9525">
            <a:solidFill>
              <a:schemeClr val="accent2"/>
            </a:solidFill>
            <a:prstDash val="solid"/>
          </a:ln>
        </p:spPr>
      </p:sp>
      <p:sp>
        <p:nvSpPr>
          <p:cNvPr id="11" name="t344"/>
          <p:cNvSpPr txBox="1"/>
          <p:nvPr/>
        </p:nvSpPr>
        <p:spPr>
          <a:xfrm>
            <a:off x="914400" y="2971800"/>
            <a:ext cx="822960" cy="310896"/>
          </a:xfrm>
          <a:prstGeom prst="rect">
            <a:avLst/>
          </a:prstGeom>
          <a:noFill/>
          <a:ln/>
        </p:spPr>
        <p:txBody>
          <a:bodyPr wrap="square" lIns="0" tIns="0" rIns="0" bIns="0" rtlCol="0" anchor="ctr"/>
          <a:lstStyle/>
          <a:p>
            <a:pPr algn="ctr" indent="0" marL="0">
              <a:buNone/>
            </a:pPr>
            <a:r>
              <a:rPr lang="en-US" sz="1100" b="1" dirty="0">
                <a:solidFill>
                  <a:schemeClr val="bg1"/>
                </a:solidFill>
              </a:rPr>
              <a:t>one</a:t>
            </a:r>
            <a:endParaRPr lang="en-US" sz="1100" dirty="0"/>
          </a:p>
        </p:txBody>
      </p:sp>
      <p:sp>
        <p:nvSpPr>
          <p:cNvPr id="12" name="pill345"/>
          <p:cNvSpPr/>
          <p:nvPr/>
        </p:nvSpPr>
        <p:spPr>
          <a:xfrm>
            <a:off x="1828800" y="2971800"/>
            <a:ext cx="822960" cy="310896"/>
          </a:xfrm>
          <a:prstGeom prst="roundRect">
            <a:avLst>
              <a:gd name="adj" fmla="val 50000"/>
            </a:avLst>
          </a:prstGeom>
          <a:solidFill>
            <a:schemeClr val="bg1"/>
          </a:solidFill>
          <a:ln w="9525">
            <a:solidFill>
              <a:schemeClr val="accent3"/>
            </a:solidFill>
            <a:prstDash val="solid"/>
          </a:ln>
        </p:spPr>
      </p:sp>
      <p:sp>
        <p:nvSpPr>
          <p:cNvPr id="13" name="t346"/>
          <p:cNvSpPr txBox="1"/>
          <p:nvPr/>
        </p:nvSpPr>
        <p:spPr>
          <a:xfrm>
            <a:off x="1828800" y="2971800"/>
            <a:ext cx="822960" cy="310896"/>
          </a:xfrm>
          <a:prstGeom prst="rect">
            <a:avLst/>
          </a:prstGeom>
          <a:noFill/>
          <a:ln/>
        </p:spPr>
        <p:txBody>
          <a:bodyPr wrap="square" lIns="0" tIns="0" rIns="0" bIns="0" rtlCol="0" anchor="ctr"/>
          <a:lstStyle/>
          <a:p>
            <a:pPr algn="ctr" indent="0" marL="0">
              <a:buNone/>
            </a:pPr>
            <a:r>
              <a:rPr lang="en-US" sz="1100" dirty="0">
                <a:solidFill>
                  <a:schemeClr val="tx1"/>
                </a:solidFill>
              </a:rPr>
              <a:t>three</a:t>
            </a:r>
            <a:endParaRPr lang="en-US" sz="1100" dirty="0"/>
          </a:p>
        </p:txBody>
      </p:sp>
      <p:sp>
        <p:nvSpPr>
          <p:cNvPr id="14" name="replybox"/>
          <p:cNvSpPr/>
          <p:nvPr/>
        </p:nvSpPr>
        <p:spPr>
          <a:xfrm>
            <a:off x="914400" y="3429000"/>
            <a:ext cx="4663440" cy="411480"/>
          </a:xfrm>
          <a:prstGeom prst="roundRect">
            <a:avLst>
              <a:gd name="adj" fmla="val 11111"/>
            </a:avLst>
          </a:prstGeom>
          <a:solidFill>
            <a:schemeClr val="bg2"/>
          </a:solidFill>
          <a:ln w="9525">
            <a:solidFill>
              <a:srgbClr val="D5DBE1"/>
            </a:solidFill>
            <a:prstDash val="solid"/>
          </a:ln>
        </p:spPr>
      </p:sp>
      <p:sp>
        <p:nvSpPr>
          <p:cNvPr id="15" name="t347"/>
          <p:cNvSpPr txBox="1"/>
          <p:nvPr/>
        </p:nvSpPr>
        <p:spPr>
          <a:xfrm>
            <a:off x="1051560" y="3429000"/>
            <a:ext cx="4389120" cy="411480"/>
          </a:xfrm>
          <a:prstGeom prst="rect">
            <a:avLst/>
          </a:prstGeom>
          <a:noFill/>
          <a:ln/>
        </p:spPr>
        <p:txBody>
          <a:bodyPr wrap="square" lIns="0" tIns="0" rIns="0" bIns="0" rtlCol="0" anchor="ctr"/>
          <a:lstStyle/>
          <a:p>
            <a:pPr indent="0" marL="0">
              <a:buNone/>
            </a:pPr>
            <a:r>
              <a:rPr lang="en-US" sz="1100" i="1" dirty="0">
                <a:solidFill>
                  <a:schemeClr val="accent3"/>
                </a:solidFill>
              </a:rPr>
              <a:t>Or type a reply…</a:t>
            </a:r>
            <a:endParaRPr lang="en-US" sz="1100" dirty="0"/>
          </a:p>
        </p:txBody>
      </p:sp>
      <p:sp>
        <p:nvSpPr>
          <p:cNvPr id="16" name="t348"/>
          <p:cNvSpPr txBox="1"/>
          <p:nvPr/>
        </p:nvSpPr>
        <p:spPr>
          <a:xfrm>
            <a:off x="914400" y="3977640"/>
            <a:ext cx="4663440" cy="457200"/>
          </a:xfrm>
          <a:prstGeom prst="rect">
            <a:avLst/>
          </a:prstGeom>
          <a:noFill/>
          <a:ln/>
        </p:spPr>
        <p:txBody>
          <a:bodyPr wrap="square" lIns="0" tIns="0" rIns="0" bIns="0" rtlCol="0" anchor="t"/>
          <a:lstStyle/>
          <a:p>
            <a:pPr indent="0" marL="0">
              <a:buNone/>
            </a:pPr>
            <a:r>
              <a:rPr lang="en-US" sz="1100" dirty="0">
                <a:solidFill>
                  <a:schemeClr val="tx2"/>
                </a:solidFill>
              </a:rPr>
              <a:t>No answer by Thu 18:00? It wakes anyway and is told nobody replied.</a:t>
            </a:r>
            <a:endParaRPr lang="en-US" sz="1100" dirty="0"/>
          </a:p>
        </p:txBody>
      </p:sp>
      <p:sp>
        <p:nvSpPr>
          <p:cNvPr id="17" name="toast"/>
          <p:cNvSpPr/>
          <p:nvPr/>
        </p:nvSpPr>
        <p:spPr>
          <a:xfrm>
            <a:off x="731520" y="4800600"/>
            <a:ext cx="5029200" cy="640080"/>
          </a:xfrm>
          <a:prstGeom prst="roundRect">
            <a:avLst>
              <a:gd name="adj" fmla="val 11429"/>
            </a:avLst>
          </a:prstGeom>
          <a:solidFill>
            <a:schemeClr val="tx1"/>
          </a:solidFill>
          <a:ln w="12700">
            <a:solidFill>
              <a:schemeClr val="tx1"/>
            </a:solidFill>
            <a:prstDash val="solid"/>
          </a:ln>
        </p:spPr>
      </p:sp>
      <p:sp>
        <p:nvSpPr>
          <p:cNvPr id="18" name="ic349"/>
          <p:cNvSpPr/>
          <p:nvPr/>
        </p:nvSpPr>
        <p:spPr>
          <a:xfrm>
            <a:off x="868680" y="4919472"/>
            <a:ext cx="402336" cy="402336"/>
          </a:xfrm>
          <a:prstGeom prst="ellipse">
            <a:avLst/>
          </a:prstGeom>
          <a:solidFill>
            <a:schemeClr val="accent1"/>
          </a:solidFill>
          <a:ln w="12700">
            <a:solidFill>
              <a:schemeClr val="accent1"/>
            </a:solidFill>
            <a:prstDash val="solid"/>
          </a:ln>
        </p:spPr>
      </p:sp>
      <p:pic>
        <p:nvPicPr>
          <p:cNvPr id="19" name="icimg350" descr="preencoded.png">    </p:cNvPr>
          <p:cNvPicPr>
            <a:picLocks noChangeAspect="1"/>
          </p:cNvPicPr>
          <p:nvPr/>
        </p:nvPicPr>
        <p:blipFill>
          <a:blip r:embed="rId1"/>
          <a:stretch>
            <a:fillRect/>
          </a:stretch>
        </p:blipFill>
        <p:spPr>
          <a:xfrm>
            <a:off x="969264" y="5020056"/>
            <a:ext cx="201168" cy="201168"/>
          </a:xfrm>
          <a:prstGeom prst="rect">
            <a:avLst/>
          </a:prstGeom>
        </p:spPr>
      </p:pic>
      <p:sp>
        <p:nvSpPr>
          <p:cNvPr id="20" name="t351"/>
          <p:cNvSpPr txBox="1"/>
          <p:nvPr/>
        </p:nvSpPr>
        <p:spPr>
          <a:xfrm>
            <a:off x="1417320" y="4800600"/>
            <a:ext cx="4206240" cy="640080"/>
          </a:xfrm>
          <a:prstGeom prst="rect">
            <a:avLst/>
          </a:prstGeom>
          <a:noFill/>
          <a:ln/>
        </p:spPr>
        <p:txBody>
          <a:bodyPr wrap="square" lIns="0" tIns="0" rIns="0" bIns="0" rtlCol="0" anchor="ctr"/>
          <a:lstStyle/>
          <a:p>
            <a:pPr indent="0" marL="0">
              <a:buNone/>
            </a:pPr>
            <a:r>
              <a:rPr lang="en-US" sz="1100" b="1" dirty="0">
                <a:solidFill>
                  <a:schemeClr val="bg1"/>
                </a:solidFill>
              </a:rPr>
              <a:t>work-packet</a:t>
            </a:r>
            <a:pPr indent="0" marL="0">
              <a:buNone/>
            </a:pPr>
            <a:r>
              <a:rPr lang="en-US" sz="1100" dirty="0">
                <a:solidFill>
                  <a:srgbClr val="B8C2CC"/>
                </a:solidFill>
              </a:rPr>
              <a:t>   regress-bisect needs you: one bug or three?</a:t>
            </a:r>
            <a:endParaRPr lang="en-US" sz="1100" dirty="0"/>
          </a:p>
        </p:txBody>
      </p:sp>
      <p:sp>
        <p:nvSpPr>
          <p:cNvPr id="21" name="up0"/>
          <p:cNvSpPr/>
          <p:nvPr/>
        </p:nvSpPr>
        <p:spPr>
          <a:xfrm>
            <a:off x="6428232" y="1874520"/>
            <a:ext cx="5029200" cy="457200"/>
          </a:xfrm>
          <a:prstGeom prst="roundRect">
            <a:avLst>
              <a:gd name="adj" fmla="val 10000"/>
            </a:avLst>
          </a:prstGeom>
          <a:solidFill>
            <a:schemeClr val="bg1"/>
          </a:solidFill>
          <a:ln w="6350">
            <a:solidFill>
              <a:srgbClr val="D5DBE1"/>
            </a:solidFill>
            <a:prstDash val="solid"/>
          </a:ln>
        </p:spPr>
      </p:sp>
      <p:sp>
        <p:nvSpPr>
          <p:cNvPr id="22" name="t352"/>
          <p:cNvSpPr txBox="1"/>
          <p:nvPr/>
        </p:nvSpPr>
        <p:spPr>
          <a:xfrm>
            <a:off x="6565392" y="1874520"/>
            <a:ext cx="1737360" cy="45720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Thu 22 Oct 06:00</a:t>
            </a:r>
            <a:endParaRPr lang="en-US" sz="1100" dirty="0"/>
          </a:p>
        </p:txBody>
      </p:sp>
      <p:sp>
        <p:nvSpPr>
          <p:cNvPr id="23" name="t353"/>
          <p:cNvSpPr txBox="1"/>
          <p:nvPr/>
        </p:nvSpPr>
        <p:spPr>
          <a:xfrm>
            <a:off x="8348472" y="1874520"/>
            <a:ext cx="1645920" cy="457200"/>
          </a:xfrm>
          <a:prstGeom prst="rect">
            <a:avLst/>
          </a:prstGeom>
          <a:noFill/>
          <a:ln/>
        </p:spPr>
        <p:txBody>
          <a:bodyPr wrap="square" lIns="0" tIns="0" rIns="0" bIns="0" rtlCol="0" anchor="ctr"/>
          <a:lstStyle/>
          <a:p>
            <a:pPr indent="0" marL="0">
              <a:buNone/>
            </a:pPr>
            <a:r>
              <a:rPr lang="en-US" sz="1100" b="1" dirty="0">
                <a:solidFill>
                  <a:schemeClr val="tx1"/>
                </a:solidFill>
              </a:rPr>
              <a:t>nightly-triage</a:t>
            </a:r>
            <a:endParaRPr lang="en-US" sz="1100" dirty="0"/>
          </a:p>
        </p:txBody>
      </p:sp>
      <p:sp>
        <p:nvSpPr>
          <p:cNvPr id="24" name="t354"/>
          <p:cNvSpPr txBox="1"/>
          <p:nvPr/>
        </p:nvSpPr>
        <p:spPr>
          <a:xfrm>
            <a:off x="9994392" y="1874520"/>
            <a:ext cx="1371600" cy="457200"/>
          </a:xfrm>
          <a:prstGeom prst="rect">
            <a:avLst/>
          </a:prstGeom>
          <a:noFill/>
          <a:ln/>
        </p:spPr>
        <p:txBody>
          <a:bodyPr wrap="square" lIns="0" tIns="0" rIns="0" bIns="0" rtlCol="0" anchor="ctr"/>
          <a:lstStyle/>
          <a:p>
            <a:pPr algn="r" indent="0" marL="0">
              <a:buNone/>
            </a:pPr>
            <a:r>
              <a:rPr lang="en-US" sz="1050" dirty="0">
                <a:solidFill>
                  <a:schemeClr val="tx2"/>
                </a:solidFill>
              </a:rPr>
              <a:t>daily</a:t>
            </a:r>
            <a:endParaRPr lang="en-US" sz="1050" dirty="0"/>
          </a:p>
        </p:txBody>
      </p:sp>
      <p:sp>
        <p:nvSpPr>
          <p:cNvPr id="25" name="up1"/>
          <p:cNvSpPr/>
          <p:nvPr/>
        </p:nvSpPr>
        <p:spPr>
          <a:xfrm>
            <a:off x="6428232" y="2423160"/>
            <a:ext cx="5029200" cy="457200"/>
          </a:xfrm>
          <a:prstGeom prst="roundRect">
            <a:avLst>
              <a:gd name="adj" fmla="val 10000"/>
            </a:avLst>
          </a:prstGeom>
          <a:solidFill>
            <a:schemeClr val="bg1"/>
          </a:solidFill>
          <a:ln w="6350">
            <a:solidFill>
              <a:srgbClr val="D5DBE1"/>
            </a:solidFill>
            <a:prstDash val="solid"/>
          </a:ln>
        </p:spPr>
      </p:sp>
      <p:sp>
        <p:nvSpPr>
          <p:cNvPr id="26" name="t355"/>
          <p:cNvSpPr txBox="1"/>
          <p:nvPr/>
        </p:nvSpPr>
        <p:spPr>
          <a:xfrm>
            <a:off x="6565392" y="2423160"/>
            <a:ext cx="1737360" cy="45720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Thu 22 Oct 18:00</a:t>
            </a:r>
            <a:endParaRPr lang="en-US" sz="1100" dirty="0"/>
          </a:p>
        </p:txBody>
      </p:sp>
      <p:sp>
        <p:nvSpPr>
          <p:cNvPr id="27" name="t356"/>
          <p:cNvSpPr txBox="1"/>
          <p:nvPr/>
        </p:nvSpPr>
        <p:spPr>
          <a:xfrm>
            <a:off x="8348472" y="2423160"/>
            <a:ext cx="1645920" cy="457200"/>
          </a:xfrm>
          <a:prstGeom prst="rect">
            <a:avLst/>
          </a:prstGeom>
          <a:noFill/>
          <a:ln/>
        </p:spPr>
        <p:txBody>
          <a:bodyPr wrap="square" lIns="0" tIns="0" rIns="0" bIns="0" rtlCol="0" anchor="ctr"/>
          <a:lstStyle/>
          <a:p>
            <a:pPr indent="0" marL="0">
              <a:buNone/>
            </a:pPr>
            <a:r>
              <a:rPr lang="en-US" sz="1100" b="1" dirty="0">
                <a:solidFill>
                  <a:schemeClr val="tx1"/>
                </a:solidFill>
              </a:rPr>
              <a:t>regress-bisect</a:t>
            </a:r>
            <a:endParaRPr lang="en-US" sz="1100" dirty="0"/>
          </a:p>
        </p:txBody>
      </p:sp>
      <p:sp>
        <p:nvSpPr>
          <p:cNvPr id="28" name="t357"/>
          <p:cNvSpPr txBox="1"/>
          <p:nvPr/>
        </p:nvSpPr>
        <p:spPr>
          <a:xfrm>
            <a:off x="9994392" y="2423160"/>
            <a:ext cx="1371600" cy="457200"/>
          </a:xfrm>
          <a:prstGeom prst="rect">
            <a:avLst/>
          </a:prstGeom>
          <a:noFill/>
          <a:ln/>
        </p:spPr>
        <p:txBody>
          <a:bodyPr wrap="square" lIns="0" tIns="0" rIns="0" bIns="0" rtlCol="0" anchor="ctr"/>
          <a:lstStyle/>
          <a:p>
            <a:pPr algn="r" indent="0" marL="0">
              <a:buNone/>
            </a:pPr>
            <a:r>
              <a:rPr lang="en-US" sz="1050" dirty="0">
                <a:solidFill>
                  <a:schemeClr val="tx2"/>
                </a:solidFill>
              </a:rPr>
              <a:t>answer deadline</a:t>
            </a:r>
            <a:endParaRPr lang="en-US" sz="1050" dirty="0"/>
          </a:p>
        </p:txBody>
      </p:sp>
      <p:sp>
        <p:nvSpPr>
          <p:cNvPr id="29" name="up2"/>
          <p:cNvSpPr/>
          <p:nvPr/>
        </p:nvSpPr>
        <p:spPr>
          <a:xfrm>
            <a:off x="6428232" y="2971800"/>
            <a:ext cx="5029200" cy="457200"/>
          </a:xfrm>
          <a:prstGeom prst="roundRect">
            <a:avLst>
              <a:gd name="adj" fmla="val 10000"/>
            </a:avLst>
          </a:prstGeom>
          <a:solidFill>
            <a:srgbClr val="F6E3C1"/>
          </a:solidFill>
          <a:ln w="6350">
            <a:solidFill>
              <a:schemeClr val="accent1"/>
            </a:solidFill>
            <a:prstDash val="solid"/>
          </a:ln>
        </p:spPr>
      </p:sp>
      <p:sp>
        <p:nvSpPr>
          <p:cNvPr id="30" name="t358"/>
          <p:cNvSpPr txBox="1"/>
          <p:nvPr/>
        </p:nvSpPr>
        <p:spPr>
          <a:xfrm>
            <a:off x="6565392" y="2971800"/>
            <a:ext cx="1737360" cy="45720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Mon 26 Oct 08:00</a:t>
            </a:r>
            <a:endParaRPr lang="en-US" sz="1100" dirty="0"/>
          </a:p>
        </p:txBody>
      </p:sp>
      <p:sp>
        <p:nvSpPr>
          <p:cNvPr id="31" name="t359"/>
          <p:cNvSpPr txBox="1"/>
          <p:nvPr/>
        </p:nvSpPr>
        <p:spPr>
          <a:xfrm>
            <a:off x="8348472" y="2971800"/>
            <a:ext cx="1645920" cy="457200"/>
          </a:xfrm>
          <a:prstGeom prst="rect">
            <a:avLst/>
          </a:prstGeom>
          <a:noFill/>
          <a:ln/>
        </p:spPr>
        <p:txBody>
          <a:bodyPr wrap="square" lIns="0" tIns="0" rIns="0" bIns="0" rtlCol="0" anchor="ctr"/>
          <a:lstStyle/>
          <a:p>
            <a:pPr indent="0" marL="0">
              <a:buNone/>
            </a:pPr>
            <a:r>
              <a:rPr lang="en-US" sz="1100" b="1" dirty="0">
                <a:solidFill>
                  <a:schemeClr val="tx1"/>
                </a:solidFill>
              </a:rPr>
              <a:t>weekly-report</a:t>
            </a:r>
            <a:endParaRPr lang="en-US" sz="1100" dirty="0"/>
          </a:p>
        </p:txBody>
      </p:sp>
      <p:sp>
        <p:nvSpPr>
          <p:cNvPr id="32" name="t360"/>
          <p:cNvSpPr txBox="1"/>
          <p:nvPr/>
        </p:nvSpPr>
        <p:spPr>
          <a:xfrm>
            <a:off x="9994392" y="2971800"/>
            <a:ext cx="1371600" cy="457200"/>
          </a:xfrm>
          <a:prstGeom prst="rect">
            <a:avLst/>
          </a:prstGeom>
          <a:noFill/>
          <a:ln/>
        </p:spPr>
        <p:txBody>
          <a:bodyPr wrap="square" lIns="0" tIns="0" rIns="0" bIns="0" rtlCol="0" anchor="ctr"/>
          <a:lstStyle/>
          <a:p>
            <a:pPr algn="r" indent="0" marL="0">
              <a:buNone/>
            </a:pPr>
            <a:r>
              <a:rPr lang="en-US" sz="1050" dirty="0">
                <a:solidFill>
                  <a:schemeClr val="tx2"/>
                </a:solidFill>
              </a:rPr>
              <a:t>every monday</a:t>
            </a:r>
            <a:endParaRPr lang="en-US" sz="1050" dirty="0"/>
          </a:p>
        </p:txBody>
      </p:sp>
      <p:sp>
        <p:nvSpPr>
          <p:cNvPr id="33" name="up3"/>
          <p:cNvSpPr/>
          <p:nvPr/>
        </p:nvSpPr>
        <p:spPr>
          <a:xfrm>
            <a:off x="6428232" y="3520440"/>
            <a:ext cx="5029200" cy="457200"/>
          </a:xfrm>
          <a:prstGeom prst="roundRect">
            <a:avLst>
              <a:gd name="adj" fmla="val 10000"/>
            </a:avLst>
          </a:prstGeom>
          <a:solidFill>
            <a:srgbClr val="F6E3C1"/>
          </a:solidFill>
          <a:ln w="6350">
            <a:solidFill>
              <a:schemeClr val="accent1"/>
            </a:solidFill>
            <a:prstDash val="solid"/>
          </a:ln>
        </p:spPr>
      </p:sp>
      <p:sp>
        <p:nvSpPr>
          <p:cNvPr id="34" name="t361"/>
          <p:cNvSpPr txBox="1"/>
          <p:nvPr/>
        </p:nvSpPr>
        <p:spPr>
          <a:xfrm>
            <a:off x="6565392" y="3520440"/>
            <a:ext cx="1737360" cy="45720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Mon 26 Oct 08:00</a:t>
            </a:r>
            <a:endParaRPr lang="en-US" sz="1100" dirty="0"/>
          </a:p>
        </p:txBody>
      </p:sp>
      <p:sp>
        <p:nvSpPr>
          <p:cNvPr id="35" name="t362"/>
          <p:cNvSpPr txBox="1"/>
          <p:nvPr/>
        </p:nvSpPr>
        <p:spPr>
          <a:xfrm>
            <a:off x="8348472" y="3520440"/>
            <a:ext cx="1645920" cy="457200"/>
          </a:xfrm>
          <a:prstGeom prst="rect">
            <a:avLst/>
          </a:prstGeom>
          <a:noFill/>
          <a:ln/>
        </p:spPr>
        <p:txBody>
          <a:bodyPr wrap="square" lIns="0" tIns="0" rIns="0" bIns="0" rtlCol="0" anchor="ctr"/>
          <a:lstStyle/>
          <a:p>
            <a:pPr indent="0" marL="0">
              <a:buNone/>
            </a:pPr>
            <a:r>
              <a:rPr lang="en-US" sz="1100" b="1" dirty="0">
                <a:solidFill>
                  <a:schemeClr val="tx1"/>
                </a:solidFill>
              </a:rPr>
              <a:t>dep-audit</a:t>
            </a:r>
            <a:endParaRPr lang="en-US" sz="1100" dirty="0"/>
          </a:p>
        </p:txBody>
      </p:sp>
      <p:sp>
        <p:nvSpPr>
          <p:cNvPr id="36" name="t363"/>
          <p:cNvSpPr txBox="1"/>
          <p:nvPr/>
        </p:nvSpPr>
        <p:spPr>
          <a:xfrm>
            <a:off x="9994392" y="3520440"/>
            <a:ext cx="1371600" cy="457200"/>
          </a:xfrm>
          <a:prstGeom prst="rect">
            <a:avLst/>
          </a:prstGeom>
          <a:noFill/>
          <a:ln/>
        </p:spPr>
        <p:txBody>
          <a:bodyPr wrap="square" lIns="0" tIns="0" rIns="0" bIns="0" rtlCol="0" anchor="ctr"/>
          <a:lstStyle/>
          <a:p>
            <a:pPr algn="r" indent="0" marL="0">
              <a:buNone/>
            </a:pPr>
            <a:r>
              <a:rPr lang="en-US" sz="1050" dirty="0">
                <a:solidFill>
                  <a:schemeClr val="tx2"/>
                </a:solidFill>
              </a:rPr>
              <a:t>every monday</a:t>
            </a:r>
            <a:endParaRPr lang="en-US" sz="1050" dirty="0"/>
          </a:p>
        </p:txBody>
      </p:sp>
      <p:sp>
        <p:nvSpPr>
          <p:cNvPr id="37" name="up4"/>
          <p:cNvSpPr/>
          <p:nvPr/>
        </p:nvSpPr>
        <p:spPr>
          <a:xfrm>
            <a:off x="6428232" y="4069080"/>
            <a:ext cx="5029200" cy="457200"/>
          </a:xfrm>
          <a:prstGeom prst="roundRect">
            <a:avLst>
              <a:gd name="adj" fmla="val 10000"/>
            </a:avLst>
          </a:prstGeom>
          <a:solidFill>
            <a:schemeClr val="bg1"/>
          </a:solidFill>
          <a:ln w="6350">
            <a:solidFill>
              <a:srgbClr val="D5DBE1"/>
            </a:solidFill>
            <a:prstDash val="solid"/>
          </a:ln>
        </p:spPr>
      </p:sp>
      <p:sp>
        <p:nvSpPr>
          <p:cNvPr id="38" name="t364"/>
          <p:cNvSpPr txBox="1"/>
          <p:nvPr/>
        </p:nvSpPr>
        <p:spPr>
          <a:xfrm>
            <a:off x="6565392" y="4069080"/>
            <a:ext cx="1737360" cy="45720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Sat 31 Oct 09:00</a:t>
            </a:r>
            <a:endParaRPr lang="en-US" sz="1100" dirty="0"/>
          </a:p>
        </p:txBody>
      </p:sp>
      <p:sp>
        <p:nvSpPr>
          <p:cNvPr id="39" name="t365"/>
          <p:cNvSpPr txBox="1"/>
          <p:nvPr/>
        </p:nvSpPr>
        <p:spPr>
          <a:xfrm>
            <a:off x="8348472" y="4069080"/>
            <a:ext cx="1645920" cy="457200"/>
          </a:xfrm>
          <a:prstGeom prst="rect">
            <a:avLst/>
          </a:prstGeom>
          <a:noFill/>
          <a:ln/>
        </p:spPr>
        <p:txBody>
          <a:bodyPr wrap="square" lIns="0" tIns="0" rIns="0" bIns="0" rtlCol="0" anchor="ctr"/>
          <a:lstStyle/>
          <a:p>
            <a:pPr indent="0" marL="0">
              <a:buNone/>
            </a:pPr>
            <a:r>
              <a:rPr lang="en-US" sz="1100" b="1" dirty="0">
                <a:solidFill>
                  <a:schemeClr val="tx1"/>
                </a:solidFill>
              </a:rPr>
              <a:t>dep-watch</a:t>
            </a:r>
            <a:endParaRPr lang="en-US" sz="1100" dirty="0"/>
          </a:p>
        </p:txBody>
      </p:sp>
      <p:sp>
        <p:nvSpPr>
          <p:cNvPr id="40" name="t366"/>
          <p:cNvSpPr txBox="1"/>
          <p:nvPr/>
        </p:nvSpPr>
        <p:spPr>
          <a:xfrm>
            <a:off x="9994392" y="4069080"/>
            <a:ext cx="1371600" cy="457200"/>
          </a:xfrm>
          <a:prstGeom prst="rect">
            <a:avLst/>
          </a:prstGeom>
          <a:noFill/>
          <a:ln/>
        </p:spPr>
        <p:txBody>
          <a:bodyPr wrap="square" lIns="0" tIns="0" rIns="0" bIns="0" rtlCol="0" anchor="ctr"/>
          <a:lstStyle/>
          <a:p>
            <a:pPr algn="r" indent="0" marL="0">
              <a:buNone/>
            </a:pPr>
            <a:r>
              <a:rPr lang="en-US" sz="1050" dirty="0">
                <a:solidFill>
                  <a:schemeClr val="tx2"/>
                </a:solidFill>
              </a:rPr>
              <a:t>in 10 days</a:t>
            </a:r>
            <a:endParaRPr lang="en-US" sz="1050" dirty="0"/>
          </a:p>
        </p:txBody>
      </p:sp>
      <p:sp>
        <p:nvSpPr>
          <p:cNvPr id="41" name="up5"/>
          <p:cNvSpPr/>
          <p:nvPr/>
        </p:nvSpPr>
        <p:spPr>
          <a:xfrm>
            <a:off x="6428232" y="4617720"/>
            <a:ext cx="5029200" cy="457200"/>
          </a:xfrm>
          <a:prstGeom prst="roundRect">
            <a:avLst>
              <a:gd name="adj" fmla="val 10000"/>
            </a:avLst>
          </a:prstGeom>
          <a:solidFill>
            <a:schemeClr val="bg1"/>
          </a:solidFill>
          <a:ln w="6350">
            <a:solidFill>
              <a:srgbClr val="D5DBE1"/>
            </a:solidFill>
            <a:prstDash val="solid"/>
          </a:ln>
        </p:spPr>
      </p:sp>
      <p:sp>
        <p:nvSpPr>
          <p:cNvPr id="42" name="t367"/>
          <p:cNvSpPr txBox="1"/>
          <p:nvPr/>
        </p:nvSpPr>
        <p:spPr>
          <a:xfrm>
            <a:off x="6565392" y="4617720"/>
            <a:ext cx="1737360" cy="45720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Sun 10 Jan 09:00</a:t>
            </a:r>
            <a:endParaRPr lang="en-US" sz="1100" dirty="0"/>
          </a:p>
        </p:txBody>
      </p:sp>
      <p:sp>
        <p:nvSpPr>
          <p:cNvPr id="43" name="t368"/>
          <p:cNvSpPr txBox="1"/>
          <p:nvPr/>
        </p:nvSpPr>
        <p:spPr>
          <a:xfrm>
            <a:off x="8348472" y="4617720"/>
            <a:ext cx="1645920" cy="457200"/>
          </a:xfrm>
          <a:prstGeom prst="rect">
            <a:avLst/>
          </a:prstGeom>
          <a:noFill/>
          <a:ln/>
        </p:spPr>
        <p:txBody>
          <a:bodyPr wrap="square" lIns="0" tIns="0" rIns="0" bIns="0" rtlCol="0" anchor="ctr"/>
          <a:lstStyle/>
          <a:p>
            <a:pPr indent="0" marL="0">
              <a:buNone/>
            </a:pPr>
            <a:r>
              <a:rPr lang="en-US" sz="1100" b="1" dirty="0">
                <a:solidFill>
                  <a:schemeClr val="tx1"/>
                </a:solidFill>
              </a:rPr>
              <a:t>license-check</a:t>
            </a:r>
            <a:endParaRPr lang="en-US" sz="1100" dirty="0"/>
          </a:p>
        </p:txBody>
      </p:sp>
      <p:sp>
        <p:nvSpPr>
          <p:cNvPr id="44" name="t369"/>
          <p:cNvSpPr txBox="1"/>
          <p:nvPr/>
        </p:nvSpPr>
        <p:spPr>
          <a:xfrm>
            <a:off x="9994392" y="4617720"/>
            <a:ext cx="1371600" cy="457200"/>
          </a:xfrm>
          <a:prstGeom prst="rect">
            <a:avLst/>
          </a:prstGeom>
          <a:noFill/>
          <a:ln/>
        </p:spPr>
        <p:txBody>
          <a:bodyPr wrap="square" lIns="0" tIns="0" rIns="0" bIns="0" rtlCol="0" anchor="ctr"/>
          <a:lstStyle/>
          <a:p>
            <a:pPr algn="r" indent="0" marL="0">
              <a:buNone/>
            </a:pPr>
            <a:r>
              <a:rPr lang="en-US" sz="1050" dirty="0">
                <a:solidFill>
                  <a:schemeClr val="tx2"/>
                </a:solidFill>
              </a:rPr>
              <a:t>on 10 Jan</a:t>
            </a:r>
            <a:endParaRPr lang="en-US" sz="1050" dirty="0"/>
          </a:p>
        </p:txBody>
      </p:sp>
      <p:sp>
        <p:nvSpPr>
          <p:cNvPr id="45" name="t370"/>
          <p:cNvSpPr txBox="1"/>
          <p:nvPr/>
        </p:nvSpPr>
        <p:spPr>
          <a:xfrm>
            <a:off x="6428232" y="5212080"/>
            <a:ext cx="5029200" cy="365760"/>
          </a:xfrm>
          <a:prstGeom prst="rect">
            <a:avLst/>
          </a:prstGeom>
          <a:noFill/>
          <a:ln/>
        </p:spPr>
        <p:txBody>
          <a:bodyPr wrap="square" lIns="0" tIns="0" rIns="0" bIns="0" rtlCol="0" anchor="t"/>
          <a:lstStyle/>
          <a:p>
            <a:pPr indent="0" marL="0">
              <a:buNone/>
            </a:pPr>
            <a:r>
              <a:rPr lang="en-US" sz="1100" dirty="0">
                <a:solidFill>
                  <a:schemeClr val="accent4"/>
                </a:solidFill>
              </a:rPr>
              <a:t>Two projects wake at Mon 08:00: the list makes clashes easy to spot.</a:t>
            </a:r>
            <a:endParaRPr lang="en-US" sz="1100" dirty="0"/>
          </a:p>
        </p:txBody>
      </p:sp>
      <p:sp>
        <p:nvSpPr>
          <p:cNvPr id="46" name="t37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i="1" dirty="0">
                <a:solidFill>
                  <a:schemeClr val="accent2"/>
                </a:solidFill>
              </a:rPr>
              <a:t>A reply is written to the packet's mailbox/ and wakes it within seconds.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What the user can rely on</a:t>
            </a:r>
            <a:endParaRPr lang="en-US" sz="3400" dirty="0"/>
          </a:p>
        </p:txBody>
      </p:sp>
      <p:sp>
        <p:nvSpPr>
          <p:cNvPr id="3" name="rule0"/>
          <p:cNvSpPr/>
          <p:nvPr/>
        </p:nvSpPr>
        <p:spPr>
          <a:xfrm>
            <a:off x="548640" y="1371600"/>
            <a:ext cx="3566160" cy="1783080"/>
          </a:xfrm>
          <a:prstGeom prst="roundRect">
            <a:avLst>
              <a:gd name="adj" fmla="val 4103"/>
            </a:avLst>
          </a:prstGeom>
          <a:solidFill>
            <a:srgbClr val="D5ECE9"/>
          </a:solidFill>
          <a:ln w="12700">
            <a:solidFill>
              <a:srgbClr val="D5ECE9"/>
            </a:solidFill>
            <a:prstDash val="solid"/>
          </a:ln>
        </p:spPr>
      </p:sp>
      <p:sp>
        <p:nvSpPr>
          <p:cNvPr id="4" name="ic372"/>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5" name="icimg373"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6" name="t374"/>
          <p:cNvSpPr txBox="1"/>
          <p:nvPr/>
        </p:nvSpPr>
        <p:spPr>
          <a:xfrm>
            <a:off x="1463040" y="16002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Nothing is hidden</a:t>
            </a:r>
            <a:endParaRPr lang="en-US" sz="1600" dirty="0"/>
          </a:p>
        </p:txBody>
      </p:sp>
      <p:sp>
        <p:nvSpPr>
          <p:cNvPr id="7" name="t375"/>
          <p:cNvSpPr txBox="1"/>
          <p:nvPr/>
        </p:nvSpPr>
        <p:spPr>
          <a:xfrm>
            <a:off x="777240" y="2331720"/>
            <a:ext cx="3108960" cy="1051560"/>
          </a:xfrm>
          <a:prstGeom prst="rect">
            <a:avLst/>
          </a:prstGeom>
          <a:noFill/>
          <a:ln/>
        </p:spPr>
        <p:txBody>
          <a:bodyPr wrap="square" lIns="0" tIns="0" rIns="0" bIns="0" rtlCol="0" anchor="t"/>
          <a:lstStyle/>
          <a:p>
            <a:pPr indent="0" marL="0">
              <a:buNone/>
            </a:pPr>
            <a:r>
              <a:rPr lang="en-US" sz="1400" dirty="0">
                <a:solidFill>
                  <a:schemeClr val="tx2"/>
                </a:solidFill>
              </a:rPr>
              <a:t>Every step's prompt, transcript, change and cost is on disk, one click from the board.</a:t>
            </a:r>
            <a:endParaRPr lang="en-US" sz="1400" dirty="0"/>
          </a:p>
        </p:txBody>
      </p:sp>
      <p:sp>
        <p:nvSpPr>
          <p:cNvPr id="8" name="rule1"/>
          <p:cNvSpPr/>
          <p:nvPr/>
        </p:nvSpPr>
        <p:spPr>
          <a:xfrm>
            <a:off x="4311396" y="1371600"/>
            <a:ext cx="3566160" cy="1783080"/>
          </a:xfrm>
          <a:prstGeom prst="roundRect">
            <a:avLst>
              <a:gd name="adj" fmla="val 4103"/>
            </a:avLst>
          </a:prstGeom>
          <a:solidFill>
            <a:schemeClr val="bg2"/>
          </a:solidFill>
          <a:ln w="12700">
            <a:solidFill>
              <a:schemeClr val="bg2"/>
            </a:solidFill>
            <a:prstDash val="solid"/>
          </a:ln>
        </p:spPr>
      </p:sp>
      <p:sp>
        <p:nvSpPr>
          <p:cNvPr id="9" name="ic376"/>
          <p:cNvSpPr/>
          <p:nvPr/>
        </p:nvSpPr>
        <p:spPr>
          <a:xfrm>
            <a:off x="4539996" y="1600200"/>
            <a:ext cx="548640" cy="548640"/>
          </a:xfrm>
          <a:prstGeom prst="ellipse">
            <a:avLst/>
          </a:prstGeom>
          <a:solidFill>
            <a:schemeClr val="tx2"/>
          </a:solidFill>
          <a:ln w="12700">
            <a:solidFill>
              <a:schemeClr val="tx2"/>
            </a:solidFill>
            <a:prstDash val="solid"/>
          </a:ln>
        </p:spPr>
      </p:sp>
      <p:pic>
        <p:nvPicPr>
          <p:cNvPr id="10" name="icimg377" descr="preencoded.png">    </p:cNvPr>
          <p:cNvPicPr>
            <a:picLocks noChangeAspect="1"/>
          </p:cNvPicPr>
          <p:nvPr/>
        </p:nvPicPr>
        <p:blipFill>
          <a:blip r:embed="rId2"/>
          <a:stretch>
            <a:fillRect/>
          </a:stretch>
        </p:blipFill>
        <p:spPr>
          <a:xfrm>
            <a:off x="4677156" y="1737360"/>
            <a:ext cx="274320" cy="274320"/>
          </a:xfrm>
          <a:prstGeom prst="rect">
            <a:avLst/>
          </a:prstGeom>
        </p:spPr>
      </p:pic>
      <p:sp>
        <p:nvSpPr>
          <p:cNvPr id="11" name="t378"/>
          <p:cNvSpPr txBox="1"/>
          <p:nvPr/>
        </p:nvSpPr>
        <p:spPr>
          <a:xfrm>
            <a:off x="5225796" y="16002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The board cannot drift</a:t>
            </a:r>
            <a:endParaRPr lang="en-US" sz="1600" dirty="0"/>
          </a:p>
        </p:txBody>
      </p:sp>
      <p:sp>
        <p:nvSpPr>
          <p:cNvPr id="12" name="t379"/>
          <p:cNvSpPr txBox="1"/>
          <p:nvPr/>
        </p:nvSpPr>
        <p:spPr>
          <a:xfrm>
            <a:off x="4539996" y="2331720"/>
            <a:ext cx="3108960" cy="1051560"/>
          </a:xfrm>
          <a:prstGeom prst="rect">
            <a:avLst/>
          </a:prstGeom>
          <a:noFill/>
          <a:ln/>
        </p:spPr>
        <p:txBody>
          <a:bodyPr wrap="square" lIns="0" tIns="0" rIns="0" bIns="0" rtlCol="0" anchor="t"/>
          <a:lstStyle/>
          <a:p>
            <a:pPr indent="0" marL="0">
              <a:buNone/>
            </a:pPr>
            <a:r>
              <a:rPr lang="en-US" sz="1400" dirty="0">
                <a:solidFill>
                  <a:schemeClr val="tx2"/>
                </a:solidFill>
              </a:rPr>
              <a:t>Columns come from packet state. Buttons run the same code as the CLI; nothing is dragged.</a:t>
            </a:r>
            <a:endParaRPr lang="en-US" sz="1400" dirty="0"/>
          </a:p>
        </p:txBody>
      </p:sp>
      <p:sp>
        <p:nvSpPr>
          <p:cNvPr id="13" name="rule2"/>
          <p:cNvSpPr/>
          <p:nvPr/>
        </p:nvSpPr>
        <p:spPr>
          <a:xfrm>
            <a:off x="8074152" y="1371600"/>
            <a:ext cx="3566160" cy="1783080"/>
          </a:xfrm>
          <a:prstGeom prst="roundRect">
            <a:avLst>
              <a:gd name="adj" fmla="val 4103"/>
            </a:avLst>
          </a:prstGeom>
          <a:solidFill>
            <a:srgbClr val="D5ECE9"/>
          </a:solidFill>
          <a:ln w="12700">
            <a:solidFill>
              <a:srgbClr val="D5ECE9"/>
            </a:solidFill>
            <a:prstDash val="solid"/>
          </a:ln>
        </p:spPr>
      </p:sp>
      <p:sp>
        <p:nvSpPr>
          <p:cNvPr id="14" name="ic380"/>
          <p:cNvSpPr/>
          <p:nvPr/>
        </p:nvSpPr>
        <p:spPr>
          <a:xfrm>
            <a:off x="8302752" y="1600200"/>
            <a:ext cx="548640" cy="548640"/>
          </a:xfrm>
          <a:prstGeom prst="ellipse">
            <a:avLst/>
          </a:prstGeom>
          <a:solidFill>
            <a:schemeClr val="accent2"/>
          </a:solidFill>
          <a:ln w="12700">
            <a:solidFill>
              <a:schemeClr val="accent2"/>
            </a:solidFill>
            <a:prstDash val="solid"/>
          </a:ln>
        </p:spPr>
      </p:sp>
      <p:pic>
        <p:nvPicPr>
          <p:cNvPr id="15" name="icimg381" descr="preencoded.png">    </p:cNvPr>
          <p:cNvPicPr>
            <a:picLocks noChangeAspect="1"/>
          </p:cNvPicPr>
          <p:nvPr/>
        </p:nvPicPr>
        <p:blipFill>
          <a:blip r:embed="rId3"/>
          <a:stretch>
            <a:fillRect/>
          </a:stretch>
        </p:blipFill>
        <p:spPr>
          <a:xfrm>
            <a:off x="8439912" y="1737360"/>
            <a:ext cx="274320" cy="274320"/>
          </a:xfrm>
          <a:prstGeom prst="rect">
            <a:avLst/>
          </a:prstGeom>
        </p:spPr>
      </p:pic>
      <p:sp>
        <p:nvSpPr>
          <p:cNvPr id="16" name="t382"/>
          <p:cNvSpPr txBox="1"/>
          <p:nvPr/>
        </p:nvSpPr>
        <p:spPr>
          <a:xfrm>
            <a:off x="8988552" y="16002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Safe to walk away</a:t>
            </a:r>
            <a:endParaRPr lang="en-US" sz="1600" dirty="0"/>
          </a:p>
        </p:txBody>
      </p:sp>
      <p:sp>
        <p:nvSpPr>
          <p:cNvPr id="17" name="t383"/>
          <p:cNvSpPr txBox="1"/>
          <p:nvPr/>
        </p:nvSpPr>
        <p:spPr>
          <a:xfrm>
            <a:off x="8302752" y="2331720"/>
            <a:ext cx="3108960" cy="1051560"/>
          </a:xfrm>
          <a:prstGeom prst="rect">
            <a:avLst/>
          </a:prstGeom>
          <a:noFill/>
          <a:ln/>
        </p:spPr>
        <p:txBody>
          <a:bodyPr wrap="square" lIns="0" tIns="0" rIns="0" bIns="0" rtlCol="0" anchor="t"/>
          <a:lstStyle/>
          <a:p>
            <a:pPr indent="0" marL="0">
              <a:buNone/>
            </a:pPr>
            <a:r>
              <a:rPr lang="en-US" sz="1400" dirty="0">
                <a:solidFill>
                  <a:schemeClr val="tx2"/>
                </a:solidFill>
              </a:rPr>
              <a:t>Kill the runner or reboot. Leases expire, and each missed wake runs once on restart.</a:t>
            </a:r>
            <a:endParaRPr lang="en-US" sz="1400" dirty="0"/>
          </a:p>
        </p:txBody>
      </p:sp>
      <p:sp>
        <p:nvSpPr>
          <p:cNvPr id="18" name="rule3"/>
          <p:cNvSpPr/>
          <p:nvPr/>
        </p:nvSpPr>
        <p:spPr>
          <a:xfrm>
            <a:off x="548640" y="3429000"/>
            <a:ext cx="3566160" cy="1783080"/>
          </a:xfrm>
          <a:prstGeom prst="roundRect">
            <a:avLst>
              <a:gd name="adj" fmla="val 4103"/>
            </a:avLst>
          </a:prstGeom>
          <a:solidFill>
            <a:schemeClr val="bg2"/>
          </a:solidFill>
          <a:ln w="12700">
            <a:solidFill>
              <a:schemeClr val="bg2"/>
            </a:solidFill>
            <a:prstDash val="solid"/>
          </a:ln>
        </p:spPr>
      </p:sp>
      <p:sp>
        <p:nvSpPr>
          <p:cNvPr id="19" name="ic384"/>
          <p:cNvSpPr/>
          <p:nvPr/>
        </p:nvSpPr>
        <p:spPr>
          <a:xfrm>
            <a:off x="777240" y="3657600"/>
            <a:ext cx="548640" cy="548640"/>
          </a:xfrm>
          <a:prstGeom prst="ellipse">
            <a:avLst/>
          </a:prstGeom>
          <a:solidFill>
            <a:schemeClr val="tx2"/>
          </a:solidFill>
          <a:ln w="12700">
            <a:solidFill>
              <a:schemeClr val="tx2"/>
            </a:solidFill>
            <a:prstDash val="solid"/>
          </a:ln>
        </p:spPr>
      </p:sp>
      <p:pic>
        <p:nvPicPr>
          <p:cNvPr id="20" name="icimg385" descr="preencoded.png">    </p:cNvPr>
          <p:cNvPicPr>
            <a:picLocks noChangeAspect="1"/>
          </p:cNvPicPr>
          <p:nvPr/>
        </p:nvPicPr>
        <p:blipFill>
          <a:blip r:embed="rId4"/>
          <a:stretch>
            <a:fillRect/>
          </a:stretch>
        </p:blipFill>
        <p:spPr>
          <a:xfrm>
            <a:off x="914400" y="3794760"/>
            <a:ext cx="274320" cy="274320"/>
          </a:xfrm>
          <a:prstGeom prst="rect">
            <a:avLst/>
          </a:prstGeom>
        </p:spPr>
      </p:pic>
      <p:sp>
        <p:nvSpPr>
          <p:cNvPr id="21" name="t386"/>
          <p:cNvSpPr txBox="1"/>
          <p:nvPr/>
        </p:nvSpPr>
        <p:spPr>
          <a:xfrm>
            <a:off x="1463040" y="36576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Spend is visible</a:t>
            </a:r>
            <a:endParaRPr lang="en-US" sz="1600" dirty="0"/>
          </a:p>
        </p:txBody>
      </p:sp>
      <p:sp>
        <p:nvSpPr>
          <p:cNvPr id="22" name="t387"/>
          <p:cNvSpPr txBox="1"/>
          <p:nvPr/>
        </p:nvSpPr>
        <p:spPr>
          <a:xfrm>
            <a:off x="777240" y="4389120"/>
            <a:ext cx="3108960" cy="1051560"/>
          </a:xfrm>
          <a:prstGeom prst="rect">
            <a:avLst/>
          </a:prstGeom>
          <a:noFill/>
          <a:ln/>
        </p:spPr>
        <p:txBody>
          <a:bodyPr wrap="square" lIns="0" tIns="0" rIns="0" bIns="0" rtlCol="0" anchor="t"/>
          <a:lstStyle/>
          <a:p>
            <a:pPr indent="0" marL="0">
              <a:buNone/>
            </a:pPr>
            <a:r>
              <a:rPr lang="en-US" sz="1400" dirty="0">
                <a:solidFill>
                  <a:schemeClr val="tx2"/>
                </a:solidFill>
              </a:rPr>
              <a:t>Spend per project per day against a budget. A looping packet is paused, with the reason shown.</a:t>
            </a:r>
            <a:endParaRPr lang="en-US" sz="1400" dirty="0"/>
          </a:p>
        </p:txBody>
      </p:sp>
      <p:sp>
        <p:nvSpPr>
          <p:cNvPr id="23" name="rule4"/>
          <p:cNvSpPr/>
          <p:nvPr/>
        </p:nvSpPr>
        <p:spPr>
          <a:xfrm>
            <a:off x="4311396" y="3429000"/>
            <a:ext cx="3566160" cy="1783080"/>
          </a:xfrm>
          <a:prstGeom prst="roundRect">
            <a:avLst>
              <a:gd name="adj" fmla="val 4103"/>
            </a:avLst>
          </a:prstGeom>
          <a:solidFill>
            <a:srgbClr val="D5ECE9"/>
          </a:solidFill>
          <a:ln w="12700">
            <a:solidFill>
              <a:srgbClr val="D5ECE9"/>
            </a:solidFill>
            <a:prstDash val="solid"/>
          </a:ln>
        </p:spPr>
      </p:sp>
      <p:sp>
        <p:nvSpPr>
          <p:cNvPr id="24" name="ic388"/>
          <p:cNvSpPr/>
          <p:nvPr/>
        </p:nvSpPr>
        <p:spPr>
          <a:xfrm>
            <a:off x="4539996" y="3657600"/>
            <a:ext cx="548640" cy="548640"/>
          </a:xfrm>
          <a:prstGeom prst="ellipse">
            <a:avLst/>
          </a:prstGeom>
          <a:solidFill>
            <a:schemeClr val="accent2"/>
          </a:solidFill>
          <a:ln w="12700">
            <a:solidFill>
              <a:schemeClr val="accent2"/>
            </a:solidFill>
            <a:prstDash val="solid"/>
          </a:ln>
        </p:spPr>
      </p:sp>
      <p:pic>
        <p:nvPicPr>
          <p:cNvPr id="25" name="icimg389" descr="preencoded.png">    </p:cNvPr>
          <p:cNvPicPr>
            <a:picLocks noChangeAspect="1"/>
          </p:cNvPicPr>
          <p:nvPr/>
        </p:nvPicPr>
        <p:blipFill>
          <a:blip r:embed="rId5"/>
          <a:stretch>
            <a:fillRect/>
          </a:stretch>
        </p:blipFill>
        <p:spPr>
          <a:xfrm>
            <a:off x="4677156" y="3794760"/>
            <a:ext cx="274320" cy="274320"/>
          </a:xfrm>
          <a:prstGeom prst="rect">
            <a:avLst/>
          </a:prstGeom>
        </p:spPr>
      </p:pic>
      <p:sp>
        <p:nvSpPr>
          <p:cNvPr id="26" name="t390"/>
          <p:cNvSpPr txBox="1"/>
          <p:nvPr/>
        </p:nvSpPr>
        <p:spPr>
          <a:xfrm>
            <a:off x="5225796" y="36576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Local and private</a:t>
            </a:r>
            <a:endParaRPr lang="en-US" sz="1600" dirty="0"/>
          </a:p>
        </p:txBody>
      </p:sp>
      <p:sp>
        <p:nvSpPr>
          <p:cNvPr id="27" name="t391"/>
          <p:cNvSpPr txBox="1"/>
          <p:nvPr/>
        </p:nvSpPr>
        <p:spPr>
          <a:xfrm>
            <a:off x="4539996" y="4389120"/>
            <a:ext cx="3108960" cy="1051560"/>
          </a:xfrm>
          <a:prstGeom prst="rect">
            <a:avLst/>
          </a:prstGeom>
          <a:noFill/>
          <a:ln/>
        </p:spPr>
        <p:txBody>
          <a:bodyPr wrap="square" lIns="0" tIns="0" rIns="0" bIns="0" rtlCol="0" anchor="t"/>
          <a:lstStyle/>
          <a:p>
            <a:pPr indent="0" marL="0">
              <a:buNone/>
            </a:pPr>
            <a:r>
              <a:rPr lang="en-US" sz="1400" dirty="0">
                <a:solidFill>
                  <a:schemeClr val="tx2"/>
                </a:solidFill>
              </a:rPr>
              <a:t>The board binds to localhost. Projects live in any directory you choose.</a:t>
            </a:r>
            <a:endParaRPr lang="en-US" sz="1400" dirty="0"/>
          </a:p>
        </p:txBody>
      </p:sp>
      <p:sp>
        <p:nvSpPr>
          <p:cNvPr id="28" name="rule5"/>
          <p:cNvSpPr/>
          <p:nvPr/>
        </p:nvSpPr>
        <p:spPr>
          <a:xfrm>
            <a:off x="8074152" y="3429000"/>
            <a:ext cx="3566160" cy="1783080"/>
          </a:xfrm>
          <a:prstGeom prst="roundRect">
            <a:avLst>
              <a:gd name="adj" fmla="val 4103"/>
            </a:avLst>
          </a:prstGeom>
          <a:solidFill>
            <a:schemeClr val="bg2"/>
          </a:solidFill>
          <a:ln w="12700">
            <a:solidFill>
              <a:schemeClr val="bg2"/>
            </a:solidFill>
            <a:prstDash val="solid"/>
          </a:ln>
        </p:spPr>
      </p:sp>
      <p:sp>
        <p:nvSpPr>
          <p:cNvPr id="29" name="ic392"/>
          <p:cNvSpPr/>
          <p:nvPr/>
        </p:nvSpPr>
        <p:spPr>
          <a:xfrm>
            <a:off x="8302752" y="3657600"/>
            <a:ext cx="548640" cy="548640"/>
          </a:xfrm>
          <a:prstGeom prst="ellipse">
            <a:avLst/>
          </a:prstGeom>
          <a:solidFill>
            <a:schemeClr val="tx2"/>
          </a:solidFill>
          <a:ln w="12700">
            <a:solidFill>
              <a:schemeClr val="tx2"/>
            </a:solidFill>
            <a:prstDash val="solid"/>
          </a:ln>
        </p:spPr>
      </p:sp>
      <p:pic>
        <p:nvPicPr>
          <p:cNvPr id="30" name="icimg393" descr="preencoded.png">    </p:cNvPr>
          <p:cNvPicPr>
            <a:picLocks noChangeAspect="1"/>
          </p:cNvPicPr>
          <p:nvPr/>
        </p:nvPicPr>
        <p:blipFill>
          <a:blip r:embed="rId6"/>
          <a:stretch>
            <a:fillRect/>
          </a:stretch>
        </p:blipFill>
        <p:spPr>
          <a:xfrm>
            <a:off x="8439912" y="3794760"/>
            <a:ext cx="274320" cy="274320"/>
          </a:xfrm>
          <a:prstGeom prst="rect">
            <a:avLst/>
          </a:prstGeom>
        </p:spPr>
      </p:pic>
      <p:sp>
        <p:nvSpPr>
          <p:cNvPr id="31" name="t394"/>
          <p:cNvSpPr txBox="1"/>
          <p:nvPr/>
        </p:nvSpPr>
        <p:spPr>
          <a:xfrm>
            <a:off x="8988552" y="36576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Everything from the CLI too</a:t>
            </a:r>
            <a:endParaRPr lang="en-US" sz="1600" dirty="0"/>
          </a:p>
        </p:txBody>
      </p:sp>
      <p:sp>
        <p:nvSpPr>
          <p:cNvPr id="32" name="t395"/>
          <p:cNvSpPr txBox="1"/>
          <p:nvPr/>
        </p:nvSpPr>
        <p:spPr>
          <a:xfrm>
            <a:off x="8302752" y="4389120"/>
            <a:ext cx="3108960" cy="1051560"/>
          </a:xfrm>
          <a:prstGeom prst="rect">
            <a:avLst/>
          </a:prstGeom>
          <a:noFill/>
          <a:ln/>
        </p:spPr>
        <p:txBody>
          <a:bodyPr wrap="square" lIns="0" tIns="0" rIns="0" bIns="0" rtlCol="0" anchor="t"/>
          <a:lstStyle/>
          <a:p>
            <a:pPr indent="0" marL="0">
              <a:buNone/>
            </a:pPr>
            <a:r>
              <a:rPr lang="en-US" sz="1400" dirty="0">
                <a:solidFill>
                  <a:schemeClr val="tx2"/>
                </a:solidFill>
              </a:rPr>
              <a:t>new, ps, show, send, pause, wake, prune: the board is a view, not a requirement.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From prior art to roadmap</a:t>
            </a:r>
            <a:endParaRPr lang="en-US" sz="3400" dirty="0"/>
          </a:p>
        </p:txBody>
      </p:sp>
      <p:graphicFrame>
        <p:nvGraphicFramePr>
          <p:cNvPr id="23" name="borrow"/>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4846320"/>
                <a:gridCol w="4206240"/>
                <a:gridCol w="2039112"/>
              </a:tblGrid>
              <a:tr h="475488">
                <a:tc>
                  <a:txBody>
                    <a:bodyPr/>
                    <a:lstStyle/>
                    <a:p>
                      <a:pPr indent="0" marL="0">
                        <a:buNone/>
                      </a:pPr>
                      <a:r>
                        <a:rPr lang="en-US" sz="1400" b="1" dirty="0">
                          <a:solidFill>
                            <a:schemeClr val="bg1"/>
                          </a:solidFill>
                        </a:rPr>
                        <a:t>Idea</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Borrowed from</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Lands in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Structured ledger, not free-form plan files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Beads, Manus todo.md</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2"/>
                          </a:solidFill>
                        </a:rPr>
                        <a:t>P0 Schema</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Step journal, atomic commit, idempotency keys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Temporal, Restate, DBOS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P1 Durable step</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Plain-language timers, cron recurrence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Cloudflare schedule(), Inngest sleepUntil</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2"/>
                          </a:solidFill>
                        </a:rPr>
                        <a:t>P2 Time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Catch up a missed wake once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systemd Persistent=, anacron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P2 Time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Fake clock for tests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Temporal time-skipping test server</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2"/>
                          </a:solidFill>
                        </a:rPr>
                        <a:t>P2 Time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Supervisors, mail, liveness checks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OTP, Gas Town Witness, AutoGen</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P3 Trees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Rewind and branch any step</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LangGraph time-travel, Crab, DeltaBox</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2"/>
                          </a:solidFill>
                        </a:rPr>
                        <a:t>P4 Snapshots</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Baselines to beat</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Ralph loop, LangGraph</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P5 Evaluate</a:t>
                      </a:r>
                      <a:endParaRPr lang="en-US" sz="14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Roadmap: durable steps, then time, then trees</a:t>
            </a:r>
            <a:endParaRPr lang="en-US" sz="3400" dirty="0"/>
          </a:p>
        </p:txBody>
      </p:sp>
      <p:sp>
        <p:nvSpPr>
          <p:cNvPr id="3" name="chev0"/>
          <p:cNvSpPr/>
          <p:nvPr/>
        </p:nvSpPr>
        <p:spPr>
          <a:xfrm>
            <a:off x="548640" y="1325880"/>
            <a:ext cx="1856232" cy="548640"/>
          </a:xfrm>
          <a:prstGeom prst="homePlate">
            <a:avLst/>
          </a:prstGeom>
          <a:solidFill>
            <a:schemeClr val="accent1"/>
          </a:solidFill>
          <a:ln w="12700">
            <a:solidFill>
              <a:schemeClr val="accent1"/>
            </a:solidFill>
            <a:prstDash val="solid"/>
          </a:ln>
        </p:spPr>
      </p:sp>
      <p:sp>
        <p:nvSpPr>
          <p:cNvPr id="4" name="t396"/>
          <p:cNvSpPr txBox="1"/>
          <p:nvPr/>
        </p:nvSpPr>
        <p:spPr>
          <a:xfrm>
            <a:off x="822960" y="1325880"/>
            <a:ext cx="1307592"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P0</a:t>
            </a:r>
            <a:endParaRPr lang="en-US" sz="1800" dirty="0"/>
          </a:p>
        </p:txBody>
      </p:sp>
      <p:sp>
        <p:nvSpPr>
          <p:cNvPr id="5" name="phase0"/>
          <p:cNvSpPr/>
          <p:nvPr/>
        </p:nvSpPr>
        <p:spPr>
          <a:xfrm>
            <a:off x="548640" y="2057400"/>
            <a:ext cx="1764792" cy="3154680"/>
          </a:xfrm>
          <a:prstGeom prst="roundRect">
            <a:avLst>
              <a:gd name="adj" fmla="val 4145"/>
            </a:avLst>
          </a:prstGeom>
          <a:solidFill>
            <a:schemeClr val="bg2"/>
          </a:solidFill>
          <a:ln w="12700">
            <a:solidFill>
              <a:schemeClr val="bg2"/>
            </a:solidFill>
            <a:prstDash val="solid"/>
          </a:ln>
        </p:spPr>
      </p:sp>
      <p:sp>
        <p:nvSpPr>
          <p:cNvPr id="6" name="t397"/>
          <p:cNvSpPr txBox="1"/>
          <p:nvPr/>
        </p:nvSpPr>
        <p:spPr>
          <a:xfrm>
            <a:off x="685800" y="2194560"/>
            <a:ext cx="1490472" cy="365760"/>
          </a:xfrm>
          <a:prstGeom prst="rect">
            <a:avLst/>
          </a:prstGeom>
          <a:noFill/>
          <a:ln/>
        </p:spPr>
        <p:txBody>
          <a:bodyPr wrap="square" lIns="0" tIns="0" rIns="0" bIns="0" rtlCol="0" anchor="t"/>
          <a:lstStyle/>
          <a:p>
            <a:pPr indent="0" marL="0">
              <a:buNone/>
            </a:pPr>
            <a:r>
              <a:rPr lang="en-US" sz="1700" b="1" dirty="0">
                <a:solidFill>
                  <a:schemeClr val="tx1"/>
                </a:solidFill>
              </a:rPr>
              <a:t>Schema</a:t>
            </a:r>
            <a:endParaRPr lang="en-US" sz="1700" dirty="0"/>
          </a:p>
        </p:txBody>
      </p:sp>
      <p:sp>
        <p:nvSpPr>
          <p:cNvPr id="7" name="t398"/>
          <p:cNvSpPr txBox="1"/>
          <p:nvPr/>
        </p:nvSpPr>
        <p:spPr>
          <a:xfrm>
            <a:off x="685800" y="2606040"/>
            <a:ext cx="1490472" cy="1097280"/>
          </a:xfrm>
          <a:prstGeom prst="rect">
            <a:avLst/>
          </a:prstGeom>
          <a:noFill/>
          <a:ln/>
        </p:spPr>
        <p:txBody>
          <a:bodyPr wrap="square" lIns="0" tIns="0" rIns="0" bIns="0" rtlCol="0" anchor="t"/>
          <a:lstStyle/>
          <a:p>
            <a:pPr indent="0" marL="0">
              <a:buNone/>
            </a:pPr>
            <a:r>
              <a:rPr lang="en-US" sz="1300" dirty="0">
                <a:solidFill>
                  <a:schemeClr val="tx2"/>
                </a:solidFill>
              </a:rPr>
              <a:t>Fixed file names, status front matter, versioned memento</a:t>
            </a:r>
            <a:endParaRPr lang="en-US" sz="1300" dirty="0"/>
          </a:p>
        </p:txBody>
      </p:sp>
      <p:sp>
        <p:nvSpPr>
          <p:cNvPr id="8" name="t399"/>
          <p:cNvSpPr txBox="1"/>
          <p:nvPr/>
        </p:nvSpPr>
        <p:spPr>
          <a:xfrm>
            <a:off x="685800" y="3794760"/>
            <a:ext cx="1490472" cy="274320"/>
          </a:xfrm>
          <a:prstGeom prst="rect">
            <a:avLst/>
          </a:prstGeom>
          <a:noFill/>
          <a:ln/>
        </p:spPr>
        <p:txBody>
          <a:bodyPr wrap="square" lIns="0" tIns="0" rIns="0" bIns="0" rtlCol="0" anchor="t"/>
          <a:lstStyle/>
          <a:p>
            <a:pPr indent="0" marL="0">
              <a:buNone/>
            </a:pPr>
            <a:r>
              <a:rPr lang="en-US" sz="1200" b="1" dirty="0">
                <a:solidFill>
                  <a:schemeClr val="accent2"/>
                </a:solidFill>
              </a:rPr>
              <a:t>Done when</a:t>
            </a:r>
            <a:endParaRPr lang="en-US" sz="1200" dirty="0"/>
          </a:p>
        </p:txBody>
      </p:sp>
      <p:sp>
        <p:nvSpPr>
          <p:cNvPr id="9" name="t400"/>
          <p:cNvSpPr txBox="1"/>
          <p:nvPr/>
        </p:nvSpPr>
        <p:spPr>
          <a:xfrm>
            <a:off x="685800" y="4069080"/>
            <a:ext cx="1490472" cy="1051560"/>
          </a:xfrm>
          <a:prstGeom prst="rect">
            <a:avLst/>
          </a:prstGeom>
          <a:noFill/>
          <a:ln/>
        </p:spPr>
        <p:txBody>
          <a:bodyPr wrap="square" lIns="0" tIns="0" rIns="0" bIns="0" rtlCol="0" anchor="t"/>
          <a:lstStyle/>
          <a:p>
            <a:pPr indent="0" marL="0">
              <a:buNone/>
            </a:pPr>
            <a:r>
              <a:rPr lang="en-US" sz="1300" dirty="0">
                <a:solidFill>
                  <a:schemeClr val="tx1"/>
                </a:solidFill>
              </a:rPr>
              <a:t>Schema check passes on every packet</a:t>
            </a:r>
            <a:endParaRPr lang="en-US" sz="1300" dirty="0"/>
          </a:p>
        </p:txBody>
      </p:sp>
      <p:sp>
        <p:nvSpPr>
          <p:cNvPr id="10" name="chev1"/>
          <p:cNvSpPr/>
          <p:nvPr/>
        </p:nvSpPr>
        <p:spPr>
          <a:xfrm>
            <a:off x="2414016" y="1325880"/>
            <a:ext cx="1856232" cy="548640"/>
          </a:xfrm>
          <a:prstGeom prst="chevron">
            <a:avLst/>
          </a:prstGeom>
          <a:solidFill>
            <a:schemeClr val="accent1"/>
          </a:solidFill>
          <a:ln w="12700">
            <a:solidFill>
              <a:schemeClr val="accent1"/>
            </a:solidFill>
            <a:prstDash val="solid"/>
          </a:ln>
        </p:spPr>
      </p:sp>
      <p:sp>
        <p:nvSpPr>
          <p:cNvPr id="11" name="t401"/>
          <p:cNvSpPr txBox="1"/>
          <p:nvPr/>
        </p:nvSpPr>
        <p:spPr>
          <a:xfrm>
            <a:off x="2688336" y="1325880"/>
            <a:ext cx="1307592"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P1</a:t>
            </a:r>
            <a:endParaRPr lang="en-US" sz="1800" dirty="0"/>
          </a:p>
        </p:txBody>
      </p:sp>
      <p:sp>
        <p:nvSpPr>
          <p:cNvPr id="12" name="phase1"/>
          <p:cNvSpPr/>
          <p:nvPr/>
        </p:nvSpPr>
        <p:spPr>
          <a:xfrm>
            <a:off x="2414016" y="2057400"/>
            <a:ext cx="1764792" cy="3154680"/>
          </a:xfrm>
          <a:prstGeom prst="roundRect">
            <a:avLst>
              <a:gd name="adj" fmla="val 4145"/>
            </a:avLst>
          </a:prstGeom>
          <a:solidFill>
            <a:schemeClr val="bg2"/>
          </a:solidFill>
          <a:ln w="12700">
            <a:solidFill>
              <a:schemeClr val="bg2"/>
            </a:solidFill>
            <a:prstDash val="solid"/>
          </a:ln>
        </p:spPr>
      </p:sp>
      <p:sp>
        <p:nvSpPr>
          <p:cNvPr id="13" name="t402"/>
          <p:cNvSpPr txBox="1"/>
          <p:nvPr/>
        </p:nvSpPr>
        <p:spPr>
          <a:xfrm>
            <a:off x="2551176" y="2194560"/>
            <a:ext cx="1490472" cy="365760"/>
          </a:xfrm>
          <a:prstGeom prst="rect">
            <a:avLst/>
          </a:prstGeom>
          <a:noFill/>
          <a:ln/>
        </p:spPr>
        <p:txBody>
          <a:bodyPr wrap="square" lIns="0" tIns="0" rIns="0" bIns="0" rtlCol="0" anchor="t"/>
          <a:lstStyle/>
          <a:p>
            <a:pPr indent="0" marL="0">
              <a:buNone/>
            </a:pPr>
            <a:r>
              <a:rPr lang="en-US" sz="1700" b="1" dirty="0">
                <a:solidFill>
                  <a:schemeClr val="tx1"/>
                </a:solidFill>
              </a:rPr>
              <a:t>Durable step</a:t>
            </a:r>
            <a:endParaRPr lang="en-US" sz="1700" dirty="0"/>
          </a:p>
        </p:txBody>
      </p:sp>
      <p:sp>
        <p:nvSpPr>
          <p:cNvPr id="14" name="t403"/>
          <p:cNvSpPr txBox="1"/>
          <p:nvPr/>
        </p:nvSpPr>
        <p:spPr>
          <a:xfrm>
            <a:off x="2551176" y="2606040"/>
            <a:ext cx="1490472" cy="1097280"/>
          </a:xfrm>
          <a:prstGeom prst="rect">
            <a:avLst/>
          </a:prstGeom>
          <a:noFill/>
          <a:ln/>
        </p:spPr>
        <p:txBody>
          <a:bodyPr wrap="square" lIns="0" tIns="0" rIns="0" bIns="0" rtlCol="0" anchor="t"/>
          <a:lstStyle/>
          <a:p>
            <a:pPr indent="0" marL="0">
              <a:buNone/>
            </a:pPr>
            <a:r>
              <a:rPr lang="en-US" sz="1300" dirty="0">
                <a:solidFill>
                  <a:schemeClr val="tx2"/>
                </a:solidFill>
              </a:rPr>
              <a:t>Executor owns commits: .pending/ → validate → journal → rename</a:t>
            </a:r>
            <a:endParaRPr lang="en-US" sz="1300" dirty="0"/>
          </a:p>
        </p:txBody>
      </p:sp>
      <p:sp>
        <p:nvSpPr>
          <p:cNvPr id="15" name="t404"/>
          <p:cNvSpPr txBox="1"/>
          <p:nvPr/>
        </p:nvSpPr>
        <p:spPr>
          <a:xfrm>
            <a:off x="2551176" y="3794760"/>
            <a:ext cx="1490472" cy="274320"/>
          </a:xfrm>
          <a:prstGeom prst="rect">
            <a:avLst/>
          </a:prstGeom>
          <a:noFill/>
          <a:ln/>
        </p:spPr>
        <p:txBody>
          <a:bodyPr wrap="square" lIns="0" tIns="0" rIns="0" bIns="0" rtlCol="0" anchor="t"/>
          <a:lstStyle/>
          <a:p>
            <a:pPr indent="0" marL="0">
              <a:buNone/>
            </a:pPr>
            <a:r>
              <a:rPr lang="en-US" sz="1200" b="1" dirty="0">
                <a:solidFill>
                  <a:schemeClr val="accent2"/>
                </a:solidFill>
              </a:rPr>
              <a:t>Done when</a:t>
            </a:r>
            <a:endParaRPr lang="en-US" sz="1200" dirty="0"/>
          </a:p>
        </p:txBody>
      </p:sp>
      <p:sp>
        <p:nvSpPr>
          <p:cNvPr id="16" name="t405"/>
          <p:cNvSpPr txBox="1"/>
          <p:nvPr/>
        </p:nvSpPr>
        <p:spPr>
          <a:xfrm>
            <a:off x="2551176" y="4069080"/>
            <a:ext cx="1490472" cy="1051560"/>
          </a:xfrm>
          <a:prstGeom prst="rect">
            <a:avLst/>
          </a:prstGeom>
          <a:noFill/>
          <a:ln/>
        </p:spPr>
        <p:txBody>
          <a:bodyPr wrap="square" lIns="0" tIns="0" rIns="0" bIns="0" rtlCol="0" anchor="t"/>
          <a:lstStyle/>
          <a:p>
            <a:pPr indent="0" marL="0">
              <a:buNone/>
            </a:pPr>
            <a:r>
              <a:rPr lang="en-US" sz="1300" dirty="0">
                <a:solidFill>
                  <a:schemeClr val="tx1"/>
                </a:solidFill>
              </a:rPr>
              <a:t>test/sub gives count = 8, one child, even after kill -9</a:t>
            </a:r>
            <a:endParaRPr lang="en-US" sz="1300" dirty="0"/>
          </a:p>
        </p:txBody>
      </p:sp>
      <p:sp>
        <p:nvSpPr>
          <p:cNvPr id="17" name="chev2"/>
          <p:cNvSpPr/>
          <p:nvPr/>
        </p:nvSpPr>
        <p:spPr>
          <a:xfrm>
            <a:off x="4279392" y="1325880"/>
            <a:ext cx="1856232" cy="548640"/>
          </a:xfrm>
          <a:prstGeom prst="chevron">
            <a:avLst/>
          </a:prstGeom>
          <a:solidFill>
            <a:schemeClr val="accent4"/>
          </a:solidFill>
          <a:ln w="12700">
            <a:solidFill>
              <a:schemeClr val="accent4"/>
            </a:solidFill>
            <a:prstDash val="solid"/>
          </a:ln>
        </p:spPr>
      </p:sp>
      <p:sp>
        <p:nvSpPr>
          <p:cNvPr id="18" name="t406"/>
          <p:cNvSpPr txBox="1"/>
          <p:nvPr/>
        </p:nvSpPr>
        <p:spPr>
          <a:xfrm>
            <a:off x="4553712" y="1325880"/>
            <a:ext cx="1307592"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P2</a:t>
            </a:r>
            <a:endParaRPr lang="en-US" sz="1800" dirty="0"/>
          </a:p>
        </p:txBody>
      </p:sp>
      <p:sp>
        <p:nvSpPr>
          <p:cNvPr id="19" name="phase2"/>
          <p:cNvSpPr/>
          <p:nvPr/>
        </p:nvSpPr>
        <p:spPr>
          <a:xfrm>
            <a:off x="4279392" y="2057400"/>
            <a:ext cx="1764792" cy="3154680"/>
          </a:xfrm>
          <a:prstGeom prst="roundRect">
            <a:avLst>
              <a:gd name="adj" fmla="val 4145"/>
            </a:avLst>
          </a:prstGeom>
          <a:solidFill>
            <a:srgbClr val="F6E3C1"/>
          </a:solidFill>
          <a:ln w="12700">
            <a:solidFill>
              <a:srgbClr val="F6E3C1"/>
            </a:solidFill>
            <a:prstDash val="solid"/>
          </a:ln>
        </p:spPr>
      </p:sp>
      <p:sp>
        <p:nvSpPr>
          <p:cNvPr id="20" name="t407"/>
          <p:cNvSpPr txBox="1"/>
          <p:nvPr/>
        </p:nvSpPr>
        <p:spPr>
          <a:xfrm>
            <a:off x="4416552" y="2194560"/>
            <a:ext cx="1490472" cy="365760"/>
          </a:xfrm>
          <a:prstGeom prst="rect">
            <a:avLst/>
          </a:prstGeom>
          <a:noFill/>
          <a:ln/>
        </p:spPr>
        <p:txBody>
          <a:bodyPr wrap="square" lIns="0" tIns="0" rIns="0" bIns="0" rtlCol="0" anchor="t"/>
          <a:lstStyle/>
          <a:p>
            <a:pPr indent="0" marL="0">
              <a:buNone/>
            </a:pPr>
            <a:r>
              <a:rPr lang="en-US" sz="1700" b="1" dirty="0">
                <a:solidFill>
                  <a:schemeClr val="tx1"/>
                </a:solidFill>
              </a:rPr>
              <a:t>Time</a:t>
            </a:r>
            <a:endParaRPr lang="en-US" sz="1700" dirty="0"/>
          </a:p>
        </p:txBody>
      </p:sp>
      <p:sp>
        <p:nvSpPr>
          <p:cNvPr id="21" name="t408"/>
          <p:cNvSpPr txBox="1"/>
          <p:nvPr/>
        </p:nvSpPr>
        <p:spPr>
          <a:xfrm>
            <a:off x="4416552" y="2606040"/>
            <a:ext cx="1490472" cy="1097280"/>
          </a:xfrm>
          <a:prstGeom prst="rect">
            <a:avLst/>
          </a:prstGeom>
          <a:noFill/>
          <a:ln/>
        </p:spPr>
        <p:txBody>
          <a:bodyPr wrap="square" lIns="0" tIns="0" rIns="0" bIns="0" rtlCol="0" anchor="t"/>
          <a:lstStyle/>
          <a:p>
            <a:pPr indent="0" marL="0">
              <a:buNone/>
            </a:pPr>
            <a:r>
              <a:rPr lang="en-US" sz="1300" dirty="0">
                <a:solidFill>
                  <a:schemeClr val="tx2"/>
                </a:solidFill>
              </a:rPr>
              <a:t>resume / every / wait, scheduler tick, catch-up, fake clock</a:t>
            </a:r>
            <a:endParaRPr lang="en-US" sz="1300" dirty="0"/>
          </a:p>
        </p:txBody>
      </p:sp>
      <p:sp>
        <p:nvSpPr>
          <p:cNvPr id="22" name="t409"/>
          <p:cNvSpPr txBox="1"/>
          <p:nvPr/>
        </p:nvSpPr>
        <p:spPr>
          <a:xfrm>
            <a:off x="4416552" y="3794760"/>
            <a:ext cx="1490472" cy="274320"/>
          </a:xfrm>
          <a:prstGeom prst="rect">
            <a:avLst/>
          </a:prstGeom>
          <a:noFill/>
          <a:ln/>
        </p:spPr>
        <p:txBody>
          <a:bodyPr wrap="square" lIns="0" tIns="0" rIns="0" bIns="0" rtlCol="0" anchor="t"/>
          <a:lstStyle/>
          <a:p>
            <a:pPr indent="0" marL="0">
              <a:buNone/>
            </a:pPr>
            <a:r>
              <a:rPr lang="en-US" sz="1200" b="1" dirty="0">
                <a:solidFill>
                  <a:schemeClr val="accent2"/>
                </a:solidFill>
              </a:rPr>
              <a:t>Done when</a:t>
            </a:r>
            <a:endParaRPr lang="en-US" sz="1200" dirty="0"/>
          </a:p>
        </p:txBody>
      </p:sp>
      <p:sp>
        <p:nvSpPr>
          <p:cNvPr id="23" name="t410"/>
          <p:cNvSpPr txBox="1"/>
          <p:nvPr/>
        </p:nvSpPr>
        <p:spPr>
          <a:xfrm>
            <a:off x="4416552" y="4069080"/>
            <a:ext cx="1490472" cy="1051560"/>
          </a:xfrm>
          <a:prstGeom prst="rect">
            <a:avLst/>
          </a:prstGeom>
          <a:noFill/>
          <a:ln/>
        </p:spPr>
        <p:txBody>
          <a:bodyPr wrap="square" lIns="0" tIns="0" rIns="0" bIns="0" rtlCol="0" anchor="t"/>
          <a:lstStyle/>
          <a:p>
            <a:pPr indent="0" marL="0">
              <a:buNone/>
            </a:pPr>
            <a:r>
              <a:rPr lang="en-US" sz="1300" dirty="0">
                <a:solidFill>
                  <a:schemeClr val="tx1"/>
                </a:solidFill>
              </a:rPr>
              <a:t>"in 10 days" wakes once on day 10</a:t>
            </a:r>
            <a:endParaRPr lang="en-US" sz="1300" dirty="0"/>
          </a:p>
        </p:txBody>
      </p:sp>
      <p:sp>
        <p:nvSpPr>
          <p:cNvPr id="24" name="chev3"/>
          <p:cNvSpPr/>
          <p:nvPr/>
        </p:nvSpPr>
        <p:spPr>
          <a:xfrm>
            <a:off x="6144768" y="1325880"/>
            <a:ext cx="1856232" cy="548640"/>
          </a:xfrm>
          <a:prstGeom prst="chevron">
            <a:avLst/>
          </a:prstGeom>
          <a:solidFill>
            <a:schemeClr val="accent1"/>
          </a:solidFill>
          <a:ln w="12700">
            <a:solidFill>
              <a:schemeClr val="accent1"/>
            </a:solidFill>
            <a:prstDash val="solid"/>
          </a:ln>
        </p:spPr>
      </p:sp>
      <p:sp>
        <p:nvSpPr>
          <p:cNvPr id="25" name="t411"/>
          <p:cNvSpPr txBox="1"/>
          <p:nvPr/>
        </p:nvSpPr>
        <p:spPr>
          <a:xfrm>
            <a:off x="6419088" y="1325880"/>
            <a:ext cx="1307592"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P3</a:t>
            </a:r>
            <a:endParaRPr lang="en-US" sz="1800" dirty="0"/>
          </a:p>
        </p:txBody>
      </p:sp>
      <p:sp>
        <p:nvSpPr>
          <p:cNvPr id="26" name="phase3"/>
          <p:cNvSpPr/>
          <p:nvPr/>
        </p:nvSpPr>
        <p:spPr>
          <a:xfrm>
            <a:off x="6144768" y="2057400"/>
            <a:ext cx="1764792" cy="3154680"/>
          </a:xfrm>
          <a:prstGeom prst="roundRect">
            <a:avLst>
              <a:gd name="adj" fmla="val 4145"/>
            </a:avLst>
          </a:prstGeom>
          <a:solidFill>
            <a:schemeClr val="bg2"/>
          </a:solidFill>
          <a:ln w="12700">
            <a:solidFill>
              <a:schemeClr val="bg2"/>
            </a:solidFill>
            <a:prstDash val="solid"/>
          </a:ln>
        </p:spPr>
      </p:sp>
      <p:sp>
        <p:nvSpPr>
          <p:cNvPr id="27" name="t412"/>
          <p:cNvSpPr txBox="1"/>
          <p:nvPr/>
        </p:nvSpPr>
        <p:spPr>
          <a:xfrm>
            <a:off x="6281928" y="2194560"/>
            <a:ext cx="1490472" cy="365760"/>
          </a:xfrm>
          <a:prstGeom prst="rect">
            <a:avLst/>
          </a:prstGeom>
          <a:noFill/>
          <a:ln/>
        </p:spPr>
        <p:txBody>
          <a:bodyPr wrap="square" lIns="0" tIns="0" rIns="0" bIns="0" rtlCol="0" anchor="t"/>
          <a:lstStyle/>
          <a:p>
            <a:pPr indent="0" marL="0">
              <a:buNone/>
            </a:pPr>
            <a:r>
              <a:rPr lang="en-US" sz="1700" b="1" dirty="0">
                <a:solidFill>
                  <a:schemeClr val="tx1"/>
                </a:solidFill>
              </a:rPr>
              <a:t>Packet trees</a:t>
            </a:r>
            <a:endParaRPr lang="en-US" sz="1700" dirty="0"/>
          </a:p>
        </p:txBody>
      </p:sp>
      <p:sp>
        <p:nvSpPr>
          <p:cNvPr id="28" name="t413"/>
          <p:cNvSpPr txBox="1"/>
          <p:nvPr/>
        </p:nvSpPr>
        <p:spPr>
          <a:xfrm>
            <a:off x="6281928" y="2606040"/>
            <a:ext cx="1490472" cy="1097280"/>
          </a:xfrm>
          <a:prstGeom prst="rect">
            <a:avLst/>
          </a:prstGeom>
          <a:noFill/>
          <a:ln/>
        </p:spPr>
        <p:txBody>
          <a:bodyPr wrap="square" lIns="0" tIns="0" rIns="0" bIns="0" rtlCol="0" anchor="t"/>
          <a:lstStyle/>
          <a:p>
            <a:pPr indent="0" marL="0">
              <a:buNone/>
            </a:pPr>
            <a:r>
              <a:rPr lang="en-US" sz="1300" dirty="0">
                <a:solidFill>
                  <a:schemeClr val="tx2"/>
                </a:solidFill>
              </a:rPr>
              <a:t>join, mailbox, supervision, reaper, leases</a:t>
            </a:r>
            <a:endParaRPr lang="en-US" sz="1300" dirty="0"/>
          </a:p>
        </p:txBody>
      </p:sp>
      <p:sp>
        <p:nvSpPr>
          <p:cNvPr id="29" name="t414"/>
          <p:cNvSpPr txBox="1"/>
          <p:nvPr/>
        </p:nvSpPr>
        <p:spPr>
          <a:xfrm>
            <a:off x="6281928" y="3794760"/>
            <a:ext cx="1490472" cy="274320"/>
          </a:xfrm>
          <a:prstGeom prst="rect">
            <a:avLst/>
          </a:prstGeom>
          <a:noFill/>
          <a:ln/>
        </p:spPr>
        <p:txBody>
          <a:bodyPr wrap="square" lIns="0" tIns="0" rIns="0" bIns="0" rtlCol="0" anchor="t"/>
          <a:lstStyle/>
          <a:p>
            <a:pPr indent="0" marL="0">
              <a:buNone/>
            </a:pPr>
            <a:r>
              <a:rPr lang="en-US" sz="1200" b="1" dirty="0">
                <a:solidFill>
                  <a:schemeClr val="accent2"/>
                </a:solidFill>
              </a:rPr>
              <a:t>Done when</a:t>
            </a:r>
            <a:endParaRPr lang="en-US" sz="1200" dirty="0"/>
          </a:p>
        </p:txBody>
      </p:sp>
      <p:sp>
        <p:nvSpPr>
          <p:cNvPr id="30" name="t415"/>
          <p:cNvSpPr txBox="1"/>
          <p:nvPr/>
        </p:nvSpPr>
        <p:spPr>
          <a:xfrm>
            <a:off x="6281928" y="4069080"/>
            <a:ext cx="1490472" cy="1051560"/>
          </a:xfrm>
          <a:prstGeom prst="rect">
            <a:avLst/>
          </a:prstGeom>
          <a:noFill/>
          <a:ln/>
        </p:spPr>
        <p:txBody>
          <a:bodyPr wrap="square" lIns="0" tIns="0" rIns="0" bIns="0" rtlCol="0" anchor="t"/>
          <a:lstStyle/>
          <a:p>
            <a:pPr indent="0" marL="0">
              <a:buNone/>
            </a:pPr>
            <a:r>
              <a:rPr lang="en-US" sz="1300" dirty="0">
                <a:solidFill>
                  <a:schemeClr val="tx1"/>
                </a:solidFill>
              </a:rPr>
              <a:t>Parent sleeps until both children finish</a:t>
            </a:r>
            <a:endParaRPr lang="en-US" sz="1300" dirty="0"/>
          </a:p>
        </p:txBody>
      </p:sp>
      <p:sp>
        <p:nvSpPr>
          <p:cNvPr id="31" name="chev4"/>
          <p:cNvSpPr/>
          <p:nvPr/>
        </p:nvSpPr>
        <p:spPr>
          <a:xfrm>
            <a:off x="8010144" y="1325880"/>
            <a:ext cx="1856232" cy="548640"/>
          </a:xfrm>
          <a:prstGeom prst="chevron">
            <a:avLst/>
          </a:prstGeom>
          <a:solidFill>
            <a:schemeClr val="accent1"/>
          </a:solidFill>
          <a:ln w="12700">
            <a:solidFill>
              <a:schemeClr val="accent1"/>
            </a:solidFill>
            <a:prstDash val="solid"/>
          </a:ln>
        </p:spPr>
      </p:sp>
      <p:sp>
        <p:nvSpPr>
          <p:cNvPr id="32" name="t416"/>
          <p:cNvSpPr txBox="1"/>
          <p:nvPr/>
        </p:nvSpPr>
        <p:spPr>
          <a:xfrm>
            <a:off x="8284464" y="1325880"/>
            <a:ext cx="1307592"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P4</a:t>
            </a:r>
            <a:endParaRPr lang="en-US" sz="1800" dirty="0"/>
          </a:p>
        </p:txBody>
      </p:sp>
      <p:sp>
        <p:nvSpPr>
          <p:cNvPr id="33" name="phase4"/>
          <p:cNvSpPr/>
          <p:nvPr/>
        </p:nvSpPr>
        <p:spPr>
          <a:xfrm>
            <a:off x="8010144" y="2057400"/>
            <a:ext cx="1764792" cy="3154680"/>
          </a:xfrm>
          <a:prstGeom prst="roundRect">
            <a:avLst>
              <a:gd name="adj" fmla="val 4145"/>
            </a:avLst>
          </a:prstGeom>
          <a:solidFill>
            <a:schemeClr val="bg2"/>
          </a:solidFill>
          <a:ln w="12700">
            <a:solidFill>
              <a:schemeClr val="bg2"/>
            </a:solidFill>
            <a:prstDash val="solid"/>
          </a:ln>
        </p:spPr>
      </p:sp>
      <p:sp>
        <p:nvSpPr>
          <p:cNvPr id="34" name="t417"/>
          <p:cNvSpPr txBox="1"/>
          <p:nvPr/>
        </p:nvSpPr>
        <p:spPr>
          <a:xfrm>
            <a:off x="8147304" y="2194560"/>
            <a:ext cx="1490472" cy="365760"/>
          </a:xfrm>
          <a:prstGeom prst="rect">
            <a:avLst/>
          </a:prstGeom>
          <a:noFill/>
          <a:ln/>
        </p:spPr>
        <p:txBody>
          <a:bodyPr wrap="square" lIns="0" tIns="0" rIns="0" bIns="0" rtlCol="0" anchor="t"/>
          <a:lstStyle/>
          <a:p>
            <a:pPr indent="0" marL="0">
              <a:buNone/>
            </a:pPr>
            <a:r>
              <a:rPr lang="en-US" sz="1700" b="1" dirty="0">
                <a:solidFill>
                  <a:schemeClr val="tx1"/>
                </a:solidFill>
              </a:rPr>
              <a:t>Snapshots</a:t>
            </a:r>
            <a:endParaRPr lang="en-US" sz="1700" dirty="0"/>
          </a:p>
        </p:txBody>
      </p:sp>
      <p:sp>
        <p:nvSpPr>
          <p:cNvPr id="35" name="t418"/>
          <p:cNvSpPr txBox="1"/>
          <p:nvPr/>
        </p:nvSpPr>
        <p:spPr>
          <a:xfrm>
            <a:off x="8147304" y="2606040"/>
            <a:ext cx="1490472" cy="1097280"/>
          </a:xfrm>
          <a:prstGeom prst="rect">
            <a:avLst/>
          </a:prstGeom>
          <a:noFill/>
          <a:ln/>
        </p:spPr>
        <p:txBody>
          <a:bodyPr wrap="square" lIns="0" tIns="0" rIns="0" bIns="0" rtlCol="0" anchor="t"/>
          <a:lstStyle/>
          <a:p>
            <a:pPr indent="0" marL="0">
              <a:buNone/>
            </a:pPr>
            <a:r>
              <a:rPr lang="en-US" sz="1300" dirty="0">
                <a:solidFill>
                  <a:schemeClr val="tx2"/>
                </a:solidFill>
              </a:rPr>
              <a:t>git commit per step; log, diff, fork from step N</a:t>
            </a:r>
            <a:endParaRPr lang="en-US" sz="1300" dirty="0"/>
          </a:p>
        </p:txBody>
      </p:sp>
      <p:sp>
        <p:nvSpPr>
          <p:cNvPr id="36" name="t419"/>
          <p:cNvSpPr txBox="1"/>
          <p:nvPr/>
        </p:nvSpPr>
        <p:spPr>
          <a:xfrm>
            <a:off x="8147304" y="3794760"/>
            <a:ext cx="1490472" cy="274320"/>
          </a:xfrm>
          <a:prstGeom prst="rect">
            <a:avLst/>
          </a:prstGeom>
          <a:noFill/>
          <a:ln/>
        </p:spPr>
        <p:txBody>
          <a:bodyPr wrap="square" lIns="0" tIns="0" rIns="0" bIns="0" rtlCol="0" anchor="t"/>
          <a:lstStyle/>
          <a:p>
            <a:pPr indent="0" marL="0">
              <a:buNone/>
            </a:pPr>
            <a:r>
              <a:rPr lang="en-US" sz="1200" b="1" dirty="0">
                <a:solidFill>
                  <a:schemeClr val="accent2"/>
                </a:solidFill>
              </a:rPr>
              <a:t>Done when</a:t>
            </a:r>
            <a:endParaRPr lang="en-US" sz="1200" dirty="0"/>
          </a:p>
        </p:txBody>
      </p:sp>
      <p:sp>
        <p:nvSpPr>
          <p:cNvPr id="37" name="t420"/>
          <p:cNvSpPr txBox="1"/>
          <p:nvPr/>
        </p:nvSpPr>
        <p:spPr>
          <a:xfrm>
            <a:off x="8147304" y="4069080"/>
            <a:ext cx="1490472" cy="1051560"/>
          </a:xfrm>
          <a:prstGeom prst="rect">
            <a:avLst/>
          </a:prstGeom>
          <a:noFill/>
          <a:ln/>
        </p:spPr>
        <p:txBody>
          <a:bodyPr wrap="square" lIns="0" tIns="0" rIns="0" bIns="0" rtlCol="0" anchor="t"/>
          <a:lstStyle/>
          <a:p>
            <a:pPr indent="0" marL="0">
              <a:buNone/>
            </a:pPr>
            <a:r>
              <a:rPr lang="en-US" sz="1300" dirty="0">
                <a:solidFill>
                  <a:schemeClr val="tx1"/>
                </a:solidFill>
              </a:rPr>
              <a:t>Rewind to step 4 replays the same files</a:t>
            </a:r>
            <a:endParaRPr lang="en-US" sz="1300" dirty="0"/>
          </a:p>
        </p:txBody>
      </p:sp>
      <p:sp>
        <p:nvSpPr>
          <p:cNvPr id="38" name="chev5"/>
          <p:cNvSpPr/>
          <p:nvPr/>
        </p:nvSpPr>
        <p:spPr>
          <a:xfrm>
            <a:off x="9875520" y="1325880"/>
            <a:ext cx="1764792" cy="548640"/>
          </a:xfrm>
          <a:prstGeom prst="chevron">
            <a:avLst/>
          </a:prstGeom>
          <a:solidFill>
            <a:schemeClr val="accent1"/>
          </a:solidFill>
          <a:ln w="12700">
            <a:solidFill>
              <a:schemeClr val="accent1"/>
            </a:solidFill>
            <a:prstDash val="solid"/>
          </a:ln>
        </p:spPr>
      </p:sp>
      <p:sp>
        <p:nvSpPr>
          <p:cNvPr id="39" name="t421"/>
          <p:cNvSpPr txBox="1"/>
          <p:nvPr/>
        </p:nvSpPr>
        <p:spPr>
          <a:xfrm>
            <a:off x="10149840" y="1325880"/>
            <a:ext cx="1307592"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P5</a:t>
            </a:r>
            <a:endParaRPr lang="en-US" sz="1800" dirty="0"/>
          </a:p>
        </p:txBody>
      </p:sp>
      <p:sp>
        <p:nvSpPr>
          <p:cNvPr id="40" name="phase5"/>
          <p:cNvSpPr/>
          <p:nvPr/>
        </p:nvSpPr>
        <p:spPr>
          <a:xfrm>
            <a:off x="9875520" y="2057400"/>
            <a:ext cx="1764792" cy="3154680"/>
          </a:xfrm>
          <a:prstGeom prst="roundRect">
            <a:avLst>
              <a:gd name="adj" fmla="val 4145"/>
            </a:avLst>
          </a:prstGeom>
          <a:solidFill>
            <a:schemeClr val="bg2"/>
          </a:solidFill>
          <a:ln w="12700">
            <a:solidFill>
              <a:schemeClr val="bg2"/>
            </a:solidFill>
            <a:prstDash val="solid"/>
          </a:ln>
        </p:spPr>
      </p:sp>
      <p:sp>
        <p:nvSpPr>
          <p:cNvPr id="41" name="t422"/>
          <p:cNvSpPr txBox="1"/>
          <p:nvPr/>
        </p:nvSpPr>
        <p:spPr>
          <a:xfrm>
            <a:off x="10012680" y="2194560"/>
            <a:ext cx="1490472" cy="365760"/>
          </a:xfrm>
          <a:prstGeom prst="rect">
            <a:avLst/>
          </a:prstGeom>
          <a:noFill/>
          <a:ln/>
        </p:spPr>
        <p:txBody>
          <a:bodyPr wrap="square" lIns="0" tIns="0" rIns="0" bIns="0" rtlCol="0" anchor="t"/>
          <a:lstStyle/>
          <a:p>
            <a:pPr indent="0" marL="0">
              <a:buNone/>
            </a:pPr>
            <a:r>
              <a:rPr lang="en-US" sz="1700" b="1" dirty="0">
                <a:solidFill>
                  <a:schemeClr val="tx1"/>
                </a:solidFill>
              </a:rPr>
              <a:t>Evaluate</a:t>
            </a:r>
            <a:endParaRPr lang="en-US" sz="1700" dirty="0"/>
          </a:p>
        </p:txBody>
      </p:sp>
      <p:sp>
        <p:nvSpPr>
          <p:cNvPr id="42" name="t423"/>
          <p:cNvSpPr txBox="1"/>
          <p:nvPr/>
        </p:nvSpPr>
        <p:spPr>
          <a:xfrm>
            <a:off x="10012680" y="2606040"/>
            <a:ext cx="1490472" cy="1097280"/>
          </a:xfrm>
          <a:prstGeom prst="rect">
            <a:avLst/>
          </a:prstGeom>
          <a:noFill/>
          <a:ln/>
        </p:spPr>
        <p:txBody>
          <a:bodyPr wrap="square" lIns="0" tIns="0" rIns="0" bIns="0" rtlCol="0" anchor="t"/>
          <a:lstStyle/>
          <a:p>
            <a:pPr indent="0" marL="0">
              <a:buNone/>
            </a:pPr>
            <a:r>
              <a:rPr lang="en-US" sz="1300" dirty="0">
                <a:solidFill>
                  <a:schemeClr val="tx2"/>
                </a:solidFill>
              </a:rPr>
              <a:t>dv-flow benchmark vs Ralph and LangGraph; build or buy</a:t>
            </a:r>
            <a:endParaRPr lang="en-US" sz="1300" dirty="0"/>
          </a:p>
        </p:txBody>
      </p:sp>
      <p:sp>
        <p:nvSpPr>
          <p:cNvPr id="43" name="t424"/>
          <p:cNvSpPr txBox="1"/>
          <p:nvPr/>
        </p:nvSpPr>
        <p:spPr>
          <a:xfrm>
            <a:off x="10012680" y="3794760"/>
            <a:ext cx="1490472" cy="274320"/>
          </a:xfrm>
          <a:prstGeom prst="rect">
            <a:avLst/>
          </a:prstGeom>
          <a:noFill/>
          <a:ln/>
        </p:spPr>
        <p:txBody>
          <a:bodyPr wrap="square" lIns="0" tIns="0" rIns="0" bIns="0" rtlCol="0" anchor="t"/>
          <a:lstStyle/>
          <a:p>
            <a:pPr indent="0" marL="0">
              <a:buNone/>
            </a:pPr>
            <a:r>
              <a:rPr lang="en-US" sz="1200" b="1" dirty="0">
                <a:solidFill>
                  <a:schemeClr val="accent2"/>
                </a:solidFill>
              </a:rPr>
              <a:t>Done when</a:t>
            </a:r>
            <a:endParaRPr lang="en-US" sz="1200" dirty="0"/>
          </a:p>
        </p:txBody>
      </p:sp>
      <p:sp>
        <p:nvSpPr>
          <p:cNvPr id="44" name="t425"/>
          <p:cNvSpPr txBox="1"/>
          <p:nvPr/>
        </p:nvSpPr>
        <p:spPr>
          <a:xfrm>
            <a:off x="10012680" y="4069080"/>
            <a:ext cx="1490472" cy="1051560"/>
          </a:xfrm>
          <a:prstGeom prst="rect">
            <a:avLst/>
          </a:prstGeom>
          <a:noFill/>
          <a:ln/>
        </p:spPr>
        <p:txBody>
          <a:bodyPr wrap="square" lIns="0" tIns="0" rIns="0" bIns="0" rtlCol="0" anchor="t"/>
          <a:lstStyle/>
          <a:p>
            <a:pPr indent="0" marL="0">
              <a:buNone/>
            </a:pPr>
            <a:r>
              <a:rPr lang="en-US" sz="1300" dirty="0">
                <a:solidFill>
                  <a:schemeClr val="tx1"/>
                </a:solidFill>
              </a:rPr>
              <a:t>Decision and write-up</a:t>
            </a:r>
            <a:endParaRPr lang="en-US" sz="1300" dirty="0"/>
          </a:p>
        </p:txBody>
      </p:sp>
      <p:sp>
        <p:nvSpPr>
          <p:cNvPr id="45" name="t426"/>
          <p:cNvSpPr txBox="1"/>
          <p:nvPr/>
        </p:nvSpPr>
        <p:spPr>
          <a:xfrm>
            <a:off x="548640" y="5486400"/>
            <a:ext cx="11064240" cy="411480"/>
          </a:xfrm>
          <a:prstGeom prst="rect">
            <a:avLst/>
          </a:prstGeom>
          <a:noFill/>
          <a:ln/>
        </p:spPr>
        <p:txBody>
          <a:bodyPr wrap="square" lIns="0" tIns="0" rIns="0" bIns="0" rtlCol="0" anchor="t"/>
          <a:lstStyle/>
          <a:p>
            <a:pPr indent="0" marL="0">
              <a:buNone/>
            </a:pPr>
            <a:r>
              <a:rPr lang="en-US" sz="1500" i="1" dirty="0">
                <a:solidFill>
                  <a:schemeClr val="accent2"/>
                </a:solidFill>
              </a:rPr>
              <a:t>Time (P2) depends on P1: a recurring job that double-runs is worse than no job at all.</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822960"/>
          </a:xfrm>
          <a:prstGeom prst="rect">
            <a:avLst/>
          </a:prstGeom>
          <a:noFill/>
          <a:ln/>
        </p:spPr>
        <p:txBody>
          <a:bodyPr wrap="square" lIns="0" tIns="0" rIns="0" bIns="0" rtlCol="0" anchor="ctr"/>
          <a:lstStyle/>
          <a:p>
            <a:pPr algn="l" indent="0" marL="0">
              <a:buNone/>
            </a:pPr>
            <a:r>
              <a:rPr lang="en-US" sz="4000" b="1" dirty="0">
                <a:solidFill>
                  <a:schemeClr val="bg1"/>
                </a:solidFill>
              </a:rPr>
              <a:t>Next steps</a:t>
            </a:r>
            <a:endParaRPr lang="en-US" sz="4000" dirty="0"/>
          </a:p>
        </p:txBody>
      </p:sp>
      <p:sp>
        <p:nvSpPr>
          <p:cNvPr id="3" name="Text 0"/>
          <p:cNvSpPr/>
          <p:nvPr>
            <p:ph idx="101" type="body" hasCustomPrompt="1"/>
          </p:nvPr>
        </p:nvSpPr>
        <p:spPr>
          <a:xfrm>
            <a:off x="548640" y="1371600"/>
            <a:ext cx="11064240" cy="548640"/>
          </a:xfrm>
          <a:prstGeom prst="rect">
            <a:avLst/>
          </a:prstGeom>
          <a:noFill/>
          <a:ln/>
        </p:spPr>
        <p:txBody>
          <a:bodyPr wrap="square" lIns="0" tIns="0" rIns="0" bIns="0" rtlCol="0" anchor="t"/>
          <a:lstStyle/>
          <a:p>
            <a:pPr indent="0" marL="0">
              <a:buNone/>
            </a:pPr>
            <a:r>
              <a:rPr lang="en-US" sz="1800" dirty="0">
                <a:solidFill>
                  <a:schemeClr val="accent1"/>
                </a:solidFill>
              </a:rPr>
              <a:t>Move the bookkeeping out of the model and into a small executor</a:t>
            </a:r>
            <a:endParaRPr lang="en-US" sz="1800" dirty="0"/>
          </a:p>
        </p:txBody>
      </p:sp>
      <p:sp>
        <p:nvSpPr>
          <p:cNvPr id="4" name="t427"/>
          <p:cNvSpPr txBox="1"/>
          <p:nvPr/>
        </p:nvSpPr>
        <p:spPr>
          <a:xfrm>
            <a:off x="548640" y="2240280"/>
            <a:ext cx="5486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p:txBody>
      </p:sp>
      <p:sp>
        <p:nvSpPr>
          <p:cNvPr id="5" name="t428"/>
          <p:cNvSpPr txBox="1"/>
          <p:nvPr/>
        </p:nvSpPr>
        <p:spPr>
          <a:xfrm>
            <a:off x="1280160" y="2258568"/>
            <a:ext cx="10241280" cy="320040"/>
          </a:xfrm>
          <a:prstGeom prst="rect">
            <a:avLst/>
          </a:prstGeom>
          <a:noFill/>
          <a:ln/>
        </p:spPr>
        <p:txBody>
          <a:bodyPr wrap="square" lIns="0" tIns="0" rIns="0" bIns="0" rtlCol="0" anchor="t"/>
          <a:lstStyle/>
          <a:p>
            <a:pPr indent="0" marL="0">
              <a:buNone/>
            </a:pPr>
            <a:r>
              <a:rPr lang="en-US" sz="1700" b="1" dirty="0">
                <a:solidFill>
                  <a:schemeClr val="bg1"/>
                </a:solidFill>
              </a:rPr>
              <a:t>Write spec v0.2 (from test/agent-proc.md)</a:t>
            </a:r>
            <a:endParaRPr lang="en-US" sz="1700" dirty="0"/>
          </a:p>
        </p:txBody>
      </p:sp>
      <p:sp>
        <p:nvSpPr>
          <p:cNvPr id="6" name="t429"/>
          <p:cNvSpPr txBox="1"/>
          <p:nvPr/>
        </p:nvSpPr>
        <p:spPr>
          <a:xfrm>
            <a:off x="1280160" y="2587752"/>
            <a:ext cx="10241280" cy="365760"/>
          </a:xfrm>
          <a:prstGeom prst="rect">
            <a:avLst/>
          </a:prstGeom>
          <a:noFill/>
          <a:ln/>
        </p:spPr>
        <p:txBody>
          <a:bodyPr wrap="square" lIns="0" tIns="0" rIns="0" bIns="0" rtlCol="0" anchor="t"/>
          <a:lstStyle/>
          <a:p>
            <a:pPr indent="0" marL="0">
              <a:buNone/>
            </a:pPr>
            <a:r>
              <a:rPr lang="en-US" sz="1400" dirty="0">
                <a:solidFill>
                  <a:srgbClr val="B8C2CC"/>
                </a:solidFill>
              </a:rPr>
              <a:t>Fixed file names; status.md front matter with state, step, wake_at, resume_expr, every, model</a:t>
            </a:r>
            <a:endParaRPr lang="en-US" sz="1400" dirty="0"/>
          </a:p>
        </p:txBody>
      </p:sp>
      <p:sp>
        <p:nvSpPr>
          <p:cNvPr id="7" name="t430"/>
          <p:cNvSpPr txBox="1"/>
          <p:nvPr/>
        </p:nvSpPr>
        <p:spPr>
          <a:xfrm>
            <a:off x="548640" y="3017520"/>
            <a:ext cx="5486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8" name="t431"/>
          <p:cNvSpPr txBox="1"/>
          <p:nvPr/>
        </p:nvSpPr>
        <p:spPr>
          <a:xfrm>
            <a:off x="1280160" y="3035808"/>
            <a:ext cx="10241280" cy="320040"/>
          </a:xfrm>
          <a:prstGeom prst="rect">
            <a:avLst/>
          </a:prstGeom>
          <a:noFill/>
          <a:ln/>
        </p:spPr>
        <p:txBody>
          <a:bodyPr wrap="square" lIns="0" tIns="0" rIns="0" bIns="0" rtlCol="0" anchor="t"/>
          <a:lstStyle/>
          <a:p>
            <a:pPr indent="0" marL="0">
              <a:buNone/>
            </a:pPr>
            <a:r>
              <a:rPr lang="en-US" sz="1700" b="1" dirty="0">
                <a:solidFill>
                  <a:schemeClr val="bg1"/>
                </a:solidFill>
              </a:rPr>
              <a:t>Write a thin executor around claude -p</a:t>
            </a:r>
            <a:endParaRPr lang="en-US" sz="1700" dirty="0"/>
          </a:p>
        </p:txBody>
      </p:sp>
      <p:sp>
        <p:nvSpPr>
          <p:cNvPr id="9" name="t432"/>
          <p:cNvSpPr txBox="1"/>
          <p:nvPr/>
        </p:nvSpPr>
        <p:spPr>
          <a:xfrm>
            <a:off x="1280160" y="3364992"/>
            <a:ext cx="10241280" cy="365760"/>
          </a:xfrm>
          <a:prstGeom prst="rect">
            <a:avLst/>
          </a:prstGeom>
          <a:noFill/>
          <a:ln/>
        </p:spPr>
        <p:txBody>
          <a:bodyPr wrap="square" lIns="0" tIns="0" rIns="0" bIns="0" rtlCol="0" anchor="t"/>
          <a:lstStyle/>
          <a:p>
            <a:pPr indent="0" marL="0">
              <a:buNone/>
            </a:pPr>
            <a:r>
              <a:rPr lang="en-US" sz="1400" dirty="0">
                <a:solidFill>
                  <a:srgbClr val="B8C2CC"/>
                </a:solidFill>
              </a:rPr>
              <a:t>It owns the clock, step counter, spawn and commit; the model only proposes into .pending/</a:t>
            </a:r>
            <a:endParaRPr lang="en-US" sz="1400" dirty="0"/>
          </a:p>
        </p:txBody>
      </p:sp>
      <p:sp>
        <p:nvSpPr>
          <p:cNvPr id="10" name="t433"/>
          <p:cNvSpPr txBox="1"/>
          <p:nvPr/>
        </p:nvSpPr>
        <p:spPr>
          <a:xfrm>
            <a:off x="548640" y="3794760"/>
            <a:ext cx="5486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11" name="t434"/>
          <p:cNvSpPr txBox="1"/>
          <p:nvPr/>
        </p:nvSpPr>
        <p:spPr>
          <a:xfrm>
            <a:off x="1280160" y="3813048"/>
            <a:ext cx="10241280" cy="320040"/>
          </a:xfrm>
          <a:prstGeom prst="rect">
            <a:avLst/>
          </a:prstGeom>
          <a:noFill/>
          <a:ln/>
        </p:spPr>
        <p:txBody>
          <a:bodyPr wrap="square" lIns="0" tIns="0" rIns="0" bIns="0" rtlCol="0" anchor="t"/>
          <a:lstStyle/>
          <a:p>
            <a:pPr indent="0" marL="0">
              <a:buNone/>
            </a:pPr>
            <a:r>
              <a:rPr lang="en-US" sz="1700" b="1" dirty="0">
                <a:solidFill>
                  <a:schemeClr val="bg1"/>
                </a:solidFill>
              </a:rPr>
              <a:t>Turn the prototype bugs into tests</a:t>
            </a:r>
            <a:endParaRPr lang="en-US" sz="1700" dirty="0"/>
          </a:p>
        </p:txBody>
      </p:sp>
      <p:sp>
        <p:nvSpPr>
          <p:cNvPr id="12" name="t435"/>
          <p:cNvSpPr txBox="1"/>
          <p:nvPr/>
        </p:nvSpPr>
        <p:spPr>
          <a:xfrm>
            <a:off x="1280160" y="4142232"/>
            <a:ext cx="10241280" cy="365760"/>
          </a:xfrm>
          <a:prstGeom prst="rect">
            <a:avLst/>
          </a:prstGeom>
          <a:noFill/>
          <a:ln/>
        </p:spPr>
        <p:txBody>
          <a:bodyPr wrap="square" lIns="0" tIns="0" rIns="0" bIns="0" rtlCol="0" anchor="t"/>
          <a:lstStyle/>
          <a:p>
            <a:pPr indent="0" marL="0">
              <a:buNone/>
            </a:pPr>
            <a:r>
              <a:rPr lang="en-US" sz="1400" dirty="0">
                <a:solidFill>
                  <a:srgbClr val="B8C2CC"/>
                </a:solidFill>
              </a:rPr>
              <a:t>Double-run (count 9), 5-vs-6 lines, orphan 860b5f22, file-name drift</a:t>
            </a:r>
            <a:endParaRPr lang="en-US" sz="1400" dirty="0"/>
          </a:p>
        </p:txBody>
      </p:sp>
      <p:sp>
        <p:nvSpPr>
          <p:cNvPr id="13" name="t436"/>
          <p:cNvSpPr txBox="1"/>
          <p:nvPr/>
        </p:nvSpPr>
        <p:spPr>
          <a:xfrm>
            <a:off x="548640" y="4572000"/>
            <a:ext cx="5486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14" name="t437"/>
          <p:cNvSpPr txBox="1"/>
          <p:nvPr/>
        </p:nvSpPr>
        <p:spPr>
          <a:xfrm>
            <a:off x="1280160" y="4590288"/>
            <a:ext cx="10241280" cy="320040"/>
          </a:xfrm>
          <a:prstGeom prst="rect">
            <a:avLst/>
          </a:prstGeom>
          <a:noFill/>
          <a:ln/>
        </p:spPr>
        <p:txBody>
          <a:bodyPr wrap="square" lIns="0" tIns="0" rIns="0" bIns="0" rtlCol="0" anchor="t"/>
          <a:lstStyle/>
          <a:p>
            <a:pPr indent="0" marL="0">
              <a:buNone/>
            </a:pPr>
            <a:r>
              <a:rPr lang="en-US" sz="1700" b="1" dirty="0">
                <a:solidFill>
                  <a:schemeClr val="bg1"/>
                </a:solidFill>
              </a:rPr>
              <a:t>Add timers with a fake clock</a:t>
            </a:r>
            <a:endParaRPr lang="en-US" sz="1700" dirty="0"/>
          </a:p>
        </p:txBody>
      </p:sp>
      <p:sp>
        <p:nvSpPr>
          <p:cNvPr id="15" name="t438"/>
          <p:cNvSpPr txBox="1"/>
          <p:nvPr/>
        </p:nvSpPr>
        <p:spPr>
          <a:xfrm>
            <a:off x="1280160" y="4919472"/>
            <a:ext cx="10241280" cy="365760"/>
          </a:xfrm>
          <a:prstGeom prst="rect">
            <a:avLst/>
          </a:prstGeom>
          <a:noFill/>
          <a:ln/>
        </p:spPr>
        <p:txBody>
          <a:bodyPr wrap="square" lIns="0" tIns="0" rIns="0" bIns="0" rtlCol="0" anchor="t"/>
          <a:lstStyle/>
          <a:p>
            <a:pPr indent="0" marL="0">
              <a:buNone/>
            </a:pPr>
            <a:r>
              <a:rPr lang="en-US" sz="1400" dirty="0">
                <a:solidFill>
                  <a:srgbClr val="B8C2CC"/>
                </a:solidFill>
              </a:rPr>
              <a:t>Resolve "in 10 days" / "on 10 Jan" in code; WPK_NOW makes tests run in seconds</a:t>
            </a:r>
            <a:endParaRPr lang="en-US" sz="1400" dirty="0"/>
          </a:p>
        </p:txBody>
      </p:sp>
      <p:sp>
        <p:nvSpPr>
          <p:cNvPr id="16" name="t439"/>
          <p:cNvSpPr txBox="1"/>
          <p:nvPr/>
        </p:nvSpPr>
        <p:spPr>
          <a:xfrm>
            <a:off x="548640" y="5349240"/>
            <a:ext cx="5486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5</a:t>
            </a:r>
            <a:endParaRPr lang="en-US" sz="2800" dirty="0"/>
          </a:p>
        </p:txBody>
      </p:sp>
      <p:sp>
        <p:nvSpPr>
          <p:cNvPr id="17" name="t440"/>
          <p:cNvSpPr txBox="1"/>
          <p:nvPr/>
        </p:nvSpPr>
        <p:spPr>
          <a:xfrm>
            <a:off x="1280160" y="5367528"/>
            <a:ext cx="10241280" cy="320040"/>
          </a:xfrm>
          <a:prstGeom prst="rect">
            <a:avLst/>
          </a:prstGeom>
          <a:noFill/>
          <a:ln/>
        </p:spPr>
        <p:txBody>
          <a:bodyPr wrap="square" lIns="0" tIns="0" rIns="0" bIns="0" rtlCol="0" anchor="t"/>
          <a:lstStyle/>
          <a:p>
            <a:pPr indent="0" marL="0">
              <a:buNone/>
            </a:pPr>
            <a:r>
              <a:rPr lang="en-US" sz="1700" b="1" dirty="0">
                <a:solidFill>
                  <a:schemeClr val="bg1"/>
                </a:solidFill>
              </a:rPr>
              <a:t>First usable slice: new, tick and a read-only board</a:t>
            </a:r>
            <a:endParaRPr lang="en-US" sz="1700" dirty="0"/>
          </a:p>
        </p:txBody>
      </p:sp>
      <p:sp>
        <p:nvSpPr>
          <p:cNvPr id="18" name="t441"/>
          <p:cNvSpPr txBox="1"/>
          <p:nvPr/>
        </p:nvSpPr>
        <p:spPr>
          <a:xfrm>
            <a:off x="1280160" y="5696712"/>
            <a:ext cx="10241280" cy="365760"/>
          </a:xfrm>
          <a:prstGeom prst="rect">
            <a:avLst/>
          </a:prstGeom>
          <a:noFill/>
          <a:ln/>
        </p:spPr>
        <p:txBody>
          <a:bodyPr wrap="square" lIns="0" tIns="0" rIns="0" bIns="0" rtlCol="0" anchor="t"/>
          <a:lstStyle/>
          <a:p>
            <a:pPr indent="0" marL="0">
              <a:buNone/>
            </a:pPr>
            <a:r>
              <a:rPr lang="en-US" sz="1400" dirty="0">
                <a:solidFill>
                  <a:srgbClr val="B8C2CC"/>
                </a:solidFill>
              </a:rPr>
              <a:t>wpk new (blank template), wpk tick, and the web board: enough to run real projects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References</a:t>
            </a:r>
            <a:endParaRPr lang="en-US" sz="3400" dirty="0"/>
          </a:p>
        </p:txBody>
      </p:sp>
      <p:sp>
        <p:nvSpPr>
          <p:cNvPr id="3" name="t442"/>
          <p:cNvSpPr txBox="1"/>
          <p:nvPr/>
        </p:nvSpPr>
        <p:spPr>
          <a:xfrm>
            <a:off x="548640" y="1325880"/>
            <a:ext cx="5394960" cy="4937760"/>
          </a:xfrm>
          <a:prstGeom prst="rect">
            <a:avLst/>
          </a:prstGeom>
          <a:noFill/>
          <a:ln/>
        </p:spPr>
        <p:txBody>
          <a:bodyPr wrap="square" lIns="0" tIns="0" rIns="0" bIns="0" rtlCol="0" anchor="t"/>
          <a:lstStyle/>
          <a:p>
            <a:pPr indent="0" marL="0">
              <a:buNone/>
            </a:pPr>
            <a:r>
              <a:rPr lang="en-US" sz="1400" b="1" dirty="0">
                <a:solidFill>
                  <a:schemeClr val="tx1"/>
                </a:solidFill>
              </a:rPr>
              <a:t>Quine: LLM agents as native POSIX processes</a:t>
            </a:r>
            <a:endParaRPr lang="en-US" sz="1400" dirty="0"/>
          </a:p>
          <a:p>
            <a:pPr indent="0" marL="0">
              <a:spcAft>
                <a:spcPts val="600"/>
              </a:spcAft>
              <a:buNone/>
            </a:pPr>
            <a:r>
              <a:rPr lang="en-US" sz="10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arxiv.org/html/2603.18030</a:t>
            </a:r>
            <a:endParaRPr lang="en-US" sz="1400" dirty="0"/>
          </a:p>
          <a:p>
            <a:pPr indent="0" marL="0">
              <a:buNone/>
            </a:pPr>
            <a:r>
              <a:rPr lang="en-US" sz="1400" b="1" dirty="0">
                <a:solidFill>
                  <a:schemeClr val="tx1"/>
                </a:solidFill>
              </a:rPr>
              <a:t>Gas Town</a:t>
            </a:r>
            <a:endParaRPr lang="en-US" sz="1400" dirty="0"/>
          </a:p>
          <a:p>
            <a:pPr indent="0" marL="0">
              <a:spcAft>
                <a:spcPts val="600"/>
              </a:spcAft>
              <a:buNone/>
            </a:pPr>
            <a:r>
              <a:rPr lang="en-US" sz="10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github.com/gastownhall/gastown</a:t>
            </a:r>
            <a:endParaRPr lang="en-US" sz="1400" dirty="0"/>
          </a:p>
          <a:p>
            <a:pPr indent="0" marL="0">
              <a:buNone/>
            </a:pPr>
            <a:r>
              <a:rPr lang="en-US" sz="1400" b="1" dirty="0">
                <a:solidFill>
                  <a:schemeClr val="tx1"/>
                </a:solidFill>
              </a:rPr>
              <a:t>Beads</a:t>
            </a:r>
            <a:endParaRPr lang="en-US" sz="1400" dirty="0"/>
          </a:p>
          <a:p>
            <a:pPr indent="0" marL="0">
              <a:spcAft>
                <a:spcPts val="600"/>
              </a:spcAft>
              <a:buNone/>
            </a:pPr>
            <a:r>
              <a:rPr lang="en-US" sz="1000"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steveyegge.spicytakes.org/post/2025-11-12-introducing-beads-a-coding-agent-memory-system</a:t>
            </a:r>
            <a:endParaRPr lang="en-US" sz="1400" dirty="0"/>
          </a:p>
          <a:p>
            <a:pPr indent="0" marL="0">
              <a:buNone/>
            </a:pPr>
            <a:r>
              <a:rPr lang="en-US" sz="1400" b="1" dirty="0">
                <a:solidFill>
                  <a:schemeClr val="tx1"/>
                </a:solidFill>
              </a:rPr>
              <a:t>Ralph Wiggum loop</a:t>
            </a:r>
            <a:endParaRPr lang="en-US" sz="1400" dirty="0"/>
          </a:p>
          <a:p>
            <a:pPr indent="0" marL="0">
              <a:spcAft>
                <a:spcPts val="600"/>
              </a:spcAft>
              <a:buNone/>
            </a:pPr>
            <a:r>
              <a:rPr lang="en-US" sz="1000" u="sng" dirty="0">
                <a:solidFill>
                  <a:schemeClr val="accent2"/>
                </a:solidFill>
                <a:hlinkClick r:id="rId4" invalidUrl="" action="" tgtFrame="" tooltip="" history="1" highlightClick="0" endSnd="0">
                  <a:extLst>
                    <a:ext uri="{A12FA001-AC4F-418D-AE19-62706E023703}">
                      <ahyp:hlinkClr xmlns:ahyp="http://schemas.microsoft.com/office/drawing/2018/hyperlinkcolor" val="tx"/>
                    </a:ext>
                  </a:extLst>
                </a:hlinkClick>
              </a:rPr>
              <a:t>ghuntley.com/ralph/</a:t>
            </a:r>
            <a:endParaRPr lang="en-US" sz="1400" dirty="0"/>
          </a:p>
          <a:p>
            <a:pPr indent="0" marL="0">
              <a:buNone/>
            </a:pPr>
            <a:r>
              <a:rPr lang="en-US" sz="1400" b="1" dirty="0">
                <a:solidFill>
                  <a:schemeClr val="tx1"/>
                </a:solidFill>
              </a:rPr>
              <a:t>Anthropic: Effective harnesses for long-running agents</a:t>
            </a:r>
            <a:endParaRPr lang="en-US" sz="1400" dirty="0"/>
          </a:p>
          <a:p>
            <a:pPr indent="0" marL="0">
              <a:spcAft>
                <a:spcPts val="600"/>
              </a:spcAft>
              <a:buNone/>
            </a:pPr>
            <a:r>
              <a:rPr lang="en-US" sz="1000" u="sng" dirty="0">
                <a:solidFill>
                  <a:schemeClr val="accent2"/>
                </a:solidFill>
                <a:hlinkClick r:id="rId5" invalidUrl="" action="" tgtFrame="" tooltip="" history="1" highlightClick="0" endSnd="0">
                  <a:extLst>
                    <a:ext uri="{A12FA001-AC4F-418D-AE19-62706E023703}">
                      <ahyp:hlinkClr xmlns:ahyp="http://schemas.microsoft.com/office/drawing/2018/hyperlinkcolor" val="tx"/>
                    </a:ext>
                  </a:extLst>
                </a:hlinkClick>
              </a:rPr>
              <a:t>anthropic.com/engineering/effective-harnesses-for-long-running-agents</a:t>
            </a:r>
            <a:endParaRPr lang="en-US" sz="1400" dirty="0"/>
          </a:p>
          <a:p>
            <a:pPr indent="0" marL="0">
              <a:buNone/>
            </a:pPr>
            <a:r>
              <a:rPr lang="en-US" sz="1400" b="1" dirty="0">
                <a:solidFill>
                  <a:schemeClr val="tx1"/>
                </a:solidFill>
              </a:rPr>
              <a:t>AIOS</a:t>
            </a:r>
            <a:endParaRPr lang="en-US" sz="1400" dirty="0"/>
          </a:p>
          <a:p>
            <a:pPr indent="0" marL="0">
              <a:spcAft>
                <a:spcPts val="600"/>
              </a:spcAft>
              <a:buNone/>
            </a:pPr>
            <a:r>
              <a:rPr lang="en-US" sz="1000" u="sng" dirty="0">
                <a:solidFill>
                  <a:schemeClr val="accent2"/>
                </a:solidFill>
                <a:hlinkClick r:id="rId6" invalidUrl="" action="" tgtFrame="" tooltip="" history="1" highlightClick="0" endSnd="0">
                  <a:extLst>
                    <a:ext uri="{A12FA001-AC4F-418D-AE19-62706E023703}">
                      <ahyp:hlinkClr xmlns:ahyp="http://schemas.microsoft.com/office/drawing/2018/hyperlinkcolor" val="tx"/>
                    </a:ext>
                  </a:extLst>
                </a:hlinkClick>
              </a:rPr>
              <a:t>github.com/agiresearch/AIOS</a:t>
            </a:r>
            <a:endParaRPr lang="en-US" sz="1400" dirty="0"/>
          </a:p>
          <a:p>
            <a:pPr indent="0" marL="0">
              <a:buNone/>
            </a:pPr>
            <a:r>
              <a:rPr lang="en-US" sz="1400" b="1" dirty="0">
                <a:solidFill>
                  <a:schemeClr val="tx1"/>
                </a:solidFill>
              </a:rPr>
              <a:t>MemGPT</a:t>
            </a:r>
            <a:endParaRPr lang="en-US" sz="1400" dirty="0"/>
          </a:p>
          <a:p>
            <a:pPr indent="0" marL="0">
              <a:spcAft>
                <a:spcPts val="600"/>
              </a:spcAft>
              <a:buNone/>
            </a:pPr>
            <a:r>
              <a:rPr lang="en-US" sz="1000" u="sng" dirty="0">
                <a:solidFill>
                  <a:schemeClr val="accent2"/>
                </a:solidFill>
                <a:hlinkClick r:id="rId7" invalidUrl="" action="" tgtFrame="" tooltip="" history="1" highlightClick="0" endSnd="0">
                  <a:extLst>
                    <a:ext uri="{A12FA001-AC4F-418D-AE19-62706E023703}">
                      <ahyp:hlinkClr xmlns:ahyp="http://schemas.microsoft.com/office/drawing/2018/hyperlinkcolor" val="tx"/>
                    </a:ext>
                  </a:extLst>
                </a:hlinkClick>
              </a:rPr>
              <a:t>arxiv.org/pdf/2310.08560</a:t>
            </a:r>
            <a:endParaRPr lang="en-US" sz="1400" dirty="0"/>
          </a:p>
          <a:p>
            <a:pPr indent="0" marL="0">
              <a:buNone/>
            </a:pPr>
            <a:r>
              <a:rPr lang="en-US" sz="1400" b="1" dirty="0">
                <a:solidFill>
                  <a:schemeClr val="tx1"/>
                </a:solidFill>
              </a:rPr>
              <a:t>Letta Agent File</a:t>
            </a:r>
            <a:endParaRPr lang="en-US" sz="1400" dirty="0"/>
          </a:p>
          <a:p>
            <a:pPr indent="0" marL="0">
              <a:spcAft>
                <a:spcPts val="600"/>
              </a:spcAft>
              <a:buNone/>
            </a:pPr>
            <a:r>
              <a:rPr lang="en-US" sz="1000" u="sng" dirty="0">
                <a:solidFill>
                  <a:schemeClr val="accent2"/>
                </a:solidFill>
                <a:hlinkClick r:id="rId8" invalidUrl="" action="" tgtFrame="" tooltip="" history="1" highlightClick="0" endSnd="0">
                  <a:extLst>
                    <a:ext uri="{A12FA001-AC4F-418D-AE19-62706E023703}">
                      <ahyp:hlinkClr xmlns:ahyp="http://schemas.microsoft.com/office/drawing/2018/hyperlinkcolor" val="tx"/>
                    </a:ext>
                  </a:extLst>
                </a:hlinkClick>
              </a:rPr>
              <a:t>github.com/letta-ai/agent-file</a:t>
            </a:r>
            <a:endParaRPr lang="en-US" sz="1400" dirty="0"/>
          </a:p>
          <a:p>
            <a:pPr indent="0" marL="0">
              <a:buNone/>
            </a:pPr>
            <a:r>
              <a:rPr lang="en-US" sz="1400" b="1" dirty="0">
                <a:solidFill>
                  <a:schemeClr val="tx1"/>
                </a:solidFill>
              </a:rPr>
              <a:t>Agent libOS</a:t>
            </a:r>
            <a:endParaRPr lang="en-US" sz="1400" dirty="0"/>
          </a:p>
          <a:p>
            <a:pPr indent="0" marL="0">
              <a:spcAft>
                <a:spcPts val="600"/>
              </a:spcAft>
              <a:buNone/>
            </a:pPr>
            <a:r>
              <a:rPr lang="en-US" sz="1000" u="sng" dirty="0">
                <a:solidFill>
                  <a:schemeClr val="accent2"/>
                </a:solidFill>
                <a:hlinkClick r:id="rId9" invalidUrl="" action="" tgtFrame="" tooltip="" history="1" highlightClick="0" endSnd="0">
                  <a:extLst>
                    <a:ext uri="{A12FA001-AC4F-418D-AE19-62706E023703}">
                      <ahyp:hlinkClr xmlns:ahyp="http://schemas.microsoft.com/office/drawing/2018/hyperlinkcolor" val="tx"/>
                    </a:ext>
                  </a:extLst>
                </a:hlinkClick>
              </a:rPr>
              <a:t>arxiv.org/pdf/2606.03895</a:t>
            </a:r>
            <a:endParaRPr lang="en-US" sz="1400" dirty="0"/>
          </a:p>
          <a:p>
            <a:pPr indent="0" marL="0">
              <a:buNone/>
            </a:pPr>
            <a:r>
              <a:rPr lang="en-US" sz="1400" b="1" dirty="0">
                <a:solidFill>
                  <a:schemeClr val="tx1"/>
                </a:solidFill>
              </a:rPr>
              <a:t>Temporal + OpenAI Agents SDK</a:t>
            </a:r>
            <a:endParaRPr lang="en-US" sz="1400" dirty="0"/>
          </a:p>
          <a:p>
            <a:pPr indent="0" marL="0">
              <a:spcAft>
                <a:spcPts val="600"/>
              </a:spcAft>
              <a:buNone/>
            </a:pPr>
            <a:r>
              <a:rPr lang="en-US" sz="1000" u="sng" dirty="0">
                <a:solidFill>
                  <a:schemeClr val="accent2"/>
                </a:solidFill>
                <a:hlinkClick r:id="rId10" invalidUrl="" action="" tgtFrame="" tooltip="" history="1" highlightClick="0" endSnd="0">
                  <a:extLst>
                    <a:ext uri="{A12FA001-AC4F-418D-AE19-62706E023703}">
                      <ahyp:hlinkClr xmlns:ahyp="http://schemas.microsoft.com/office/drawing/2018/hyperlinkcolor" val="tx"/>
                    </a:ext>
                  </a:extLst>
                </a:hlinkClick>
              </a:rPr>
              <a:t>temporal.io/blog/announcing-openai-agents-sdk-integration</a:t>
            </a:r>
            <a:endParaRPr lang="en-US" sz="1400" dirty="0"/>
          </a:p>
        </p:txBody>
      </p:sp>
      <p:sp>
        <p:nvSpPr>
          <p:cNvPr id="4" name="t443"/>
          <p:cNvSpPr txBox="1"/>
          <p:nvPr/>
        </p:nvSpPr>
        <p:spPr>
          <a:xfrm>
            <a:off x="6217920" y="1325880"/>
            <a:ext cx="5394960" cy="4937760"/>
          </a:xfrm>
          <a:prstGeom prst="rect">
            <a:avLst/>
          </a:prstGeom>
          <a:noFill/>
          <a:ln/>
        </p:spPr>
        <p:txBody>
          <a:bodyPr wrap="square" lIns="0" tIns="0" rIns="0" bIns="0" rtlCol="0" anchor="t"/>
          <a:lstStyle/>
          <a:p>
            <a:pPr indent="0" marL="0">
              <a:buNone/>
            </a:pPr>
            <a:r>
              <a:rPr lang="en-US" sz="1400" b="1" dirty="0">
                <a:solidFill>
                  <a:schemeClr val="tx1"/>
                </a:solidFill>
              </a:rPr>
              <a:t>Restate: resilient serverless agents</a:t>
            </a:r>
            <a:endParaRPr lang="en-US" sz="1400" dirty="0"/>
          </a:p>
          <a:p>
            <a:pPr indent="0" marL="0">
              <a:spcAft>
                <a:spcPts val="600"/>
              </a:spcAft>
              <a:buNone/>
            </a:pPr>
            <a:r>
              <a:rPr lang="en-US" sz="1000" u="sng" dirty="0">
                <a:solidFill>
                  <a:schemeClr val="accent2"/>
                </a:solidFill>
                <a:hlinkClick r:id="rId11" invalidUrl="" action="" tgtFrame="" tooltip="" history="1" highlightClick="0" endSnd="0">
                  <a:extLst>
                    <a:ext uri="{A12FA001-AC4F-418D-AE19-62706E023703}">
                      <ahyp:hlinkClr xmlns:ahyp="http://schemas.microsoft.com/office/drawing/2018/hyperlinkcolor" val="tx"/>
                    </a:ext>
                  </a:extLst>
                </a:hlinkClick>
              </a:rPr>
              <a:t>restate.dev/blog/resilient-serverless-agents</a:t>
            </a:r>
            <a:endParaRPr lang="en-US" sz="1400" dirty="0"/>
          </a:p>
          <a:p>
            <a:pPr indent="0" marL="0">
              <a:buNone/>
            </a:pPr>
            <a:r>
              <a:rPr lang="en-US" sz="1400" b="1" dirty="0">
                <a:solidFill>
                  <a:schemeClr val="tx1"/>
                </a:solidFill>
              </a:rPr>
              <a:t>DBOS</a:t>
            </a:r>
            <a:endParaRPr lang="en-US" sz="1400" dirty="0"/>
          </a:p>
          <a:p>
            <a:pPr indent="0" marL="0">
              <a:spcAft>
                <a:spcPts val="600"/>
              </a:spcAft>
              <a:buNone/>
            </a:pPr>
            <a:r>
              <a:rPr lang="en-US" sz="1000" u="sng" dirty="0">
                <a:solidFill>
                  <a:schemeClr val="accent2"/>
                </a:solidFill>
                <a:hlinkClick r:id="rId12" invalidUrl="" action="" tgtFrame="" tooltip="" history="1" highlightClick="0" endSnd="0">
                  <a:extLst>
                    <a:ext uri="{A12FA001-AC4F-418D-AE19-62706E023703}">
                      <ahyp:hlinkClr xmlns:ahyp="http://schemas.microsoft.com/office/drawing/2018/hyperlinkcolor" val="tx"/>
                    </a:ext>
                  </a:extLst>
                </a:hlinkClick>
              </a:rPr>
              <a:t>dbos.dev/</a:t>
            </a:r>
            <a:endParaRPr lang="en-US" sz="1400" dirty="0"/>
          </a:p>
          <a:p>
            <a:pPr indent="0" marL="0">
              <a:buNone/>
            </a:pPr>
            <a:r>
              <a:rPr lang="en-US" sz="1400" b="1" dirty="0">
                <a:solidFill>
                  <a:schemeClr val="tx1"/>
                </a:solidFill>
              </a:rPr>
              <a:t>Microsoft durable agents</a:t>
            </a:r>
            <a:endParaRPr lang="en-US" sz="1400" dirty="0"/>
          </a:p>
          <a:p>
            <a:pPr indent="0" marL="0">
              <a:spcAft>
                <a:spcPts val="600"/>
              </a:spcAft>
              <a:buNone/>
            </a:pPr>
            <a:r>
              <a:rPr lang="en-US" sz="1000" u="sng" dirty="0">
                <a:solidFill>
                  <a:schemeClr val="accent2"/>
                </a:solidFill>
                <a:hlinkClick r:id="rId13" invalidUrl="" action="" tgtFrame="" tooltip="" history="1" highlightClick="0" endSnd="0">
                  <a:extLst>
                    <a:ext uri="{A12FA001-AC4F-418D-AE19-62706E023703}">
                      <ahyp:hlinkClr xmlns:ahyp="http://schemas.microsoft.com/office/drawing/2018/hyperlinkcolor" val="tx"/>
                    </a:ext>
                  </a:extLst>
                </a:hlinkClick>
              </a:rPr>
              <a:t>learn.microsoft.com/en-us/azure/durable-task/sdks/durable-agents-microsoft-agent-framework</a:t>
            </a:r>
            <a:endParaRPr lang="en-US" sz="1400" dirty="0"/>
          </a:p>
          <a:p>
            <a:pPr indent="0" marL="0">
              <a:buNone/>
            </a:pPr>
            <a:r>
              <a:rPr lang="en-US" sz="1400" b="1" dirty="0">
                <a:solidFill>
                  <a:schemeClr val="tx1"/>
                </a:solidFill>
              </a:rPr>
              <a:t>Cloudflare long-running agents</a:t>
            </a:r>
            <a:endParaRPr lang="en-US" sz="1400" dirty="0"/>
          </a:p>
          <a:p>
            <a:pPr indent="0" marL="0">
              <a:spcAft>
                <a:spcPts val="600"/>
              </a:spcAft>
              <a:buNone/>
            </a:pPr>
            <a:r>
              <a:rPr lang="en-US" sz="1000" u="sng" dirty="0">
                <a:solidFill>
                  <a:schemeClr val="accent2"/>
                </a:solidFill>
                <a:hlinkClick r:id="rId14" invalidUrl="" action="" tgtFrame="" tooltip="" history="1" highlightClick="0" endSnd="0">
                  <a:extLst>
                    <a:ext uri="{A12FA001-AC4F-418D-AE19-62706E023703}">
                      <ahyp:hlinkClr xmlns:ahyp="http://schemas.microsoft.com/office/drawing/2018/hyperlinkcolor" val="tx"/>
                    </a:ext>
                  </a:extLst>
                </a:hlinkClick>
              </a:rPr>
              <a:t>developers.cloudflare.com/agents/concepts/agentic-patterns/long-running-agents/</a:t>
            </a:r>
            <a:endParaRPr lang="en-US" sz="1400" dirty="0"/>
          </a:p>
          <a:p>
            <a:pPr indent="0" marL="0">
              <a:buNone/>
            </a:pPr>
            <a:r>
              <a:rPr lang="en-US" sz="1400" b="1" dirty="0">
                <a:solidFill>
                  <a:schemeClr val="tx1"/>
                </a:solidFill>
              </a:rPr>
              <a:t>LangGraph checkpointers</a:t>
            </a:r>
            <a:endParaRPr lang="en-US" sz="1400" dirty="0"/>
          </a:p>
          <a:p>
            <a:pPr indent="0" marL="0">
              <a:spcAft>
                <a:spcPts val="600"/>
              </a:spcAft>
              <a:buNone/>
            </a:pPr>
            <a:r>
              <a:rPr lang="en-US" sz="1000" u="sng" dirty="0">
                <a:solidFill>
                  <a:schemeClr val="accent2"/>
                </a:solidFill>
                <a:hlinkClick r:id="rId15" invalidUrl="" action="" tgtFrame="" tooltip="" history="1" highlightClick="0" endSnd="0">
                  <a:extLst>
                    <a:ext uri="{A12FA001-AC4F-418D-AE19-62706E023703}">
                      <ahyp:hlinkClr xmlns:ahyp="http://schemas.microsoft.com/office/drawing/2018/hyperlinkcolor" val="tx"/>
                    </a:ext>
                  </a:extLst>
                </a:hlinkClick>
              </a:rPr>
              <a:t>docs.langchain.com/oss/python/langgraph/checkpointers</a:t>
            </a:r>
            <a:endParaRPr lang="en-US" sz="1400" dirty="0"/>
          </a:p>
          <a:p>
            <a:pPr indent="0" marL="0">
              <a:buNone/>
            </a:pPr>
            <a:r>
              <a:rPr lang="en-US" sz="1400" b="1" dirty="0">
                <a:solidFill>
                  <a:schemeClr val="tx1"/>
                </a:solidFill>
              </a:rPr>
              <a:t>Claude Agent SDK sessions</a:t>
            </a:r>
            <a:endParaRPr lang="en-US" sz="1400" dirty="0"/>
          </a:p>
          <a:p>
            <a:pPr indent="0" marL="0">
              <a:spcAft>
                <a:spcPts val="600"/>
              </a:spcAft>
              <a:buNone/>
            </a:pPr>
            <a:r>
              <a:rPr lang="en-US" sz="1000" u="sng" dirty="0">
                <a:solidFill>
                  <a:schemeClr val="accent2"/>
                </a:solidFill>
                <a:hlinkClick r:id="rId16" invalidUrl="" action="" tgtFrame="" tooltip="" history="1" highlightClick="0" endSnd="0">
                  <a:extLst>
                    <a:ext uri="{A12FA001-AC4F-418D-AE19-62706E023703}">
                      <ahyp:hlinkClr xmlns:ahyp="http://schemas.microsoft.com/office/drawing/2018/hyperlinkcolor" val="tx"/>
                    </a:ext>
                  </a:extLst>
                </a:hlinkClick>
              </a:rPr>
              <a:t>code.claude.com/docs/en/agent-sdk/sessions</a:t>
            </a:r>
            <a:endParaRPr lang="en-US" sz="1400" dirty="0"/>
          </a:p>
          <a:p>
            <a:pPr indent="0" marL="0">
              <a:buNone/>
            </a:pPr>
            <a:r>
              <a:rPr lang="en-US" sz="1400" b="1" dirty="0">
                <a:solidFill>
                  <a:schemeClr val="tx1"/>
                </a:solidFill>
              </a:rPr>
              <a:t>Claude Code agent teams</a:t>
            </a:r>
            <a:endParaRPr lang="en-US" sz="1400" dirty="0"/>
          </a:p>
          <a:p>
            <a:pPr indent="0" marL="0">
              <a:spcAft>
                <a:spcPts val="600"/>
              </a:spcAft>
              <a:buNone/>
            </a:pPr>
            <a:r>
              <a:rPr lang="en-US" sz="1000" u="sng" dirty="0">
                <a:solidFill>
                  <a:schemeClr val="accent2"/>
                </a:solidFill>
                <a:hlinkClick r:id="rId17" invalidUrl="" action="" tgtFrame="" tooltip="" history="1" highlightClick="0" endSnd="0">
                  <a:extLst>
                    <a:ext uri="{A12FA001-AC4F-418D-AE19-62706E023703}">
                      <ahyp:hlinkClr xmlns:ahyp="http://schemas.microsoft.com/office/drawing/2018/hyperlinkcolor" val="tx"/>
                    </a:ext>
                  </a:extLst>
                </a:hlinkClick>
              </a:rPr>
              <a:t>code.claude.com/docs/en/agent-teams</a:t>
            </a:r>
            <a:endParaRPr lang="en-US" sz="1400" dirty="0"/>
          </a:p>
          <a:p>
            <a:pPr indent="0" marL="0">
              <a:buNone/>
            </a:pPr>
            <a:r>
              <a:rPr lang="en-US" sz="1400" b="1" dirty="0">
                <a:solidFill>
                  <a:schemeClr val="tx1"/>
                </a:solidFill>
              </a:rPr>
              <a:t>Manus: context engineering</a:t>
            </a:r>
            <a:endParaRPr lang="en-US" sz="1400" dirty="0"/>
          </a:p>
          <a:p>
            <a:pPr indent="0" marL="0">
              <a:spcAft>
                <a:spcPts val="600"/>
              </a:spcAft>
              <a:buNone/>
            </a:pPr>
            <a:r>
              <a:rPr lang="en-US" sz="1000" u="sng" dirty="0">
                <a:solidFill>
                  <a:schemeClr val="accent2"/>
                </a:solidFill>
                <a:hlinkClick r:id="rId18" invalidUrl="" action="" tgtFrame="" tooltip="" history="1" highlightClick="0" endSnd="0">
                  <a:extLst>
                    <a:ext uri="{A12FA001-AC4F-418D-AE19-62706E023703}">
                      <ahyp:hlinkClr xmlns:ahyp="http://schemas.microsoft.com/office/drawing/2018/hyperlinkcolor" val="tx"/>
                    </a:ext>
                  </a:extLst>
                </a:hlinkClick>
              </a:rPr>
              <a:t>manus.im/blog/Context-Engineering-for-AI-Agents-Lessons-from-Building-Manus</a:t>
            </a:r>
            <a:endParaRPr lang="en-US" sz="1400" dirty="0"/>
          </a:p>
          <a:p>
            <a:pPr indent="0" marL="0">
              <a:buNone/>
            </a:pPr>
            <a:r>
              <a:rPr lang="en-US" sz="1400" b="1" dirty="0">
                <a:solidFill>
                  <a:schemeClr val="tx1"/>
                </a:solidFill>
              </a:rPr>
              <a:t>AutoGen Core</a:t>
            </a:r>
            <a:endParaRPr lang="en-US" sz="1400" dirty="0"/>
          </a:p>
          <a:p>
            <a:pPr indent="0" marL="0">
              <a:spcAft>
                <a:spcPts val="600"/>
              </a:spcAft>
              <a:buNone/>
            </a:pPr>
            <a:r>
              <a:rPr lang="en-US" sz="1000" u="sng" dirty="0">
                <a:solidFill>
                  <a:schemeClr val="accent2"/>
                </a:solidFill>
                <a:hlinkClick r:id="rId19" invalidUrl="" action="" tgtFrame="" tooltip="" history="1" highlightClick="0" endSnd="0">
                  <a:extLst>
                    <a:ext uri="{A12FA001-AC4F-418D-AE19-62706E023703}">
                      <ahyp:hlinkClr xmlns:ahyp="http://schemas.microsoft.com/office/drawing/2018/hyperlinkcolor" val="tx"/>
                    </a:ext>
                  </a:extLst>
                </a:hlinkClick>
              </a:rPr>
              <a:t>microsoft.github.io/autogen/stable//user-guide/core-user-guide/index.html</a:t>
            </a:r>
            <a:endParaRPr lang="en-US" sz="1400" dirty="0"/>
          </a:p>
          <a:p>
            <a:pPr indent="0" marL="0">
              <a:buNone/>
            </a:pPr>
            <a:r>
              <a:rPr lang="en-US" sz="1400" b="1" dirty="0">
                <a:solidFill>
                  <a:schemeClr val="tx1"/>
                </a:solidFill>
              </a:rPr>
              <a:t>Crab: checkpoint/fork sandboxes</a:t>
            </a:r>
            <a:endParaRPr lang="en-US" sz="1400" dirty="0"/>
          </a:p>
          <a:p>
            <a:pPr indent="0" marL="0">
              <a:spcAft>
                <a:spcPts val="600"/>
              </a:spcAft>
              <a:buNone/>
            </a:pPr>
            <a:r>
              <a:rPr lang="en-US" sz="1000" u="sng" dirty="0">
                <a:solidFill>
                  <a:schemeClr val="accent2"/>
                </a:solidFill>
                <a:hlinkClick r:id="rId20" invalidUrl="" action="" tgtFrame="" tooltip="" history="1" highlightClick="0" endSnd="0">
                  <a:extLst>
                    <a:ext uri="{A12FA001-AC4F-418D-AE19-62706E023703}">
                      <ahyp:hlinkClr xmlns:ahyp="http://schemas.microsoft.com/office/drawing/2018/hyperlinkcolor" val="tx"/>
                    </a:ext>
                  </a:extLst>
                </a:hlinkClick>
              </a:rPr>
              <a:t>arxiv.org/html/2604.28138v1</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Phosphor">
  <a:themeElements>
    <a:clrScheme name="Phosphor">
      <a:dk1>
        <a:srgbClr val="1C2128"/>
      </a:dk1>
      <a:lt1>
        <a:srgbClr val="FFFFFF"/>
      </a:lt1>
      <a:dk2>
        <a:srgbClr val="33414F"/>
      </a:dk2>
      <a:lt2>
        <a:srgbClr val="EEF1F4"/>
      </a:lt2>
      <a:accent1>
        <a:srgbClr val="E8A33D"/>
      </a:accent1>
      <a:accent2>
        <a:srgbClr val="2A9D8F"/>
      </a:accent2>
      <a:accent3>
        <a:srgbClr val="6B7B8C"/>
      </a:accent3>
      <a:accent4>
        <a:srgbClr val="C8553D"/>
      </a:accent4>
      <a:accent5>
        <a:srgbClr val="F6E3C1"/>
      </a:accent5>
      <a:accent6>
        <a:srgbClr val="D5ECE9"/>
      </a:accent6>
      <a:hlink>
        <a:srgbClr val="2A9D8F"/>
      </a:hlink>
      <a:folHlink>
        <a:srgbClr val="6B7B8C"/>
      </a:folHlink>
    </a:clrScheme>
    <a:fontScheme name="Phosph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work-packet: Agents as Processes</dc:title>
  <dc:subject>PptxGenJS Presentation</dc:subject>
  <dc:creator>PptxGenJS</dc:creator>
  <cp:lastModifiedBy>PptxGenJS</cp:lastModifiedBy>
  <cp:revision>1</cp:revision>
  <dcterms:created xsi:type="dcterms:W3CDTF">2026-10-21T16:21:00Z</dcterms:created>
  <dcterms:modified xsi:type="dcterms:W3CDTF">2026-10-21T16:21:00Z</dcterms:modified>
</cp:coreProperties>
</file>
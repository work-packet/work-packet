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a14418f-4c6a-0f81-31e2-c3e98fa0590a}">
          <p14:sldIdLst>
            <p14:sldId id="256"/>
            <p14:sldId id="257"/>
          </p14:sldIdLst>
        </p14:section>
        <p14:section name="Tokens and quota" id="{6f1d1cd6-371c-9ac1-0b23-7d1ed744de83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Visibility" id="{da6c2033-6b20-c3d3-2976-01b69e6fab4c}">
          <p14:sldIdLst>
            <p14:sldId id="264"/>
            <p14:sldId id="265"/>
            <p14:sldId id="266"/>
            <p14:sldId id="267"/>
          </p14:sldIdLst>
        </p14:section>
        <p14:section name="Many projects" id="{b86a0053-9791-4ac2-9942-3eca2fb574ed}">
          <p14:sldIdLst>
            <p14:sldId id="268"/>
            <p14:sldId id="269"/>
            <p14:sldId id="270"/>
          </p14:sldIdLst>
        </p14:section>
        <p14:section name="Close" id="{04d2f79a-78b5-49ff-1d2b-b8cfc6d845b9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1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128"/>
                </a:solidFill>
                <a:latin typeface="+mn-lt"/>
              </a:rPr>
              <a:t>Context per call (k tokens)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Monolithic, 1M model default (compacts near 1M)</c:v>
                </c:pt>
              </c:strCache>
            </c:strRef>
          </c:tx>
          <c:spPr>
            <a:solidFill>
              <a:srgbClr val="C8553D"/>
            </a:solidFill>
            <a:ln w="1905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12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Sheet1!$A$2:$A$399</c:f>
              <c:multiLvlStrCache>
                <c:ptCount val="398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200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400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>600</c:v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>800</c:v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>1000</c:v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>1200</c:v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>1400</c:v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</c:lvl>
              </c:multiLvlStrCache>
            </c:multiLvlStrRef>
          </c:cat>
          <c:val>
            <c:numRef>
              <c:f>Sheet1!$B$2:$B$399</c:f>
              <c:numCache>
                <c:formatCode>General</c:formatCode>
                <c:ptCount val="398"/>
                <c:pt idx="0">
                  <c:v>16.839</c:v>
                </c:pt>
                <c:pt idx="1">
                  <c:v>49.348</c:v>
                </c:pt>
                <c:pt idx="2">
                  <c:v>67.279</c:v>
                </c:pt>
                <c:pt idx="3">
                  <c:v>79.841</c:v>
                </c:pt>
                <c:pt idx="4">
                  <c:v>90.789</c:v>
                </c:pt>
                <c:pt idx="5">
                  <c:v>99.572</c:v>
                </c:pt>
                <c:pt idx="6">
                  <c:v>113.662</c:v>
                </c:pt>
                <c:pt idx="7">
                  <c:v>119.784</c:v>
                </c:pt>
                <c:pt idx="8">
                  <c:v>129.829</c:v>
                </c:pt>
                <c:pt idx="9">
                  <c:v>135.269</c:v>
                </c:pt>
                <c:pt idx="10">
                  <c:v>137.44</c:v>
                </c:pt>
                <c:pt idx="11">
                  <c:v>142.504</c:v>
                </c:pt>
                <c:pt idx="12">
                  <c:v>147.876</c:v>
                </c:pt>
                <c:pt idx="13">
                  <c:v>149.853</c:v>
                </c:pt>
                <c:pt idx="14">
                  <c:v>157.814</c:v>
                </c:pt>
                <c:pt idx="15">
                  <c:v>160.902</c:v>
                </c:pt>
                <c:pt idx="16">
                  <c:v>170.855</c:v>
                </c:pt>
                <c:pt idx="17">
                  <c:v>182.618</c:v>
                </c:pt>
                <c:pt idx="18">
                  <c:v>190.336</c:v>
                </c:pt>
                <c:pt idx="19">
                  <c:v>196.139</c:v>
                </c:pt>
                <c:pt idx="20">
                  <c:v>198.889</c:v>
                </c:pt>
                <c:pt idx="21">
                  <c:v>202.796</c:v>
                </c:pt>
                <c:pt idx="22">
                  <c:v>204.905</c:v>
                </c:pt>
                <c:pt idx="23">
                  <c:v>210.66</c:v>
                </c:pt>
                <c:pt idx="24">
                  <c:v>221.615</c:v>
                </c:pt>
                <c:pt idx="25">
                  <c:v>236.429</c:v>
                </c:pt>
                <c:pt idx="26">
                  <c:v>246.483</c:v>
                </c:pt>
                <c:pt idx="27">
                  <c:v>255.721</c:v>
                </c:pt>
                <c:pt idx="28">
                  <c:v>264.49</c:v>
                </c:pt>
                <c:pt idx="29">
                  <c:v>269.581</c:v>
                </c:pt>
                <c:pt idx="30">
                  <c:v>275.775</c:v>
                </c:pt>
                <c:pt idx="31">
                  <c:v>287.834</c:v>
                </c:pt>
                <c:pt idx="32">
                  <c:v>291.584</c:v>
                </c:pt>
                <c:pt idx="33">
                  <c:v>297.838</c:v>
                </c:pt>
                <c:pt idx="34">
                  <c:v>302.153</c:v>
                </c:pt>
                <c:pt idx="35">
                  <c:v>306.752</c:v>
                </c:pt>
                <c:pt idx="36">
                  <c:v>309.962</c:v>
                </c:pt>
                <c:pt idx="37">
                  <c:v>315.79</c:v>
                </c:pt>
                <c:pt idx="38">
                  <c:v>321.923</c:v>
                </c:pt>
                <c:pt idx="39">
                  <c:v>330.052</c:v>
                </c:pt>
                <c:pt idx="40">
                  <c:v>335.164</c:v>
                </c:pt>
                <c:pt idx="41">
                  <c:v>337.579</c:v>
                </c:pt>
                <c:pt idx="42">
                  <c:v>345.776</c:v>
                </c:pt>
                <c:pt idx="43">
                  <c:v>351.201</c:v>
                </c:pt>
                <c:pt idx="44">
                  <c:v>357.211</c:v>
                </c:pt>
                <c:pt idx="45">
                  <c:v>361.022</c:v>
                </c:pt>
                <c:pt idx="46">
                  <c:v>366.788</c:v>
                </c:pt>
                <c:pt idx="47">
                  <c:v>373.076</c:v>
                </c:pt>
                <c:pt idx="48">
                  <c:v>378.639</c:v>
                </c:pt>
                <c:pt idx="49">
                  <c:v>383.064</c:v>
                </c:pt>
                <c:pt idx="50">
                  <c:v>386.94</c:v>
                </c:pt>
                <c:pt idx="51">
                  <c:v>390.04</c:v>
                </c:pt>
                <c:pt idx="52">
                  <c:v>391.87</c:v>
                </c:pt>
                <c:pt idx="53">
                  <c:v>393.679</c:v>
                </c:pt>
                <c:pt idx="54">
                  <c:v>396.868</c:v>
                </c:pt>
                <c:pt idx="55">
                  <c:v>406.081</c:v>
                </c:pt>
                <c:pt idx="56">
                  <c:v>411.169</c:v>
                </c:pt>
                <c:pt idx="57">
                  <c:v>424.434</c:v>
                </c:pt>
                <c:pt idx="58">
                  <c:v>428.55</c:v>
                </c:pt>
                <c:pt idx="59">
                  <c:v>434.372</c:v>
                </c:pt>
                <c:pt idx="60">
                  <c:v>439.089</c:v>
                </c:pt>
                <c:pt idx="61">
                  <c:v>443.142</c:v>
                </c:pt>
                <c:pt idx="62">
                  <c:v>446.444</c:v>
                </c:pt>
                <c:pt idx="63">
                  <c:v>449.619</c:v>
                </c:pt>
                <c:pt idx="64">
                  <c:v>454.782</c:v>
                </c:pt>
                <c:pt idx="65">
                  <c:v>461.396</c:v>
                </c:pt>
                <c:pt idx="66">
                  <c:v>467.044</c:v>
                </c:pt>
                <c:pt idx="67">
                  <c:v>473.767</c:v>
                </c:pt>
                <c:pt idx="68">
                  <c:v>483.322</c:v>
                </c:pt>
                <c:pt idx="69">
                  <c:v>489.843</c:v>
                </c:pt>
                <c:pt idx="70">
                  <c:v>493.805</c:v>
                </c:pt>
                <c:pt idx="71">
                  <c:v>498.745</c:v>
                </c:pt>
                <c:pt idx="72">
                  <c:v>503.528</c:v>
                </c:pt>
                <c:pt idx="73">
                  <c:v>509.035</c:v>
                </c:pt>
                <c:pt idx="74">
                  <c:v>526.064</c:v>
                </c:pt>
                <c:pt idx="75">
                  <c:v>531.687</c:v>
                </c:pt>
                <c:pt idx="76">
                  <c:v>535.008</c:v>
                </c:pt>
                <c:pt idx="77">
                  <c:v>542.963</c:v>
                </c:pt>
                <c:pt idx="78">
                  <c:v>547.851</c:v>
                </c:pt>
                <c:pt idx="79">
                  <c:v>565.509</c:v>
                </c:pt>
                <c:pt idx="80">
                  <c:v>573.286</c:v>
                </c:pt>
                <c:pt idx="81">
                  <c:v>582.034</c:v>
                </c:pt>
                <c:pt idx="82">
                  <c:v>588.746</c:v>
                </c:pt>
                <c:pt idx="83">
                  <c:v>591.895</c:v>
                </c:pt>
                <c:pt idx="84">
                  <c:v>596.453</c:v>
                </c:pt>
                <c:pt idx="85">
                  <c:v>600.646</c:v>
                </c:pt>
                <c:pt idx="86">
                  <c:v>604.286</c:v>
                </c:pt>
                <c:pt idx="87">
                  <c:v>607.731</c:v>
                </c:pt>
                <c:pt idx="88">
                  <c:v>610.964</c:v>
                </c:pt>
                <c:pt idx="89">
                  <c:v>615.343</c:v>
                </c:pt>
                <c:pt idx="90">
                  <c:v>618.783</c:v>
                </c:pt>
                <c:pt idx="91">
                  <c:v>627.981</c:v>
                </c:pt>
                <c:pt idx="92">
                  <c:v>632.147</c:v>
                </c:pt>
                <c:pt idx="93">
                  <c:v>648.978</c:v>
                </c:pt>
                <c:pt idx="94">
                  <c:v>655.995</c:v>
                </c:pt>
                <c:pt idx="95">
                  <c:v>661.178</c:v>
                </c:pt>
                <c:pt idx="96">
                  <c:v>670.393</c:v>
                </c:pt>
                <c:pt idx="97">
                  <c:v>675.502</c:v>
                </c:pt>
                <c:pt idx="98">
                  <c:v>685.531</c:v>
                </c:pt>
                <c:pt idx="99">
                  <c:v>690.736</c:v>
                </c:pt>
                <c:pt idx="100">
                  <c:v>693.353</c:v>
                </c:pt>
                <c:pt idx="101">
                  <c:v>697.71</c:v>
                </c:pt>
                <c:pt idx="102">
                  <c:v>705.279</c:v>
                </c:pt>
                <c:pt idx="103">
                  <c:v>713.647</c:v>
                </c:pt>
                <c:pt idx="104">
                  <c:v>716.597</c:v>
                </c:pt>
                <c:pt idx="105">
                  <c:v>720.839</c:v>
                </c:pt>
                <c:pt idx="106">
                  <c:v>728.074</c:v>
                </c:pt>
                <c:pt idx="107">
                  <c:v>733.423</c:v>
                </c:pt>
                <c:pt idx="108">
                  <c:v>743.19</c:v>
                </c:pt>
                <c:pt idx="109">
                  <c:v>746.808</c:v>
                </c:pt>
                <c:pt idx="110">
                  <c:v>752.034</c:v>
                </c:pt>
                <c:pt idx="111">
                  <c:v>759.022</c:v>
                </c:pt>
                <c:pt idx="112">
                  <c:v>765.23</c:v>
                </c:pt>
                <c:pt idx="113">
                  <c:v>770.739</c:v>
                </c:pt>
                <c:pt idx="114">
                  <c:v>774.359</c:v>
                </c:pt>
                <c:pt idx="115">
                  <c:v>777.907</c:v>
                </c:pt>
                <c:pt idx="116">
                  <c:v>782.935</c:v>
                </c:pt>
                <c:pt idx="117">
                  <c:v>785.146</c:v>
                </c:pt>
                <c:pt idx="118">
                  <c:v>788.381</c:v>
                </c:pt>
                <c:pt idx="119">
                  <c:v>791.82</c:v>
                </c:pt>
                <c:pt idx="120">
                  <c:v>798.092</c:v>
                </c:pt>
                <c:pt idx="121">
                  <c:v>803.579</c:v>
                </c:pt>
                <c:pt idx="122">
                  <c:v>806.464</c:v>
                </c:pt>
                <c:pt idx="123">
                  <c:v>808.58</c:v>
                </c:pt>
                <c:pt idx="124">
                  <c:v>810.978</c:v>
                </c:pt>
                <c:pt idx="125">
                  <c:v>815.94</c:v>
                </c:pt>
                <c:pt idx="126">
                  <c:v>819.323</c:v>
                </c:pt>
                <c:pt idx="127">
                  <c:v>820.904</c:v>
                </c:pt>
                <c:pt idx="128">
                  <c:v>823.099</c:v>
                </c:pt>
                <c:pt idx="129">
                  <c:v>825.223</c:v>
                </c:pt>
                <c:pt idx="130">
                  <c:v>828.528</c:v>
                </c:pt>
                <c:pt idx="131">
                  <c:v>835.951</c:v>
                </c:pt>
                <c:pt idx="132">
                  <c:v>848.241</c:v>
                </c:pt>
                <c:pt idx="133">
                  <c:v>853.751</c:v>
                </c:pt>
                <c:pt idx="134">
                  <c:v>858.108</c:v>
                </c:pt>
                <c:pt idx="135">
                  <c:v>864.679</c:v>
                </c:pt>
                <c:pt idx="136">
                  <c:v>872.403</c:v>
                </c:pt>
                <c:pt idx="137">
                  <c:v>878.768</c:v>
                </c:pt>
                <c:pt idx="138">
                  <c:v>884.256</c:v>
                </c:pt>
                <c:pt idx="139">
                  <c:v>887.19</c:v>
                </c:pt>
                <c:pt idx="140">
                  <c:v>892.868</c:v>
                </c:pt>
                <c:pt idx="141">
                  <c:v>36.839</c:v>
                </c:pt>
                <c:pt idx="142">
                  <c:v>47.272</c:v>
                </c:pt>
                <c:pt idx="143">
                  <c:v>57.203</c:v>
                </c:pt>
                <c:pt idx="144">
                  <c:v>61.408</c:v>
                </c:pt>
                <c:pt idx="145">
                  <c:v>66.669</c:v>
                </c:pt>
                <c:pt idx="146">
                  <c:v>71.7</c:v>
                </c:pt>
                <c:pt idx="147">
                  <c:v>81.096</c:v>
                </c:pt>
                <c:pt idx="148">
                  <c:v>97.384</c:v>
                </c:pt>
                <c:pt idx="149">
                  <c:v>104.08</c:v>
                </c:pt>
                <c:pt idx="150">
                  <c:v>107.271</c:v>
                </c:pt>
                <c:pt idx="151">
                  <c:v>120.536</c:v>
                </c:pt>
                <c:pt idx="152">
                  <c:v>133.643</c:v>
                </c:pt>
                <c:pt idx="153">
                  <c:v>140.298</c:v>
                </c:pt>
                <c:pt idx="154">
                  <c:v>151.758</c:v>
                </c:pt>
                <c:pt idx="155">
                  <c:v>160.113</c:v>
                </c:pt>
                <c:pt idx="156">
                  <c:v>168.645</c:v>
                </c:pt>
                <c:pt idx="157">
                  <c:v>174.349</c:v>
                </c:pt>
                <c:pt idx="158">
                  <c:v>183.096</c:v>
                </c:pt>
                <c:pt idx="159">
                  <c:v>188.961</c:v>
                </c:pt>
                <c:pt idx="160">
                  <c:v>198.279</c:v>
                </c:pt>
                <c:pt idx="161">
                  <c:v>206.745</c:v>
                </c:pt>
                <c:pt idx="162">
                  <c:v>215.742</c:v>
                </c:pt>
                <c:pt idx="163">
                  <c:v>219.522</c:v>
                </c:pt>
                <c:pt idx="164">
                  <c:v>222.918</c:v>
                </c:pt>
                <c:pt idx="165">
                  <c:v>225.56</c:v>
                </c:pt>
                <c:pt idx="166">
                  <c:v>230.783</c:v>
                </c:pt>
                <c:pt idx="167">
                  <c:v>234.714</c:v>
                </c:pt>
                <c:pt idx="168">
                  <c:v>237.845</c:v>
                </c:pt>
                <c:pt idx="169">
                  <c:v>243.134</c:v>
                </c:pt>
                <c:pt idx="170">
                  <c:v>252.312</c:v>
                </c:pt>
                <c:pt idx="171">
                  <c:v>255.134</c:v>
                </c:pt>
                <c:pt idx="172">
                  <c:v>258.657</c:v>
                </c:pt>
                <c:pt idx="173">
                  <c:v>262.002</c:v>
                </c:pt>
                <c:pt idx="174">
                  <c:v>265.093</c:v>
                </c:pt>
                <c:pt idx="175">
                  <c:v>268.788</c:v>
                </c:pt>
                <c:pt idx="176">
                  <c:v>277.374</c:v>
                </c:pt>
                <c:pt idx="177">
                  <c:v>283.057</c:v>
                </c:pt>
                <c:pt idx="178">
                  <c:v>287.795</c:v>
                </c:pt>
                <c:pt idx="179">
                  <c:v>291.223</c:v>
                </c:pt>
                <c:pt idx="180">
                  <c:v>295.899</c:v>
                </c:pt>
                <c:pt idx="181">
                  <c:v>299.689</c:v>
                </c:pt>
                <c:pt idx="182">
                  <c:v>306.369</c:v>
                </c:pt>
                <c:pt idx="183">
                  <c:v>310.221</c:v>
                </c:pt>
                <c:pt idx="184">
                  <c:v>315.526</c:v>
                </c:pt>
                <c:pt idx="185">
                  <c:v>322.214</c:v>
                </c:pt>
                <c:pt idx="186">
                  <c:v>328.263</c:v>
                </c:pt>
                <c:pt idx="187">
                  <c:v>330.663</c:v>
                </c:pt>
                <c:pt idx="188">
                  <c:v>333.387</c:v>
                </c:pt>
                <c:pt idx="189">
                  <c:v>335.963</c:v>
                </c:pt>
                <c:pt idx="190">
                  <c:v>339.774</c:v>
                </c:pt>
                <c:pt idx="191">
                  <c:v>345.045</c:v>
                </c:pt>
                <c:pt idx="192">
                  <c:v>351.379</c:v>
                </c:pt>
                <c:pt idx="193">
                  <c:v>358.559</c:v>
                </c:pt>
                <c:pt idx="194">
                  <c:v>362.373</c:v>
                </c:pt>
                <c:pt idx="195">
                  <c:v>365.308</c:v>
                </c:pt>
                <c:pt idx="196">
                  <c:v>367.981</c:v>
                </c:pt>
                <c:pt idx="197">
                  <c:v>371.665</c:v>
                </c:pt>
                <c:pt idx="198">
                  <c:v>377.207</c:v>
                </c:pt>
                <c:pt idx="199">
                  <c:v>384.859</c:v>
                </c:pt>
                <c:pt idx="200">
                  <c:v>386.32</c:v>
                </c:pt>
                <c:pt idx="201">
                  <c:v>390.756</c:v>
                </c:pt>
                <c:pt idx="202">
                  <c:v>399.671</c:v>
                </c:pt>
                <c:pt idx="203">
                  <c:v>403.358</c:v>
                </c:pt>
                <c:pt idx="204">
                  <c:v>410.163</c:v>
                </c:pt>
                <c:pt idx="205">
                  <c:v>414.689</c:v>
                </c:pt>
                <c:pt idx="206">
                  <c:v>426.9</c:v>
                </c:pt>
                <c:pt idx="207">
                  <c:v>429.85</c:v>
                </c:pt>
                <c:pt idx="208">
                  <c:v>435.059</c:v>
                </c:pt>
                <c:pt idx="209">
                  <c:v>439.347</c:v>
                </c:pt>
                <c:pt idx="210">
                  <c:v>442.186</c:v>
                </c:pt>
                <c:pt idx="211">
                  <c:v>445.57</c:v>
                </c:pt>
                <c:pt idx="212">
                  <c:v>449.035</c:v>
                </c:pt>
                <c:pt idx="213">
                  <c:v>457.785</c:v>
                </c:pt>
                <c:pt idx="214">
                  <c:v>464.475</c:v>
                </c:pt>
                <c:pt idx="215">
                  <c:v>477.848</c:v>
                </c:pt>
                <c:pt idx="216">
                  <c:v>487.921</c:v>
                </c:pt>
                <c:pt idx="217">
                  <c:v>502.237</c:v>
                </c:pt>
                <c:pt idx="218">
                  <c:v>506.219</c:v>
                </c:pt>
                <c:pt idx="219">
                  <c:v>510.992</c:v>
                </c:pt>
                <c:pt idx="220">
                  <c:v>515.616</c:v>
                </c:pt>
                <c:pt idx="221">
                  <c:v>519.911</c:v>
                </c:pt>
                <c:pt idx="222">
                  <c:v>524.558</c:v>
                </c:pt>
                <c:pt idx="223">
                  <c:v>529.029</c:v>
                </c:pt>
                <c:pt idx="224">
                  <c:v>532.878</c:v>
                </c:pt>
                <c:pt idx="225">
                  <c:v>538.692</c:v>
                </c:pt>
                <c:pt idx="226">
                  <c:v>543.472</c:v>
                </c:pt>
                <c:pt idx="227">
                  <c:v>547.922</c:v>
                </c:pt>
                <c:pt idx="228">
                  <c:v>550.991</c:v>
                </c:pt>
                <c:pt idx="229">
                  <c:v>554.447</c:v>
                </c:pt>
                <c:pt idx="230">
                  <c:v>558.145</c:v>
                </c:pt>
                <c:pt idx="231">
                  <c:v>560.277</c:v>
                </c:pt>
                <c:pt idx="232">
                  <c:v>564.652</c:v>
                </c:pt>
                <c:pt idx="233">
                  <c:v>568.283</c:v>
                </c:pt>
                <c:pt idx="234">
                  <c:v>572.7</c:v>
                </c:pt>
                <c:pt idx="235">
                  <c:v>578.099</c:v>
                </c:pt>
                <c:pt idx="236">
                  <c:v>581.966</c:v>
                </c:pt>
                <c:pt idx="237">
                  <c:v>585.602</c:v>
                </c:pt>
                <c:pt idx="238">
                  <c:v>597.338</c:v>
                </c:pt>
                <c:pt idx="239">
                  <c:v>607.081</c:v>
                </c:pt>
                <c:pt idx="240">
                  <c:v>624.02</c:v>
                </c:pt>
                <c:pt idx="241">
                  <c:v>632.999</c:v>
                </c:pt>
                <c:pt idx="242">
                  <c:v>649.363</c:v>
                </c:pt>
                <c:pt idx="243">
                  <c:v>653.304</c:v>
                </c:pt>
                <c:pt idx="244">
                  <c:v>659.347</c:v>
                </c:pt>
                <c:pt idx="245">
                  <c:v>664.301</c:v>
                </c:pt>
                <c:pt idx="246">
                  <c:v>667.796</c:v>
                </c:pt>
                <c:pt idx="247">
                  <c:v>673.528</c:v>
                </c:pt>
                <c:pt idx="248">
                  <c:v>681.716</c:v>
                </c:pt>
                <c:pt idx="249">
                  <c:v>693.931</c:v>
                </c:pt>
                <c:pt idx="250">
                  <c:v>700.662</c:v>
                </c:pt>
                <c:pt idx="251">
                  <c:v>709.278</c:v>
                </c:pt>
                <c:pt idx="252">
                  <c:v>716.496</c:v>
                </c:pt>
                <c:pt idx="253">
                  <c:v>723.222</c:v>
                </c:pt>
                <c:pt idx="254">
                  <c:v>742.462</c:v>
                </c:pt>
                <c:pt idx="255">
                  <c:v>751.99</c:v>
                </c:pt>
                <c:pt idx="256">
                  <c:v>763.482</c:v>
                </c:pt>
                <c:pt idx="257">
                  <c:v>771.984</c:v>
                </c:pt>
                <c:pt idx="258">
                  <c:v>775.293</c:v>
                </c:pt>
                <c:pt idx="259">
                  <c:v>778.089</c:v>
                </c:pt>
                <c:pt idx="260">
                  <c:v>779.678</c:v>
                </c:pt>
                <c:pt idx="261">
                  <c:v>783.287</c:v>
                </c:pt>
                <c:pt idx="262">
                  <c:v>789.77</c:v>
                </c:pt>
                <c:pt idx="263">
                  <c:v>793.373</c:v>
                </c:pt>
                <c:pt idx="264">
                  <c:v>798.69</c:v>
                </c:pt>
                <c:pt idx="265">
                  <c:v>802.833</c:v>
                </c:pt>
                <c:pt idx="266">
                  <c:v>807.603</c:v>
                </c:pt>
                <c:pt idx="267">
                  <c:v>810.565</c:v>
                </c:pt>
                <c:pt idx="268">
                  <c:v>825.723</c:v>
                </c:pt>
                <c:pt idx="269">
                  <c:v>833.521</c:v>
                </c:pt>
                <c:pt idx="270">
                  <c:v>839.282</c:v>
                </c:pt>
                <c:pt idx="271">
                  <c:v>854.303</c:v>
                </c:pt>
                <c:pt idx="272">
                  <c:v>858.718</c:v>
                </c:pt>
                <c:pt idx="273">
                  <c:v>861.163</c:v>
                </c:pt>
                <c:pt idx="274">
                  <c:v>864.547</c:v>
                </c:pt>
                <c:pt idx="275">
                  <c:v>869.483</c:v>
                </c:pt>
                <c:pt idx="276">
                  <c:v>876.884</c:v>
                </c:pt>
                <c:pt idx="277">
                  <c:v>880.402</c:v>
                </c:pt>
                <c:pt idx="278">
                  <c:v>883.177</c:v>
                </c:pt>
                <c:pt idx="279">
                  <c:v>886.249</c:v>
                </c:pt>
                <c:pt idx="280">
                  <c:v>889.732</c:v>
                </c:pt>
                <c:pt idx="281">
                  <c:v>894.72</c:v>
                </c:pt>
                <c:pt idx="282">
                  <c:v>36.839</c:v>
                </c:pt>
                <c:pt idx="283">
                  <c:v>47.501</c:v>
                </c:pt>
                <c:pt idx="284">
                  <c:v>56.324</c:v>
                </c:pt>
                <c:pt idx="285">
                  <c:v>61.555</c:v>
                </c:pt>
                <c:pt idx="286">
                  <c:v>65.216</c:v>
                </c:pt>
                <c:pt idx="287">
                  <c:v>68.654</c:v>
                </c:pt>
                <c:pt idx="288">
                  <c:v>72.362</c:v>
                </c:pt>
                <c:pt idx="289">
                  <c:v>77.094</c:v>
                </c:pt>
                <c:pt idx="290">
                  <c:v>84.129</c:v>
                </c:pt>
                <c:pt idx="291">
                  <c:v>88.51</c:v>
                </c:pt>
                <c:pt idx="292">
                  <c:v>92.281</c:v>
                </c:pt>
                <c:pt idx="293">
                  <c:v>94.157</c:v>
                </c:pt>
                <c:pt idx="294">
                  <c:v>96.808</c:v>
                </c:pt>
                <c:pt idx="295">
                  <c:v>99.711</c:v>
                </c:pt>
                <c:pt idx="296">
                  <c:v>103.24</c:v>
                </c:pt>
                <c:pt idx="297">
                  <c:v>106.908</c:v>
                </c:pt>
                <c:pt idx="298">
                  <c:v>113.997</c:v>
                </c:pt>
                <c:pt idx="299">
                  <c:v>117.983</c:v>
                </c:pt>
                <c:pt idx="300">
                  <c:v>123.298</c:v>
                </c:pt>
                <c:pt idx="301">
                  <c:v>126.007</c:v>
                </c:pt>
                <c:pt idx="302">
                  <c:v>130.114</c:v>
                </c:pt>
                <c:pt idx="303">
                  <c:v>135.183</c:v>
                </c:pt>
                <c:pt idx="304">
                  <c:v>142.874</c:v>
                </c:pt>
                <c:pt idx="305">
                  <c:v>148.257</c:v>
                </c:pt>
                <c:pt idx="306">
                  <c:v>161.374</c:v>
                </c:pt>
                <c:pt idx="307">
                  <c:v>164.85</c:v>
                </c:pt>
                <c:pt idx="308">
                  <c:v>169.426</c:v>
                </c:pt>
                <c:pt idx="309">
                  <c:v>177.463</c:v>
                </c:pt>
                <c:pt idx="310">
                  <c:v>185.535</c:v>
                </c:pt>
                <c:pt idx="311">
                  <c:v>196.006</c:v>
                </c:pt>
                <c:pt idx="312">
                  <c:v>203.21</c:v>
                </c:pt>
                <c:pt idx="313">
                  <c:v>211.715</c:v>
                </c:pt>
                <c:pt idx="314">
                  <c:v>228.473</c:v>
                </c:pt>
                <c:pt idx="315">
                  <c:v>234.423</c:v>
                </c:pt>
                <c:pt idx="316">
                  <c:v>238.375</c:v>
                </c:pt>
                <c:pt idx="317">
                  <c:v>246.49</c:v>
                </c:pt>
                <c:pt idx="318">
                  <c:v>252.336</c:v>
                </c:pt>
                <c:pt idx="319">
                  <c:v>263.216</c:v>
                </c:pt>
                <c:pt idx="320">
                  <c:v>270.892</c:v>
                </c:pt>
                <c:pt idx="321">
                  <c:v>274.939</c:v>
                </c:pt>
                <c:pt idx="322">
                  <c:v>281.996</c:v>
                </c:pt>
                <c:pt idx="323">
                  <c:v>302.61</c:v>
                </c:pt>
                <c:pt idx="324">
                  <c:v>305.386</c:v>
                </c:pt>
                <c:pt idx="325">
                  <c:v>309.154</c:v>
                </c:pt>
                <c:pt idx="326">
                  <c:v>318.392</c:v>
                </c:pt>
                <c:pt idx="327">
                  <c:v>322.971</c:v>
                </c:pt>
                <c:pt idx="328">
                  <c:v>327.96</c:v>
                </c:pt>
                <c:pt idx="329">
                  <c:v>332.184</c:v>
                </c:pt>
                <c:pt idx="330">
                  <c:v>337.419</c:v>
                </c:pt>
                <c:pt idx="331">
                  <c:v>342.4</c:v>
                </c:pt>
                <c:pt idx="332">
                  <c:v>344.951</c:v>
                </c:pt>
                <c:pt idx="333">
                  <c:v>348.902</c:v>
                </c:pt>
                <c:pt idx="334">
                  <c:v>353.951</c:v>
                </c:pt>
                <c:pt idx="335">
                  <c:v>355.89</c:v>
                </c:pt>
                <c:pt idx="336">
                  <c:v>359.657</c:v>
                </c:pt>
                <c:pt idx="337">
                  <c:v>364.799</c:v>
                </c:pt>
                <c:pt idx="338">
                  <c:v>368.341</c:v>
                </c:pt>
                <c:pt idx="339">
                  <c:v>370.937</c:v>
                </c:pt>
                <c:pt idx="340">
                  <c:v>376.063</c:v>
                </c:pt>
                <c:pt idx="341">
                  <c:v>381.012</c:v>
                </c:pt>
                <c:pt idx="342">
                  <c:v>385.066</c:v>
                </c:pt>
                <c:pt idx="343">
                  <c:v>387.996</c:v>
                </c:pt>
                <c:pt idx="344">
                  <c:v>391.954</c:v>
                </c:pt>
                <c:pt idx="345">
                  <c:v>395.789</c:v>
                </c:pt>
                <c:pt idx="346">
                  <c:v>399.318</c:v>
                </c:pt>
                <c:pt idx="347">
                  <c:v>405.106</c:v>
                </c:pt>
                <c:pt idx="348">
                  <c:v>409.829</c:v>
                </c:pt>
                <c:pt idx="349">
                  <c:v>415.174</c:v>
                </c:pt>
                <c:pt idx="350">
                  <c:v>440.541</c:v>
                </c:pt>
                <c:pt idx="351">
                  <c:v>451.518</c:v>
                </c:pt>
                <c:pt idx="352">
                  <c:v>463.977</c:v>
                </c:pt>
                <c:pt idx="353">
                  <c:v>478.745</c:v>
                </c:pt>
                <c:pt idx="354">
                  <c:v>483.442</c:v>
                </c:pt>
                <c:pt idx="355">
                  <c:v>487.929</c:v>
                </c:pt>
                <c:pt idx="356">
                  <c:v>490.945</c:v>
                </c:pt>
                <c:pt idx="357">
                  <c:v>493.838</c:v>
                </c:pt>
                <c:pt idx="358">
                  <c:v>497.592</c:v>
                </c:pt>
                <c:pt idx="359">
                  <c:v>501.482</c:v>
                </c:pt>
                <c:pt idx="360">
                  <c:v>505.766</c:v>
                </c:pt>
                <c:pt idx="361">
                  <c:v>511.143</c:v>
                </c:pt>
                <c:pt idx="362">
                  <c:v>517.429</c:v>
                </c:pt>
                <c:pt idx="363">
                  <c:v>527.371</c:v>
                </c:pt>
                <c:pt idx="364">
                  <c:v>532.974</c:v>
                </c:pt>
                <c:pt idx="365">
                  <c:v>537.201</c:v>
                </c:pt>
                <c:pt idx="366">
                  <c:v>545.792</c:v>
                </c:pt>
                <c:pt idx="367">
                  <c:v>553.121</c:v>
                </c:pt>
                <c:pt idx="368">
                  <c:v>556.177</c:v>
                </c:pt>
                <c:pt idx="369">
                  <c:v>564.553</c:v>
                </c:pt>
                <c:pt idx="370">
                  <c:v>571.175</c:v>
                </c:pt>
                <c:pt idx="371">
                  <c:v>579.313</c:v>
                </c:pt>
                <c:pt idx="372">
                  <c:v>582.121</c:v>
                </c:pt>
                <c:pt idx="373">
                  <c:v>584.291</c:v>
                </c:pt>
                <c:pt idx="374">
                  <c:v>588.433</c:v>
                </c:pt>
                <c:pt idx="375">
                  <c:v>594.872</c:v>
                </c:pt>
                <c:pt idx="376">
                  <c:v>599.227</c:v>
                </c:pt>
                <c:pt idx="377">
                  <c:v>601.129</c:v>
                </c:pt>
                <c:pt idx="378">
                  <c:v>604.734</c:v>
                </c:pt>
                <c:pt idx="379">
                  <c:v>609.284</c:v>
                </c:pt>
                <c:pt idx="380">
                  <c:v>612.848</c:v>
                </c:pt>
                <c:pt idx="381">
                  <c:v>617.284</c:v>
                </c:pt>
                <c:pt idx="382">
                  <c:v>621.942</c:v>
                </c:pt>
                <c:pt idx="383">
                  <c:v>624.978</c:v>
                </c:pt>
                <c:pt idx="384">
                  <c:v>629.83</c:v>
                </c:pt>
                <c:pt idx="385">
                  <c:v>635.7</c:v>
                </c:pt>
                <c:pt idx="386">
                  <c:v>641.476</c:v>
                </c:pt>
                <c:pt idx="387">
                  <c:v>662.769</c:v>
                </c:pt>
                <c:pt idx="388">
                  <c:v>666.238</c:v>
                </c:pt>
                <c:pt idx="389">
                  <c:v>669.951</c:v>
                </c:pt>
                <c:pt idx="390">
                  <c:v>673.087</c:v>
                </c:pt>
                <c:pt idx="391">
                  <c:v>676.24</c:v>
                </c:pt>
                <c:pt idx="392">
                  <c:v>681.658</c:v>
                </c:pt>
                <c:pt idx="393">
                  <c:v>686.065</c:v>
                </c:pt>
                <c:pt idx="394">
                  <c:v>689.825</c:v>
                </c:pt>
                <c:pt idx="395">
                  <c:v>693.944</c:v>
                </c:pt>
                <c:pt idx="396">
                  <c:v>697.611</c:v>
                </c:pt>
                <c:pt idx="397">
                  <c:v>701.336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Monolithic, auto-compacts at 200k</c:v>
                </c:pt>
              </c:strCache>
            </c:strRef>
          </c:tx>
          <c:spPr>
            <a:solidFill>
              <a:srgbClr val="E8A33D"/>
            </a:solidFill>
            <a:ln w="190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12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Sheet1!$A$2:$A$399</c:f>
              <c:multiLvlStrCache>
                <c:ptCount val="398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200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400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>600</c:v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>800</c:v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>1000</c:v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>1200</c:v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>1400</c:v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</c:lvl>
              </c:multiLvlStrCache>
            </c:multiLvlStrRef>
          </c:cat>
          <c:val>
            <c:numRef>
              <c:f>Sheet1!$C$2:$C$399</c:f>
              <c:numCache>
                <c:formatCode>General</c:formatCode>
                <c:ptCount val="398"/>
                <c:pt idx="0">
                  <c:v>16.839</c:v>
                </c:pt>
                <c:pt idx="1">
                  <c:v>49.348</c:v>
                </c:pt>
                <c:pt idx="2">
                  <c:v>67.279</c:v>
                </c:pt>
                <c:pt idx="3">
                  <c:v>79.841</c:v>
                </c:pt>
                <c:pt idx="4">
                  <c:v>90.789</c:v>
                </c:pt>
                <c:pt idx="5">
                  <c:v>99.572</c:v>
                </c:pt>
                <c:pt idx="6">
                  <c:v>113.662</c:v>
                </c:pt>
                <c:pt idx="7">
                  <c:v>119.784</c:v>
                </c:pt>
                <c:pt idx="8">
                  <c:v>129.829</c:v>
                </c:pt>
                <c:pt idx="9">
                  <c:v>135.269</c:v>
                </c:pt>
                <c:pt idx="10">
                  <c:v>137.44</c:v>
                </c:pt>
                <c:pt idx="11">
                  <c:v>142.504</c:v>
                </c:pt>
                <c:pt idx="12">
                  <c:v>147.876</c:v>
                </c:pt>
                <c:pt idx="13">
                  <c:v>149.853</c:v>
                </c:pt>
                <c:pt idx="14">
                  <c:v>157.814</c:v>
                </c:pt>
                <c:pt idx="15">
                  <c:v>160.902</c:v>
                </c:pt>
                <c:pt idx="16">
                  <c:v>170.855</c:v>
                </c:pt>
                <c:pt idx="17">
                  <c:v>182.618</c:v>
                </c:pt>
                <c:pt idx="18">
                  <c:v>190.336</c:v>
                </c:pt>
                <c:pt idx="19">
                  <c:v>196.139</c:v>
                </c:pt>
                <c:pt idx="20">
                  <c:v>198.889</c:v>
                </c:pt>
                <c:pt idx="21">
                  <c:v>37.776</c:v>
                </c:pt>
                <c:pt idx="22">
                  <c:v>39.885</c:v>
                </c:pt>
                <c:pt idx="23">
                  <c:v>45.64</c:v>
                </c:pt>
                <c:pt idx="24">
                  <c:v>56.595</c:v>
                </c:pt>
                <c:pt idx="25">
                  <c:v>71.409</c:v>
                </c:pt>
                <c:pt idx="26">
                  <c:v>81.463</c:v>
                </c:pt>
                <c:pt idx="27">
                  <c:v>90.701</c:v>
                </c:pt>
                <c:pt idx="28">
                  <c:v>99.47</c:v>
                </c:pt>
                <c:pt idx="29">
                  <c:v>104.561</c:v>
                </c:pt>
                <c:pt idx="30">
                  <c:v>110.755</c:v>
                </c:pt>
                <c:pt idx="31">
                  <c:v>122.814</c:v>
                </c:pt>
                <c:pt idx="32">
                  <c:v>126.564</c:v>
                </c:pt>
                <c:pt idx="33">
                  <c:v>132.818</c:v>
                </c:pt>
                <c:pt idx="34">
                  <c:v>137.133</c:v>
                </c:pt>
                <c:pt idx="35">
                  <c:v>141.732</c:v>
                </c:pt>
                <c:pt idx="36">
                  <c:v>144.942</c:v>
                </c:pt>
                <c:pt idx="37">
                  <c:v>150.77</c:v>
                </c:pt>
                <c:pt idx="38">
                  <c:v>156.903</c:v>
                </c:pt>
                <c:pt idx="39">
                  <c:v>165.032</c:v>
                </c:pt>
                <c:pt idx="40">
                  <c:v>170.144</c:v>
                </c:pt>
                <c:pt idx="41">
                  <c:v>172.559</c:v>
                </c:pt>
                <c:pt idx="42">
                  <c:v>180.756</c:v>
                </c:pt>
                <c:pt idx="43">
                  <c:v>186.181</c:v>
                </c:pt>
                <c:pt idx="44">
                  <c:v>192.191</c:v>
                </c:pt>
                <c:pt idx="45">
                  <c:v>196.002</c:v>
                </c:pt>
                <c:pt idx="46">
                  <c:v>36.839</c:v>
                </c:pt>
                <c:pt idx="47">
                  <c:v>43.127</c:v>
                </c:pt>
                <c:pt idx="48">
                  <c:v>48.69</c:v>
                </c:pt>
                <c:pt idx="49">
                  <c:v>53.115</c:v>
                </c:pt>
                <c:pt idx="50">
                  <c:v>56.991</c:v>
                </c:pt>
                <c:pt idx="51">
                  <c:v>60.091</c:v>
                </c:pt>
                <c:pt idx="52">
                  <c:v>61.921</c:v>
                </c:pt>
                <c:pt idx="53">
                  <c:v>63.73</c:v>
                </c:pt>
                <c:pt idx="54">
                  <c:v>66.919</c:v>
                </c:pt>
                <c:pt idx="55">
                  <c:v>76.132</c:v>
                </c:pt>
                <c:pt idx="56">
                  <c:v>81.22</c:v>
                </c:pt>
                <c:pt idx="57">
                  <c:v>94.485</c:v>
                </c:pt>
                <c:pt idx="58">
                  <c:v>98.601</c:v>
                </c:pt>
                <c:pt idx="59">
                  <c:v>104.423</c:v>
                </c:pt>
                <c:pt idx="60">
                  <c:v>109.14</c:v>
                </c:pt>
                <c:pt idx="61">
                  <c:v>113.193</c:v>
                </c:pt>
                <c:pt idx="62">
                  <c:v>116.495</c:v>
                </c:pt>
                <c:pt idx="63">
                  <c:v>119.67</c:v>
                </c:pt>
                <c:pt idx="64">
                  <c:v>124.833</c:v>
                </c:pt>
                <c:pt idx="65">
                  <c:v>131.447</c:v>
                </c:pt>
                <c:pt idx="66">
                  <c:v>137.095</c:v>
                </c:pt>
                <c:pt idx="67">
                  <c:v>143.818</c:v>
                </c:pt>
                <c:pt idx="68">
                  <c:v>153.373</c:v>
                </c:pt>
                <c:pt idx="69">
                  <c:v>159.894</c:v>
                </c:pt>
                <c:pt idx="70">
                  <c:v>163.856</c:v>
                </c:pt>
                <c:pt idx="71">
                  <c:v>168.796</c:v>
                </c:pt>
                <c:pt idx="72">
                  <c:v>173.579</c:v>
                </c:pt>
                <c:pt idx="73">
                  <c:v>179.086</c:v>
                </c:pt>
                <c:pt idx="74">
                  <c:v>196.115</c:v>
                </c:pt>
                <c:pt idx="75">
                  <c:v>38.165</c:v>
                </c:pt>
                <c:pt idx="76">
                  <c:v>41.486</c:v>
                </c:pt>
                <c:pt idx="77">
                  <c:v>49.441</c:v>
                </c:pt>
                <c:pt idx="78">
                  <c:v>54.329</c:v>
                </c:pt>
                <c:pt idx="79">
                  <c:v>71.987</c:v>
                </c:pt>
                <c:pt idx="80">
                  <c:v>79.764</c:v>
                </c:pt>
                <c:pt idx="81">
                  <c:v>88.512</c:v>
                </c:pt>
                <c:pt idx="82">
                  <c:v>95.224</c:v>
                </c:pt>
                <c:pt idx="83">
                  <c:v>98.373</c:v>
                </c:pt>
                <c:pt idx="84">
                  <c:v>102.931</c:v>
                </c:pt>
                <c:pt idx="85">
                  <c:v>107.124</c:v>
                </c:pt>
                <c:pt idx="86">
                  <c:v>110.764</c:v>
                </c:pt>
                <c:pt idx="87">
                  <c:v>114.209</c:v>
                </c:pt>
                <c:pt idx="88">
                  <c:v>117.442</c:v>
                </c:pt>
                <c:pt idx="89">
                  <c:v>121.821</c:v>
                </c:pt>
                <c:pt idx="90">
                  <c:v>125.261</c:v>
                </c:pt>
                <c:pt idx="91">
                  <c:v>134.459</c:v>
                </c:pt>
                <c:pt idx="92">
                  <c:v>138.625</c:v>
                </c:pt>
                <c:pt idx="93">
                  <c:v>155.456</c:v>
                </c:pt>
                <c:pt idx="94">
                  <c:v>162.473</c:v>
                </c:pt>
                <c:pt idx="95">
                  <c:v>167.656</c:v>
                </c:pt>
                <c:pt idx="96">
                  <c:v>176.871</c:v>
                </c:pt>
                <c:pt idx="97">
                  <c:v>181.98</c:v>
                </c:pt>
                <c:pt idx="98">
                  <c:v>192.009</c:v>
                </c:pt>
                <c:pt idx="99">
                  <c:v>197.214</c:v>
                </c:pt>
                <c:pt idx="100">
                  <c:v>199.831</c:v>
                </c:pt>
                <c:pt idx="101">
                  <c:v>40.655</c:v>
                </c:pt>
                <c:pt idx="102">
                  <c:v>48.224</c:v>
                </c:pt>
                <c:pt idx="103">
                  <c:v>56.592</c:v>
                </c:pt>
                <c:pt idx="104">
                  <c:v>59.542</c:v>
                </c:pt>
                <c:pt idx="105">
                  <c:v>63.784</c:v>
                </c:pt>
                <c:pt idx="106">
                  <c:v>71.019</c:v>
                </c:pt>
                <c:pt idx="107">
                  <c:v>76.368</c:v>
                </c:pt>
                <c:pt idx="108">
                  <c:v>86.135</c:v>
                </c:pt>
                <c:pt idx="109">
                  <c:v>89.753</c:v>
                </c:pt>
                <c:pt idx="110">
                  <c:v>94.979</c:v>
                </c:pt>
                <c:pt idx="111">
                  <c:v>101.967</c:v>
                </c:pt>
                <c:pt idx="112">
                  <c:v>108.175</c:v>
                </c:pt>
                <c:pt idx="113">
                  <c:v>113.684</c:v>
                </c:pt>
                <c:pt idx="114">
                  <c:v>117.304</c:v>
                </c:pt>
                <c:pt idx="115">
                  <c:v>120.852</c:v>
                </c:pt>
                <c:pt idx="116">
                  <c:v>125.88</c:v>
                </c:pt>
                <c:pt idx="117">
                  <c:v>128.091</c:v>
                </c:pt>
                <c:pt idx="118">
                  <c:v>131.326</c:v>
                </c:pt>
                <c:pt idx="119">
                  <c:v>134.765</c:v>
                </c:pt>
                <c:pt idx="120">
                  <c:v>141.037</c:v>
                </c:pt>
                <c:pt idx="121">
                  <c:v>146.524</c:v>
                </c:pt>
                <c:pt idx="122">
                  <c:v>149.409</c:v>
                </c:pt>
                <c:pt idx="123">
                  <c:v>151.525</c:v>
                </c:pt>
                <c:pt idx="124">
                  <c:v>153.923</c:v>
                </c:pt>
                <c:pt idx="125">
                  <c:v>158.885</c:v>
                </c:pt>
                <c:pt idx="126">
                  <c:v>162.268</c:v>
                </c:pt>
                <c:pt idx="127">
                  <c:v>163.849</c:v>
                </c:pt>
                <c:pt idx="128">
                  <c:v>166.044</c:v>
                </c:pt>
                <c:pt idx="129">
                  <c:v>168.168</c:v>
                </c:pt>
                <c:pt idx="130">
                  <c:v>171.473</c:v>
                </c:pt>
                <c:pt idx="131">
                  <c:v>178.896</c:v>
                </c:pt>
                <c:pt idx="132">
                  <c:v>191.186</c:v>
                </c:pt>
                <c:pt idx="133">
                  <c:v>196.696</c:v>
                </c:pt>
                <c:pt idx="134">
                  <c:v>37.264</c:v>
                </c:pt>
                <c:pt idx="135">
                  <c:v>43.835</c:v>
                </c:pt>
                <c:pt idx="136">
                  <c:v>51.559</c:v>
                </c:pt>
                <c:pt idx="137">
                  <c:v>57.924</c:v>
                </c:pt>
                <c:pt idx="138">
                  <c:v>63.412</c:v>
                </c:pt>
                <c:pt idx="139">
                  <c:v>66.346</c:v>
                </c:pt>
                <c:pt idx="140">
                  <c:v>72.024</c:v>
                </c:pt>
                <c:pt idx="141">
                  <c:v>79.559</c:v>
                </c:pt>
                <c:pt idx="142">
                  <c:v>89.992</c:v>
                </c:pt>
                <c:pt idx="143">
                  <c:v>99.923</c:v>
                </c:pt>
                <c:pt idx="144">
                  <c:v>104.128</c:v>
                </c:pt>
                <c:pt idx="145">
                  <c:v>109.389</c:v>
                </c:pt>
                <c:pt idx="146">
                  <c:v>114.42</c:v>
                </c:pt>
                <c:pt idx="147">
                  <c:v>123.816</c:v>
                </c:pt>
                <c:pt idx="148">
                  <c:v>140.104</c:v>
                </c:pt>
                <c:pt idx="149">
                  <c:v>146.8</c:v>
                </c:pt>
                <c:pt idx="150">
                  <c:v>149.991</c:v>
                </c:pt>
                <c:pt idx="151">
                  <c:v>163.256</c:v>
                </c:pt>
                <c:pt idx="152">
                  <c:v>176.363</c:v>
                </c:pt>
                <c:pt idx="153">
                  <c:v>183.018</c:v>
                </c:pt>
                <c:pt idx="154">
                  <c:v>194.478</c:v>
                </c:pt>
                <c:pt idx="155">
                  <c:v>38.146</c:v>
                </c:pt>
                <c:pt idx="156">
                  <c:v>46.678</c:v>
                </c:pt>
                <c:pt idx="157">
                  <c:v>52.382</c:v>
                </c:pt>
                <c:pt idx="158">
                  <c:v>61.129</c:v>
                </c:pt>
                <c:pt idx="159">
                  <c:v>66.994</c:v>
                </c:pt>
                <c:pt idx="160">
                  <c:v>76.312</c:v>
                </c:pt>
                <c:pt idx="161">
                  <c:v>84.778</c:v>
                </c:pt>
                <c:pt idx="162">
                  <c:v>93.775</c:v>
                </c:pt>
                <c:pt idx="163">
                  <c:v>97.555</c:v>
                </c:pt>
                <c:pt idx="164">
                  <c:v>100.951</c:v>
                </c:pt>
                <c:pt idx="165">
                  <c:v>103.593</c:v>
                </c:pt>
                <c:pt idx="166">
                  <c:v>108.816</c:v>
                </c:pt>
                <c:pt idx="167">
                  <c:v>112.747</c:v>
                </c:pt>
                <c:pt idx="168">
                  <c:v>115.878</c:v>
                </c:pt>
                <c:pt idx="169">
                  <c:v>121.167</c:v>
                </c:pt>
                <c:pt idx="170">
                  <c:v>130.345</c:v>
                </c:pt>
                <c:pt idx="171">
                  <c:v>133.167</c:v>
                </c:pt>
                <c:pt idx="172">
                  <c:v>136.69</c:v>
                </c:pt>
                <c:pt idx="173">
                  <c:v>140.035</c:v>
                </c:pt>
                <c:pt idx="174">
                  <c:v>143.126</c:v>
                </c:pt>
                <c:pt idx="175">
                  <c:v>146.821</c:v>
                </c:pt>
                <c:pt idx="176">
                  <c:v>155.407</c:v>
                </c:pt>
                <c:pt idx="177">
                  <c:v>161.09</c:v>
                </c:pt>
                <c:pt idx="178">
                  <c:v>165.828</c:v>
                </c:pt>
                <c:pt idx="179">
                  <c:v>169.256</c:v>
                </c:pt>
                <c:pt idx="180">
                  <c:v>173.932</c:v>
                </c:pt>
                <c:pt idx="181">
                  <c:v>177.722</c:v>
                </c:pt>
                <c:pt idx="182">
                  <c:v>184.402</c:v>
                </c:pt>
                <c:pt idx="183">
                  <c:v>188.254</c:v>
                </c:pt>
                <c:pt idx="184">
                  <c:v>193.559</c:v>
                </c:pt>
                <c:pt idx="185">
                  <c:v>36.839</c:v>
                </c:pt>
                <c:pt idx="186">
                  <c:v>42.888</c:v>
                </c:pt>
                <c:pt idx="187">
                  <c:v>45.288</c:v>
                </c:pt>
                <c:pt idx="188">
                  <c:v>48.012</c:v>
                </c:pt>
                <c:pt idx="189">
                  <c:v>50.588</c:v>
                </c:pt>
                <c:pt idx="190">
                  <c:v>54.399</c:v>
                </c:pt>
                <c:pt idx="191">
                  <c:v>59.67</c:v>
                </c:pt>
                <c:pt idx="192">
                  <c:v>66.004</c:v>
                </c:pt>
                <c:pt idx="193">
                  <c:v>73.184</c:v>
                </c:pt>
                <c:pt idx="194">
                  <c:v>76.998</c:v>
                </c:pt>
                <c:pt idx="195">
                  <c:v>79.933</c:v>
                </c:pt>
                <c:pt idx="196">
                  <c:v>82.606</c:v>
                </c:pt>
                <c:pt idx="197">
                  <c:v>86.29</c:v>
                </c:pt>
                <c:pt idx="198">
                  <c:v>91.832</c:v>
                </c:pt>
                <c:pt idx="199">
                  <c:v>99.484</c:v>
                </c:pt>
                <c:pt idx="200">
                  <c:v>100.945</c:v>
                </c:pt>
                <c:pt idx="201">
                  <c:v>105.381</c:v>
                </c:pt>
                <c:pt idx="202">
                  <c:v>114.296</c:v>
                </c:pt>
                <c:pt idx="203">
                  <c:v>117.983</c:v>
                </c:pt>
                <c:pt idx="204">
                  <c:v>124.788</c:v>
                </c:pt>
                <c:pt idx="205">
                  <c:v>129.314</c:v>
                </c:pt>
                <c:pt idx="206">
                  <c:v>141.525</c:v>
                </c:pt>
                <c:pt idx="207">
                  <c:v>144.475</c:v>
                </c:pt>
                <c:pt idx="208">
                  <c:v>149.684</c:v>
                </c:pt>
                <c:pt idx="209">
                  <c:v>153.972</c:v>
                </c:pt>
                <c:pt idx="210">
                  <c:v>156.811</c:v>
                </c:pt>
                <c:pt idx="211">
                  <c:v>160.195</c:v>
                </c:pt>
                <c:pt idx="212">
                  <c:v>163.66</c:v>
                </c:pt>
                <c:pt idx="213">
                  <c:v>172.41</c:v>
                </c:pt>
                <c:pt idx="214">
                  <c:v>179.1</c:v>
                </c:pt>
                <c:pt idx="215">
                  <c:v>192.473</c:v>
                </c:pt>
                <c:pt idx="216">
                  <c:v>38.342</c:v>
                </c:pt>
                <c:pt idx="217">
                  <c:v>52.658</c:v>
                </c:pt>
                <c:pt idx="218">
                  <c:v>56.64</c:v>
                </c:pt>
                <c:pt idx="219">
                  <c:v>61.413</c:v>
                </c:pt>
                <c:pt idx="220">
                  <c:v>66.037</c:v>
                </c:pt>
                <c:pt idx="221">
                  <c:v>70.332</c:v>
                </c:pt>
                <c:pt idx="222">
                  <c:v>74.979</c:v>
                </c:pt>
                <c:pt idx="223">
                  <c:v>79.45</c:v>
                </c:pt>
                <c:pt idx="224">
                  <c:v>83.299</c:v>
                </c:pt>
                <c:pt idx="225">
                  <c:v>89.113</c:v>
                </c:pt>
                <c:pt idx="226">
                  <c:v>93.893</c:v>
                </c:pt>
                <c:pt idx="227">
                  <c:v>98.343</c:v>
                </c:pt>
                <c:pt idx="228">
                  <c:v>101.412</c:v>
                </c:pt>
                <c:pt idx="229">
                  <c:v>104.868</c:v>
                </c:pt>
                <c:pt idx="230">
                  <c:v>108.566</c:v>
                </c:pt>
                <c:pt idx="231">
                  <c:v>110.698</c:v>
                </c:pt>
                <c:pt idx="232">
                  <c:v>115.073</c:v>
                </c:pt>
                <c:pt idx="233">
                  <c:v>118.704</c:v>
                </c:pt>
                <c:pt idx="234">
                  <c:v>123.121</c:v>
                </c:pt>
                <c:pt idx="235">
                  <c:v>128.52</c:v>
                </c:pt>
                <c:pt idx="236">
                  <c:v>132.387</c:v>
                </c:pt>
                <c:pt idx="237">
                  <c:v>136.023</c:v>
                </c:pt>
                <c:pt idx="238">
                  <c:v>147.759</c:v>
                </c:pt>
                <c:pt idx="239">
                  <c:v>157.502</c:v>
                </c:pt>
                <c:pt idx="240">
                  <c:v>174.441</c:v>
                </c:pt>
                <c:pt idx="241">
                  <c:v>183.42</c:v>
                </c:pt>
                <c:pt idx="242">
                  <c:v>199.784</c:v>
                </c:pt>
                <c:pt idx="243">
                  <c:v>40.3</c:v>
                </c:pt>
                <c:pt idx="244">
                  <c:v>46.343</c:v>
                </c:pt>
                <c:pt idx="245">
                  <c:v>51.297</c:v>
                </c:pt>
                <c:pt idx="246">
                  <c:v>54.792</c:v>
                </c:pt>
                <c:pt idx="247">
                  <c:v>60.524</c:v>
                </c:pt>
                <c:pt idx="248">
                  <c:v>68.712</c:v>
                </c:pt>
                <c:pt idx="249">
                  <c:v>80.927</c:v>
                </c:pt>
                <c:pt idx="250">
                  <c:v>87.658</c:v>
                </c:pt>
                <c:pt idx="251">
                  <c:v>96.274</c:v>
                </c:pt>
                <c:pt idx="252">
                  <c:v>103.492</c:v>
                </c:pt>
                <c:pt idx="253">
                  <c:v>110.218</c:v>
                </c:pt>
                <c:pt idx="254">
                  <c:v>129.458</c:v>
                </c:pt>
                <c:pt idx="255">
                  <c:v>138.986</c:v>
                </c:pt>
                <c:pt idx="256">
                  <c:v>150.478</c:v>
                </c:pt>
                <c:pt idx="257">
                  <c:v>158.98</c:v>
                </c:pt>
                <c:pt idx="258">
                  <c:v>162.289</c:v>
                </c:pt>
                <c:pt idx="259">
                  <c:v>165.085</c:v>
                </c:pt>
                <c:pt idx="260">
                  <c:v>166.674</c:v>
                </c:pt>
                <c:pt idx="261">
                  <c:v>170.283</c:v>
                </c:pt>
                <c:pt idx="262">
                  <c:v>176.766</c:v>
                </c:pt>
                <c:pt idx="263">
                  <c:v>180.369</c:v>
                </c:pt>
                <c:pt idx="264">
                  <c:v>185.686</c:v>
                </c:pt>
                <c:pt idx="265">
                  <c:v>189.829</c:v>
                </c:pt>
                <c:pt idx="266">
                  <c:v>194.599</c:v>
                </c:pt>
                <c:pt idx="267">
                  <c:v>197.561</c:v>
                </c:pt>
                <c:pt idx="268">
                  <c:v>44.869</c:v>
                </c:pt>
                <c:pt idx="269">
                  <c:v>52.667</c:v>
                </c:pt>
                <c:pt idx="270">
                  <c:v>58.428</c:v>
                </c:pt>
                <c:pt idx="271">
                  <c:v>73.449</c:v>
                </c:pt>
                <c:pt idx="272">
                  <c:v>77.864</c:v>
                </c:pt>
                <c:pt idx="273">
                  <c:v>80.309</c:v>
                </c:pt>
                <c:pt idx="274">
                  <c:v>83.693</c:v>
                </c:pt>
                <c:pt idx="275">
                  <c:v>88.629</c:v>
                </c:pt>
                <c:pt idx="276">
                  <c:v>96.03</c:v>
                </c:pt>
                <c:pt idx="277">
                  <c:v>99.548</c:v>
                </c:pt>
                <c:pt idx="278">
                  <c:v>102.323</c:v>
                </c:pt>
                <c:pt idx="279">
                  <c:v>105.395</c:v>
                </c:pt>
                <c:pt idx="280">
                  <c:v>108.878</c:v>
                </c:pt>
                <c:pt idx="281">
                  <c:v>113.866</c:v>
                </c:pt>
                <c:pt idx="282">
                  <c:v>134.878</c:v>
                </c:pt>
                <c:pt idx="283">
                  <c:v>145.54</c:v>
                </c:pt>
                <c:pt idx="284">
                  <c:v>154.363</c:v>
                </c:pt>
                <c:pt idx="285">
                  <c:v>159.594</c:v>
                </c:pt>
                <c:pt idx="286">
                  <c:v>163.255</c:v>
                </c:pt>
                <c:pt idx="287">
                  <c:v>166.693</c:v>
                </c:pt>
                <c:pt idx="288">
                  <c:v>170.401</c:v>
                </c:pt>
                <c:pt idx="289">
                  <c:v>175.133</c:v>
                </c:pt>
                <c:pt idx="290">
                  <c:v>182.168</c:v>
                </c:pt>
                <c:pt idx="291">
                  <c:v>186.549</c:v>
                </c:pt>
                <c:pt idx="292">
                  <c:v>190.32</c:v>
                </c:pt>
                <c:pt idx="293">
                  <c:v>192.196</c:v>
                </c:pt>
                <c:pt idx="294">
                  <c:v>194.847</c:v>
                </c:pt>
                <c:pt idx="295">
                  <c:v>197.75</c:v>
                </c:pt>
                <c:pt idx="296">
                  <c:v>37.875</c:v>
                </c:pt>
                <c:pt idx="297">
                  <c:v>41.543</c:v>
                </c:pt>
                <c:pt idx="298">
                  <c:v>48.632</c:v>
                </c:pt>
                <c:pt idx="299">
                  <c:v>52.618</c:v>
                </c:pt>
                <c:pt idx="300">
                  <c:v>57.933</c:v>
                </c:pt>
                <c:pt idx="301">
                  <c:v>60.642</c:v>
                </c:pt>
                <c:pt idx="302">
                  <c:v>64.749</c:v>
                </c:pt>
                <c:pt idx="303">
                  <c:v>69.818</c:v>
                </c:pt>
                <c:pt idx="304">
                  <c:v>77.509</c:v>
                </c:pt>
                <c:pt idx="305">
                  <c:v>82.892</c:v>
                </c:pt>
                <c:pt idx="306">
                  <c:v>96.009</c:v>
                </c:pt>
                <c:pt idx="307">
                  <c:v>99.485</c:v>
                </c:pt>
                <c:pt idx="308">
                  <c:v>104.061</c:v>
                </c:pt>
                <c:pt idx="309">
                  <c:v>112.098</c:v>
                </c:pt>
                <c:pt idx="310">
                  <c:v>120.17</c:v>
                </c:pt>
                <c:pt idx="311">
                  <c:v>130.641</c:v>
                </c:pt>
                <c:pt idx="312">
                  <c:v>137.845</c:v>
                </c:pt>
                <c:pt idx="313">
                  <c:v>146.35</c:v>
                </c:pt>
                <c:pt idx="314">
                  <c:v>163.108</c:v>
                </c:pt>
                <c:pt idx="315">
                  <c:v>169.058</c:v>
                </c:pt>
                <c:pt idx="316">
                  <c:v>173.01</c:v>
                </c:pt>
                <c:pt idx="317">
                  <c:v>181.125</c:v>
                </c:pt>
                <c:pt idx="318">
                  <c:v>186.971</c:v>
                </c:pt>
                <c:pt idx="319">
                  <c:v>197.851</c:v>
                </c:pt>
                <c:pt idx="320">
                  <c:v>38.212</c:v>
                </c:pt>
                <c:pt idx="321">
                  <c:v>42.259</c:v>
                </c:pt>
                <c:pt idx="322">
                  <c:v>49.316</c:v>
                </c:pt>
                <c:pt idx="323">
                  <c:v>69.93</c:v>
                </c:pt>
                <c:pt idx="324">
                  <c:v>72.706</c:v>
                </c:pt>
                <c:pt idx="325">
                  <c:v>76.474</c:v>
                </c:pt>
                <c:pt idx="326">
                  <c:v>85.712</c:v>
                </c:pt>
                <c:pt idx="327">
                  <c:v>90.291</c:v>
                </c:pt>
                <c:pt idx="328">
                  <c:v>95.28</c:v>
                </c:pt>
                <c:pt idx="329">
                  <c:v>99.504</c:v>
                </c:pt>
                <c:pt idx="330">
                  <c:v>104.739</c:v>
                </c:pt>
                <c:pt idx="331">
                  <c:v>109.72</c:v>
                </c:pt>
                <c:pt idx="332">
                  <c:v>112.271</c:v>
                </c:pt>
                <c:pt idx="333">
                  <c:v>116.222</c:v>
                </c:pt>
                <c:pt idx="334">
                  <c:v>121.271</c:v>
                </c:pt>
                <c:pt idx="335">
                  <c:v>123.21</c:v>
                </c:pt>
                <c:pt idx="336">
                  <c:v>126.977</c:v>
                </c:pt>
                <c:pt idx="337">
                  <c:v>132.119</c:v>
                </c:pt>
                <c:pt idx="338">
                  <c:v>135.661</c:v>
                </c:pt>
                <c:pt idx="339">
                  <c:v>138.257</c:v>
                </c:pt>
                <c:pt idx="340">
                  <c:v>143.383</c:v>
                </c:pt>
                <c:pt idx="341">
                  <c:v>148.332</c:v>
                </c:pt>
                <c:pt idx="342">
                  <c:v>152.386</c:v>
                </c:pt>
                <c:pt idx="343">
                  <c:v>155.316</c:v>
                </c:pt>
                <c:pt idx="344">
                  <c:v>159.274</c:v>
                </c:pt>
                <c:pt idx="345">
                  <c:v>163.109</c:v>
                </c:pt>
                <c:pt idx="346">
                  <c:v>166.638</c:v>
                </c:pt>
                <c:pt idx="347">
                  <c:v>172.426</c:v>
                </c:pt>
                <c:pt idx="348">
                  <c:v>177.149</c:v>
                </c:pt>
                <c:pt idx="349">
                  <c:v>182.494</c:v>
                </c:pt>
                <c:pt idx="350">
                  <c:v>38.752</c:v>
                </c:pt>
                <c:pt idx="351">
                  <c:v>49.729</c:v>
                </c:pt>
                <c:pt idx="352">
                  <c:v>62.188</c:v>
                </c:pt>
                <c:pt idx="353">
                  <c:v>76.956</c:v>
                </c:pt>
                <c:pt idx="354">
                  <c:v>81.653</c:v>
                </c:pt>
                <c:pt idx="355">
                  <c:v>86.14</c:v>
                </c:pt>
                <c:pt idx="356">
                  <c:v>89.156</c:v>
                </c:pt>
                <c:pt idx="357">
                  <c:v>92.049</c:v>
                </c:pt>
                <c:pt idx="358">
                  <c:v>95.803</c:v>
                </c:pt>
                <c:pt idx="359">
                  <c:v>99.693</c:v>
                </c:pt>
                <c:pt idx="360">
                  <c:v>103.977</c:v>
                </c:pt>
                <c:pt idx="361">
                  <c:v>109.354</c:v>
                </c:pt>
                <c:pt idx="362">
                  <c:v>115.64</c:v>
                </c:pt>
                <c:pt idx="363">
                  <c:v>125.582</c:v>
                </c:pt>
                <c:pt idx="364">
                  <c:v>131.185</c:v>
                </c:pt>
                <c:pt idx="365">
                  <c:v>135.412</c:v>
                </c:pt>
                <c:pt idx="366">
                  <c:v>144.003</c:v>
                </c:pt>
                <c:pt idx="367">
                  <c:v>151.332</c:v>
                </c:pt>
                <c:pt idx="368">
                  <c:v>154.388</c:v>
                </c:pt>
                <c:pt idx="369">
                  <c:v>162.764</c:v>
                </c:pt>
                <c:pt idx="370">
                  <c:v>169.386</c:v>
                </c:pt>
                <c:pt idx="371">
                  <c:v>177.524</c:v>
                </c:pt>
                <c:pt idx="372">
                  <c:v>180.332</c:v>
                </c:pt>
                <c:pt idx="373">
                  <c:v>182.502</c:v>
                </c:pt>
                <c:pt idx="374">
                  <c:v>186.644</c:v>
                </c:pt>
                <c:pt idx="375">
                  <c:v>193.083</c:v>
                </c:pt>
                <c:pt idx="376">
                  <c:v>197.438</c:v>
                </c:pt>
                <c:pt idx="377">
                  <c:v>199.34</c:v>
                </c:pt>
                <c:pt idx="378">
                  <c:v>39.671</c:v>
                </c:pt>
                <c:pt idx="379">
                  <c:v>44.221</c:v>
                </c:pt>
                <c:pt idx="380">
                  <c:v>47.785</c:v>
                </c:pt>
                <c:pt idx="381">
                  <c:v>52.221</c:v>
                </c:pt>
                <c:pt idx="382">
                  <c:v>56.879</c:v>
                </c:pt>
                <c:pt idx="383">
                  <c:v>59.915</c:v>
                </c:pt>
                <c:pt idx="384">
                  <c:v>64.767</c:v>
                </c:pt>
                <c:pt idx="385">
                  <c:v>70.637</c:v>
                </c:pt>
                <c:pt idx="386">
                  <c:v>76.413</c:v>
                </c:pt>
                <c:pt idx="387">
                  <c:v>97.706</c:v>
                </c:pt>
                <c:pt idx="388">
                  <c:v>101.175</c:v>
                </c:pt>
                <c:pt idx="389">
                  <c:v>104.888</c:v>
                </c:pt>
                <c:pt idx="390">
                  <c:v>108.024</c:v>
                </c:pt>
                <c:pt idx="391">
                  <c:v>111.177</c:v>
                </c:pt>
                <c:pt idx="392">
                  <c:v>116.595</c:v>
                </c:pt>
                <c:pt idx="393">
                  <c:v>121.002</c:v>
                </c:pt>
                <c:pt idx="394">
                  <c:v>124.762</c:v>
                </c:pt>
                <c:pt idx="395">
                  <c:v>128.881</c:v>
                </c:pt>
                <c:pt idx="396">
                  <c:v>132.548</c:v>
                </c:pt>
                <c:pt idx="397">
                  <c:v>136.273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work-packet steps</c:v>
                </c:pt>
              </c:strCache>
            </c:strRef>
          </c:tx>
          <c:spPr>
            <a:solidFill>
              <a:srgbClr val="2A9D8F"/>
            </a:solidFill>
            <a:ln w="190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12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Sheet1!$A$2:$A$399</c:f>
              <c:multiLvlStrCache>
                <c:ptCount val="398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200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400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>600</c:v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>800</c:v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>1000</c:v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>1200</c:v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>1400</c:v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</c:lvl>
              </c:multiLvlStrCache>
            </c:multiLvlStrRef>
          </c:cat>
          <c:val>
            <c:numRef>
              <c:f>Sheet1!$D$2:$D$399</c:f>
              <c:numCache>
                <c:formatCode>General</c:formatCode>
                <c:ptCount val="398"/>
                <c:pt idx="0">
                  <c:v>14.839</c:v>
                </c:pt>
                <c:pt idx="1">
                  <c:v>47.348</c:v>
                </c:pt>
                <c:pt idx="2">
                  <c:v>65.279</c:v>
                </c:pt>
                <c:pt idx="3">
                  <c:v>77.841</c:v>
                </c:pt>
                <c:pt idx="4">
                  <c:v>88.789</c:v>
                </c:pt>
                <c:pt idx="5">
                  <c:v>25.989</c:v>
                </c:pt>
                <c:pt idx="6">
                  <c:v>40.079</c:v>
                </c:pt>
                <c:pt idx="7">
                  <c:v>46.201</c:v>
                </c:pt>
                <c:pt idx="8">
                  <c:v>56.246</c:v>
                </c:pt>
                <c:pt idx="9">
                  <c:v>61.686</c:v>
                </c:pt>
                <c:pt idx="10">
                  <c:v>63.857</c:v>
                </c:pt>
                <c:pt idx="11">
                  <c:v>68.921</c:v>
                </c:pt>
                <c:pt idx="12">
                  <c:v>74.293</c:v>
                </c:pt>
                <c:pt idx="13">
                  <c:v>76.27</c:v>
                </c:pt>
                <c:pt idx="14">
                  <c:v>84.231</c:v>
                </c:pt>
                <c:pt idx="15">
                  <c:v>87.319</c:v>
                </c:pt>
                <c:pt idx="16">
                  <c:v>28.16</c:v>
                </c:pt>
                <c:pt idx="17">
                  <c:v>39.923</c:v>
                </c:pt>
                <c:pt idx="18">
                  <c:v>47.641</c:v>
                </c:pt>
                <c:pt idx="19">
                  <c:v>53.444</c:v>
                </c:pt>
                <c:pt idx="20">
                  <c:v>56.194</c:v>
                </c:pt>
                <c:pt idx="21">
                  <c:v>60.101</c:v>
                </c:pt>
                <c:pt idx="22">
                  <c:v>62.21</c:v>
                </c:pt>
                <c:pt idx="23">
                  <c:v>67.965</c:v>
                </c:pt>
                <c:pt idx="24">
                  <c:v>78.92</c:v>
                </c:pt>
                <c:pt idx="25">
                  <c:v>93.734</c:v>
                </c:pt>
                <c:pt idx="26">
                  <c:v>28.312</c:v>
                </c:pt>
                <c:pt idx="27">
                  <c:v>37.55</c:v>
                </c:pt>
                <c:pt idx="28">
                  <c:v>46.319</c:v>
                </c:pt>
                <c:pt idx="29">
                  <c:v>51.41</c:v>
                </c:pt>
                <c:pt idx="30">
                  <c:v>57.604</c:v>
                </c:pt>
                <c:pt idx="31">
                  <c:v>69.663</c:v>
                </c:pt>
                <c:pt idx="32">
                  <c:v>73.413</c:v>
                </c:pt>
                <c:pt idx="33">
                  <c:v>79.667</c:v>
                </c:pt>
                <c:pt idx="34">
                  <c:v>83.982</c:v>
                </c:pt>
                <c:pt idx="35">
                  <c:v>23.43</c:v>
                </c:pt>
                <c:pt idx="36">
                  <c:v>26.64</c:v>
                </c:pt>
                <c:pt idx="37">
                  <c:v>32.468</c:v>
                </c:pt>
                <c:pt idx="38">
                  <c:v>38.601</c:v>
                </c:pt>
                <c:pt idx="39">
                  <c:v>46.73</c:v>
                </c:pt>
                <c:pt idx="40">
                  <c:v>51.842</c:v>
                </c:pt>
                <c:pt idx="41">
                  <c:v>54.257</c:v>
                </c:pt>
                <c:pt idx="42">
                  <c:v>62.454</c:v>
                </c:pt>
                <c:pt idx="43">
                  <c:v>67.879</c:v>
                </c:pt>
                <c:pt idx="44">
                  <c:v>73.889</c:v>
                </c:pt>
                <c:pt idx="45">
                  <c:v>77.7</c:v>
                </c:pt>
                <c:pt idx="46">
                  <c:v>83.466</c:v>
                </c:pt>
                <c:pt idx="47">
                  <c:v>89.754</c:v>
                </c:pt>
                <c:pt idx="48">
                  <c:v>27.737</c:v>
                </c:pt>
                <c:pt idx="49">
                  <c:v>32.162</c:v>
                </c:pt>
                <c:pt idx="50">
                  <c:v>36.038</c:v>
                </c:pt>
                <c:pt idx="51">
                  <c:v>39.138</c:v>
                </c:pt>
                <c:pt idx="52">
                  <c:v>40.968</c:v>
                </c:pt>
                <c:pt idx="53">
                  <c:v>42.777</c:v>
                </c:pt>
                <c:pt idx="54">
                  <c:v>45.966</c:v>
                </c:pt>
                <c:pt idx="55">
                  <c:v>55.179</c:v>
                </c:pt>
                <c:pt idx="56">
                  <c:v>26.864</c:v>
                </c:pt>
                <c:pt idx="57">
                  <c:v>40.129</c:v>
                </c:pt>
                <c:pt idx="58">
                  <c:v>44.245</c:v>
                </c:pt>
                <c:pt idx="59">
                  <c:v>50.067</c:v>
                </c:pt>
                <c:pt idx="60">
                  <c:v>54.784</c:v>
                </c:pt>
                <c:pt idx="61">
                  <c:v>58.837</c:v>
                </c:pt>
                <c:pt idx="62">
                  <c:v>62.139</c:v>
                </c:pt>
                <c:pt idx="63">
                  <c:v>65.314</c:v>
                </c:pt>
                <c:pt idx="64">
                  <c:v>70.477</c:v>
                </c:pt>
                <c:pt idx="65">
                  <c:v>26.523</c:v>
                </c:pt>
                <c:pt idx="66">
                  <c:v>32.171</c:v>
                </c:pt>
                <c:pt idx="67">
                  <c:v>38.894</c:v>
                </c:pt>
                <c:pt idx="68">
                  <c:v>48.449</c:v>
                </c:pt>
                <c:pt idx="69">
                  <c:v>54.97</c:v>
                </c:pt>
                <c:pt idx="70">
                  <c:v>58.932</c:v>
                </c:pt>
                <c:pt idx="71">
                  <c:v>63.872</c:v>
                </c:pt>
                <c:pt idx="72">
                  <c:v>68.655</c:v>
                </c:pt>
                <c:pt idx="73">
                  <c:v>74.162</c:v>
                </c:pt>
                <c:pt idx="74">
                  <c:v>91.191</c:v>
                </c:pt>
                <c:pt idx="75">
                  <c:v>96.814</c:v>
                </c:pt>
                <c:pt idx="76">
                  <c:v>100.135</c:v>
                </c:pt>
                <c:pt idx="77">
                  <c:v>26.218</c:v>
                </c:pt>
                <c:pt idx="78">
                  <c:v>31.106</c:v>
                </c:pt>
                <c:pt idx="79">
                  <c:v>48.764</c:v>
                </c:pt>
                <c:pt idx="80">
                  <c:v>56.541</c:v>
                </c:pt>
                <c:pt idx="81">
                  <c:v>65.289</c:v>
                </c:pt>
                <c:pt idx="82">
                  <c:v>72.001</c:v>
                </c:pt>
                <c:pt idx="83">
                  <c:v>75.15</c:v>
                </c:pt>
                <c:pt idx="84">
                  <c:v>79.708</c:v>
                </c:pt>
                <c:pt idx="85">
                  <c:v>83.901</c:v>
                </c:pt>
                <c:pt idx="86">
                  <c:v>87.541</c:v>
                </c:pt>
                <c:pt idx="87">
                  <c:v>90.986</c:v>
                </c:pt>
                <c:pt idx="88">
                  <c:v>94.219</c:v>
                </c:pt>
                <c:pt idx="89">
                  <c:v>98.598</c:v>
                </c:pt>
                <c:pt idx="90">
                  <c:v>102.038</c:v>
                </c:pt>
                <c:pt idx="91">
                  <c:v>27.337</c:v>
                </c:pt>
                <c:pt idx="92">
                  <c:v>31.503</c:v>
                </c:pt>
                <c:pt idx="93">
                  <c:v>48.334</c:v>
                </c:pt>
                <c:pt idx="94">
                  <c:v>55.351</c:v>
                </c:pt>
                <c:pt idx="95">
                  <c:v>60.534</c:v>
                </c:pt>
                <c:pt idx="96">
                  <c:v>69.749</c:v>
                </c:pt>
                <c:pt idx="97">
                  <c:v>74.858</c:v>
                </c:pt>
                <c:pt idx="98">
                  <c:v>84.887</c:v>
                </c:pt>
                <c:pt idx="99">
                  <c:v>90.092</c:v>
                </c:pt>
                <c:pt idx="100">
                  <c:v>92.709</c:v>
                </c:pt>
                <c:pt idx="101">
                  <c:v>97.066</c:v>
                </c:pt>
                <c:pt idx="102">
                  <c:v>27.317</c:v>
                </c:pt>
                <c:pt idx="103">
                  <c:v>35.685</c:v>
                </c:pt>
                <c:pt idx="104">
                  <c:v>38.635</c:v>
                </c:pt>
                <c:pt idx="105">
                  <c:v>42.877</c:v>
                </c:pt>
                <c:pt idx="106">
                  <c:v>50.112</c:v>
                </c:pt>
                <c:pt idx="107">
                  <c:v>55.461</c:v>
                </c:pt>
                <c:pt idx="108">
                  <c:v>65.228</c:v>
                </c:pt>
                <c:pt idx="109">
                  <c:v>68.846</c:v>
                </c:pt>
                <c:pt idx="110">
                  <c:v>74.072</c:v>
                </c:pt>
                <c:pt idx="111">
                  <c:v>81.06</c:v>
                </c:pt>
                <c:pt idx="112">
                  <c:v>87.268</c:v>
                </c:pt>
                <c:pt idx="113">
                  <c:v>25.148</c:v>
                </c:pt>
                <c:pt idx="114">
                  <c:v>28.768</c:v>
                </c:pt>
                <c:pt idx="115">
                  <c:v>32.316</c:v>
                </c:pt>
                <c:pt idx="116">
                  <c:v>37.344</c:v>
                </c:pt>
                <c:pt idx="117">
                  <c:v>39.555</c:v>
                </c:pt>
                <c:pt idx="118">
                  <c:v>42.79</c:v>
                </c:pt>
                <c:pt idx="119">
                  <c:v>46.229</c:v>
                </c:pt>
                <c:pt idx="120">
                  <c:v>52.501</c:v>
                </c:pt>
                <c:pt idx="121">
                  <c:v>57.988</c:v>
                </c:pt>
                <c:pt idx="122">
                  <c:v>60.873</c:v>
                </c:pt>
                <c:pt idx="123">
                  <c:v>62.989</c:v>
                </c:pt>
                <c:pt idx="124">
                  <c:v>65.387</c:v>
                </c:pt>
                <c:pt idx="125">
                  <c:v>70.349</c:v>
                </c:pt>
                <c:pt idx="126">
                  <c:v>73.732</c:v>
                </c:pt>
                <c:pt idx="127">
                  <c:v>75.313</c:v>
                </c:pt>
                <c:pt idx="128">
                  <c:v>77.508</c:v>
                </c:pt>
                <c:pt idx="129">
                  <c:v>79.632</c:v>
                </c:pt>
                <c:pt idx="130">
                  <c:v>82.937</c:v>
                </c:pt>
                <c:pt idx="131">
                  <c:v>25.787</c:v>
                </c:pt>
                <c:pt idx="132">
                  <c:v>38.077</c:v>
                </c:pt>
                <c:pt idx="133">
                  <c:v>43.587</c:v>
                </c:pt>
                <c:pt idx="134">
                  <c:v>47.944</c:v>
                </c:pt>
                <c:pt idx="135">
                  <c:v>54.515</c:v>
                </c:pt>
                <c:pt idx="136">
                  <c:v>62.239</c:v>
                </c:pt>
                <c:pt idx="137">
                  <c:v>68.604</c:v>
                </c:pt>
                <c:pt idx="138">
                  <c:v>74.092</c:v>
                </c:pt>
                <c:pt idx="139">
                  <c:v>77.026</c:v>
                </c:pt>
                <c:pt idx="140">
                  <c:v>21.043</c:v>
                </c:pt>
                <c:pt idx="141">
                  <c:v>28.578</c:v>
                </c:pt>
                <c:pt idx="142">
                  <c:v>39.011</c:v>
                </c:pt>
                <c:pt idx="143">
                  <c:v>48.942</c:v>
                </c:pt>
                <c:pt idx="144">
                  <c:v>53.147</c:v>
                </c:pt>
                <c:pt idx="145">
                  <c:v>58.408</c:v>
                </c:pt>
                <c:pt idx="146">
                  <c:v>63.439</c:v>
                </c:pt>
                <c:pt idx="147">
                  <c:v>72.835</c:v>
                </c:pt>
                <c:pt idx="148">
                  <c:v>89.123</c:v>
                </c:pt>
                <c:pt idx="149">
                  <c:v>95.819</c:v>
                </c:pt>
                <c:pt idx="150">
                  <c:v>99.01</c:v>
                </c:pt>
                <c:pt idx="151">
                  <c:v>112.275</c:v>
                </c:pt>
                <c:pt idx="152">
                  <c:v>125.382</c:v>
                </c:pt>
                <c:pt idx="153">
                  <c:v>25.052</c:v>
                </c:pt>
                <c:pt idx="154">
                  <c:v>36.512</c:v>
                </c:pt>
                <c:pt idx="155">
                  <c:v>44.867</c:v>
                </c:pt>
                <c:pt idx="156">
                  <c:v>53.399</c:v>
                </c:pt>
                <c:pt idx="157">
                  <c:v>59.103</c:v>
                </c:pt>
                <c:pt idx="158">
                  <c:v>67.85</c:v>
                </c:pt>
                <c:pt idx="159">
                  <c:v>73.715</c:v>
                </c:pt>
                <c:pt idx="160">
                  <c:v>83.033</c:v>
                </c:pt>
                <c:pt idx="161">
                  <c:v>91.499</c:v>
                </c:pt>
                <c:pt idx="162">
                  <c:v>100.496</c:v>
                </c:pt>
                <c:pt idx="163">
                  <c:v>104.276</c:v>
                </c:pt>
                <c:pt idx="164">
                  <c:v>107.672</c:v>
                </c:pt>
                <c:pt idx="165">
                  <c:v>110.314</c:v>
                </c:pt>
                <c:pt idx="166">
                  <c:v>115.537</c:v>
                </c:pt>
                <c:pt idx="167">
                  <c:v>119.468</c:v>
                </c:pt>
                <c:pt idx="168">
                  <c:v>122.599</c:v>
                </c:pt>
                <c:pt idx="169">
                  <c:v>127.888</c:v>
                </c:pt>
                <c:pt idx="170">
                  <c:v>27.177</c:v>
                </c:pt>
                <c:pt idx="171">
                  <c:v>29.999</c:v>
                </c:pt>
                <c:pt idx="172">
                  <c:v>33.522</c:v>
                </c:pt>
                <c:pt idx="173">
                  <c:v>36.867</c:v>
                </c:pt>
                <c:pt idx="174">
                  <c:v>39.958</c:v>
                </c:pt>
                <c:pt idx="175">
                  <c:v>43.653</c:v>
                </c:pt>
                <c:pt idx="176">
                  <c:v>52.239</c:v>
                </c:pt>
                <c:pt idx="177">
                  <c:v>57.922</c:v>
                </c:pt>
                <c:pt idx="178">
                  <c:v>62.66</c:v>
                </c:pt>
                <c:pt idx="179">
                  <c:v>66.088</c:v>
                </c:pt>
                <c:pt idx="180">
                  <c:v>70.764</c:v>
                </c:pt>
                <c:pt idx="181">
                  <c:v>74.554</c:v>
                </c:pt>
                <c:pt idx="182">
                  <c:v>81.234</c:v>
                </c:pt>
                <c:pt idx="183">
                  <c:v>85.086</c:v>
                </c:pt>
                <c:pt idx="184">
                  <c:v>28.524</c:v>
                </c:pt>
                <c:pt idx="185">
                  <c:v>35.212</c:v>
                </c:pt>
                <c:pt idx="186">
                  <c:v>41.261</c:v>
                </c:pt>
                <c:pt idx="187">
                  <c:v>43.661</c:v>
                </c:pt>
                <c:pt idx="188">
                  <c:v>46.385</c:v>
                </c:pt>
                <c:pt idx="189">
                  <c:v>48.961</c:v>
                </c:pt>
                <c:pt idx="190">
                  <c:v>52.772</c:v>
                </c:pt>
                <c:pt idx="191">
                  <c:v>58.043</c:v>
                </c:pt>
                <c:pt idx="192">
                  <c:v>64.377</c:v>
                </c:pt>
                <c:pt idx="193">
                  <c:v>71.557</c:v>
                </c:pt>
                <c:pt idx="194">
                  <c:v>75.371</c:v>
                </c:pt>
                <c:pt idx="195">
                  <c:v>78.306</c:v>
                </c:pt>
                <c:pt idx="196">
                  <c:v>80.979</c:v>
                </c:pt>
                <c:pt idx="197">
                  <c:v>84.663</c:v>
                </c:pt>
                <c:pt idx="198">
                  <c:v>28.181</c:v>
                </c:pt>
                <c:pt idx="199">
                  <c:v>35.833</c:v>
                </c:pt>
                <c:pt idx="200">
                  <c:v>37.294</c:v>
                </c:pt>
                <c:pt idx="201">
                  <c:v>41.73</c:v>
                </c:pt>
                <c:pt idx="202">
                  <c:v>50.645</c:v>
                </c:pt>
                <c:pt idx="203">
                  <c:v>54.332</c:v>
                </c:pt>
                <c:pt idx="204">
                  <c:v>61.137</c:v>
                </c:pt>
                <c:pt idx="205">
                  <c:v>65.663</c:v>
                </c:pt>
                <c:pt idx="206">
                  <c:v>77.874</c:v>
                </c:pt>
                <c:pt idx="207">
                  <c:v>80.824</c:v>
                </c:pt>
                <c:pt idx="208">
                  <c:v>86.033</c:v>
                </c:pt>
                <c:pt idx="209">
                  <c:v>90.321</c:v>
                </c:pt>
                <c:pt idx="210">
                  <c:v>93.16</c:v>
                </c:pt>
                <c:pt idx="211">
                  <c:v>96.544</c:v>
                </c:pt>
                <c:pt idx="212">
                  <c:v>100.009</c:v>
                </c:pt>
                <c:pt idx="213">
                  <c:v>31.902</c:v>
                </c:pt>
                <c:pt idx="214">
                  <c:v>38.592</c:v>
                </c:pt>
                <c:pt idx="215">
                  <c:v>51.965</c:v>
                </c:pt>
                <c:pt idx="216">
                  <c:v>62.038</c:v>
                </c:pt>
                <c:pt idx="217">
                  <c:v>76.354</c:v>
                </c:pt>
                <c:pt idx="218">
                  <c:v>80.336</c:v>
                </c:pt>
                <c:pt idx="219">
                  <c:v>85.109</c:v>
                </c:pt>
                <c:pt idx="220">
                  <c:v>89.733</c:v>
                </c:pt>
                <c:pt idx="221">
                  <c:v>94.028</c:v>
                </c:pt>
                <c:pt idx="222">
                  <c:v>98.675</c:v>
                </c:pt>
                <c:pt idx="223">
                  <c:v>103.146</c:v>
                </c:pt>
                <c:pt idx="224">
                  <c:v>106.995</c:v>
                </c:pt>
                <c:pt idx="225">
                  <c:v>112.809</c:v>
                </c:pt>
                <c:pt idx="226">
                  <c:v>117.589</c:v>
                </c:pt>
                <c:pt idx="227">
                  <c:v>122.039</c:v>
                </c:pt>
                <c:pt idx="228">
                  <c:v>125.108</c:v>
                </c:pt>
                <c:pt idx="229">
                  <c:v>128.564</c:v>
                </c:pt>
                <c:pt idx="230">
                  <c:v>132.262</c:v>
                </c:pt>
                <c:pt idx="231">
                  <c:v>134.394</c:v>
                </c:pt>
                <c:pt idx="232">
                  <c:v>138.769</c:v>
                </c:pt>
                <c:pt idx="233">
                  <c:v>26.803</c:v>
                </c:pt>
                <c:pt idx="234">
                  <c:v>31.22</c:v>
                </c:pt>
                <c:pt idx="235">
                  <c:v>36.619</c:v>
                </c:pt>
                <c:pt idx="236">
                  <c:v>40.486</c:v>
                </c:pt>
                <c:pt idx="237">
                  <c:v>44.122</c:v>
                </c:pt>
                <c:pt idx="238">
                  <c:v>55.858</c:v>
                </c:pt>
                <c:pt idx="239">
                  <c:v>65.601</c:v>
                </c:pt>
                <c:pt idx="240">
                  <c:v>82.54</c:v>
                </c:pt>
                <c:pt idx="241">
                  <c:v>91.519</c:v>
                </c:pt>
                <c:pt idx="242">
                  <c:v>107.883</c:v>
                </c:pt>
                <c:pt idx="243">
                  <c:v>111.824</c:v>
                </c:pt>
                <c:pt idx="244">
                  <c:v>117.867</c:v>
                </c:pt>
                <c:pt idx="245">
                  <c:v>122.821</c:v>
                </c:pt>
                <c:pt idx="246">
                  <c:v>126.316</c:v>
                </c:pt>
                <c:pt idx="247">
                  <c:v>132.048</c:v>
                </c:pt>
                <c:pt idx="248">
                  <c:v>28.23</c:v>
                </c:pt>
                <c:pt idx="249">
                  <c:v>40.445</c:v>
                </c:pt>
                <c:pt idx="250">
                  <c:v>47.176</c:v>
                </c:pt>
                <c:pt idx="251">
                  <c:v>55.792</c:v>
                </c:pt>
                <c:pt idx="252">
                  <c:v>63.01</c:v>
                </c:pt>
                <c:pt idx="253">
                  <c:v>69.736</c:v>
                </c:pt>
                <c:pt idx="254">
                  <c:v>88.976</c:v>
                </c:pt>
                <c:pt idx="255">
                  <c:v>98.504</c:v>
                </c:pt>
                <c:pt idx="256">
                  <c:v>109.996</c:v>
                </c:pt>
                <c:pt idx="257">
                  <c:v>118.498</c:v>
                </c:pt>
                <c:pt idx="258">
                  <c:v>121.807</c:v>
                </c:pt>
                <c:pt idx="259">
                  <c:v>124.603</c:v>
                </c:pt>
                <c:pt idx="260">
                  <c:v>126.192</c:v>
                </c:pt>
                <c:pt idx="261">
                  <c:v>129.801</c:v>
                </c:pt>
                <c:pt idx="262">
                  <c:v>30.103</c:v>
                </c:pt>
                <c:pt idx="263">
                  <c:v>33.706</c:v>
                </c:pt>
                <c:pt idx="264">
                  <c:v>39.023</c:v>
                </c:pt>
                <c:pt idx="265">
                  <c:v>43.166</c:v>
                </c:pt>
                <c:pt idx="266">
                  <c:v>25.445</c:v>
                </c:pt>
                <c:pt idx="267">
                  <c:v>28.407</c:v>
                </c:pt>
                <c:pt idx="268">
                  <c:v>43.565</c:v>
                </c:pt>
                <c:pt idx="269">
                  <c:v>51.363</c:v>
                </c:pt>
                <c:pt idx="270">
                  <c:v>57.124</c:v>
                </c:pt>
                <c:pt idx="271">
                  <c:v>72.145</c:v>
                </c:pt>
                <c:pt idx="272">
                  <c:v>76.56</c:v>
                </c:pt>
                <c:pt idx="273">
                  <c:v>79.005</c:v>
                </c:pt>
                <c:pt idx="274">
                  <c:v>82.389</c:v>
                </c:pt>
                <c:pt idx="275">
                  <c:v>87.325</c:v>
                </c:pt>
                <c:pt idx="276">
                  <c:v>94.726</c:v>
                </c:pt>
                <c:pt idx="277">
                  <c:v>98.244</c:v>
                </c:pt>
                <c:pt idx="278">
                  <c:v>101.019</c:v>
                </c:pt>
                <c:pt idx="279">
                  <c:v>104.091</c:v>
                </c:pt>
                <c:pt idx="280">
                  <c:v>107.574</c:v>
                </c:pt>
                <c:pt idx="281">
                  <c:v>112.562</c:v>
                </c:pt>
                <c:pt idx="282">
                  <c:v>41.698</c:v>
                </c:pt>
                <c:pt idx="283">
                  <c:v>52.36</c:v>
                </c:pt>
                <c:pt idx="284">
                  <c:v>61.183</c:v>
                </c:pt>
                <c:pt idx="285">
                  <c:v>66.414</c:v>
                </c:pt>
                <c:pt idx="286">
                  <c:v>70.075</c:v>
                </c:pt>
                <c:pt idx="287">
                  <c:v>73.513</c:v>
                </c:pt>
                <c:pt idx="288">
                  <c:v>77.221</c:v>
                </c:pt>
                <c:pt idx="289">
                  <c:v>81.953</c:v>
                </c:pt>
                <c:pt idx="290">
                  <c:v>88.988</c:v>
                </c:pt>
                <c:pt idx="291">
                  <c:v>93.369</c:v>
                </c:pt>
                <c:pt idx="292">
                  <c:v>97.14</c:v>
                </c:pt>
                <c:pt idx="293">
                  <c:v>99.016</c:v>
                </c:pt>
                <c:pt idx="294">
                  <c:v>101.667</c:v>
                </c:pt>
                <c:pt idx="295">
                  <c:v>104.57</c:v>
                </c:pt>
                <c:pt idx="296">
                  <c:v>108.099</c:v>
                </c:pt>
                <c:pt idx="297">
                  <c:v>111.767</c:v>
                </c:pt>
                <c:pt idx="298">
                  <c:v>118.856</c:v>
                </c:pt>
                <c:pt idx="299">
                  <c:v>122.842</c:v>
                </c:pt>
                <c:pt idx="300">
                  <c:v>27.299</c:v>
                </c:pt>
                <c:pt idx="301">
                  <c:v>30.008</c:v>
                </c:pt>
                <c:pt idx="302">
                  <c:v>34.115</c:v>
                </c:pt>
                <c:pt idx="303">
                  <c:v>39.184</c:v>
                </c:pt>
                <c:pt idx="304">
                  <c:v>46.875</c:v>
                </c:pt>
                <c:pt idx="305">
                  <c:v>52.258</c:v>
                </c:pt>
                <c:pt idx="306">
                  <c:v>65.375</c:v>
                </c:pt>
                <c:pt idx="307">
                  <c:v>68.851</c:v>
                </c:pt>
                <c:pt idx="308">
                  <c:v>73.427</c:v>
                </c:pt>
                <c:pt idx="309">
                  <c:v>81.464</c:v>
                </c:pt>
                <c:pt idx="310">
                  <c:v>89.536</c:v>
                </c:pt>
                <c:pt idx="311">
                  <c:v>100.007</c:v>
                </c:pt>
                <c:pt idx="312">
                  <c:v>107.211</c:v>
                </c:pt>
                <c:pt idx="313">
                  <c:v>115.716</c:v>
                </c:pt>
                <c:pt idx="314">
                  <c:v>132.474</c:v>
                </c:pt>
                <c:pt idx="315">
                  <c:v>138.424</c:v>
                </c:pt>
                <c:pt idx="316">
                  <c:v>142.376</c:v>
                </c:pt>
                <c:pt idx="317">
                  <c:v>29.723</c:v>
                </c:pt>
                <c:pt idx="318">
                  <c:v>35.569</c:v>
                </c:pt>
                <c:pt idx="319">
                  <c:v>46.449</c:v>
                </c:pt>
                <c:pt idx="320">
                  <c:v>54.125</c:v>
                </c:pt>
                <c:pt idx="321">
                  <c:v>58.172</c:v>
                </c:pt>
                <c:pt idx="322">
                  <c:v>65.229</c:v>
                </c:pt>
                <c:pt idx="323">
                  <c:v>85.843</c:v>
                </c:pt>
                <c:pt idx="324">
                  <c:v>88.619</c:v>
                </c:pt>
                <c:pt idx="325">
                  <c:v>92.387</c:v>
                </c:pt>
                <c:pt idx="326">
                  <c:v>101.625</c:v>
                </c:pt>
                <c:pt idx="327">
                  <c:v>106.204</c:v>
                </c:pt>
                <c:pt idx="328">
                  <c:v>111.193</c:v>
                </c:pt>
                <c:pt idx="329">
                  <c:v>115.417</c:v>
                </c:pt>
                <c:pt idx="330">
                  <c:v>120.652</c:v>
                </c:pt>
                <c:pt idx="331">
                  <c:v>125.633</c:v>
                </c:pt>
                <c:pt idx="332">
                  <c:v>128.184</c:v>
                </c:pt>
                <c:pt idx="333">
                  <c:v>132.135</c:v>
                </c:pt>
                <c:pt idx="334">
                  <c:v>28.165</c:v>
                </c:pt>
                <c:pt idx="335">
                  <c:v>30.104</c:v>
                </c:pt>
                <c:pt idx="336">
                  <c:v>33.871</c:v>
                </c:pt>
                <c:pt idx="337">
                  <c:v>39.013</c:v>
                </c:pt>
                <c:pt idx="338">
                  <c:v>42.555</c:v>
                </c:pt>
                <c:pt idx="339">
                  <c:v>45.151</c:v>
                </c:pt>
                <c:pt idx="340">
                  <c:v>50.277</c:v>
                </c:pt>
                <c:pt idx="341">
                  <c:v>55.226</c:v>
                </c:pt>
                <c:pt idx="342">
                  <c:v>59.28</c:v>
                </c:pt>
                <c:pt idx="343">
                  <c:v>62.21</c:v>
                </c:pt>
                <c:pt idx="344">
                  <c:v>66.168</c:v>
                </c:pt>
                <c:pt idx="345">
                  <c:v>70.003</c:v>
                </c:pt>
                <c:pt idx="346">
                  <c:v>24.952</c:v>
                </c:pt>
                <c:pt idx="347">
                  <c:v>30.74</c:v>
                </c:pt>
                <c:pt idx="348">
                  <c:v>35.463</c:v>
                </c:pt>
                <c:pt idx="349">
                  <c:v>22.718</c:v>
                </c:pt>
                <c:pt idx="350">
                  <c:v>48.085</c:v>
                </c:pt>
                <c:pt idx="351">
                  <c:v>59.062</c:v>
                </c:pt>
                <c:pt idx="352">
                  <c:v>71.521</c:v>
                </c:pt>
                <c:pt idx="353">
                  <c:v>86.289</c:v>
                </c:pt>
                <c:pt idx="354">
                  <c:v>90.986</c:v>
                </c:pt>
                <c:pt idx="355">
                  <c:v>95.473</c:v>
                </c:pt>
                <c:pt idx="356">
                  <c:v>98.489</c:v>
                </c:pt>
                <c:pt idx="357">
                  <c:v>101.382</c:v>
                </c:pt>
                <c:pt idx="358">
                  <c:v>105.136</c:v>
                </c:pt>
                <c:pt idx="359">
                  <c:v>109.026</c:v>
                </c:pt>
                <c:pt idx="360">
                  <c:v>113.31</c:v>
                </c:pt>
                <c:pt idx="361">
                  <c:v>118.687</c:v>
                </c:pt>
                <c:pt idx="362">
                  <c:v>124.973</c:v>
                </c:pt>
                <c:pt idx="363">
                  <c:v>134.915</c:v>
                </c:pt>
                <c:pt idx="364">
                  <c:v>140.518</c:v>
                </c:pt>
                <c:pt idx="365">
                  <c:v>144.745</c:v>
                </c:pt>
                <c:pt idx="366">
                  <c:v>29.768</c:v>
                </c:pt>
                <c:pt idx="367">
                  <c:v>37.097</c:v>
                </c:pt>
                <c:pt idx="368">
                  <c:v>40.153</c:v>
                </c:pt>
                <c:pt idx="369">
                  <c:v>48.529</c:v>
                </c:pt>
                <c:pt idx="370">
                  <c:v>55.151</c:v>
                </c:pt>
                <c:pt idx="371">
                  <c:v>63.289</c:v>
                </c:pt>
                <c:pt idx="372">
                  <c:v>66.097</c:v>
                </c:pt>
                <c:pt idx="373">
                  <c:v>68.267</c:v>
                </c:pt>
                <c:pt idx="374">
                  <c:v>72.409</c:v>
                </c:pt>
                <c:pt idx="375">
                  <c:v>78.848</c:v>
                </c:pt>
                <c:pt idx="376">
                  <c:v>83.203</c:v>
                </c:pt>
                <c:pt idx="377">
                  <c:v>85.105</c:v>
                </c:pt>
                <c:pt idx="378">
                  <c:v>88.71</c:v>
                </c:pt>
                <c:pt idx="379">
                  <c:v>93.26</c:v>
                </c:pt>
                <c:pt idx="380">
                  <c:v>96.824</c:v>
                </c:pt>
                <c:pt idx="381">
                  <c:v>101.26</c:v>
                </c:pt>
                <c:pt idx="382">
                  <c:v>105.918</c:v>
                </c:pt>
                <c:pt idx="383">
                  <c:v>108.954</c:v>
                </c:pt>
                <c:pt idx="384">
                  <c:v>113.806</c:v>
                </c:pt>
                <c:pt idx="385">
                  <c:v>119.676</c:v>
                </c:pt>
                <c:pt idx="386">
                  <c:v>23.629</c:v>
                </c:pt>
                <c:pt idx="387">
                  <c:v>44.922</c:v>
                </c:pt>
                <c:pt idx="388">
                  <c:v>48.391</c:v>
                </c:pt>
                <c:pt idx="389">
                  <c:v>52.104</c:v>
                </c:pt>
                <c:pt idx="390">
                  <c:v>55.24</c:v>
                </c:pt>
                <c:pt idx="391">
                  <c:v>58.393</c:v>
                </c:pt>
                <c:pt idx="392">
                  <c:v>63.811</c:v>
                </c:pt>
                <c:pt idx="393">
                  <c:v>68.218</c:v>
                </c:pt>
                <c:pt idx="394">
                  <c:v>71.978</c:v>
                </c:pt>
                <c:pt idx="395">
                  <c:v>76.097</c:v>
                </c:pt>
                <c:pt idx="396">
                  <c:v>79.764</c:v>
                </c:pt>
                <c:pt idx="397">
                  <c:v>83.489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128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B8C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B7B8C"/>
                    </a:solidFill>
                    <a:latin typeface="+mn-lt"/>
                  </a:rPr>
                  <a:t>call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2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414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1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128"/>
                </a:solidFill>
                <a:latin typeface="+mn-lt"/>
              </a:rPr>
              <a:t>Estimated cumulative cost of context and output ($)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Monolithic, 1M model default</c:v>
                </c:pt>
              </c:strCache>
            </c:strRef>
          </c:tx>
          <c:spPr>
            <a:solidFill>
              <a:srgbClr val="C8553D"/>
            </a:solidFill>
            <a:ln w="3175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12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0.67</c:v>
                </c:pt>
                <c:pt idx="1">
                  <c:v>2.7</c:v>
                </c:pt>
                <c:pt idx="2">
                  <c:v>5.38</c:v>
                </c:pt>
                <c:pt idx="3">
                  <c:v>8.58</c:v>
                </c:pt>
                <c:pt idx="4">
                  <c:v>14</c:v>
                </c:pt>
                <c:pt idx="5">
                  <c:v>17.85</c:v>
                </c:pt>
                <c:pt idx="6">
                  <c:v>22.72</c:v>
                </c:pt>
                <c:pt idx="7">
                  <c:v>30.31</c:v>
                </c:pt>
                <c:pt idx="8">
                  <c:v>40.67</c:v>
                </c:pt>
                <c:pt idx="9">
                  <c:v>49.55</c:v>
                </c:pt>
                <c:pt idx="10">
                  <c:v>59.72</c:v>
                </c:pt>
                <c:pt idx="11">
                  <c:v>77.27</c:v>
                </c:pt>
                <c:pt idx="12">
                  <c:v>87.09</c:v>
                </c:pt>
                <c:pt idx="13">
                  <c:v>90.39</c:v>
                </c:pt>
                <c:pt idx="14">
                  <c:v>94.84</c:v>
                </c:pt>
                <c:pt idx="15">
                  <c:v>99.96</c:v>
                </c:pt>
                <c:pt idx="16">
                  <c:v>106</c:v>
                </c:pt>
                <c:pt idx="17">
                  <c:v>113.65</c:v>
                </c:pt>
                <c:pt idx="18">
                  <c:v>126.26</c:v>
                </c:pt>
                <c:pt idx="19">
                  <c:v>138.18</c:v>
                </c:pt>
                <c:pt idx="20">
                  <c:v>150.79</c:v>
                </c:pt>
                <c:pt idx="21">
                  <c:v>154.92</c:v>
                </c:pt>
                <c:pt idx="22">
                  <c:v>171.74</c:v>
                </c:pt>
                <c:pt idx="23">
                  <c:v>174.76</c:v>
                </c:pt>
                <c:pt idx="24">
                  <c:v>178.74</c:v>
                </c:pt>
                <c:pt idx="25">
                  <c:v>185.32</c:v>
                </c:pt>
                <c:pt idx="26">
                  <c:v>190.86</c:v>
                </c:pt>
                <c:pt idx="27">
                  <c:v>192.63</c:v>
                </c:pt>
                <c:pt idx="28">
                  <c:v>202.64</c:v>
                </c:pt>
                <c:pt idx="29">
                  <c:v>217.79</c:v>
                </c:pt>
                <c:pt idx="30">
                  <c:v>227.6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Monolithic, auto-compacts at 200k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12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0.67</c:v>
                </c:pt>
                <c:pt idx="1">
                  <c:v>2.7</c:v>
                </c:pt>
                <c:pt idx="2">
                  <c:v>4.88</c:v>
                </c:pt>
                <c:pt idx="3">
                  <c:v>6.29</c:v>
                </c:pt>
                <c:pt idx="4">
                  <c:v>9.41</c:v>
                </c:pt>
                <c:pt idx="5">
                  <c:v>10.1</c:v>
                </c:pt>
                <c:pt idx="6">
                  <c:v>11.4</c:v>
                </c:pt>
                <c:pt idx="7">
                  <c:v>14.27</c:v>
                </c:pt>
                <c:pt idx="8">
                  <c:v>16.2</c:v>
                </c:pt>
                <c:pt idx="9">
                  <c:v>18.95</c:v>
                </c:pt>
                <c:pt idx="10">
                  <c:v>20.25</c:v>
                </c:pt>
                <c:pt idx="11">
                  <c:v>23.61</c:v>
                </c:pt>
                <c:pt idx="12">
                  <c:v>25.39</c:v>
                </c:pt>
                <c:pt idx="13">
                  <c:v>27.6</c:v>
                </c:pt>
                <c:pt idx="14">
                  <c:v>30.48</c:v>
                </c:pt>
                <c:pt idx="15">
                  <c:v>33.48</c:v>
                </c:pt>
                <c:pt idx="16">
                  <c:v>35.4</c:v>
                </c:pt>
                <c:pt idx="17">
                  <c:v>38.01</c:v>
                </c:pt>
                <c:pt idx="18">
                  <c:v>41.16</c:v>
                </c:pt>
                <c:pt idx="19">
                  <c:v>44.12</c:v>
                </c:pt>
                <c:pt idx="20">
                  <c:v>46.61</c:v>
                </c:pt>
                <c:pt idx="21">
                  <c:v>47.62</c:v>
                </c:pt>
                <c:pt idx="22">
                  <c:v>50.22</c:v>
                </c:pt>
                <c:pt idx="23">
                  <c:v>54.16</c:v>
                </c:pt>
                <c:pt idx="24">
                  <c:v>56.81</c:v>
                </c:pt>
                <c:pt idx="25">
                  <c:v>59.76</c:v>
                </c:pt>
                <c:pt idx="26">
                  <c:v>61.96</c:v>
                </c:pt>
                <c:pt idx="27">
                  <c:v>62.74</c:v>
                </c:pt>
                <c:pt idx="28">
                  <c:v>65.51</c:v>
                </c:pt>
                <c:pt idx="29">
                  <c:v>69.42</c:v>
                </c:pt>
                <c:pt idx="30">
                  <c:v>71.27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work-packet steps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12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</c:lvl>
              </c:multiLvlStrCache>
            </c:multiLvl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0.63</c:v>
                </c:pt>
                <c:pt idx="1">
                  <c:v>1.71</c:v>
                </c:pt>
                <c:pt idx="2">
                  <c:v>2.69</c:v>
                </c:pt>
                <c:pt idx="3">
                  <c:v>3.57</c:v>
                </c:pt>
                <c:pt idx="4">
                  <c:v>4.66</c:v>
                </c:pt>
                <c:pt idx="5">
                  <c:v>5.17</c:v>
                </c:pt>
                <c:pt idx="6">
                  <c:v>5.9</c:v>
                </c:pt>
                <c:pt idx="7">
                  <c:v>7.1</c:v>
                </c:pt>
                <c:pt idx="8">
                  <c:v>8.64</c:v>
                </c:pt>
                <c:pt idx="9">
                  <c:v>9.8</c:v>
                </c:pt>
                <c:pt idx="10">
                  <c:v>10.82</c:v>
                </c:pt>
                <c:pt idx="11">
                  <c:v>12.29</c:v>
                </c:pt>
                <c:pt idx="12">
                  <c:v>13.13</c:v>
                </c:pt>
                <c:pt idx="13">
                  <c:v>14.57</c:v>
                </c:pt>
                <c:pt idx="14">
                  <c:v>16.68</c:v>
                </c:pt>
                <c:pt idx="15">
                  <c:v>17.88</c:v>
                </c:pt>
                <c:pt idx="16">
                  <c:v>19.15</c:v>
                </c:pt>
                <c:pt idx="17">
                  <c:v>20.68</c:v>
                </c:pt>
                <c:pt idx="18">
                  <c:v>23.35</c:v>
                </c:pt>
                <c:pt idx="19">
                  <c:v>25.22</c:v>
                </c:pt>
                <c:pt idx="20">
                  <c:v>27.05</c:v>
                </c:pt>
                <c:pt idx="21">
                  <c:v>27.33</c:v>
                </c:pt>
                <c:pt idx="22">
                  <c:v>29.15</c:v>
                </c:pt>
                <c:pt idx="23">
                  <c:v>31.38</c:v>
                </c:pt>
                <c:pt idx="24">
                  <c:v>33.42</c:v>
                </c:pt>
                <c:pt idx="25">
                  <c:v>35.59</c:v>
                </c:pt>
                <c:pt idx="26">
                  <c:v>36.46</c:v>
                </c:pt>
                <c:pt idx="27">
                  <c:v>36.66</c:v>
                </c:pt>
                <c:pt idx="28">
                  <c:v>39.05</c:v>
                </c:pt>
                <c:pt idx="29">
                  <c:v>41.36</c:v>
                </c:pt>
                <c:pt idx="30">
                  <c:v>42.47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128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B8C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B7B8C"/>
                    </a:solidFill>
                    <a:latin typeface="+mn-lt"/>
                  </a:rPr>
                  <a:t>step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2E7"/>
              </a:solidFill>
              <a:prstDash val="solid"/>
              <a:round/>
            </a:ln>
          </c:spPr>
        </c:majorGridlines>
        <c:numFmt formatCode="$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414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1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128"/>
                </a:solidFill>
                <a:latin typeface="+mn-lt"/>
              </a:rPr>
              <a:t>Estimated cost of dvs-enh by compaction policy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Est. cost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$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1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B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B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7B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7B8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1M model default</c:v>
                  </c:pt>
                  <c:pt idx="1">
                    <c:v>Compact at each top-level item (needs 1M)</c:v>
                  </c:pt>
                  <c:pt idx="2">
                    <c:v>Compact at each sub-item (needs 1M)</c:v>
                  </c:pt>
                  <c:pt idx="3">
                    <c:v>Auto-compact at 200k</c:v>
                  </c:pt>
                  <c:pt idx="4">
                    <c:v>Compact at each sub-item, + auto at 200k</c:v>
                  </c:pt>
                  <c:pt idx="5">
                    <c:v>Ideal: compact at each natural break near 80k</c:v>
                  </c:pt>
                  <c:pt idx="6">
                    <c:v>work-packet steps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227.6</c:v>
                </c:pt>
                <c:pt idx="1">
                  <c:v>134.52</c:v>
                </c:pt>
                <c:pt idx="2">
                  <c:v>91.68</c:v>
                </c:pt>
                <c:pt idx="3">
                  <c:v>71.27</c:v>
                </c:pt>
                <c:pt idx="4">
                  <c:v>67.66</c:v>
                </c:pt>
                <c:pt idx="5">
                  <c:v>61.57</c:v>
                </c:pt>
                <c:pt idx="6">
                  <c:v>42.47</c:v>
                </c:pt>
              </c:numCache>
            </c:numRef>
          </c:val>
        </c:ser>
        <c:dLbls>
          <c:numFmt formatCode="$0" sourceLinked="0"/>
          <c:txPr>
            <a:bodyPr/>
            <a:lstStyle/>
            <a:p>
              <a:pPr>
                <a:defRPr b="0" i="0" strike="noStrike" sz="1200" u="none">
                  <a:solidFill>
                    <a:srgbClr val="1C21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dvs-enh: six items of a dv-solve enhancement plan, run by work-packet as 31 Claude Code steps (Sonnet 5) between 23 and 24 October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Simulated from the 31 passing steps: each step's calls are replayed on top of everything carried from earlier steps; at the threshold the context compacts to a 20k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Estimated at Sonnet-class price ratios: cache read 0.30, cache write 3.75, output 15 per million tokens. The steps' own estimate ($42) is close to the reported $46.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auto-compacts by default near the model's window; on a 1M model that is near 1M unless set lower with --autocompact, /autocompact or autoCompactWindow. The ideal case compacts where each work-packet step ended (about 80k, at a clean point); a user would have to watch the context counter to come close. Plan items: 14 sub-items under 7 top-level items; item 1b alone grew to 389k, so item-only policies need a 1M window. Simulation details: docs/experiments/dvs-enh-monolithic.md, 'When to compact'.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log view of each step shows the transcript as a numbered console, one collapsible group per tool call, with log.txt and the raw JSONL to download.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work-packet · the dvs-enh run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Many short steps beat one long session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What the dvs-enh run says about work-packet: cost and quota, visibility, and many projects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run: six enhancement items, 31 steps, about a day</a:t>
            </a:r>
            <a:endParaRPr lang="en-US" sz="3400" dirty="0"/>
          </a:p>
        </p:txBody>
      </p:sp>
      <p:sp>
        <p:nvSpPr>
          <p:cNvPr id="3" name="t1"/>
          <p:cNvSpPr txBox="1"/>
          <p:nvPr/>
        </p:nvSpPr>
        <p:spPr>
          <a:xfrm>
            <a:off x="54864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800" dirty="0"/>
          </a:p>
        </p:txBody>
      </p:sp>
      <p:sp>
        <p:nvSpPr>
          <p:cNvPr id="4" name="t2"/>
          <p:cNvSpPr txBox="1"/>
          <p:nvPr/>
        </p:nvSpPr>
        <p:spPr>
          <a:xfrm>
            <a:off x="54864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steps passed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(plus 7 failed attempts)</a:t>
            </a:r>
            <a:endParaRPr lang="en-US" sz="1300" dirty="0"/>
          </a:p>
        </p:txBody>
      </p:sp>
      <p:sp>
        <p:nvSpPr>
          <p:cNvPr id="5" name="t3"/>
          <p:cNvSpPr txBox="1"/>
          <p:nvPr/>
        </p:nvSpPr>
        <p:spPr>
          <a:xfrm>
            <a:off x="333756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1,857</a:t>
            </a:r>
            <a:endParaRPr lang="en-US" sz="4800" dirty="0"/>
          </a:p>
        </p:txBody>
      </p:sp>
      <p:sp>
        <p:nvSpPr>
          <p:cNvPr id="6" name="t4"/>
          <p:cNvSpPr txBox="1"/>
          <p:nvPr/>
        </p:nvSpPr>
        <p:spPr>
          <a:xfrm>
            <a:off x="333756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model calls</a:t>
            </a:r>
            <a:endParaRPr lang="en-US" sz="1300" dirty="0"/>
          </a:p>
        </p:txBody>
      </p:sp>
      <p:sp>
        <p:nvSpPr>
          <p:cNvPr id="7" name="t5"/>
          <p:cNvSpPr txBox="1"/>
          <p:nvPr/>
        </p:nvSpPr>
        <p:spPr>
          <a:xfrm>
            <a:off x="612648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</a:t>
            </a:r>
            <a:endParaRPr lang="en-US" sz="4800" dirty="0"/>
          </a:p>
        </p:txBody>
      </p:sp>
      <p:sp>
        <p:nvSpPr>
          <p:cNvPr id="8" name="t6"/>
          <p:cNvSpPr txBox="1"/>
          <p:nvPr/>
        </p:nvSpPr>
        <p:spPr>
          <a:xfrm>
            <a:off x="612648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reported cost</a:t>
            </a:r>
            <a:endParaRPr lang="en-US" sz="1300" dirty="0"/>
          </a:p>
        </p:txBody>
      </p:sp>
      <p:sp>
        <p:nvSpPr>
          <p:cNvPr id="9" name="t7"/>
          <p:cNvSpPr txBox="1"/>
          <p:nvPr/>
        </p:nvSpPr>
        <p:spPr>
          <a:xfrm>
            <a:off x="891540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4800" dirty="0"/>
          </a:p>
        </p:txBody>
      </p:sp>
      <p:sp>
        <p:nvSpPr>
          <p:cNvPr id="10" name="t8"/>
          <p:cNvSpPr txBox="1"/>
          <p:nvPr/>
        </p:nvSpPr>
        <p:spPr>
          <a:xfrm>
            <a:off x="891540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of the weekly quota</a:t>
            </a:r>
            <a:endParaRPr lang="en-US" sz="1300" dirty="0"/>
          </a:p>
        </p:txBody>
      </p:sp>
      <p:sp>
        <p:nvSpPr>
          <p:cNvPr id="11" name="card9"/>
          <p:cNvSpPr/>
          <p:nvPr/>
        </p:nvSpPr>
        <p:spPr>
          <a:xfrm>
            <a:off x="548640" y="3429000"/>
            <a:ext cx="11094415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10"/>
          <p:cNvSpPr txBox="1"/>
          <p:nvPr/>
        </p:nvSpPr>
        <p:spPr>
          <a:xfrm>
            <a:off x="868680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task</a:t>
            </a:r>
            <a:endParaRPr lang="en-US" sz="1800" dirty="0"/>
          </a:p>
        </p:txBody>
      </p:sp>
      <p:sp>
        <p:nvSpPr>
          <p:cNvPr id="13" name="t11"/>
          <p:cNvSpPr txBox="1"/>
          <p:nvPr/>
        </p:nvSpPr>
        <p:spPr>
          <a:xfrm>
            <a:off x="868680" y="4069080"/>
            <a:ext cx="1045433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Items 0–5 of the dv-solve enhancement plan, on a branch of a git clone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Step 1 planned: an outline of sub-items, each one or two steps of 20–40 minutes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later step read the outline and state, did one sub-item, and committed code and tests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Elapsed time 16:05 on 23 Oct to 17:08 on 24 Oct, including waits for my answers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Cost: steps against one monolithic session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77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Replaying the same calls as one long conversation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 call re-reads its context, so context size is the cost</a:t>
            </a:r>
            <a:endParaRPr lang="en-US" sz="3400" dirty="0"/>
          </a:p>
        </p:txBody>
      </p:sp>
      <p:graphicFrame>
        <p:nvGraphicFramePr>
          <p:cNvPr id="3" name="ctxchart" descr=""/>
          <p:cNvGraphicFramePr/>
          <p:nvPr/>
        </p:nvGraphicFramePr>
        <p:xfrm>
          <a:off x="548640" y="1234440"/>
          <a:ext cx="7680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12"/>
          <p:cNvSpPr txBox="1"/>
          <p:nvPr/>
        </p:nvSpPr>
        <p:spPr>
          <a:xfrm>
            <a:off x="8549640" y="1463040"/>
            <a:ext cx="3108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call pays to re-read everything in context (mostly from the cache, but paid all the same).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step starts again at about 24k tokens: the prompt, the outline and the state.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long session only shrinks when it compacts, so its calls carry far more.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Over the run, the gap keeps widening</a:t>
            </a:r>
            <a:endParaRPr lang="en-US" sz="3400" dirty="0"/>
          </a:p>
        </p:txBody>
      </p:sp>
      <p:graphicFrame>
        <p:nvGraphicFramePr>
          <p:cNvPr id="3" name="cumchart" descr=""/>
          <p:cNvGraphicFramePr/>
          <p:nvPr/>
        </p:nvGraphicFramePr>
        <p:xfrm>
          <a:off x="548640" y="1234440"/>
          <a:ext cx="7680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13"/>
          <p:cNvSpPr txBox="1"/>
          <p:nvPr/>
        </p:nvSpPr>
        <p:spPr>
          <a:xfrm>
            <a:off x="8549640" y="1371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1.7×</a:t>
            </a:r>
            <a:endParaRPr lang="en-US" sz="4800" dirty="0"/>
          </a:p>
        </p:txBody>
      </p:sp>
      <p:sp>
        <p:nvSpPr>
          <p:cNvPr id="5" name="t14"/>
          <p:cNvSpPr txBox="1"/>
          <p:nvPr/>
        </p:nvSpPr>
        <p:spPr>
          <a:xfrm>
            <a:off x="8549640" y="2286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cost of one session that auto-compacts at 200k</a:t>
            </a:r>
            <a:endParaRPr lang="en-US" sz="1300" dirty="0"/>
          </a:p>
        </p:txBody>
      </p:sp>
      <p:sp>
        <p:nvSpPr>
          <p:cNvPr id="6" name="t15"/>
          <p:cNvSpPr txBox="1"/>
          <p:nvPr/>
        </p:nvSpPr>
        <p:spPr>
          <a:xfrm>
            <a:off x="8549640" y="33375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5.4×</a:t>
            </a:r>
            <a:endParaRPr lang="en-US" sz="4800" dirty="0"/>
          </a:p>
        </p:txBody>
      </p:sp>
      <p:sp>
        <p:nvSpPr>
          <p:cNvPr id="7" name="t16"/>
          <p:cNvSpPr txBox="1"/>
          <p:nvPr/>
        </p:nvSpPr>
        <p:spPr>
          <a:xfrm>
            <a:off x="8549640" y="4251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 a 1M model left at its default: a bigger window costs more, not less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 monolithic setup costs more</a:t>
            </a:r>
            <a:endParaRPr lang="en-US" sz="3400" dirty="0"/>
          </a:p>
        </p:txBody>
      </p:sp>
      <p:graphicFrame>
        <p:nvGraphicFramePr>
          <p:cNvPr id="7" name="cos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280160"/>
                <a:gridCol w="1097280"/>
                <a:gridCol w="1188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Run as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Context read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Est. cost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vs. steps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work-packet, 31 steps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111M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$42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1.0×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Monolithic, compacts at 200k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190M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$71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1.7×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Monolithic, compacts at 400k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341M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$114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2.7×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Monolithic, compacts near 1M (1M model default)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727M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$228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5.4×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Monolithic, never compacts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2,019M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$614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14.5×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d17"/>
          <p:cNvSpPr/>
          <p:nvPr/>
        </p:nvSpPr>
        <p:spPr>
          <a:xfrm>
            <a:off x="8412480" y="1371600"/>
            <a:ext cx="3227832" cy="3017520"/>
          </a:xfrm>
          <a:prstGeom prst="roundRect">
            <a:avLst>
              <a:gd name="adj" fmla="val 2424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ic18"/>
          <p:cNvSpPr/>
          <p:nvPr/>
        </p:nvSpPr>
        <p:spPr>
          <a:xfrm>
            <a:off x="8686800" y="164592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img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8532" y="1787652"/>
            <a:ext cx="283464" cy="283464"/>
          </a:xfrm>
          <a:prstGeom prst="rect">
            <a:avLst/>
          </a:prstGeom>
        </p:spPr>
      </p:pic>
      <p:sp>
        <p:nvSpPr>
          <p:cNvPr id="7" name="t20"/>
          <p:cNvSpPr txBox="1"/>
          <p:nvPr/>
        </p:nvSpPr>
        <p:spPr>
          <a:xfrm>
            <a:off x="86868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Quota follows cost</a:t>
            </a:r>
            <a:endParaRPr lang="en-US" sz="1700" dirty="0"/>
          </a:p>
        </p:txBody>
      </p:sp>
      <p:sp>
        <p:nvSpPr>
          <p:cNvPr id="8" name="t21"/>
          <p:cNvSpPr txBox="1"/>
          <p:nvPr/>
        </p:nvSpPr>
        <p:spPr>
          <a:xfrm>
            <a:off x="8686800" y="27889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 a subscription, the weekly quota is what runs out. It tracks cost, so the same ratios apply: the run used 11% of the week where one session would have used 19% or more.</a:t>
            </a:r>
            <a:endParaRPr lang="en-US" sz="1400" dirty="0"/>
          </a:p>
        </p:txBody>
      </p:sp>
      <p:sp>
        <p:nvSpPr>
          <p:cNvPr id="9" name="t22"/>
          <p:cNvSpPr txBox="1"/>
          <p:nvPr/>
        </p:nvSpPr>
        <p:spPr>
          <a:xfrm>
            <a:off x="54864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Output tokens are the same in every row; the difference is all in context.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Better than compaction, however it is timed</a:t>
            </a:r>
            <a:endParaRPr lang="en-US" sz="3400" dirty="0"/>
          </a:p>
        </p:txBody>
      </p:sp>
      <p:graphicFrame>
        <p:nvGraphicFramePr>
          <p:cNvPr id="3" name="polchart" descr=""/>
          <p:cNvGraphicFramePr/>
          <p:nvPr/>
        </p:nvGraphicFramePr>
        <p:xfrm>
          <a:off x="548640" y="123444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23"/>
          <p:cNvSpPr/>
          <p:nvPr/>
        </p:nvSpPr>
        <p:spPr>
          <a:xfrm>
            <a:off x="7635240" y="1325880"/>
            <a:ext cx="4005072" cy="4754880"/>
          </a:xfrm>
          <a:prstGeom prst="roundRect">
            <a:avLst>
              <a:gd name="adj" fmla="val 182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24"/>
          <p:cNvSpPr txBox="1"/>
          <p:nvPr/>
        </p:nvSpPr>
        <p:spPr>
          <a:xfrm>
            <a:off x="79095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And a more accurate hand-off</a:t>
            </a:r>
            <a:endParaRPr lang="en-US" sz="1800" dirty="0"/>
          </a:p>
        </p:txBody>
      </p:sp>
      <p:sp>
        <p:nvSpPr>
          <p:cNvPr id="6" name="ic25"/>
          <p:cNvSpPr/>
          <p:nvPr/>
        </p:nvSpPr>
        <p:spPr>
          <a:xfrm>
            <a:off x="7909560" y="210312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img2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292" y="2244852"/>
            <a:ext cx="283464" cy="283464"/>
          </a:xfrm>
          <a:prstGeom prst="rect">
            <a:avLst/>
          </a:prstGeom>
        </p:spPr>
      </p:pic>
      <p:sp>
        <p:nvSpPr>
          <p:cNvPr id="8" name="t27"/>
          <p:cNvSpPr txBox="1"/>
          <p:nvPr/>
        </p:nvSpPr>
        <p:spPr>
          <a:xfrm>
            <a:off x="8686800" y="20848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Compaction</a:t>
            </a:r>
            <a:endParaRPr lang="en-US" sz="1700" dirty="0"/>
          </a:p>
        </p:txBody>
      </p:sp>
      <p:sp>
        <p:nvSpPr>
          <p:cNvPr id="9" name="t28"/>
          <p:cNvSpPr txBox="1"/>
          <p:nvPr/>
        </p:nvSpPr>
        <p:spPr>
          <a:xfrm>
            <a:off x="8686800" y="2432304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Fires at a token count, often mid-task. Claude Code writes a summary that no one reviews.</a:t>
            </a:r>
            <a:endParaRPr lang="en-US" sz="1400" dirty="0"/>
          </a:p>
        </p:txBody>
      </p:sp>
      <p:sp>
        <p:nvSpPr>
          <p:cNvPr id="10" name="ic29"/>
          <p:cNvSpPr/>
          <p:nvPr/>
        </p:nvSpPr>
        <p:spPr>
          <a:xfrm>
            <a:off x="7909560" y="3611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img3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292" y="3753612"/>
            <a:ext cx="283464" cy="283464"/>
          </a:xfrm>
          <a:prstGeom prst="rect">
            <a:avLst/>
          </a:prstGeom>
        </p:spPr>
      </p:pic>
      <p:sp>
        <p:nvSpPr>
          <p:cNvPr id="12" name="t31"/>
          <p:cNvSpPr txBox="1"/>
          <p:nvPr/>
        </p:nvSpPr>
        <p:spPr>
          <a:xfrm>
            <a:off x="8686800" y="35935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step</a:t>
            </a:r>
            <a:endParaRPr lang="en-US" sz="1700" dirty="0"/>
          </a:p>
        </p:txBody>
      </p:sp>
      <p:sp>
        <p:nvSpPr>
          <p:cNvPr id="13" name="t32"/>
          <p:cNvSpPr txBox="1"/>
          <p:nvPr/>
        </p:nvSpPr>
        <p:spPr>
          <a:xfrm>
            <a:off x="8686800" y="3941064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Ends at a sub-item boundary. It carries the outline, state files and memento, written on purpose, kept on disk and shown on the board.</a:t>
            </a:r>
            <a:endParaRPr lang="en-US" sz="1400" dirty="0"/>
          </a:p>
        </p:txBody>
      </p:sp>
      <p:sp>
        <p:nvSpPr>
          <p:cNvPr id="14" name="t33"/>
          <p:cNvSpPr txBox="1"/>
          <p:nvPr/>
        </p:nvSpPr>
        <p:spPr>
          <a:xfrm>
            <a:off x="7909560" y="52578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Even ideal timing, a compaction at every natural break near 80k, costs 1.4×: each compaction is an extra call, and its summary rides along in every later call.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splitting costs, and what the model leaves out</a:t>
            </a:r>
            <a:endParaRPr lang="en-US" sz="3400" dirty="0"/>
          </a:p>
        </p:txBody>
      </p:sp>
      <p:sp>
        <p:nvSpPr>
          <p:cNvPr id="3" name="card34"/>
          <p:cNvSpPr/>
          <p:nvPr/>
        </p:nvSpPr>
        <p:spPr>
          <a:xfrm>
            <a:off x="54864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35"/>
          <p:cNvSpPr txBox="1"/>
          <p:nvPr/>
        </p:nvSpPr>
        <p:spPr>
          <a:xfrm>
            <a:off x="8686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Costs of splitting</a:t>
            </a:r>
            <a:endParaRPr lang="en-US" sz="2000" dirty="0"/>
          </a:p>
        </p:txBody>
      </p:sp>
      <p:sp>
        <p:nvSpPr>
          <p:cNvPr id="5" name="ic36"/>
          <p:cNvSpPr/>
          <p:nvPr/>
        </p:nvSpPr>
        <p:spPr>
          <a:xfrm>
            <a:off x="868680" y="21488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img3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290572"/>
            <a:ext cx="283464" cy="283464"/>
          </a:xfrm>
          <a:prstGeom prst="rect">
            <a:avLst/>
          </a:prstGeom>
        </p:spPr>
      </p:pic>
      <p:sp>
        <p:nvSpPr>
          <p:cNvPr id="7" name="t38"/>
          <p:cNvSpPr txBox="1"/>
          <p:nvPr/>
        </p:nvSpPr>
        <p:spPr>
          <a:xfrm>
            <a:off x="1645920" y="213055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Re-reading files: about $1</a:t>
            </a:r>
            <a:endParaRPr lang="en-US" sz="1700" dirty="0"/>
          </a:p>
        </p:txBody>
      </p:sp>
      <p:sp>
        <p:nvSpPr>
          <p:cNvPr id="8" name="t39"/>
          <p:cNvSpPr txBox="1"/>
          <p:nvPr/>
        </p:nvSpPr>
        <p:spPr>
          <a:xfrm>
            <a:off x="1645920" y="2478024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141k of the 282k tokens of file reads were files an earlier step had read. A long session re-reads too, after each compaction.</a:t>
            </a:r>
            <a:endParaRPr lang="en-US" sz="1400" dirty="0"/>
          </a:p>
        </p:txBody>
      </p:sp>
      <p:sp>
        <p:nvSpPr>
          <p:cNvPr id="9" name="ic40"/>
          <p:cNvSpPr/>
          <p:nvPr/>
        </p:nvSpPr>
        <p:spPr>
          <a:xfrm>
            <a:off x="868680" y="393192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cimg4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4073652"/>
            <a:ext cx="283464" cy="283464"/>
          </a:xfrm>
          <a:prstGeom prst="rect">
            <a:avLst/>
          </a:prstGeom>
        </p:spPr>
      </p:pic>
      <p:sp>
        <p:nvSpPr>
          <p:cNvPr id="11" name="t42"/>
          <p:cNvSpPr txBox="1"/>
          <p:nvPr/>
        </p:nvSpPr>
        <p:spPr>
          <a:xfrm>
            <a:off x="1645920" y="391363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Failed attempts: 12% of tokens</a:t>
            </a:r>
            <a:endParaRPr lang="en-US" sz="1700" dirty="0"/>
          </a:p>
        </p:txBody>
      </p:sp>
      <p:sp>
        <p:nvSpPr>
          <p:cNvPr id="12" name="t43"/>
          <p:cNvSpPr txBox="1"/>
          <p:nvPr/>
        </p:nvSpPr>
        <p:spPr>
          <a:xfrm>
            <a:off x="1645920" y="4261104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7 attempts were thrown away, mostly 30-minute timeouts. That is the biggest cost to cut.</a:t>
            </a:r>
            <a:endParaRPr lang="en-US" sz="1400" dirty="0"/>
          </a:p>
        </p:txBody>
      </p:sp>
      <p:sp>
        <p:nvSpPr>
          <p:cNvPr id="13" name="card44"/>
          <p:cNvSpPr/>
          <p:nvPr/>
        </p:nvSpPr>
        <p:spPr>
          <a:xfrm>
            <a:off x="6245352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t45"/>
          <p:cNvSpPr txBox="1"/>
          <p:nvPr/>
        </p:nvSpPr>
        <p:spPr>
          <a:xfrm>
            <a:off x="6565392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Not in the model</a:t>
            </a:r>
            <a:endParaRPr lang="en-US" sz="2000" dirty="0"/>
          </a:p>
        </p:txBody>
      </p:sp>
      <p:sp>
        <p:nvSpPr>
          <p:cNvPr id="15" name="ic46"/>
          <p:cNvSpPr/>
          <p:nvPr/>
        </p:nvSpPr>
        <p:spPr>
          <a:xfrm>
            <a:off x="6565392" y="21488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img4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124" y="2290572"/>
            <a:ext cx="283464" cy="283464"/>
          </a:xfrm>
          <a:prstGeom prst="rect">
            <a:avLst/>
          </a:prstGeom>
        </p:spPr>
      </p:pic>
      <p:sp>
        <p:nvSpPr>
          <p:cNvPr id="17" name="t48"/>
          <p:cNvSpPr txBox="1"/>
          <p:nvPr/>
        </p:nvSpPr>
        <p:spPr>
          <a:xfrm>
            <a:off x="7342632" y="213055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Lossy summaries</a:t>
            </a:r>
            <a:endParaRPr lang="en-US" sz="1700" dirty="0"/>
          </a:p>
        </p:txBody>
      </p:sp>
      <p:sp>
        <p:nvSpPr>
          <p:cNvPr id="18" name="t49"/>
          <p:cNvSpPr txBox="1"/>
          <p:nvPr/>
        </p:nvSpPr>
        <p:spPr>
          <a:xfrm>
            <a:off x="7342632" y="247802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compaction keeps a 20k summary; a step keeps state it wrote on purpose.</a:t>
            </a:r>
            <a:endParaRPr lang="en-US" sz="1400" dirty="0"/>
          </a:p>
        </p:txBody>
      </p:sp>
      <p:sp>
        <p:nvSpPr>
          <p:cNvPr id="19" name="ic50"/>
          <p:cNvSpPr/>
          <p:nvPr/>
        </p:nvSpPr>
        <p:spPr>
          <a:xfrm>
            <a:off x="6565392" y="342900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cimg5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124" y="3570732"/>
            <a:ext cx="283464" cy="283464"/>
          </a:xfrm>
          <a:prstGeom prst="rect">
            <a:avLst/>
          </a:prstGeom>
        </p:spPr>
      </p:pic>
      <p:sp>
        <p:nvSpPr>
          <p:cNvPr id="21" name="t52"/>
          <p:cNvSpPr txBox="1"/>
          <p:nvPr/>
        </p:nvSpPr>
        <p:spPr>
          <a:xfrm>
            <a:off x="7342632" y="341071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Fewer calls?</a:t>
            </a:r>
            <a:endParaRPr lang="en-US" sz="1700" dirty="0"/>
          </a:p>
        </p:txBody>
      </p:sp>
      <p:sp>
        <p:nvSpPr>
          <p:cNvPr id="22" name="t53"/>
          <p:cNvSpPr txBox="1"/>
          <p:nvPr/>
        </p:nvSpPr>
        <p:spPr>
          <a:xfrm>
            <a:off x="7342632" y="375818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session might have needed fewer calls. This data cannot say.</a:t>
            </a:r>
            <a:endParaRPr lang="en-US" sz="1400" dirty="0"/>
          </a:p>
        </p:txBody>
      </p:sp>
      <p:sp>
        <p:nvSpPr>
          <p:cNvPr id="23" name="ic54"/>
          <p:cNvSpPr/>
          <p:nvPr/>
        </p:nvSpPr>
        <p:spPr>
          <a:xfrm>
            <a:off x="6565392" y="470916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icimg5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7124" y="4850892"/>
            <a:ext cx="283464" cy="283464"/>
          </a:xfrm>
          <a:prstGeom prst="rect">
            <a:avLst/>
          </a:prstGeom>
        </p:spPr>
      </p:pic>
      <p:sp>
        <p:nvSpPr>
          <p:cNvPr id="25" name="t56"/>
          <p:cNvSpPr txBox="1"/>
          <p:nvPr/>
        </p:nvSpPr>
        <p:spPr>
          <a:xfrm>
            <a:off x="7342632" y="469087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Simulated, not run</a:t>
            </a:r>
            <a:endParaRPr lang="en-US" sz="1700" dirty="0"/>
          </a:p>
        </p:txBody>
      </p:sp>
      <p:sp>
        <p:nvSpPr>
          <p:cNvPr id="26" name="t57"/>
          <p:cNvSpPr txBox="1"/>
          <p:nvPr/>
        </p:nvSpPr>
        <p:spPr>
          <a:xfrm>
            <a:off x="7342632" y="503834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figures replay the real calls; no monolithic run was made.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Visibility: the board shows what each step is doing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77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A long session shows one terminal. The board shows the plan, the work and the spend.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Four levels, from all projects down to a single call</a:t>
            </a:r>
            <a:endParaRPr lang="en-US" sz="3400" dirty="0"/>
          </a:p>
        </p:txBody>
      </p:sp>
      <p:sp>
        <p:nvSpPr>
          <p:cNvPr id="3" name="card58"/>
          <p:cNvSpPr/>
          <p:nvPr/>
        </p:nvSpPr>
        <p:spPr>
          <a:xfrm>
            <a:off x="548640" y="1371600"/>
            <a:ext cx="2560320" cy="4480560"/>
          </a:xfrm>
          <a:prstGeom prst="roundRect">
            <a:avLst>
              <a:gd name="adj" fmla="val 28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ic59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img6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6" name="t61"/>
          <p:cNvSpPr txBox="1"/>
          <p:nvPr/>
        </p:nvSpPr>
        <p:spPr>
          <a:xfrm>
            <a:off x="82296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</a:t>
            </a:r>
            <a:endParaRPr lang="en-US" sz="2200" dirty="0"/>
          </a:p>
        </p:txBody>
      </p:sp>
      <p:sp>
        <p:nvSpPr>
          <p:cNvPr id="7" name="t62"/>
          <p:cNvSpPr txBox="1"/>
          <p:nvPr/>
        </p:nvSpPr>
        <p:spPr>
          <a:xfrm>
            <a:off x="822960" y="306324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Every project as a card in its state column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Questions waiting for you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Tokens and quota for the last 7 days</a:t>
            </a:r>
            <a:endParaRPr lang="en-US" sz="1500" dirty="0"/>
          </a:p>
        </p:txBody>
      </p:sp>
      <p:sp>
        <p:nvSpPr>
          <p:cNvPr id="8" name="arr63"/>
          <p:cNvSpPr/>
          <p:nvPr/>
        </p:nvSpPr>
        <p:spPr>
          <a:xfrm>
            <a:off x="3145536" y="3429000"/>
            <a:ext cx="164592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ard64"/>
          <p:cNvSpPr/>
          <p:nvPr/>
        </p:nvSpPr>
        <p:spPr>
          <a:xfrm>
            <a:off x="3337560" y="1371600"/>
            <a:ext cx="2560320" cy="44805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ic65"/>
          <p:cNvSpPr/>
          <p:nvPr/>
        </p:nvSpPr>
        <p:spPr>
          <a:xfrm>
            <a:off x="361188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img6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1805940"/>
            <a:ext cx="320040" cy="320040"/>
          </a:xfrm>
          <a:prstGeom prst="rect">
            <a:avLst/>
          </a:prstGeom>
        </p:spPr>
      </p:pic>
      <p:sp>
        <p:nvSpPr>
          <p:cNvPr id="12" name="t67"/>
          <p:cNvSpPr txBox="1"/>
          <p:nvPr/>
        </p:nvSpPr>
        <p:spPr>
          <a:xfrm>
            <a:off x="361188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2200" dirty="0"/>
          </a:p>
        </p:txBody>
      </p:sp>
      <p:sp>
        <p:nvSpPr>
          <p:cNvPr id="13" name="t68"/>
          <p:cNvSpPr txBox="1"/>
          <p:nvPr/>
        </p:nvSpPr>
        <p:spPr>
          <a:xfrm>
            <a:off x="3611880" y="306324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Timeline and packets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Recent steps: outcome, time, cost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Tokens per day and per plan item</a:t>
            </a:r>
            <a:endParaRPr lang="en-US" sz="1500" dirty="0"/>
          </a:p>
        </p:txBody>
      </p:sp>
      <p:sp>
        <p:nvSpPr>
          <p:cNvPr id="14" name="arr69"/>
          <p:cNvSpPr/>
          <p:nvPr/>
        </p:nvSpPr>
        <p:spPr>
          <a:xfrm>
            <a:off x="5934456" y="3429000"/>
            <a:ext cx="164592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card70"/>
          <p:cNvSpPr/>
          <p:nvPr/>
        </p:nvSpPr>
        <p:spPr>
          <a:xfrm>
            <a:off x="6126480" y="1371600"/>
            <a:ext cx="2560320" cy="4480560"/>
          </a:xfrm>
          <a:prstGeom prst="roundRect">
            <a:avLst>
              <a:gd name="adj" fmla="val 28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ic71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img7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805940"/>
            <a:ext cx="320040" cy="320040"/>
          </a:xfrm>
          <a:prstGeom prst="rect">
            <a:avLst/>
          </a:prstGeom>
        </p:spPr>
      </p:pic>
      <p:sp>
        <p:nvSpPr>
          <p:cNvPr id="18" name="t73"/>
          <p:cNvSpPr txBox="1"/>
          <p:nvPr/>
        </p:nvSpPr>
        <p:spPr>
          <a:xfrm>
            <a:off x="640080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</a:t>
            </a:r>
            <a:endParaRPr lang="en-US" sz="2200" dirty="0"/>
          </a:p>
        </p:txBody>
      </p:sp>
      <p:sp>
        <p:nvSpPr>
          <p:cNvPr id="19" name="t74"/>
          <p:cNvSpPr txBox="1"/>
          <p:nvPr/>
        </p:nvSpPr>
        <p:spPr>
          <a:xfrm>
            <a:off x="6400800" y="306324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Status, next instruction, state files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Steps table: cost, context, item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The journal of every event</a:t>
            </a:r>
            <a:endParaRPr lang="en-US" sz="1500" dirty="0"/>
          </a:p>
        </p:txBody>
      </p:sp>
      <p:sp>
        <p:nvSpPr>
          <p:cNvPr id="20" name="arr75"/>
          <p:cNvSpPr/>
          <p:nvPr/>
        </p:nvSpPr>
        <p:spPr>
          <a:xfrm>
            <a:off x="8723376" y="3429000"/>
            <a:ext cx="164592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card76"/>
          <p:cNvSpPr/>
          <p:nvPr/>
        </p:nvSpPr>
        <p:spPr>
          <a:xfrm>
            <a:off x="8915400" y="1371600"/>
            <a:ext cx="2560320" cy="44805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ic77"/>
          <p:cNvSpPr/>
          <p:nvPr/>
        </p:nvSpPr>
        <p:spPr>
          <a:xfrm>
            <a:off x="918972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cimg7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740" y="1805940"/>
            <a:ext cx="320040" cy="320040"/>
          </a:xfrm>
          <a:prstGeom prst="rect">
            <a:avLst/>
          </a:prstGeom>
        </p:spPr>
      </p:pic>
      <p:sp>
        <p:nvSpPr>
          <p:cNvPr id="24" name="t79"/>
          <p:cNvSpPr txBox="1"/>
          <p:nvPr/>
        </p:nvSpPr>
        <p:spPr>
          <a:xfrm>
            <a:off x="918972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2200" dirty="0"/>
          </a:p>
        </p:txBody>
      </p:sp>
      <p:sp>
        <p:nvSpPr>
          <p:cNvPr id="25" name="t80"/>
          <p:cNvSpPr txBox="1"/>
          <p:nvPr/>
        </p:nvSpPr>
        <p:spPr>
          <a:xfrm>
            <a:off x="9189720" y="306324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Context curve per call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Summary, memento, state changes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Transcript and a fork command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live view: a running step, refreshed every 3 seconds</a:t>
            </a:r>
            <a:endParaRPr lang="en-US" sz="3400" dirty="0"/>
          </a:p>
        </p:txBody>
      </p:sp>
      <p:sp>
        <p:nvSpPr>
          <p:cNvPr id="3" name="card81"/>
          <p:cNvSpPr/>
          <p:nvPr/>
        </p:nvSpPr>
        <p:spPr>
          <a:xfrm>
            <a:off x="548640" y="1325880"/>
            <a:ext cx="53949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ic82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img8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05940"/>
            <a:ext cx="320040" cy="320040"/>
          </a:xfrm>
          <a:prstGeom prst="rect">
            <a:avLst/>
          </a:prstGeom>
        </p:spPr>
      </p:pic>
      <p:sp>
        <p:nvSpPr>
          <p:cNvPr id="6" name="t84"/>
          <p:cNvSpPr txBox="1"/>
          <p:nvPr/>
        </p:nvSpPr>
        <p:spPr>
          <a:xfrm>
            <a:off x="1737360" y="16733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it is doing</a:t>
            </a:r>
            <a:endParaRPr lang="en-US" sz="2000" dirty="0"/>
          </a:p>
        </p:txBody>
      </p:sp>
      <p:sp>
        <p:nvSpPr>
          <p:cNvPr id="7" name="t85"/>
          <p:cNvSpPr txBox="1"/>
          <p:nvPr/>
        </p:nvSpPr>
        <p:spPr>
          <a:xfrm>
            <a:off x="1737360" y="21488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The newest 80 events: tool calls, results, messages</a:t>
            </a:r>
            <a:endParaRPr lang="en-US" sz="1700" dirty="0"/>
          </a:p>
        </p:txBody>
      </p:sp>
      <p:sp>
        <p:nvSpPr>
          <p:cNvPr id="8" name="card86"/>
          <p:cNvSpPr/>
          <p:nvPr/>
        </p:nvSpPr>
        <p:spPr>
          <a:xfrm>
            <a:off x="6245352" y="1325880"/>
            <a:ext cx="53949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ic87"/>
          <p:cNvSpPr/>
          <p:nvPr/>
        </p:nvSpPr>
        <p:spPr>
          <a:xfrm>
            <a:off x="6565392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img8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412" y="1805940"/>
            <a:ext cx="320040" cy="320040"/>
          </a:xfrm>
          <a:prstGeom prst="rect">
            <a:avLst/>
          </a:prstGeom>
        </p:spPr>
      </p:pic>
      <p:sp>
        <p:nvSpPr>
          <p:cNvPr id="11" name="t89"/>
          <p:cNvSpPr txBox="1"/>
          <p:nvPr/>
        </p:nvSpPr>
        <p:spPr>
          <a:xfrm>
            <a:off x="7434072" y="16733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Processes</a:t>
            </a:r>
            <a:endParaRPr lang="en-US" sz="2000" dirty="0"/>
          </a:p>
        </p:txBody>
      </p:sp>
      <p:sp>
        <p:nvSpPr>
          <p:cNvPr id="12" name="t90"/>
          <p:cNvSpPr txBox="1"/>
          <p:nvPr/>
        </p:nvSpPr>
        <p:spPr>
          <a:xfrm>
            <a:off x="7434072" y="21488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The step's process tree from /proc: PID, command, CPU, memory, age</a:t>
            </a:r>
            <a:endParaRPr lang="en-US" sz="1700" dirty="0"/>
          </a:p>
        </p:txBody>
      </p:sp>
      <p:sp>
        <p:nvSpPr>
          <p:cNvPr id="13" name="card91"/>
          <p:cNvSpPr/>
          <p:nvPr/>
        </p:nvSpPr>
        <p:spPr>
          <a:xfrm>
            <a:off x="548640" y="3749040"/>
            <a:ext cx="53949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ic92"/>
          <p:cNvSpPr/>
          <p:nvPr/>
        </p:nvSpPr>
        <p:spPr>
          <a:xfrm>
            <a:off x="868680" y="4069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img9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229100"/>
            <a:ext cx="320040" cy="320040"/>
          </a:xfrm>
          <a:prstGeom prst="rect">
            <a:avLst/>
          </a:prstGeom>
        </p:spPr>
      </p:pic>
      <p:sp>
        <p:nvSpPr>
          <p:cNvPr id="16" name="t94"/>
          <p:cNvSpPr txBox="1"/>
          <p:nvPr/>
        </p:nvSpPr>
        <p:spPr>
          <a:xfrm>
            <a:off x="1737360" y="40965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Tasks and outline</a:t>
            </a:r>
            <a:endParaRPr lang="en-US" sz="2000" dirty="0"/>
          </a:p>
        </p:txBody>
      </p:sp>
      <p:sp>
        <p:nvSpPr>
          <p:cNvPr id="17" name="t95"/>
          <p:cNvSpPr txBox="1"/>
          <p:nvPr/>
        </p:nvSpPr>
        <p:spPr>
          <a:xfrm>
            <a:off x="1737360" y="45720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This step's to-do list, and the packet's outline checklist with progress</a:t>
            </a:r>
            <a:endParaRPr lang="en-US" sz="1700" dirty="0"/>
          </a:p>
        </p:txBody>
      </p:sp>
      <p:sp>
        <p:nvSpPr>
          <p:cNvPr id="18" name="card96"/>
          <p:cNvSpPr/>
          <p:nvPr/>
        </p:nvSpPr>
        <p:spPr>
          <a:xfrm>
            <a:off x="6245352" y="3749040"/>
            <a:ext cx="53949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ic97"/>
          <p:cNvSpPr/>
          <p:nvPr/>
        </p:nvSpPr>
        <p:spPr>
          <a:xfrm>
            <a:off x="6565392" y="4069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cimg9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412" y="4229100"/>
            <a:ext cx="320040" cy="320040"/>
          </a:xfrm>
          <a:prstGeom prst="rect">
            <a:avLst/>
          </a:prstGeom>
        </p:spPr>
      </p:pic>
      <p:sp>
        <p:nvSpPr>
          <p:cNvPr id="21" name="t99"/>
          <p:cNvSpPr txBox="1"/>
          <p:nvPr/>
        </p:nvSpPr>
        <p:spPr>
          <a:xfrm>
            <a:off x="7434072" y="40965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Steps done</a:t>
            </a:r>
            <a:endParaRPr lang="en-US" sz="2000" dirty="0"/>
          </a:p>
        </p:txBody>
      </p:sp>
      <p:sp>
        <p:nvSpPr>
          <p:cNvPr id="22" name="t100"/>
          <p:cNvSpPr txBox="1"/>
          <p:nvPr/>
        </p:nvSpPr>
        <p:spPr>
          <a:xfrm>
            <a:off x="7434072" y="45720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Each finished step with its cost; the header shows calls and tokens so far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And you can act from the board, not only watch</a:t>
            </a:r>
            <a:endParaRPr lang="en-US" sz="3400" dirty="0"/>
          </a:p>
        </p:txBody>
      </p:sp>
      <p:sp>
        <p:nvSpPr>
          <p:cNvPr id="3" name="ic101"/>
          <p:cNvSpPr/>
          <p:nvPr/>
        </p:nvSpPr>
        <p:spPr>
          <a:xfrm>
            <a:off x="548640" y="13716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img10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513332"/>
            <a:ext cx="283464" cy="283464"/>
          </a:xfrm>
          <a:prstGeom prst="rect">
            <a:avLst/>
          </a:prstGeom>
        </p:spPr>
      </p:pic>
      <p:sp>
        <p:nvSpPr>
          <p:cNvPr id="5" name="t103"/>
          <p:cNvSpPr txBox="1"/>
          <p:nvPr/>
        </p:nvSpPr>
        <p:spPr>
          <a:xfrm>
            <a:off x="1325880" y="1353312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questions</a:t>
            </a:r>
            <a:endParaRPr lang="en-US" sz="1700" dirty="0"/>
          </a:p>
        </p:txBody>
      </p:sp>
      <p:sp>
        <p:nvSpPr>
          <p:cNvPr id="6" name="t104"/>
          <p:cNvSpPr txBox="1"/>
          <p:nvPr/>
        </p:nvSpPr>
        <p:spPr>
          <a:xfrm>
            <a:off x="1325880" y="1700784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step that needs a decision asks on the board, with choices and its recommendation filled in. One click takes the recommendations.</a:t>
            </a:r>
            <a:endParaRPr lang="en-US" sz="1400" dirty="0"/>
          </a:p>
        </p:txBody>
      </p:sp>
      <p:sp>
        <p:nvSpPr>
          <p:cNvPr id="7" name="ic105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img10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702052"/>
            <a:ext cx="283464" cy="283464"/>
          </a:xfrm>
          <a:prstGeom prst="rect">
            <a:avLst/>
          </a:prstGeom>
        </p:spPr>
      </p:pic>
      <p:sp>
        <p:nvSpPr>
          <p:cNvPr id="9" name="t107"/>
          <p:cNvSpPr txBox="1"/>
          <p:nvPr/>
        </p:nvSpPr>
        <p:spPr>
          <a:xfrm>
            <a:off x="1325880" y="2542032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Send a note at any time</a:t>
            </a:r>
            <a:endParaRPr lang="en-US" sz="1700" dirty="0"/>
          </a:p>
        </p:txBody>
      </p:sp>
      <p:sp>
        <p:nvSpPr>
          <p:cNvPr id="10" name="t108"/>
          <p:cNvSpPr txBox="1"/>
          <p:nvPr/>
        </p:nvSpPr>
        <p:spPr>
          <a:xfrm>
            <a:off x="1325880" y="2889504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note reaches a running step after its next tool call, or goes into the next step's prompt.</a:t>
            </a:r>
            <a:endParaRPr lang="en-US" sz="1400" dirty="0"/>
          </a:p>
        </p:txBody>
      </p:sp>
      <p:sp>
        <p:nvSpPr>
          <p:cNvPr id="11" name="ic109"/>
          <p:cNvSpPr/>
          <p:nvPr/>
        </p:nvSpPr>
        <p:spPr>
          <a:xfrm>
            <a:off x="548640" y="37490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img1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890772"/>
            <a:ext cx="283464" cy="283464"/>
          </a:xfrm>
          <a:prstGeom prst="rect">
            <a:avLst/>
          </a:prstGeom>
        </p:spPr>
      </p:pic>
      <p:sp>
        <p:nvSpPr>
          <p:cNvPr id="13" name="t111"/>
          <p:cNvSpPr txBox="1"/>
          <p:nvPr/>
        </p:nvSpPr>
        <p:spPr>
          <a:xfrm>
            <a:off x="1325880" y="3730752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Hand off or pause</a:t>
            </a:r>
            <a:endParaRPr lang="en-US" sz="1700" dirty="0"/>
          </a:p>
        </p:txBody>
      </p:sp>
      <p:sp>
        <p:nvSpPr>
          <p:cNvPr id="14" name="t112"/>
          <p:cNvSpPr txBox="1"/>
          <p:nvPr/>
        </p:nvSpPr>
        <p:spPr>
          <a:xfrm>
            <a:off x="1325880" y="4078224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Hand a paused or failed packet back to the runner; pause one that is ready or sleeping.</a:t>
            </a:r>
            <a:endParaRPr lang="en-US" sz="1400" dirty="0"/>
          </a:p>
        </p:txBody>
      </p:sp>
      <p:sp>
        <p:nvSpPr>
          <p:cNvPr id="15" name="ic113"/>
          <p:cNvSpPr/>
          <p:nvPr/>
        </p:nvSpPr>
        <p:spPr>
          <a:xfrm>
            <a:off x="548640" y="49377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img1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5079492"/>
            <a:ext cx="283464" cy="283464"/>
          </a:xfrm>
          <a:prstGeom prst="rect">
            <a:avLst/>
          </a:prstGeom>
        </p:spPr>
      </p:pic>
      <p:sp>
        <p:nvSpPr>
          <p:cNvPr id="17" name="t115"/>
          <p:cNvSpPr txBox="1"/>
          <p:nvPr/>
        </p:nvSpPr>
        <p:spPr>
          <a:xfrm>
            <a:off x="1325880" y="4919472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Change settings</a:t>
            </a:r>
            <a:endParaRPr lang="en-US" sz="1700" dirty="0"/>
          </a:p>
        </p:txBody>
      </p:sp>
      <p:sp>
        <p:nvSpPr>
          <p:cNvPr id="18" name="t116"/>
          <p:cNvSpPr txBox="1"/>
          <p:nvPr/>
        </p:nvSpPr>
        <p:spPr>
          <a:xfrm>
            <a:off x="1325880" y="5266944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Allowed tools, limits and the model, per project. Forms are CSRF-protected.</a:t>
            </a:r>
            <a:endParaRPr lang="en-US" sz="1400" dirty="0"/>
          </a:p>
        </p:txBody>
      </p:sp>
      <p:sp>
        <p:nvSpPr>
          <p:cNvPr id="19" name="card117"/>
          <p:cNvSpPr/>
          <p:nvPr/>
        </p:nvSpPr>
        <p:spPr>
          <a:xfrm>
            <a:off x="7863840" y="1371600"/>
            <a:ext cx="3776472" cy="4526280"/>
          </a:xfrm>
          <a:prstGeom prst="roundRect">
            <a:avLst>
              <a:gd name="adj" fmla="val 1937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0" name="t118"/>
          <p:cNvSpPr txBox="1"/>
          <p:nvPr/>
        </p:nvSpPr>
        <p:spPr>
          <a:xfrm>
            <a:off x="818388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 one long session</a:t>
            </a:r>
            <a:endParaRPr lang="en-US" sz="1800" dirty="0"/>
          </a:p>
        </p:txBody>
      </p:sp>
      <p:sp>
        <p:nvSpPr>
          <p:cNvPr id="21" name="t119"/>
          <p:cNvSpPr txBox="1"/>
          <p:nvPr/>
        </p:nvSpPr>
        <p:spPr>
          <a:xfrm>
            <a:off x="8183880" y="219456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8DEE4"/>
                </a:solidFill>
              </a:rPr>
              <a:t>You see one terminal, and only while you watch it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8DEE4"/>
                </a:solidFill>
              </a:rPr>
              <a:t>A question waits until you come back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8DEE4"/>
                </a:solidFill>
              </a:rPr>
              <a:t>Spend shows only as the session's running total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Many projects on one board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77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Each project is one file; the board and the scheduler cover them all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board for every project, by state</a:t>
            </a:r>
            <a:endParaRPr lang="en-US" sz="3400" dirty="0"/>
          </a:p>
        </p:txBody>
      </p:sp>
      <p:sp>
        <p:nvSpPr>
          <p:cNvPr id="3" name="card120"/>
          <p:cNvSpPr/>
          <p:nvPr/>
        </p:nvSpPr>
        <p:spPr>
          <a:xfrm>
            <a:off x="548640" y="1371600"/>
            <a:ext cx="1024128" cy="31089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121"/>
          <p:cNvSpPr txBox="1"/>
          <p:nvPr/>
        </p:nvSpPr>
        <p:spPr>
          <a:xfrm>
            <a:off x="621792" y="1463040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Needs you</a:t>
            </a:r>
            <a:endParaRPr lang="en-US" sz="1200" dirty="0"/>
          </a:p>
        </p:txBody>
      </p:sp>
      <p:sp>
        <p:nvSpPr>
          <p:cNvPr id="5" name="card122"/>
          <p:cNvSpPr/>
          <p:nvPr/>
        </p:nvSpPr>
        <p:spPr>
          <a:xfrm>
            <a:off x="640080" y="1874520"/>
            <a:ext cx="841248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6" name="bar123"/>
          <p:cNvSpPr/>
          <p:nvPr/>
        </p:nvSpPr>
        <p:spPr>
          <a:xfrm>
            <a:off x="731520" y="2011680"/>
            <a:ext cx="566928" cy="91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bar124"/>
          <p:cNvSpPr/>
          <p:nvPr/>
        </p:nvSpPr>
        <p:spPr>
          <a:xfrm>
            <a:off x="731520" y="2194560"/>
            <a:ext cx="384048" cy="73152"/>
          </a:xfrm>
          <a:prstGeom prst="rect">
            <a:avLst/>
          </a:prstGeom>
          <a:solidFill>
            <a:srgbClr val="C9D1D9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8" name="card125"/>
          <p:cNvSpPr/>
          <p:nvPr/>
        </p:nvSpPr>
        <p:spPr>
          <a:xfrm>
            <a:off x="1664208" y="1371600"/>
            <a:ext cx="1024128" cy="31089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126"/>
          <p:cNvSpPr txBox="1"/>
          <p:nvPr/>
        </p:nvSpPr>
        <p:spPr>
          <a:xfrm>
            <a:off x="1737360" y="1463040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Running</a:t>
            </a:r>
            <a:endParaRPr lang="en-US" sz="1200" dirty="0"/>
          </a:p>
        </p:txBody>
      </p:sp>
      <p:sp>
        <p:nvSpPr>
          <p:cNvPr id="10" name="card127"/>
          <p:cNvSpPr/>
          <p:nvPr/>
        </p:nvSpPr>
        <p:spPr>
          <a:xfrm>
            <a:off x="1755648" y="1874520"/>
            <a:ext cx="84124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1" name="bar128"/>
          <p:cNvSpPr/>
          <p:nvPr/>
        </p:nvSpPr>
        <p:spPr>
          <a:xfrm>
            <a:off x="1847088" y="2011680"/>
            <a:ext cx="566928" cy="91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bar129"/>
          <p:cNvSpPr/>
          <p:nvPr/>
        </p:nvSpPr>
        <p:spPr>
          <a:xfrm>
            <a:off x="1847088" y="2194560"/>
            <a:ext cx="384048" cy="73152"/>
          </a:xfrm>
          <a:prstGeom prst="rect">
            <a:avLst/>
          </a:prstGeom>
          <a:solidFill>
            <a:srgbClr val="C9D1D9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13" name="card130"/>
          <p:cNvSpPr/>
          <p:nvPr/>
        </p:nvSpPr>
        <p:spPr>
          <a:xfrm>
            <a:off x="2779776" y="1371600"/>
            <a:ext cx="1024128" cy="31089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t131"/>
          <p:cNvSpPr txBox="1"/>
          <p:nvPr/>
        </p:nvSpPr>
        <p:spPr>
          <a:xfrm>
            <a:off x="2852928" y="1463040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Ready</a:t>
            </a:r>
            <a:endParaRPr lang="en-US" sz="1200" dirty="0"/>
          </a:p>
        </p:txBody>
      </p:sp>
      <p:sp>
        <p:nvSpPr>
          <p:cNvPr id="15" name="card132"/>
          <p:cNvSpPr/>
          <p:nvPr/>
        </p:nvSpPr>
        <p:spPr>
          <a:xfrm>
            <a:off x="2871216" y="1874520"/>
            <a:ext cx="84124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6" name="bar133"/>
          <p:cNvSpPr/>
          <p:nvPr/>
        </p:nvSpPr>
        <p:spPr>
          <a:xfrm>
            <a:off x="2962656" y="2011680"/>
            <a:ext cx="566928" cy="91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bar134"/>
          <p:cNvSpPr/>
          <p:nvPr/>
        </p:nvSpPr>
        <p:spPr>
          <a:xfrm>
            <a:off x="2962656" y="2194560"/>
            <a:ext cx="384048" cy="73152"/>
          </a:xfrm>
          <a:prstGeom prst="rect">
            <a:avLst/>
          </a:prstGeom>
          <a:solidFill>
            <a:srgbClr val="C9D1D9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18" name="card135"/>
          <p:cNvSpPr/>
          <p:nvPr/>
        </p:nvSpPr>
        <p:spPr>
          <a:xfrm>
            <a:off x="3895344" y="1371600"/>
            <a:ext cx="1024128" cy="31089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136"/>
          <p:cNvSpPr txBox="1"/>
          <p:nvPr/>
        </p:nvSpPr>
        <p:spPr>
          <a:xfrm>
            <a:off x="3968496" y="1463040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Sleeping</a:t>
            </a:r>
            <a:endParaRPr lang="en-US" sz="1200" dirty="0"/>
          </a:p>
        </p:txBody>
      </p:sp>
      <p:sp>
        <p:nvSpPr>
          <p:cNvPr id="20" name="card137"/>
          <p:cNvSpPr/>
          <p:nvPr/>
        </p:nvSpPr>
        <p:spPr>
          <a:xfrm>
            <a:off x="5010912" y="1371600"/>
            <a:ext cx="1024128" cy="31089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1" name="t138"/>
          <p:cNvSpPr txBox="1"/>
          <p:nvPr/>
        </p:nvSpPr>
        <p:spPr>
          <a:xfrm>
            <a:off x="5084064" y="1463040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Paused</a:t>
            </a:r>
            <a:endParaRPr lang="en-US" sz="1200" dirty="0"/>
          </a:p>
        </p:txBody>
      </p:sp>
      <p:sp>
        <p:nvSpPr>
          <p:cNvPr id="22" name="card139"/>
          <p:cNvSpPr/>
          <p:nvPr/>
        </p:nvSpPr>
        <p:spPr>
          <a:xfrm>
            <a:off x="6126480" y="1371600"/>
            <a:ext cx="1024128" cy="31089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3" name="t140"/>
          <p:cNvSpPr txBox="1"/>
          <p:nvPr/>
        </p:nvSpPr>
        <p:spPr>
          <a:xfrm>
            <a:off x="6199632" y="1463040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Failed</a:t>
            </a:r>
            <a:endParaRPr lang="en-US" sz="1200" dirty="0"/>
          </a:p>
        </p:txBody>
      </p:sp>
      <p:sp>
        <p:nvSpPr>
          <p:cNvPr id="24" name="card141"/>
          <p:cNvSpPr/>
          <p:nvPr/>
        </p:nvSpPr>
        <p:spPr>
          <a:xfrm>
            <a:off x="6217920" y="1874520"/>
            <a:ext cx="84124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5" name="bar142"/>
          <p:cNvSpPr/>
          <p:nvPr/>
        </p:nvSpPr>
        <p:spPr>
          <a:xfrm>
            <a:off x="6309360" y="2011680"/>
            <a:ext cx="566928" cy="91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bar143"/>
          <p:cNvSpPr/>
          <p:nvPr/>
        </p:nvSpPr>
        <p:spPr>
          <a:xfrm>
            <a:off x="6309360" y="2194560"/>
            <a:ext cx="384048" cy="73152"/>
          </a:xfrm>
          <a:prstGeom prst="rect">
            <a:avLst/>
          </a:prstGeom>
          <a:solidFill>
            <a:srgbClr val="C9D1D9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27" name="card144"/>
          <p:cNvSpPr/>
          <p:nvPr/>
        </p:nvSpPr>
        <p:spPr>
          <a:xfrm>
            <a:off x="7242048" y="1371600"/>
            <a:ext cx="1024128" cy="31089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8" name="t145"/>
          <p:cNvSpPr txBox="1"/>
          <p:nvPr/>
        </p:nvSpPr>
        <p:spPr>
          <a:xfrm>
            <a:off x="7315200" y="1463040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Done</a:t>
            </a:r>
            <a:endParaRPr lang="en-US" sz="1200" dirty="0"/>
          </a:p>
        </p:txBody>
      </p:sp>
      <p:sp>
        <p:nvSpPr>
          <p:cNvPr id="29" name="card146"/>
          <p:cNvSpPr/>
          <p:nvPr/>
        </p:nvSpPr>
        <p:spPr>
          <a:xfrm>
            <a:off x="7333488" y="1874520"/>
            <a:ext cx="84124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30" name="bar147"/>
          <p:cNvSpPr/>
          <p:nvPr/>
        </p:nvSpPr>
        <p:spPr>
          <a:xfrm>
            <a:off x="7424928" y="2011680"/>
            <a:ext cx="566928" cy="91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bar148"/>
          <p:cNvSpPr/>
          <p:nvPr/>
        </p:nvSpPr>
        <p:spPr>
          <a:xfrm>
            <a:off x="7424928" y="2194560"/>
            <a:ext cx="384048" cy="73152"/>
          </a:xfrm>
          <a:prstGeom prst="rect">
            <a:avLst/>
          </a:prstGeom>
          <a:solidFill>
            <a:srgbClr val="C9D1D9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32" name="card149"/>
          <p:cNvSpPr/>
          <p:nvPr/>
        </p:nvSpPr>
        <p:spPr>
          <a:xfrm>
            <a:off x="7333488" y="2560320"/>
            <a:ext cx="84124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33" name="bar150"/>
          <p:cNvSpPr/>
          <p:nvPr/>
        </p:nvSpPr>
        <p:spPr>
          <a:xfrm>
            <a:off x="7424928" y="2697480"/>
            <a:ext cx="566928" cy="91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bar151"/>
          <p:cNvSpPr/>
          <p:nvPr/>
        </p:nvSpPr>
        <p:spPr>
          <a:xfrm>
            <a:off x="7424928" y="2880360"/>
            <a:ext cx="384048" cy="73152"/>
          </a:xfrm>
          <a:prstGeom prst="rect">
            <a:avLst/>
          </a:prstGeom>
          <a:solidFill>
            <a:srgbClr val="C9D1D9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35" name="t152"/>
          <p:cNvSpPr txBox="1"/>
          <p:nvPr/>
        </p:nvSpPr>
        <p:spPr>
          <a:xfrm>
            <a:off x="54864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Illustration of the board's columns; each card is a project.</a:t>
            </a:r>
            <a:endParaRPr lang="en-US" sz="1200" dirty="0"/>
          </a:p>
        </p:txBody>
      </p:sp>
      <p:sp>
        <p:nvSpPr>
          <p:cNvPr id="36" name="t153"/>
          <p:cNvSpPr txBox="1"/>
          <p:nvPr/>
        </p:nvSpPr>
        <p:spPr>
          <a:xfrm>
            <a:off x="548640" y="49834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card in Needs you shows the question and links to the answer panel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Running card shows the latest event and links to the live view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Tokens and quota for all projects sit under the columns</a:t>
            </a:r>
            <a:endParaRPr lang="en-US" sz="1500" dirty="0"/>
          </a:p>
        </p:txBody>
      </p:sp>
      <p:sp>
        <p:nvSpPr>
          <p:cNvPr id="37" name="card154"/>
          <p:cNvSpPr/>
          <p:nvPr/>
        </p:nvSpPr>
        <p:spPr>
          <a:xfrm>
            <a:off x="8549640" y="1371600"/>
            <a:ext cx="3090672" cy="3108960"/>
          </a:xfrm>
          <a:prstGeom prst="roundRect">
            <a:avLst>
              <a:gd name="adj" fmla="val 236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8" name="t155"/>
          <p:cNvSpPr txBox="1"/>
          <p:nvPr/>
        </p:nvSpPr>
        <p:spPr>
          <a:xfrm>
            <a:off x="882396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Instead of</a:t>
            </a:r>
            <a:endParaRPr lang="en-US" sz="1700" dirty="0"/>
          </a:p>
        </p:txBody>
      </p:sp>
      <p:sp>
        <p:nvSpPr>
          <p:cNvPr id="39" name="t156"/>
          <p:cNvSpPr txBox="1"/>
          <p:nvPr/>
        </p:nvSpPr>
        <p:spPr>
          <a:xfrm>
            <a:off x="8823960" y="20116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one terminal per project, each to be checked for a question, a failure or its spend.</a:t>
            </a:r>
            <a:endParaRPr lang="en-US" sz="1500" dirty="0"/>
          </a:p>
        </p:txBody>
      </p:sp>
      <p:sp>
        <p:nvSpPr>
          <p:cNvPr id="40" name="t157"/>
          <p:cNvSpPr txBox="1"/>
          <p:nvPr/>
        </p:nvSpPr>
        <p:spPr>
          <a:xfrm>
            <a:off x="882396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You look at</a:t>
            </a:r>
            <a:endParaRPr lang="en-US" sz="1700" dirty="0"/>
          </a:p>
        </p:txBody>
      </p:sp>
      <p:sp>
        <p:nvSpPr>
          <p:cNvPr id="41" name="t158"/>
          <p:cNvSpPr txBox="1"/>
          <p:nvPr/>
        </p:nvSpPr>
        <p:spPr>
          <a:xfrm>
            <a:off x="8823960" y="3520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one page, sorted by what needs you first.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the projects are run: built today, and next</a:t>
            </a:r>
            <a:endParaRPr lang="en-US" sz="3400" dirty="0"/>
          </a:p>
        </p:txBody>
      </p:sp>
      <p:sp>
        <p:nvSpPr>
          <p:cNvPr id="3" name="card159"/>
          <p:cNvSpPr/>
          <p:nvPr/>
        </p:nvSpPr>
        <p:spPr>
          <a:xfrm>
            <a:off x="54864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160"/>
          <p:cNvSpPr txBox="1"/>
          <p:nvPr/>
        </p:nvSpPr>
        <p:spPr>
          <a:xfrm>
            <a:off x="8686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Built</a:t>
            </a:r>
            <a:endParaRPr lang="en-US" sz="2000" dirty="0"/>
          </a:p>
        </p:txBody>
      </p:sp>
      <p:sp>
        <p:nvSpPr>
          <p:cNvPr id="5" name="ic161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img16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244852"/>
            <a:ext cx="283464" cy="283464"/>
          </a:xfrm>
          <a:prstGeom prst="rect">
            <a:avLst/>
          </a:prstGeom>
        </p:spPr>
      </p:pic>
      <p:sp>
        <p:nvSpPr>
          <p:cNvPr id="7" name="t163"/>
          <p:cNvSpPr txBox="1"/>
          <p:nvPr/>
        </p:nvSpPr>
        <p:spPr>
          <a:xfrm>
            <a:off x="1645920" y="208483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registry of projects</a:t>
            </a:r>
            <a:endParaRPr lang="en-US" sz="1700" dirty="0"/>
          </a:p>
        </p:txBody>
      </p:sp>
      <p:sp>
        <p:nvSpPr>
          <p:cNvPr id="8" name="t164"/>
          <p:cNvSpPr txBox="1"/>
          <p:nvPr/>
        </p:nvSpPr>
        <p:spPr>
          <a:xfrm>
            <a:off x="1645920" y="243230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file per project in ~/.work-packet/projects/; wpk new, adopt and rm.</a:t>
            </a:r>
            <a:endParaRPr lang="en-US" sz="1400" dirty="0"/>
          </a:p>
        </p:txBody>
      </p:sp>
      <p:sp>
        <p:nvSpPr>
          <p:cNvPr id="9" name="ic165"/>
          <p:cNvSpPr/>
          <p:nvPr/>
        </p:nvSpPr>
        <p:spPr>
          <a:xfrm>
            <a:off x="868680" y="33832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img16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3525012"/>
            <a:ext cx="283464" cy="283464"/>
          </a:xfrm>
          <a:prstGeom prst="rect">
            <a:avLst/>
          </a:prstGeom>
        </p:spPr>
      </p:pic>
      <p:sp>
        <p:nvSpPr>
          <p:cNvPr id="11" name="t167"/>
          <p:cNvSpPr txBox="1"/>
          <p:nvPr/>
        </p:nvSpPr>
        <p:spPr>
          <a:xfrm>
            <a:off x="1645920" y="33649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scheduler pass for all</a:t>
            </a:r>
            <a:endParaRPr lang="en-US" sz="1700" dirty="0"/>
          </a:p>
        </p:txBody>
      </p:sp>
      <p:sp>
        <p:nvSpPr>
          <p:cNvPr id="12" name="t168"/>
          <p:cNvSpPr txBox="1"/>
          <p:nvPr/>
        </p:nvSpPr>
        <p:spPr>
          <a:xfrm>
            <a:off x="1645920" y="371246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wpk tick advances every registered project, for example from cron.</a:t>
            </a:r>
            <a:endParaRPr lang="en-US" sz="1400" dirty="0"/>
          </a:p>
        </p:txBody>
      </p:sp>
      <p:sp>
        <p:nvSpPr>
          <p:cNvPr id="13" name="ic169"/>
          <p:cNvSpPr/>
          <p:nvPr/>
        </p:nvSpPr>
        <p:spPr>
          <a:xfrm>
            <a:off x="868680" y="46634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img17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4805172"/>
            <a:ext cx="283464" cy="283464"/>
          </a:xfrm>
          <a:prstGeom prst="rect">
            <a:avLst/>
          </a:prstGeom>
        </p:spPr>
      </p:pic>
      <p:sp>
        <p:nvSpPr>
          <p:cNvPr id="15" name="t171"/>
          <p:cNvSpPr txBox="1"/>
          <p:nvPr/>
        </p:nvSpPr>
        <p:spPr>
          <a:xfrm>
            <a:off x="1645920" y="464515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board on the tailnet</a:t>
            </a:r>
            <a:endParaRPr lang="en-US" sz="1700" dirty="0"/>
          </a:p>
        </p:txBody>
      </p:sp>
      <p:sp>
        <p:nvSpPr>
          <p:cNvPr id="16" name="t172"/>
          <p:cNvSpPr txBox="1"/>
          <p:nvPr/>
        </p:nvSpPr>
        <p:spPr>
          <a:xfrm>
            <a:off x="1645920" y="499262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wpk dash --tailnet admits only your own Tailscale login.</a:t>
            </a:r>
            <a:endParaRPr lang="en-US" sz="1400" dirty="0"/>
          </a:p>
        </p:txBody>
      </p:sp>
      <p:sp>
        <p:nvSpPr>
          <p:cNvPr id="17" name="card173"/>
          <p:cNvSpPr/>
          <p:nvPr/>
        </p:nvSpPr>
        <p:spPr>
          <a:xfrm>
            <a:off x="6245352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8" name="t174"/>
          <p:cNvSpPr txBox="1"/>
          <p:nvPr/>
        </p:nvSpPr>
        <p:spPr>
          <a:xfrm>
            <a:off x="6565392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Planned</a:t>
            </a:r>
            <a:endParaRPr lang="en-US" sz="2000" dirty="0"/>
          </a:p>
        </p:txBody>
      </p:sp>
      <p:sp>
        <p:nvSpPr>
          <p:cNvPr id="19" name="ic175"/>
          <p:cNvSpPr/>
          <p:nvPr/>
        </p:nvSpPr>
        <p:spPr>
          <a:xfrm>
            <a:off x="6565392" y="21031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img17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124" y="2244852"/>
            <a:ext cx="283464" cy="283464"/>
          </a:xfrm>
          <a:prstGeom prst="rect">
            <a:avLst/>
          </a:prstGeom>
        </p:spPr>
      </p:pic>
      <p:sp>
        <p:nvSpPr>
          <p:cNvPr id="21" name="t177"/>
          <p:cNvSpPr txBox="1"/>
          <p:nvPr/>
        </p:nvSpPr>
        <p:spPr>
          <a:xfrm>
            <a:off x="7342632" y="208483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daemon</a:t>
            </a:r>
            <a:endParaRPr lang="en-US" sz="1700" dirty="0"/>
          </a:p>
        </p:txBody>
      </p:sp>
      <p:sp>
        <p:nvSpPr>
          <p:cNvPr id="22" name="t178"/>
          <p:cNvSpPr txBox="1"/>
          <p:nvPr/>
        </p:nvSpPr>
        <p:spPr>
          <a:xfrm>
            <a:off x="7342632" y="243230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wpkd runs the runner and the board in one process under systemd.</a:t>
            </a:r>
            <a:endParaRPr lang="en-US" sz="1400" dirty="0"/>
          </a:p>
        </p:txBody>
      </p:sp>
      <p:sp>
        <p:nvSpPr>
          <p:cNvPr id="23" name="ic179"/>
          <p:cNvSpPr/>
          <p:nvPr/>
        </p:nvSpPr>
        <p:spPr>
          <a:xfrm>
            <a:off x="6565392" y="33832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img18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7124" y="3525012"/>
            <a:ext cx="283464" cy="283464"/>
          </a:xfrm>
          <a:prstGeom prst="rect">
            <a:avLst/>
          </a:prstGeom>
        </p:spPr>
      </p:pic>
      <p:sp>
        <p:nvSpPr>
          <p:cNvPr id="25" name="t181"/>
          <p:cNvSpPr txBox="1"/>
          <p:nvPr/>
        </p:nvSpPr>
        <p:spPr>
          <a:xfrm>
            <a:off x="7342632" y="33649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Budgets</a:t>
            </a:r>
            <a:endParaRPr lang="en-US" sz="1700" dirty="0"/>
          </a:p>
        </p:txBody>
      </p:sp>
      <p:sp>
        <p:nvSpPr>
          <p:cNvPr id="26" name="t182"/>
          <p:cNvSpPr txBox="1"/>
          <p:nvPr/>
        </p:nvSpPr>
        <p:spPr>
          <a:xfrm>
            <a:off x="7342632" y="371246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runner enforces a daily budget and an hourly step limit across projects.</a:t>
            </a:r>
            <a:endParaRPr lang="en-US" sz="1400" dirty="0"/>
          </a:p>
        </p:txBody>
      </p:sp>
      <p:sp>
        <p:nvSpPr>
          <p:cNvPr id="27" name="ic183"/>
          <p:cNvSpPr/>
          <p:nvPr/>
        </p:nvSpPr>
        <p:spPr>
          <a:xfrm>
            <a:off x="6565392" y="46634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img18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7124" y="4805172"/>
            <a:ext cx="283464" cy="283464"/>
          </a:xfrm>
          <a:prstGeom prst="rect">
            <a:avLst/>
          </a:prstGeom>
        </p:spPr>
      </p:pic>
      <p:sp>
        <p:nvSpPr>
          <p:cNvPr id="29" name="t185"/>
          <p:cNvSpPr txBox="1"/>
          <p:nvPr/>
        </p:nvSpPr>
        <p:spPr>
          <a:xfrm>
            <a:off x="7342632" y="464515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TUI</a:t>
            </a:r>
            <a:endParaRPr lang="en-US" sz="1700" dirty="0"/>
          </a:p>
        </p:txBody>
      </p:sp>
      <p:sp>
        <p:nvSpPr>
          <p:cNvPr id="30" name="t186"/>
          <p:cNvSpPr txBox="1"/>
          <p:nvPr/>
        </p:nvSpPr>
        <p:spPr>
          <a:xfrm>
            <a:off x="7342632" y="499262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wpk tui: the same questions and actions in the terminal.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Takeaways</a:t>
            </a:r>
            <a:endParaRPr lang="en-US" sz="4000" dirty="0"/>
          </a:p>
        </p:txBody>
      </p:sp>
      <p:sp>
        <p:nvSpPr>
          <p:cNvPr id="3" name="card187"/>
          <p:cNvSpPr/>
          <p:nvPr/>
        </p:nvSpPr>
        <p:spPr>
          <a:xfrm>
            <a:off x="548640" y="160020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" name="ic188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img18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045970"/>
            <a:ext cx="342900" cy="342900"/>
          </a:xfrm>
          <a:prstGeom prst="rect">
            <a:avLst/>
          </a:prstGeom>
        </p:spPr>
      </p:pic>
      <p:sp>
        <p:nvSpPr>
          <p:cNvPr id="6" name="t190"/>
          <p:cNvSpPr txBox="1"/>
          <p:nvPr/>
        </p:nvSpPr>
        <p:spPr>
          <a:xfrm>
            <a:off x="82296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Cheaper</a:t>
            </a:r>
            <a:endParaRPr lang="en-US" sz="2200" dirty="0"/>
          </a:p>
        </p:txBody>
      </p:sp>
      <p:sp>
        <p:nvSpPr>
          <p:cNvPr id="7" name="t191"/>
          <p:cNvSpPr txBox="1"/>
          <p:nvPr/>
        </p:nvSpPr>
        <p:spPr>
          <a:xfrm>
            <a:off x="822960" y="333756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EE4"/>
                </a:solidFill>
              </a:rPr>
              <a:t>1.7× less than auto-compacting at 200k, 1.4× even against ideally timed compaction, and the same against the weekly quota.</a:t>
            </a:r>
            <a:endParaRPr lang="en-US" sz="1500" dirty="0"/>
          </a:p>
        </p:txBody>
      </p:sp>
      <p:sp>
        <p:nvSpPr>
          <p:cNvPr id="8" name="card192"/>
          <p:cNvSpPr/>
          <p:nvPr/>
        </p:nvSpPr>
        <p:spPr>
          <a:xfrm>
            <a:off x="3337560" y="160020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9" name="ic193"/>
          <p:cNvSpPr/>
          <p:nvPr/>
        </p:nvSpPr>
        <p:spPr>
          <a:xfrm>
            <a:off x="3611880" y="18745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img19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330" y="2045970"/>
            <a:ext cx="342900" cy="342900"/>
          </a:xfrm>
          <a:prstGeom prst="rect">
            <a:avLst/>
          </a:prstGeom>
        </p:spPr>
      </p:pic>
      <p:sp>
        <p:nvSpPr>
          <p:cNvPr id="11" name="t195"/>
          <p:cNvSpPr txBox="1"/>
          <p:nvPr/>
        </p:nvSpPr>
        <p:spPr>
          <a:xfrm>
            <a:off x="361188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</a:t>
            </a:r>
            <a:endParaRPr lang="en-US" sz="2200" dirty="0"/>
          </a:p>
        </p:txBody>
      </p:sp>
      <p:sp>
        <p:nvSpPr>
          <p:cNvPr id="12" name="t196"/>
          <p:cNvSpPr txBox="1"/>
          <p:nvPr/>
        </p:nvSpPr>
        <p:spPr>
          <a:xfrm>
            <a:off x="3611880" y="333756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EE4"/>
                </a:solidFill>
              </a:rPr>
              <a:t>The outline, processes, logs and spend of every step are on the board as they happen.</a:t>
            </a:r>
            <a:endParaRPr lang="en-US" sz="1500" dirty="0"/>
          </a:p>
        </p:txBody>
      </p:sp>
      <p:sp>
        <p:nvSpPr>
          <p:cNvPr id="13" name="card197"/>
          <p:cNvSpPr/>
          <p:nvPr/>
        </p:nvSpPr>
        <p:spPr>
          <a:xfrm>
            <a:off x="6126480" y="160020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4" name="ic198"/>
          <p:cNvSpPr/>
          <p:nvPr/>
        </p:nvSpPr>
        <p:spPr>
          <a:xfrm>
            <a:off x="6400800" y="18745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img19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2045970"/>
            <a:ext cx="342900" cy="342900"/>
          </a:xfrm>
          <a:prstGeom prst="rect">
            <a:avLst/>
          </a:prstGeom>
        </p:spPr>
      </p:pic>
      <p:sp>
        <p:nvSpPr>
          <p:cNvPr id="16" name="t200"/>
          <p:cNvSpPr txBox="1"/>
          <p:nvPr/>
        </p:nvSpPr>
        <p:spPr>
          <a:xfrm>
            <a:off x="640080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projects</a:t>
            </a:r>
            <a:endParaRPr lang="en-US" sz="2200" dirty="0"/>
          </a:p>
        </p:txBody>
      </p:sp>
      <p:sp>
        <p:nvSpPr>
          <p:cNvPr id="17" name="t201"/>
          <p:cNvSpPr txBox="1"/>
          <p:nvPr/>
        </p:nvSpPr>
        <p:spPr>
          <a:xfrm>
            <a:off x="6400800" y="333756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EE4"/>
                </a:solidFill>
              </a:rPr>
              <a:t>One board for every project, sorted by what needs you, reachable on the tailnet.</a:t>
            </a:r>
            <a:endParaRPr lang="en-US" sz="1500" dirty="0"/>
          </a:p>
        </p:txBody>
      </p:sp>
      <p:sp>
        <p:nvSpPr>
          <p:cNvPr id="18" name="card202"/>
          <p:cNvSpPr/>
          <p:nvPr/>
        </p:nvSpPr>
        <p:spPr>
          <a:xfrm>
            <a:off x="8915400" y="160020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9" name="ic203"/>
          <p:cNvSpPr/>
          <p:nvPr/>
        </p:nvSpPr>
        <p:spPr>
          <a:xfrm>
            <a:off x="9189720" y="187452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img20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170" y="2045970"/>
            <a:ext cx="342900" cy="342900"/>
          </a:xfrm>
          <a:prstGeom prst="rect">
            <a:avLst/>
          </a:prstGeom>
        </p:spPr>
      </p:pic>
      <p:sp>
        <p:nvSpPr>
          <p:cNvPr id="21" name="t205"/>
          <p:cNvSpPr txBox="1"/>
          <p:nvPr/>
        </p:nvSpPr>
        <p:spPr>
          <a:xfrm>
            <a:off x="918972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200" dirty="0"/>
          </a:p>
        </p:txBody>
      </p:sp>
      <p:sp>
        <p:nvSpPr>
          <p:cNvPr id="22" name="t206"/>
          <p:cNvSpPr txBox="1"/>
          <p:nvPr/>
        </p:nvSpPr>
        <p:spPr>
          <a:xfrm>
            <a:off x="9189720" y="333756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EE4"/>
                </a:solidFill>
              </a:rPr>
              <a:t>Cut failed attempts (timeouts) first, and watch quota per step now that it is recorded.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osphor">
  <a:themeElements>
    <a:clrScheme name="Phosphor">
      <a:dk1>
        <a:srgbClr val="1C2128"/>
      </a:dk1>
      <a:lt1>
        <a:srgbClr val="FFFFFF"/>
      </a:lt1>
      <a:dk2>
        <a:srgbClr val="33414F"/>
      </a:dk2>
      <a:lt2>
        <a:srgbClr val="EEF1F4"/>
      </a:lt2>
      <a:accent1>
        <a:srgbClr val="E8A33D"/>
      </a:accent1>
      <a:accent2>
        <a:srgbClr val="2A9D8F"/>
      </a:accent2>
      <a:accent3>
        <a:srgbClr val="6B7B8C"/>
      </a:accent3>
      <a:accent4>
        <a:srgbClr val="C8553D"/>
      </a:accent4>
      <a:accent5>
        <a:srgbClr val="F6E3C1"/>
      </a:accent5>
      <a:accent6>
        <a:srgbClr val="D5ECE9"/>
      </a:accent6>
      <a:hlink>
        <a:srgbClr val="2A9D8F"/>
      </a:hlink>
      <a:folHlink>
        <a:srgbClr val="6B7B8C"/>
      </a:folHlink>
    </a:clrScheme>
    <a:fontScheme name="Phosph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work-packet on dvs-enh: cheaper, visible, many projects</dc:title>
  <dc:subject>PptxGenJS Presentation</dc:subject>
  <dc:creator>Matthew Ballance</dc:creator>
  <cp:lastModifiedBy>Matthew Ballance</cp:lastModifiedBy>
  <cp:revision>1</cp:revision>
  <dcterms:created xsi:type="dcterms:W3CDTF">2026-10-24T18:19:12Z</dcterms:created>
  <dcterms:modified xsi:type="dcterms:W3CDTF">2026-10-24T18:19:12Z</dcterms:modified>
</cp:coreProperties>
</file>
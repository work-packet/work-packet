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742162a-c914-6737-88e4-7d65f49e9669}">
          <p14:sldIdLst>
            <p14:sldId id="256"/>
            <p14:sldId id="257"/>
          </p14:sldIdLst>
        </p14:section>
        <p14:section name="The problem" id="{9aa861ce-3c9c-ec98-80ae-1548180a7651}">
          <p14:sldIdLst>
            <p14:sldId id="258"/>
            <p14:sldId id="259"/>
            <p14:sldId id="260"/>
            <p14:sldId id="261"/>
            <p14:sldId id="262"/>
          </p14:sldIdLst>
        </p14:section>
        <p14:section name="Task-centric packets" id="{79419193-aba9-4d3e-6075-dc87da4bdb54}">
          <p14:sldIdLst>
            <p14:sldId id="263"/>
            <p14:sldId id="264"/>
            <p14:sldId id="265"/>
            <p14:sldId id="266"/>
            <p14:sldId id="267"/>
            <p14:sldId id="268"/>
            <p14:sldId id="269"/>
          </p14:sldIdLst>
        </p14:section>
        <p14:section name="Many projects" id="{a64f6308-37c1-82ea-2ae4-d244e9033738}">
          <p14:sldIdLst>
            <p14:sldId id="270"/>
            <p14:sldId id="271"/>
            <p14:sldId id="272"/>
            <p14:sldId id="273"/>
            <p14:sldId id="274"/>
            <p14:sldId id="275"/>
          </p14:sldIdLst>
        </p14:section>
        <p14:section name="Token efficiency" id="{3eb6a46d-46e7-16f0-7721-938444a1487b}">
          <p14:sldIdLst>
            <p14:sldId id="276"/>
            <p14:sldId id="277"/>
            <p14:sldId id="278"/>
            <p14:sldId id="279"/>
            <p14:sldId id="280"/>
            <p14:sldId id="281"/>
            <p14:sldId id="282"/>
          </p14:sldIdLst>
        </p14:section>
        <p14:section name="Industry" id="{21643739-3741-786a-54b5-6ffaf73ceb5b}">
          <p14:sldIdLst>
            <p14:sldId id="283"/>
            <p14:sldId id="284"/>
            <p14:sldId id="285"/>
            <p14:sldId id="286"/>
            <p14:sldId id="287"/>
            <p14:sldId id="288"/>
          </p14:sldIdLst>
        </p14:section>
        <p14:section name="Close" id="{5db4bbb0-cba9-b9b3-13ef-50ac8ee3563f}">
          <p14:sldIdLst>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8"/>
                </a:solidFill>
                <a:latin typeface="+mn-lt"/>
              </a:defRPr>
            </a:pPr>
            <a:r>
              <a:rPr sz="1400" b="0" i="0" u="none" strike="noStrike">
                <a:solidFill>
                  <a:srgbClr val="1C2128"/>
                </a:solidFill>
                <a:latin typeface="+mn-lt"/>
              </a:rPr>
              <a:t>Share of carried context, dvs-enh, 24 attempts (Oct 24)</a:t>
            </a:r>
          </a:p>
        </c:rich>
      </c:tx>
      <c:layout/>
      <c:overlay val="0"/>
    </c:title>
    <c:autoTitleDeleted val="0"/>
    <c:plotArea>
      <c:layout/>
      <c:barChart>
        <c:barDir val="bar"/>
        <c:grouping val="clustered"/>
        <c:varyColors val="0"/>
        <c:ser>
          <c:idx val="0"/>
          <c:order val="0"/>
          <c:tx>
            <c:strRef>
              <c:f>Sheet1!$B$1</c:f>
              <c:strCache>
                <c:ptCount val="1"/>
                <c:pt idx="0">
                  <c:v>Share</c:v>
                </c:pt>
              </c:strCache>
            </c:strRef>
          </c:tx>
          <c:spPr>
            <a:solidFill>
              <a:srgbClr val="2A9D8F"/>
            </a:solidFill>
            <a:effectLst/>
          </c:spPr>
          <c:invertIfNegative val="0"/>
          <c:dLbls>
            <c:numFmt formatCode="0&quot;%&quot;"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cat>
            <c:multiLvlStrRef>
              <c:f>Sheet1!$A$2:$A$6</c:f>
              <c:multiLvlStrCache>
                <c:ptCount val="5"/>
                <c:lvl>
                  <c:pt idx="0">
                    <c:v>The prompt</c:v>
                  </c:pt>
                  <c:pt idx="1">
                    <c:v>Model turns</c:v>
                  </c:pt>
                  <c:pt idx="2">
                    <c:v>Bash results</c:v>
                  </c:pt>
                  <c:pt idx="3">
                    <c:v>Read results</c:v>
                  </c:pt>
                  <c:pt idx="4">
                    <c:v>Edit, Write, etc.</c:v>
                  </c:pt>
                </c:lvl>
              </c:multiLvlStrCache>
            </c:multiLvlStrRef>
          </c:cat>
          <c:val>
            <c:numRef>
              <c:f>Sheet1!$B$2:$B$6</c:f>
              <c:numCache>
                <c:formatCode>General</c:formatCode>
                <c:ptCount val="5"/>
                <c:pt idx="0">
                  <c:v>36</c:v>
                </c:pt>
                <c:pt idx="1">
                  <c:v>33</c:v>
                </c:pt>
                <c:pt idx="2">
                  <c:v>18</c:v>
                </c:pt>
                <c:pt idx="3">
                  <c:v>13</c:v>
                </c:pt>
                <c:pt idx="4">
                  <c:v>1</c:v>
                </c:pt>
              </c:numCache>
            </c:numRef>
          </c:val>
        </c:ser>
        <c:dLbls>
          <c:numFmt formatCode="0&quot;%&quot;"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4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B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8"/>
                </a:solidFill>
                <a:latin typeface="+mn-lt"/>
              </a:defRPr>
            </a:pPr>
            <a:r>
              <a:rPr sz="1400" b="0" i="0" u="none" strike="noStrike">
                <a:solidFill>
                  <a:srgbClr val="1C2128"/>
                </a:solidFill>
                <a:latin typeface="+mn-lt"/>
              </a:rPr>
              <a:t>E7 run cost, USD</a:t>
            </a:r>
          </a:p>
        </c:rich>
      </c:tx>
      <c:layout/>
      <c:overlay val="0"/>
    </c:title>
    <c:autoTitleDeleted val="0"/>
    <c:plotArea>
      <c:layout/>
      <c:barChart>
        <c:barDir val="col"/>
        <c:grouping val="clustered"/>
        <c:varyColors val="0"/>
        <c:ser>
          <c:idx val="0"/>
          <c:order val="0"/>
          <c:tx>
            <c:strRef>
              <c:f>Sheet1!$B$1</c:f>
              <c:strCache>
                <c:ptCount val="1"/>
                <c:pt idx="0">
                  <c:v>Total cost</c:v>
                </c:pt>
              </c:strCache>
            </c:strRef>
          </c:tx>
          <c:spPr>
            <a:solidFill>
              <a:srgbClr val="6B7B8C"/>
            </a:solidFill>
            <a:effectLst/>
          </c:spPr>
          <c:invertIfNegative val="0"/>
          <c:dLbls>
            <c:numFmt formatCode="$0.000"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dPt>
            <c:idx val="0"/>
            <c:invertIfNegative val="0"/>
            <c:bubble3D val="0"/>
            <c:spPr>
              <a:solidFill>
                <a:srgbClr val="6B7B8C"/>
              </a:solidFill>
              <a:effectLst/>
            </c:spPr>
          </c:dPt>
          <c:dPt>
            <c:idx val="1"/>
            <c:invertIfNegative val="0"/>
            <c:bubble3D val="0"/>
            <c:spPr>
              <a:solidFill>
                <a:srgbClr val="2A9D8F"/>
              </a:solidFill>
              <a:effectLst/>
            </c:spPr>
          </c:dPt>
          <c:cat>
            <c:multiLvlStrRef>
              <c:f>Sheet1!$A$2:$A$3</c:f>
              <c:multiLvlStrCache>
                <c:ptCount val="2"/>
                <c:lvl>
                  <c:pt idx="0">
                    <c:v>Fresh each step</c:v>
                  </c:pt>
                  <c:pt idx="1">
                    <c:v>Carried session</c:v>
                  </c:pt>
                </c:lvl>
              </c:multiLvlStrCache>
            </c:multiLvlStrRef>
          </c:cat>
          <c:val>
            <c:numRef>
              <c:f>Sheet1!$B$2:$B$3</c:f>
              <c:numCache>
                <c:formatCode>General</c:formatCode>
                <c:ptCount val="2"/>
                <c:pt idx="0">
                  <c:v>0.191</c:v>
                </c:pt>
                <c:pt idx="1">
                  <c:v>0.131</c:v>
                </c:pt>
              </c:numCache>
            </c:numRef>
          </c:val>
        </c:ser>
        <c:dLbls>
          <c:numFmt formatCode="$0.000"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4F"/>
                </a:solidFill>
                <a:latin typeface="+mn-lt"/>
              </a:defRPr>
            </a:pPr>
            <a:endParaRPr lang="en-US"/>
          </a:p>
        </c:txPr>
        <c:crossAx val="2094734552"/>
        <c:crosses val="autoZero"/>
        <c:auto val="1"/>
        <c:lblAlgn val="ctr"/>
        <c:noMultiLvlLbl val="1"/>
      </c:catAx>
      <c:valAx>
        <c:axId val="2094734552"/>
        <c:scaling>
          <c:orientation val="minMax"/>
          <c:max val="0.2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8"/>
                </a:solidFill>
                <a:latin typeface="+mn-lt"/>
              </a:defRPr>
            </a:pPr>
            <a:r>
              <a:rPr sz="1400" b="0" i="0" u="none" strike="noStrike">
                <a:solidFill>
                  <a:srgbClr val="1C2128"/>
                </a:solidFill>
                <a:latin typeface="+mn-lt"/>
              </a:rPr>
              <a:t>fw-proto-chi, M input-equivalent tokens</a:t>
            </a:r>
          </a:p>
        </c:rich>
      </c:tx>
      <c:layout/>
      <c:overlay val="0"/>
    </c:title>
    <c:autoTitleDeleted val="0"/>
    <c:plotArea>
      <c:layout/>
      <c:barChart>
        <c:barDir val="col"/>
        <c:grouping val="clustered"/>
        <c:varyColors val="0"/>
        <c:ser>
          <c:idx val="0"/>
          <c:order val="0"/>
          <c:tx>
            <c:strRef>
              <c:f>Sheet1!$B$1</c:f>
              <c:strCache>
                <c:ptCount val="1"/>
                <c:pt idx="0">
                  <c:v>Input-equivalent</c:v>
                </c:pt>
              </c:strCache>
            </c:strRef>
          </c:tx>
          <c:spPr>
            <a:solidFill>
              <a:srgbClr val="6B7B8C"/>
            </a:solidFill>
            <a:effectLst/>
          </c:spPr>
          <c:invertIfNegative val="0"/>
          <c:dLbls>
            <c:numFmt formatCode="0.0&quot;M&quot;"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dPt>
            <c:idx val="0"/>
            <c:invertIfNegative val="0"/>
            <c:bubble3D val="0"/>
            <c:spPr>
              <a:solidFill>
                <a:srgbClr val="6B7B8C"/>
              </a:solidFill>
              <a:effectLst/>
            </c:spPr>
          </c:dPt>
          <c:dPt>
            <c:idx val="1"/>
            <c:invertIfNegative val="0"/>
            <c:bubble3D val="0"/>
            <c:spPr>
              <a:solidFill>
                <a:srgbClr val="2A9D8F"/>
              </a:solidFill>
              <a:effectLst/>
            </c:spPr>
          </c:dPt>
          <c:dPt>
            <c:idx val="2"/>
            <c:invertIfNegative val="0"/>
            <c:bubble3D val="0"/>
            <c:spPr>
              <a:solidFill>
                <a:srgbClr val="2A9D8F"/>
              </a:solidFill>
              <a:effectLst/>
            </c:spPr>
          </c:dPt>
          <c:cat>
            <c:multiLvlStrRef>
              <c:f>Sheet1!$A$2:$A$4</c:f>
              <c:multiLvlStrCache>
                <c:ptCount val="3"/>
                <c:lvl>
                  <c:pt idx="0">
                    <c:v>Real sessions</c:v>
                  </c:pt>
                  <c:pt idx="1">
                    <c:v>Steps, 80k</c:v>
                  </c:pt>
                  <c:pt idx="2">
                    <c:v>Steps, 150k</c:v>
                  </c:pt>
                </c:lvl>
              </c:multiLvlStrCache>
            </c:multiLvlStrRef>
          </c:cat>
          <c:val>
            <c:numRef>
              <c:f>Sheet1!$B$2:$B$4</c:f>
              <c:numCache>
                <c:formatCode>General</c:formatCode>
                <c:ptCount val="3"/>
                <c:pt idx="0">
                  <c:v>28.4</c:v>
                </c:pt>
                <c:pt idx="1">
                  <c:v>19.6</c:v>
                </c:pt>
                <c:pt idx="2">
                  <c:v>16.4</c:v>
                </c:pt>
              </c:numCache>
            </c:numRef>
          </c:val>
        </c:ser>
        <c:dLbls>
          <c:numFmt formatCode="0.0&quot;M&quot;" sourceLinked="0"/>
          <c:txPr>
            <a:bodyPr/>
            <a:lstStyle/>
            <a:p>
              <a:pPr>
                <a:defRPr b="0" i="0" strike="noStrike" sz="1200" u="none">
                  <a:solidFill>
                    <a:srgbClr val="1C21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4F"/>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work-packet (command: wpk) runs LLM agents as resumable, scheduled units of work. This deck covers three ideas: the packet as the unit of persistence, many projects under one runner, and token use tuned from measurements. It then compares the approach with the rest of the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deck on one slide. Each pillar gets its own section, then the industry comparison shows that nobody else combines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coding agents (Claude Code, Codex, Copilot agent, Devin) assume the repo is where durable state lives and the session is where working state lives. That works for short software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docs/long-running.md: gigabyte packages/ directories fetched by IVPM, a 17-minute formal run and a bench of up to two hours. The cost of rebuilding the environment dominates, so the environment must persist with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docs/stack-experiment.md section 2. A second session for docs had 154 calls, a 428k peak and 45M cache reads. This is the cost profile that work-packet's step model is designed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Management-like periodic tasks are as important as feature work, and today they are cron jobs, reminders 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reframing: subject data plus instructions and tracking plus temporary artifacts. The repo is one of the things inside the packet, not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docs/spec.md. The WPID is a UUID; children get uuid5 of parent:step:index so a retried step cannot create duplicate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still where code is delivered. But the packet decides what persists, and the packet's lifetime is the task's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docs/long-running.md section 2. The design is part-built: the trial uses work/, and the executor-level commits are milestone 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docs/runner.md and spec section 7. resume can be now, done, fail, in N units or at an ISO time. every/on/wait are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durable-execution idea (Temporal, Restate, DBOS) applied to files on disk instead of a database. Lesson from the prototype: when the model kept its own books, the last step ran twice, a count went to 9 of 8 and two identical children appeared. The executor now owns the clock, step numbers, commits, scheduling and spawning; the model does one unit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docs/runner.md. The runner daemon (L3) and the merged server wpkd are designed but not built; today wpk tick -j N runs due packets oldest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clock.py and the scheduled-resumption section of the roadmap. DST rules are in spec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and --every are designed in docs/runner.md; today wpk new uses the blank template, and a packet re-arms itself with resume: in/at. spawn is built. The outline, cursor and gates are a candidate shape in docs/stack-experiment.md section 1a; the dv-solve trial runs the outline by hand in state/outline.md. Triage templates: direct, list or project, by how much structure a task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docs/long-running.md section 1 and docs/interaction.md. handoff, answer, allow, deny, set and note are built; take is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follow the packet's state; dragging a card doesn't change it. Actions (answer, hand off, pause, settings) are POSTs guarded by Host/Origin checks and a CSRF token. The card contents here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docs/context.md section 1 and docs/token-dashboard.md. Carry on while (C − O) × turns × 0.1 &lt; 2·O + orientation turns; with 3–6 tool calls per piece of work this tips over at C ≈ 4–7·O.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docs/token-dashboard.md, view 5. Tool attribution (toolcost.py) charges each tool result its size times the number of calls that remain after it, since it is re-read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docs/experiments/dvs-enh-steps.md. Steps 1-8 cost $0.53-$1.13 each. The changes went into prompts/protocol.md and the sizing text, and the limit was raised to 120k (docs/trial-dv-solve.md section 10). This is the loop the system is built for: measure, read the numbers, change how steps are 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docs/context.md. Also bghook refuses background Bash calls, after two dv-solve steps ended their turn waiting on a background task and never wrote a memento.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step has 3 or fewer API calls and 4 or fewer changed state lines. Sizing is bounded (one item per step, start another only below half the budget) or persistent (finish the instruction before stopping). Only carry_factor may be tuned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docs/context.md status log (fresh $0.191 vs carried $0.131), docs/stage1-plan.md (E7: $0.48 over three runs, about $0.018 a step), docs/experiments/stack-fw-proto-chi/simulation.md 7.2 (28.4M real vs 19.6M and 16.4M simulated; context per call drops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families. Agents-as-processes systems (Quine, Gas Town with Beads, the Ralph loop, Anthropic's long-running harness) are closest in spirit: a stateless model call in a loop with progress kept in files or git. Of the rest, cloud coding agents run each task in a VM and deliver a PR. Local agents treat the repo as state. Frameworks give you checkpoints but no ops layer. Durable execution and observability are generic. EDA vendors ship agents inside their own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axis is where durable state lives. Claude Code Projects (beta, 2026) is the nearest product: a memory index and a file library, but repos are still re-cloned per thread. OpenHands' on-disk event log is the nearest framework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Judgments from public docs and reviews; several 2026 product details (Codex environments, Cursor's August cron events, Factory, Amp) come from secondary sources. work-packet's recurring tasks are half-filled because every: is designed but not built; adaptation is half-filled because stats give advice and only carry_factor may be tuned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Cadence, Synopsys, Siemens and ChipAgents all build agents tied to their tool flows; how they persist state is not public. The research results (CovAgent arXiv 2604.15657, EDATracer arXiv 2608.04032) show large token savings from structure, which supports measuring and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gaps from the survey, six shown here plus portability in the footer. work-packet could also run on top of Claude Code as its harness, which it already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from the README: pre-alpha. Stage 1 works and E7 passed live with Haiku. Long-running L1 is partly done. Codex 0.147.0 and OpenCode 1.18.18 have been surveyed as harnesses.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ideas plus the design point. Invite questions on the comparison and the token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facts come from the work-packet docs (spec.md, context.md, long-running.md, runner.md, token-dashboard.md, stage1-plan.md, experiments/). Industry facts come from public product docs and blogs as of October 2026; check them before citing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05840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566160"/>
            <a:ext cx="9144000" cy="128016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work-packet · task-centric AI automation</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5.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5.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5.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arxiv.org/html/2603.18030" TargetMode="External"/><Relationship Id="rId2" Type="http://schemas.openxmlformats.org/officeDocument/2006/relationships/hyperlink" Target="https://github.com/gastownhall/gastown" TargetMode="External"/><Relationship Id="rId3" Type="http://schemas.openxmlformats.org/officeDocument/2006/relationships/hyperlink" Target="https://ghuntley.com/ralph/" TargetMode="External"/><Relationship Id="rId4" Type="http://schemas.openxmlformats.org/officeDocument/2006/relationships/hyperlink" Target="https://anthropic.com/engineering/effective-harnesses-for-long-running-agents" TargetMode="External"/><Relationship Id="rId5" Type="http://schemas.openxmlformats.org/officeDocument/2006/relationships/hyperlink" Target="https://code.claude.com/docs/en/routines" TargetMode="External"/><Relationship Id="rId6" Type="http://schemas.openxmlformats.org/officeDocument/2006/relationships/hyperlink" Target="https://code.claude.com/docs/en/claude-projects.md" TargetMode="External"/><Relationship Id="rId7" Type="http://schemas.openxmlformats.org/officeDocument/2006/relationships/hyperlink" Target="https://techcrunch.com/2026/09/29/openai-gives-codex-reusable-cloud-environments-that-work-across-devices/" TargetMode="External"/><Relationship Id="rId8" Type="http://schemas.openxmlformats.org/officeDocument/2006/relationships/hyperlink" Target="https://github.blog/news-insights/product-news/github-copilot-meet-the-new-coding-agent/" TargetMode="External"/><Relationship Id="rId9" Type="http://schemas.openxmlformats.org/officeDocument/2006/relationships/hyperlink" Target="https://docs.devin.ai/product-guides/scheduled-sessions" TargetMode="External"/><Relationship Id="rId10" Type="http://schemas.openxmlformats.org/officeDocument/2006/relationships/hyperlink" Target="https://blog.google/innovation-and-ai/models-and-research/google-labs/jules/" TargetMode="External"/><Relationship Id="rId11" Type="http://schemas.openxmlformats.org/officeDocument/2006/relationships/hyperlink" Target="https://factory.com/news/software-factory" TargetMode="External"/><Relationship Id="rId12" Type="http://schemas.openxmlformats.org/officeDocument/2006/relationships/hyperlink" Target="https://docs.openhands.dev/sdk/guides/convo-persistence" TargetMode="External"/><Relationship Id="rId13" Type="http://schemas.openxmlformats.org/officeDocument/2006/relationships/hyperlink" Target="https://temporal.io/blog/announcing-openai-agents-sdk-integration" TargetMode="External"/><Relationship Id="rId14" Type="http://schemas.openxmlformats.org/officeDocument/2006/relationships/hyperlink" Target="https://www.tomshardware.com/tech-industry/semiconductors/the-state-of-agentic-ai-in-chip-design-tools-in-2026-cadence-synopsys-and-siemens-all-pitch-autonomous-engineers" TargetMode="External"/><Relationship Id="rId15" Type="http://schemas.openxmlformats.org/officeDocument/2006/relationships/hyperlink" Target="https://arxiv.org/html/2604.15657" TargetMode="External"/><Relationship Id="rId16" Type="http://schemas.openxmlformats.org/officeDocument/2006/relationships/hyperlink" Target="https://www.anthropic.com/engineering/effective-context-engineering-for-ai-agents" TargetMode="External"/><Relationship Id="rId17" Type="http://schemas.openxmlformats.org/officeDocument/2006/relationships/hyperlink" Target="https://manus.im/blog/Context-Engineering-for-AI-Agents-Lessons-from-Building-Manus" TargetMode="External"/><Relationship Id="rId18" Type="http://schemas.openxmlformats.org/officeDocument/2006/relationships/hyperlink" Target="https://arxiv.org/html/2604.22750v3" TargetMode="External"/><Relationship Id="rId19" Type="http://schemas.openxmlformats.org/officeDocument/2006/relationships/slideLayout" Target="../slideLayouts/slideLayout5.xml"/><Relationship Id="rId20"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058400" cy="1463040"/>
          </a:xfrm>
          <a:prstGeom prst="rect">
            <a:avLst/>
          </a:prstGeom>
          <a:noFill/>
          <a:ln/>
        </p:spPr>
        <p:txBody>
          <a:bodyPr wrap="square" lIns="0" tIns="0" rIns="0" bIns="0" rtlCol="0" anchor="b"/>
          <a:lstStyle/>
          <a:p>
            <a:pPr algn="l" indent="0" marL="0">
              <a:buNone/>
            </a:pPr>
            <a:r>
              <a:rPr lang="en-US" sz="5400" b="1" dirty="0">
                <a:solidFill>
                  <a:schemeClr val="bg1"/>
                </a:solidFill>
              </a:rPr>
              <a:t>work-packet</a:t>
            </a:r>
            <a:endParaRPr lang="en-US" sz="5400" dirty="0"/>
          </a:p>
        </p:txBody>
      </p:sp>
      <p:sp>
        <p:nvSpPr>
          <p:cNvPr id="3" name="Text 0"/>
          <p:cNvSpPr/>
          <p:nvPr>
            <p:ph idx="101" type="body" hasCustomPrompt="1"/>
          </p:nvPr>
        </p:nvSpPr>
        <p:spPr>
          <a:xfrm>
            <a:off x="548640" y="3566160"/>
            <a:ext cx="9144000" cy="1280160"/>
          </a:xfrm>
          <a:prstGeom prst="rect">
            <a:avLst/>
          </a:prstGeom>
          <a:noFill/>
          <a:ln/>
        </p:spPr>
        <p:txBody>
          <a:bodyPr wrap="square" lIns="0" tIns="0" rIns="0" bIns="0" rtlCol="0" anchor="t"/>
          <a:lstStyle/>
          <a:p>
            <a:pPr indent="0" marL="0">
              <a:buNone/>
            </a:pPr>
            <a:r>
              <a:rPr lang="en-US" sz="2000" dirty="0">
                <a:solidFill>
                  <a:schemeClr val="accent1"/>
                </a:solidFill>
              </a:rPr>
              <a:t>Task-centric persistence for AI-automated projects: many projects, built-in tracking, and token use tuned from measurement</a:t>
            </a:r>
            <a:endParaRPr lang="en-US" sz="2000" dirty="0"/>
          </a:p>
        </p:txBody>
      </p:sp>
      <p:sp>
        <p:nvSpPr>
          <p:cNvPr id="4" name="t1"/>
          <p:cNvSpPr txBox="1"/>
          <p:nvPr/>
        </p:nvSpPr>
        <p:spPr>
          <a:xfrm>
            <a:off x="548640" y="1280160"/>
            <a:ext cx="7315200" cy="365760"/>
          </a:xfrm>
          <a:prstGeom prst="rect">
            <a:avLst/>
          </a:prstGeom>
          <a:noFill/>
          <a:ln/>
        </p:spPr>
        <p:txBody>
          <a:bodyPr wrap="square" lIns="0" tIns="0" rIns="0" bIns="0" rtlCol="0" anchor="t"/>
          <a:lstStyle/>
          <a:p>
            <a:pPr indent="0" marL="0">
              <a:buNone/>
            </a:pPr>
            <a:r>
              <a:rPr lang="en-US" sz="1600" dirty="0">
                <a:solidFill>
                  <a:schemeClr val="accent2"/>
                </a:solidFill>
                <a:latin typeface="Courier New" pitchFamily="34" charset="0"/>
                <a:ea typeface="Courier New" pitchFamily="34" charset="-122"/>
                <a:cs typeface="Courier New" pitchFamily="34" charset="-120"/>
              </a:rPr>
              <a:t>wpk new · wpk tick · wpk dash · wpk stats</a:t>
            </a:r>
            <a:endParaRPr lang="en-US" sz="1600" dirty="0"/>
          </a:p>
        </p:txBody>
      </p:sp>
      <p:sp>
        <p:nvSpPr>
          <p:cNvPr id="5" name="t2"/>
          <p:cNvSpPr txBox="1"/>
          <p:nvPr/>
        </p:nvSpPr>
        <p:spPr>
          <a:xfrm>
            <a:off x="548640" y="6035040"/>
            <a:ext cx="4572000" cy="320040"/>
          </a:xfrm>
          <a:prstGeom prst="rect">
            <a:avLst/>
          </a:prstGeom>
          <a:noFill/>
          <a:ln/>
        </p:spPr>
        <p:txBody>
          <a:bodyPr wrap="square" lIns="0" tIns="0" rIns="0" bIns="0" rtlCol="0" anchor="t"/>
          <a:lstStyle/>
          <a:p>
            <a:pPr indent="0" marL="0">
              <a:buNone/>
            </a:pPr>
            <a:r>
              <a:rPr lang="en-US" sz="1200" dirty="0">
                <a:solidFill>
                  <a:schemeClr val="accent3"/>
                </a:solidFill>
              </a:rPr>
              <a:t>October 2026 · pre-alpha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Three ideas, one system</a:t>
            </a:r>
            <a:endParaRPr lang="en-US" sz="3400" dirty="0"/>
          </a:p>
        </p:txBody>
      </p:sp>
      <p:sp>
        <p:nvSpPr>
          <p:cNvPr id="3" name="card3"/>
          <p:cNvSpPr/>
          <p:nvPr/>
        </p:nvSpPr>
        <p:spPr>
          <a:xfrm>
            <a:off x="548640" y="1371600"/>
            <a:ext cx="3520440" cy="3383280"/>
          </a:xfrm>
          <a:prstGeom prst="roundRect">
            <a:avLst>
              <a:gd name="adj" fmla="val 2162"/>
            </a:avLst>
          </a:prstGeom>
          <a:solidFill>
            <a:schemeClr val="bg2"/>
          </a:solidFill>
          <a:ln w="9525">
            <a:solidFill>
              <a:schemeClr val="bg2"/>
            </a:solidFill>
            <a:prstDash val="solid"/>
          </a:ln>
        </p:spPr>
      </p:sp>
      <p:sp>
        <p:nvSpPr>
          <p:cNvPr id="4" name="ic4"/>
          <p:cNvSpPr/>
          <p:nvPr/>
        </p:nvSpPr>
        <p:spPr>
          <a:xfrm>
            <a:off x="822960" y="1645920"/>
            <a:ext cx="731520" cy="731520"/>
          </a:xfrm>
          <a:prstGeom prst="ellipse">
            <a:avLst/>
          </a:prstGeom>
          <a:solidFill>
            <a:schemeClr val="accent2"/>
          </a:solidFill>
          <a:ln w="12700">
            <a:solidFill>
              <a:schemeClr val="accent2"/>
            </a:solidFill>
            <a:prstDash val="solid"/>
          </a:ln>
        </p:spPr>
      </p:sp>
      <p:pic>
        <p:nvPicPr>
          <p:cNvPr id="5" name="icimg5" descr="preencoded.png">    </p:cNvPr>
          <p:cNvPicPr>
            <a:picLocks noChangeAspect="1"/>
          </p:cNvPicPr>
          <p:nvPr/>
        </p:nvPicPr>
        <p:blipFill>
          <a:blip r:embed="rId1"/>
          <a:stretch>
            <a:fillRect/>
          </a:stretch>
        </p:blipFill>
        <p:spPr>
          <a:xfrm>
            <a:off x="1005840" y="1828800"/>
            <a:ext cx="365760" cy="365760"/>
          </a:xfrm>
          <a:prstGeom prst="rect">
            <a:avLst/>
          </a:prstGeom>
        </p:spPr>
      </p:pic>
      <p:sp>
        <p:nvSpPr>
          <p:cNvPr id="6" name="t6"/>
          <p:cNvSpPr txBox="1"/>
          <p:nvPr/>
        </p:nvSpPr>
        <p:spPr>
          <a:xfrm>
            <a:off x="822960" y="256032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Task-centric packets</a:t>
            </a:r>
            <a:endParaRPr lang="en-US" sz="1900" dirty="0"/>
          </a:p>
        </p:txBody>
      </p:sp>
      <p:sp>
        <p:nvSpPr>
          <p:cNvPr id="7" name="t7"/>
          <p:cNvSpPr txBox="1"/>
          <p:nvPr/>
        </p:nvSpPr>
        <p:spPr>
          <a:xfrm>
            <a:off x="822960" y="3017520"/>
            <a:ext cx="2971800" cy="1645920"/>
          </a:xfrm>
          <a:prstGeom prst="rect">
            <a:avLst/>
          </a:prstGeom>
          <a:noFill/>
          <a:ln/>
        </p:spPr>
        <p:txBody>
          <a:bodyPr wrap="square" lIns="0" tIns="0" rIns="0" bIns="0" rtlCol="0" anchor="t"/>
          <a:lstStyle/>
          <a:p>
            <a:pPr indent="0" marL="0">
              <a:buNone/>
            </a:pPr>
            <a:r>
              <a:rPr lang="en-US" sz="1400" dirty="0">
                <a:solidFill>
                  <a:schemeClr val="tx2"/>
                </a:solidFill>
              </a:rPr>
              <a:t>A packet holds the subject data, the instructions and tracking, and the temporary artifacts for one task. The packet is the center of persistence, not the git repo.</a:t>
            </a:r>
            <a:endParaRPr lang="en-US" sz="1400" dirty="0"/>
          </a:p>
        </p:txBody>
      </p:sp>
      <p:sp>
        <p:nvSpPr>
          <p:cNvPr id="8" name="card8"/>
          <p:cNvSpPr/>
          <p:nvPr/>
        </p:nvSpPr>
        <p:spPr>
          <a:xfrm>
            <a:off x="4320540" y="1371600"/>
            <a:ext cx="3520440" cy="3383280"/>
          </a:xfrm>
          <a:prstGeom prst="roundRect">
            <a:avLst>
              <a:gd name="adj" fmla="val 2162"/>
            </a:avLst>
          </a:prstGeom>
          <a:solidFill>
            <a:schemeClr val="bg2"/>
          </a:solidFill>
          <a:ln w="9525">
            <a:solidFill>
              <a:schemeClr val="bg2"/>
            </a:solidFill>
            <a:prstDash val="solid"/>
          </a:ln>
        </p:spPr>
      </p:sp>
      <p:sp>
        <p:nvSpPr>
          <p:cNvPr id="9" name="ic9"/>
          <p:cNvSpPr/>
          <p:nvPr/>
        </p:nvSpPr>
        <p:spPr>
          <a:xfrm>
            <a:off x="4594860" y="1645920"/>
            <a:ext cx="731520" cy="731520"/>
          </a:xfrm>
          <a:prstGeom prst="ellipse">
            <a:avLst/>
          </a:prstGeom>
          <a:solidFill>
            <a:schemeClr val="accent2"/>
          </a:solidFill>
          <a:ln w="12700">
            <a:solidFill>
              <a:schemeClr val="accent2"/>
            </a:solidFill>
            <a:prstDash val="solid"/>
          </a:ln>
        </p:spPr>
      </p:sp>
      <p:pic>
        <p:nvPicPr>
          <p:cNvPr id="10" name="icimg10" descr="preencoded.png">    </p:cNvPr>
          <p:cNvPicPr>
            <a:picLocks noChangeAspect="1"/>
          </p:cNvPicPr>
          <p:nvPr/>
        </p:nvPicPr>
        <p:blipFill>
          <a:blip r:embed="rId2"/>
          <a:stretch>
            <a:fillRect/>
          </a:stretch>
        </p:blipFill>
        <p:spPr>
          <a:xfrm>
            <a:off x="4777740" y="1828800"/>
            <a:ext cx="365760" cy="365760"/>
          </a:xfrm>
          <a:prstGeom prst="rect">
            <a:avLst/>
          </a:prstGeom>
        </p:spPr>
      </p:pic>
      <p:sp>
        <p:nvSpPr>
          <p:cNvPr id="11" name="t11"/>
          <p:cNvSpPr txBox="1"/>
          <p:nvPr/>
        </p:nvSpPr>
        <p:spPr>
          <a:xfrm>
            <a:off x="4594860" y="256032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Many projects, one runner</a:t>
            </a:r>
            <a:endParaRPr lang="en-US" sz="1900" dirty="0"/>
          </a:p>
        </p:txBody>
      </p:sp>
      <p:sp>
        <p:nvSpPr>
          <p:cNvPr id="12" name="t12"/>
          <p:cNvSpPr txBox="1"/>
          <p:nvPr/>
        </p:nvSpPr>
        <p:spPr>
          <a:xfrm>
            <a:off x="4594860" y="3017520"/>
            <a:ext cx="2971800" cy="1645920"/>
          </a:xfrm>
          <a:prstGeom prst="rect">
            <a:avLst/>
          </a:prstGeom>
          <a:noFill/>
          <a:ln/>
        </p:spPr>
        <p:txBody>
          <a:bodyPr wrap="square" lIns="0" tIns="0" rIns="0" bIns="0" rtlCol="0" anchor="t"/>
          <a:lstStyle/>
          <a:p>
            <a:pPr indent="0" marL="0">
              <a:buNone/>
            </a:pPr>
            <a:r>
              <a:rPr lang="en-US" sz="1400" dirty="0">
                <a:solidFill>
                  <a:schemeClr val="tx2"/>
                </a:solidFill>
              </a:rPr>
              <a:t>Feature work, nightly triage and weekly 'management' tasks all run as packets. A scheduler wakes each one when it is due; sleeping costs nothing.</a:t>
            </a:r>
            <a:endParaRPr lang="en-US" sz="1400" dirty="0"/>
          </a:p>
        </p:txBody>
      </p:sp>
      <p:sp>
        <p:nvSpPr>
          <p:cNvPr id="13" name="card13"/>
          <p:cNvSpPr/>
          <p:nvPr/>
        </p:nvSpPr>
        <p:spPr>
          <a:xfrm>
            <a:off x="8092440" y="1371600"/>
            <a:ext cx="3520440" cy="3383280"/>
          </a:xfrm>
          <a:prstGeom prst="roundRect">
            <a:avLst>
              <a:gd name="adj" fmla="val 2162"/>
            </a:avLst>
          </a:prstGeom>
          <a:solidFill>
            <a:schemeClr val="bg2"/>
          </a:solidFill>
          <a:ln w="9525">
            <a:solidFill>
              <a:schemeClr val="bg2"/>
            </a:solidFill>
            <a:prstDash val="solid"/>
          </a:ln>
        </p:spPr>
      </p:sp>
      <p:sp>
        <p:nvSpPr>
          <p:cNvPr id="14" name="ic14"/>
          <p:cNvSpPr/>
          <p:nvPr/>
        </p:nvSpPr>
        <p:spPr>
          <a:xfrm>
            <a:off x="8366760" y="1645920"/>
            <a:ext cx="731520" cy="731520"/>
          </a:xfrm>
          <a:prstGeom prst="ellipse">
            <a:avLst/>
          </a:prstGeom>
          <a:solidFill>
            <a:schemeClr val="accent1"/>
          </a:solidFill>
          <a:ln w="12700">
            <a:solidFill>
              <a:schemeClr val="accent1"/>
            </a:solidFill>
            <a:prstDash val="solid"/>
          </a:ln>
        </p:spPr>
      </p:sp>
      <p:pic>
        <p:nvPicPr>
          <p:cNvPr id="15" name="icimg15" descr="preencoded.png">    </p:cNvPr>
          <p:cNvPicPr>
            <a:picLocks noChangeAspect="1"/>
          </p:cNvPicPr>
          <p:nvPr/>
        </p:nvPicPr>
        <p:blipFill>
          <a:blip r:embed="rId3"/>
          <a:stretch>
            <a:fillRect/>
          </a:stretch>
        </p:blipFill>
        <p:spPr>
          <a:xfrm>
            <a:off x="8549640" y="1828800"/>
            <a:ext cx="365760" cy="365760"/>
          </a:xfrm>
          <a:prstGeom prst="rect">
            <a:avLst/>
          </a:prstGeom>
        </p:spPr>
      </p:pic>
      <p:sp>
        <p:nvSpPr>
          <p:cNvPr id="16" name="t16"/>
          <p:cNvSpPr txBox="1"/>
          <p:nvPr/>
        </p:nvSpPr>
        <p:spPr>
          <a:xfrm>
            <a:off x="8366760" y="256032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Tuned by measurement</a:t>
            </a:r>
            <a:endParaRPr lang="en-US" sz="1900" dirty="0"/>
          </a:p>
        </p:txBody>
      </p:sp>
      <p:sp>
        <p:nvSpPr>
          <p:cNvPr id="17" name="t17"/>
          <p:cNvSpPr txBox="1"/>
          <p:nvPr/>
        </p:nvSpPr>
        <p:spPr>
          <a:xfrm>
            <a:off x="8366760" y="3017520"/>
            <a:ext cx="2971800" cy="1645920"/>
          </a:xfrm>
          <a:prstGeom prst="rect">
            <a:avLst/>
          </a:prstGeom>
          <a:noFill/>
          <a:ln/>
        </p:spPr>
        <p:txBody>
          <a:bodyPr wrap="square" lIns="0" tIns="0" rIns="0" bIns="0" rtlCol="0" anchor="t"/>
          <a:lstStyle/>
          <a:p>
            <a:pPr indent="0" marL="0">
              <a:buNone/>
            </a:pPr>
            <a:r>
              <a:rPr lang="en-US" sz="1400" dirty="0">
                <a:solidFill>
                  <a:schemeClr val="tx2"/>
                </a:solidFill>
              </a:rPr>
              <a:t>Every step records its context, cache and cost. wpk stats turns that into advice on how to size and chain steps for each model.</a:t>
            </a:r>
            <a:endParaRPr lang="en-US" sz="1400" dirty="0"/>
          </a:p>
        </p:txBody>
      </p:sp>
      <p:sp>
        <p:nvSpPr>
          <p:cNvPr id="18" name="card18"/>
          <p:cNvSpPr/>
          <p:nvPr/>
        </p:nvSpPr>
        <p:spPr>
          <a:xfrm>
            <a:off x="548640" y="5029200"/>
            <a:ext cx="11094415" cy="1005840"/>
          </a:xfrm>
          <a:prstGeom prst="roundRect">
            <a:avLst>
              <a:gd name="adj" fmla="val 7273"/>
            </a:avLst>
          </a:prstGeom>
          <a:solidFill>
            <a:schemeClr val="tx1"/>
          </a:solidFill>
          <a:ln w="9525">
            <a:solidFill>
              <a:schemeClr val="tx1"/>
            </a:solidFill>
            <a:prstDash val="solid"/>
          </a:ln>
        </p:spPr>
      </p:sp>
      <p:sp>
        <p:nvSpPr>
          <p:cNvPr id="19" name="t19"/>
          <p:cNvSpPr txBox="1"/>
          <p:nvPr/>
        </p:nvSpPr>
        <p:spPr>
          <a:xfrm>
            <a:off x="868680" y="5029200"/>
            <a:ext cx="10454335" cy="1005840"/>
          </a:xfrm>
          <a:prstGeom prst="rect">
            <a:avLst/>
          </a:prstGeom>
          <a:noFill/>
          <a:ln/>
        </p:spPr>
        <p:txBody>
          <a:bodyPr wrap="square" lIns="0" tIns="0" rIns="0" bIns="0" rtlCol="0" anchor="ctr"/>
          <a:lstStyle/>
          <a:p>
            <a:pPr indent="0" marL="0">
              <a:buNone/>
            </a:pPr>
            <a:r>
              <a:rPr lang="en-US" sz="1700" b="1" dirty="0">
                <a:solidFill>
                  <a:srgbClr val="E8A33D"/>
                </a:solidFill>
              </a:rPr>
              <a:t>The result: </a:t>
            </a:r>
            <a:pPr indent="0" marL="0">
              <a:buNone/>
            </a:pPr>
            <a:r>
              <a:rPr lang="en-US" sz="1700" dirty="0">
                <a:solidFill>
                  <a:srgbClr val="FFFFFF"/>
                </a:solidFill>
              </a:rPr>
              <a:t>an easy-to-use system for managing many AI-automated projects and workflows, with tracking and statistics built in.</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Why the session-in-a-repo model falls short</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Agents assume a chat session for state and a git repo for persistence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Today's default: a session, inside a repo</a:t>
            </a:r>
            <a:endParaRPr lang="en-US" sz="3400" dirty="0"/>
          </a:p>
        </p:txBody>
      </p:sp>
      <p:sp>
        <p:nvSpPr>
          <p:cNvPr id="3" name="card20"/>
          <p:cNvSpPr/>
          <p:nvPr/>
        </p:nvSpPr>
        <p:spPr>
          <a:xfrm>
            <a:off x="548640" y="1371600"/>
            <a:ext cx="6035040" cy="1234440"/>
          </a:xfrm>
          <a:prstGeom prst="roundRect">
            <a:avLst>
              <a:gd name="adj" fmla="val 5926"/>
            </a:avLst>
          </a:prstGeom>
          <a:solidFill>
            <a:schemeClr val="bg2"/>
          </a:solidFill>
          <a:ln w="9525">
            <a:solidFill>
              <a:schemeClr val="bg2"/>
            </a:solidFill>
            <a:prstDash val="solid"/>
          </a:ln>
        </p:spPr>
      </p:sp>
      <p:sp>
        <p:nvSpPr>
          <p:cNvPr id="4" name="dd0"/>
          <p:cNvSpPr/>
          <p:nvPr/>
        </p:nvSpPr>
        <p:spPr>
          <a:xfrm>
            <a:off x="822960" y="1783080"/>
            <a:ext cx="411480" cy="411480"/>
          </a:xfrm>
          <a:prstGeom prst="ellipse">
            <a:avLst/>
          </a:prstGeom>
          <a:solidFill>
            <a:schemeClr val="accent4"/>
          </a:solidFill>
          <a:ln w="12700">
            <a:solidFill>
              <a:schemeClr val="accent4"/>
            </a:solidFill>
            <a:prstDash val="solid"/>
          </a:ln>
        </p:spPr>
      </p:sp>
      <p:sp>
        <p:nvSpPr>
          <p:cNvPr id="5" name="t21"/>
          <p:cNvSpPr txBox="1"/>
          <p:nvPr/>
        </p:nvSpPr>
        <p:spPr>
          <a:xfrm>
            <a:off x="1463040" y="1508760"/>
            <a:ext cx="4937760" cy="365760"/>
          </a:xfrm>
          <a:prstGeom prst="rect">
            <a:avLst/>
          </a:prstGeom>
          <a:noFill/>
          <a:ln/>
        </p:spPr>
        <p:txBody>
          <a:bodyPr wrap="square" lIns="0" tIns="0" rIns="0" bIns="0" rtlCol="0" anchor="t"/>
          <a:lstStyle/>
          <a:p>
            <a:pPr indent="0" marL="0">
              <a:buNone/>
            </a:pPr>
            <a:r>
              <a:rPr lang="en-US" sz="1700" b="1" dirty="0">
                <a:solidFill>
                  <a:schemeClr val="tx1"/>
                </a:solidFill>
              </a:rPr>
              <a:t>Chat session</a:t>
            </a:r>
            <a:endParaRPr lang="en-US" sz="1700" dirty="0"/>
          </a:p>
        </p:txBody>
      </p:sp>
      <p:sp>
        <p:nvSpPr>
          <p:cNvPr id="6" name="t22"/>
          <p:cNvSpPr txBox="1"/>
          <p:nvPr/>
        </p:nvSpPr>
        <p:spPr>
          <a:xfrm>
            <a:off x="1463040" y="1874520"/>
            <a:ext cx="4937760" cy="685800"/>
          </a:xfrm>
          <a:prstGeom prst="rect">
            <a:avLst/>
          </a:prstGeom>
          <a:noFill/>
          <a:ln/>
        </p:spPr>
        <p:txBody>
          <a:bodyPr wrap="square" lIns="0" tIns="0" rIns="0" bIns="0" rtlCol="0" anchor="t"/>
          <a:lstStyle/>
          <a:p>
            <a:pPr indent="0" marL="0">
              <a:buNone/>
            </a:pPr>
            <a:r>
              <a:rPr lang="en-US" sz="1350" dirty="0">
                <a:solidFill>
                  <a:schemeClr val="tx2"/>
                </a:solidFill>
              </a:rPr>
              <a:t>Holds the plan, decisions and progress. Lost or summarized lossily when it ends or is compacted.</a:t>
            </a:r>
            <a:endParaRPr lang="en-US" sz="1350" dirty="0"/>
          </a:p>
        </p:txBody>
      </p:sp>
      <p:sp>
        <p:nvSpPr>
          <p:cNvPr id="7" name="card23"/>
          <p:cNvSpPr/>
          <p:nvPr/>
        </p:nvSpPr>
        <p:spPr>
          <a:xfrm>
            <a:off x="548640" y="2834640"/>
            <a:ext cx="6035040" cy="1234440"/>
          </a:xfrm>
          <a:prstGeom prst="roundRect">
            <a:avLst>
              <a:gd name="adj" fmla="val 5926"/>
            </a:avLst>
          </a:prstGeom>
          <a:solidFill>
            <a:schemeClr val="bg2"/>
          </a:solidFill>
          <a:ln w="9525">
            <a:solidFill>
              <a:schemeClr val="bg2"/>
            </a:solidFill>
            <a:prstDash val="solid"/>
          </a:ln>
        </p:spPr>
      </p:sp>
      <p:sp>
        <p:nvSpPr>
          <p:cNvPr id="8" name="dd1"/>
          <p:cNvSpPr/>
          <p:nvPr/>
        </p:nvSpPr>
        <p:spPr>
          <a:xfrm>
            <a:off x="822960" y="3246120"/>
            <a:ext cx="411480" cy="411480"/>
          </a:xfrm>
          <a:prstGeom prst="ellipse">
            <a:avLst/>
          </a:prstGeom>
          <a:solidFill>
            <a:schemeClr val="tx2"/>
          </a:solidFill>
          <a:ln w="12700">
            <a:solidFill>
              <a:schemeClr val="tx2"/>
            </a:solidFill>
            <a:prstDash val="solid"/>
          </a:ln>
        </p:spPr>
      </p:sp>
      <p:sp>
        <p:nvSpPr>
          <p:cNvPr id="9" name="t24"/>
          <p:cNvSpPr txBox="1"/>
          <p:nvPr/>
        </p:nvSpPr>
        <p:spPr>
          <a:xfrm>
            <a:off x="1463040" y="2971800"/>
            <a:ext cx="4937760" cy="365760"/>
          </a:xfrm>
          <a:prstGeom prst="rect">
            <a:avLst/>
          </a:prstGeom>
          <a:noFill/>
          <a:ln/>
        </p:spPr>
        <p:txBody>
          <a:bodyPr wrap="square" lIns="0" tIns="0" rIns="0" bIns="0" rtlCol="0" anchor="t"/>
          <a:lstStyle/>
          <a:p>
            <a:pPr indent="0" marL="0">
              <a:buNone/>
            </a:pPr>
            <a:r>
              <a:rPr lang="en-US" sz="1700" b="1" dirty="0">
                <a:solidFill>
                  <a:schemeClr val="tx1"/>
                </a:solidFill>
              </a:rPr>
              <a:t>Git repository</a:t>
            </a:r>
            <a:endParaRPr lang="en-US" sz="1700" dirty="0"/>
          </a:p>
        </p:txBody>
      </p:sp>
      <p:sp>
        <p:nvSpPr>
          <p:cNvPr id="10" name="t25"/>
          <p:cNvSpPr txBox="1"/>
          <p:nvPr/>
        </p:nvSpPr>
        <p:spPr>
          <a:xfrm>
            <a:off x="1463040" y="3337560"/>
            <a:ext cx="4937760" cy="685800"/>
          </a:xfrm>
          <a:prstGeom prst="rect">
            <a:avLst/>
          </a:prstGeom>
          <a:noFill/>
          <a:ln/>
        </p:spPr>
        <p:txBody>
          <a:bodyPr wrap="square" lIns="0" tIns="0" rIns="0" bIns="0" rtlCol="0" anchor="t"/>
          <a:lstStyle/>
          <a:p>
            <a:pPr indent="0" marL="0">
              <a:buNone/>
            </a:pPr>
            <a:r>
              <a:rPr lang="en-US" sz="1350" dirty="0">
                <a:solidFill>
                  <a:schemeClr val="tx2"/>
                </a:solidFill>
              </a:rPr>
              <a:t>The only durable store. Plans and notes are committed to it or lost; one repo per task is assumed.</a:t>
            </a:r>
            <a:endParaRPr lang="en-US" sz="1350" dirty="0"/>
          </a:p>
        </p:txBody>
      </p:sp>
      <p:sp>
        <p:nvSpPr>
          <p:cNvPr id="11" name="card26"/>
          <p:cNvSpPr/>
          <p:nvPr/>
        </p:nvSpPr>
        <p:spPr>
          <a:xfrm>
            <a:off x="548640" y="4297680"/>
            <a:ext cx="6035040" cy="1234440"/>
          </a:xfrm>
          <a:prstGeom prst="roundRect">
            <a:avLst>
              <a:gd name="adj" fmla="val 5926"/>
            </a:avLst>
          </a:prstGeom>
          <a:solidFill>
            <a:schemeClr val="bg2"/>
          </a:solidFill>
          <a:ln w="9525">
            <a:solidFill>
              <a:schemeClr val="bg2"/>
            </a:solidFill>
            <a:prstDash val="solid"/>
          </a:ln>
        </p:spPr>
      </p:sp>
      <p:sp>
        <p:nvSpPr>
          <p:cNvPr id="12" name="dd2"/>
          <p:cNvSpPr/>
          <p:nvPr/>
        </p:nvSpPr>
        <p:spPr>
          <a:xfrm>
            <a:off x="822960" y="4709160"/>
            <a:ext cx="411480" cy="411480"/>
          </a:xfrm>
          <a:prstGeom prst="ellipse">
            <a:avLst/>
          </a:prstGeom>
          <a:solidFill>
            <a:schemeClr val="accent3"/>
          </a:solidFill>
          <a:ln w="12700">
            <a:solidFill>
              <a:schemeClr val="accent3"/>
            </a:solidFill>
            <a:prstDash val="solid"/>
          </a:ln>
        </p:spPr>
      </p:sp>
      <p:sp>
        <p:nvSpPr>
          <p:cNvPr id="13" name="t27"/>
          <p:cNvSpPr txBox="1"/>
          <p:nvPr/>
        </p:nvSpPr>
        <p:spPr>
          <a:xfrm>
            <a:off x="1463040" y="4434840"/>
            <a:ext cx="4937760" cy="365760"/>
          </a:xfrm>
          <a:prstGeom prst="rect">
            <a:avLst/>
          </a:prstGeom>
          <a:noFill/>
          <a:ln/>
        </p:spPr>
        <p:txBody>
          <a:bodyPr wrap="square" lIns="0" tIns="0" rIns="0" bIns="0" rtlCol="0" anchor="t"/>
          <a:lstStyle/>
          <a:p>
            <a:pPr indent="0" marL="0">
              <a:buNone/>
            </a:pPr>
            <a:r>
              <a:rPr lang="en-US" sz="1700" b="1" dirty="0">
                <a:solidFill>
                  <a:schemeClr val="tx1"/>
                </a:solidFill>
              </a:rPr>
              <a:t>Workspace / VM</a:t>
            </a:r>
            <a:endParaRPr lang="en-US" sz="1700" dirty="0"/>
          </a:p>
        </p:txBody>
      </p:sp>
      <p:sp>
        <p:nvSpPr>
          <p:cNvPr id="14" name="t28"/>
          <p:cNvSpPr txBox="1"/>
          <p:nvPr/>
        </p:nvSpPr>
        <p:spPr>
          <a:xfrm>
            <a:off x="1463040" y="4800600"/>
            <a:ext cx="4937760" cy="685800"/>
          </a:xfrm>
          <a:prstGeom prst="rect">
            <a:avLst/>
          </a:prstGeom>
          <a:noFill/>
          <a:ln/>
        </p:spPr>
        <p:txBody>
          <a:bodyPr wrap="square" lIns="0" tIns="0" rIns="0" bIns="0" rtlCol="0" anchor="t"/>
          <a:lstStyle/>
          <a:p>
            <a:pPr indent="0" marL="0">
              <a:buNone/>
            </a:pPr>
            <a:r>
              <a:rPr lang="en-US" sz="1350" dirty="0">
                <a:solidFill>
                  <a:schemeClr val="tx2"/>
                </a:solidFill>
              </a:rPr>
              <a:t>Builds, simulation results, caches. Thrown away with the sandbox, or left lying around untracked.</a:t>
            </a:r>
            <a:endParaRPr lang="en-US" sz="1350" dirty="0"/>
          </a:p>
        </p:txBody>
      </p:sp>
      <p:sp>
        <p:nvSpPr>
          <p:cNvPr id="15" name="t29"/>
          <p:cNvSpPr txBox="1"/>
          <p:nvPr/>
        </p:nvSpPr>
        <p:spPr>
          <a:xfrm>
            <a:off x="7040880" y="1371600"/>
            <a:ext cx="4572000" cy="411480"/>
          </a:xfrm>
          <a:prstGeom prst="rect">
            <a:avLst/>
          </a:prstGeom>
          <a:noFill/>
          <a:ln/>
        </p:spPr>
        <p:txBody>
          <a:bodyPr wrap="square" lIns="0" tIns="0" rIns="0" bIns="0" rtlCol="0" anchor="t"/>
          <a:lstStyle/>
          <a:p>
            <a:pPr indent="0" marL="0">
              <a:buNone/>
            </a:pPr>
            <a:r>
              <a:rPr lang="en-US" sz="1900" b="1" dirty="0">
                <a:solidFill>
                  <a:schemeClr val="accent2"/>
                </a:solidFill>
              </a:rPr>
              <a:t>What this assumes</a:t>
            </a:r>
            <a:endParaRPr lang="en-US" sz="1900" dirty="0"/>
          </a:p>
        </p:txBody>
      </p:sp>
      <p:sp>
        <p:nvSpPr>
          <p:cNvPr id="16" name="t30"/>
          <p:cNvSpPr txBox="1"/>
          <p:nvPr/>
        </p:nvSpPr>
        <p:spPr>
          <a:xfrm>
            <a:off x="7040880" y="1874520"/>
            <a:ext cx="4572000" cy="3200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Code is the only output worth keeping</a:t>
            </a:r>
            <a:endParaRPr lang="en-US" sz="1600" dirty="0"/>
          </a:p>
          <a:p>
            <a:pPr marL="342900" indent="-342900">
              <a:spcAft>
                <a:spcPts val="600"/>
              </a:spcAft>
              <a:buSzPct val="100000"/>
              <a:buChar char="•"/>
            </a:pPr>
            <a:r>
              <a:rPr lang="en-US" sz="1600" dirty="0">
                <a:solidFill>
                  <a:schemeClr val="tx1"/>
                </a:solidFill>
              </a:rPr>
              <a:t>Re-creating everything else is cheap</a:t>
            </a:r>
            <a:endParaRPr lang="en-US" sz="1600" dirty="0"/>
          </a:p>
          <a:p>
            <a:pPr marL="342900" indent="-342900">
              <a:spcAft>
                <a:spcPts val="600"/>
              </a:spcAft>
              <a:buSzPct val="100000"/>
              <a:buChar char="•"/>
            </a:pPr>
            <a:r>
              <a:rPr lang="en-US" sz="1600" dirty="0">
                <a:solidFill>
                  <a:schemeClr val="tx1"/>
                </a:solidFill>
              </a:rPr>
              <a:t>A person is watching the session</a:t>
            </a:r>
            <a:endParaRPr lang="en-US" sz="1600" dirty="0"/>
          </a:p>
          <a:p>
            <a:pPr marL="342900" indent="-342900">
              <a:spcAft>
                <a:spcPts val="600"/>
              </a:spcAft>
              <a:buSzPct val="100000"/>
              <a:buChar char="•"/>
            </a:pPr>
            <a:r>
              <a:rPr lang="en-US" sz="1600" dirty="0">
                <a:solidFill>
                  <a:schemeClr val="tx1"/>
                </a:solidFill>
              </a:rPr>
              <a:t>One task at a time, started by hand</a:t>
            </a:r>
            <a:endParaRPr lang="en-US" sz="1600" dirty="0"/>
          </a:p>
          <a:p>
            <a:pPr marL="342900" indent="-342900">
              <a:spcAft>
                <a:spcPts val="600"/>
              </a:spcAft>
              <a:buSzPct val="100000"/>
              <a:buChar char="•"/>
            </a:pPr>
            <a:r>
              <a:rPr lang="en-US" sz="1600" dirty="0">
                <a:solidFill>
                  <a:schemeClr val="tx1"/>
                </a:solidFill>
              </a:rPr>
              <a:t>Cost is someone else's problem</a:t>
            </a:r>
            <a:endParaRPr lang="en-US" sz="1600" dirty="0"/>
          </a:p>
        </p:txBody>
      </p:sp>
      <p:sp>
        <p:nvSpPr>
          <p:cNvPr id="17" name="t31"/>
          <p:cNvSpPr txBox="1"/>
          <p:nvPr/>
        </p:nvSpPr>
        <p:spPr>
          <a:xfrm>
            <a:off x="7040880" y="5120640"/>
            <a:ext cx="4572000" cy="731520"/>
          </a:xfrm>
          <a:prstGeom prst="rect">
            <a:avLst/>
          </a:prstGeom>
          <a:noFill/>
          <a:ln/>
        </p:spPr>
        <p:txBody>
          <a:bodyPr wrap="square" lIns="0" tIns="0" rIns="0" bIns="0" rtlCol="0" anchor="t"/>
          <a:lstStyle/>
          <a:p>
            <a:pPr indent="0" marL="0">
              <a:buNone/>
            </a:pPr>
            <a:r>
              <a:rPr lang="en-US" sz="1500" b="1" i="1" dirty="0">
                <a:solidFill>
                  <a:schemeClr val="accent4"/>
                </a:solidFill>
              </a:rPr>
              <a:t>None of these hold for long-running silicon-design work.</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In silicon design, the artifacts outweigh the code</a:t>
            </a:r>
            <a:endParaRPr lang="en-US" sz="3400" dirty="0"/>
          </a:p>
        </p:txBody>
      </p:sp>
      <p:sp>
        <p:nvSpPr>
          <p:cNvPr id="3" name="t32"/>
          <p:cNvSpPr txBox="1"/>
          <p:nvPr/>
        </p:nvSpPr>
        <p:spPr>
          <a:xfrm>
            <a:off x="548640" y="1280160"/>
            <a:ext cx="356616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GBs</a:t>
            </a:r>
            <a:endParaRPr lang="en-US" sz="4800" dirty="0"/>
          </a:p>
        </p:txBody>
      </p:sp>
      <p:sp>
        <p:nvSpPr>
          <p:cNvPr id="4" name="t33"/>
          <p:cNvSpPr txBox="1"/>
          <p:nvPr/>
        </p:nvSpPr>
        <p:spPr>
          <a:xfrm>
            <a:off x="548640" y="2194560"/>
            <a:ext cx="3566160" cy="685800"/>
          </a:xfrm>
          <a:prstGeom prst="rect">
            <a:avLst/>
          </a:prstGeom>
          <a:noFill/>
          <a:ln/>
        </p:spPr>
        <p:txBody>
          <a:bodyPr wrap="square" lIns="0" tIns="0" rIns="0" bIns="0" rtlCol="0" anchor="t"/>
          <a:lstStyle/>
          <a:p>
            <a:pPr indent="0" marL="0">
              <a:buNone/>
            </a:pPr>
            <a:r>
              <a:rPr lang="en-US" sz="1300" dirty="0">
                <a:solidFill>
                  <a:schemeClr val="tx2"/>
                </a:solidFill>
              </a:rPr>
              <a:t>one clone plus its packages/ with Verilator, Yosys and more</a:t>
            </a:r>
            <a:endParaRPr lang="en-US" sz="1300" dirty="0"/>
          </a:p>
        </p:txBody>
      </p:sp>
      <p:sp>
        <p:nvSpPr>
          <p:cNvPr id="5" name="t34"/>
          <p:cNvSpPr txBox="1"/>
          <p:nvPr/>
        </p:nvSpPr>
        <p:spPr>
          <a:xfrm>
            <a:off x="4297680" y="1280160"/>
            <a:ext cx="329184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17 min</a:t>
            </a:r>
            <a:endParaRPr lang="en-US" sz="4800" dirty="0"/>
          </a:p>
        </p:txBody>
      </p:sp>
      <p:sp>
        <p:nvSpPr>
          <p:cNvPr id="6" name="t35"/>
          <p:cNvSpPr txBox="1"/>
          <p:nvPr/>
        </p:nvSpPr>
        <p:spPr>
          <a:xfrm>
            <a:off x="4297680" y="2194560"/>
            <a:ext cx="3291840" cy="685800"/>
          </a:xfrm>
          <a:prstGeom prst="rect">
            <a:avLst/>
          </a:prstGeom>
          <a:noFill/>
          <a:ln/>
        </p:spPr>
        <p:txBody>
          <a:bodyPr wrap="square" lIns="0" tIns="0" rIns="0" bIns="0" rtlCol="0" anchor="t"/>
          <a:lstStyle/>
          <a:p>
            <a:pPr indent="0" marL="0">
              <a:buNone/>
            </a:pPr>
            <a:r>
              <a:rPr lang="en-US" sz="1300" dirty="0">
                <a:solidFill>
                  <a:schemeClr val="tx2"/>
                </a:solidFill>
              </a:rPr>
              <a:t>for one full formal run</a:t>
            </a:r>
            <a:endParaRPr lang="en-US" sz="1300" dirty="0"/>
          </a:p>
        </p:txBody>
      </p:sp>
      <p:sp>
        <p:nvSpPr>
          <p:cNvPr id="7" name="t36"/>
          <p:cNvSpPr txBox="1"/>
          <p:nvPr/>
        </p:nvSpPr>
        <p:spPr>
          <a:xfrm>
            <a:off x="8046720" y="1280160"/>
            <a:ext cx="329184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~2 h</a:t>
            </a:r>
            <a:endParaRPr lang="en-US" sz="4800" dirty="0"/>
          </a:p>
        </p:txBody>
      </p:sp>
      <p:sp>
        <p:nvSpPr>
          <p:cNvPr id="8" name="t37"/>
          <p:cNvSpPr txBox="1"/>
          <p:nvPr/>
        </p:nvSpPr>
        <p:spPr>
          <a:xfrm>
            <a:off x="8046720" y="2194560"/>
            <a:ext cx="3291840" cy="685800"/>
          </a:xfrm>
          <a:prstGeom prst="rect">
            <a:avLst/>
          </a:prstGeom>
          <a:noFill/>
          <a:ln/>
        </p:spPr>
        <p:txBody>
          <a:bodyPr wrap="square" lIns="0" tIns="0" rIns="0" bIns="0" rtlCol="0" anchor="t"/>
          <a:lstStyle/>
          <a:p>
            <a:pPr indent="0" marL="0">
              <a:buNone/>
            </a:pPr>
            <a:r>
              <a:rPr lang="en-US" sz="1300" dirty="0">
                <a:solidFill>
                  <a:schemeClr val="tx2"/>
                </a:solidFill>
              </a:rPr>
              <a:t>for the upstream verification bench</a:t>
            </a:r>
            <a:endParaRPr lang="en-US" sz="1300" dirty="0"/>
          </a:p>
        </p:txBody>
      </p:sp>
      <p:sp>
        <p:nvSpPr>
          <p:cNvPr id="9" name="card38"/>
          <p:cNvSpPr/>
          <p:nvPr/>
        </p:nvSpPr>
        <p:spPr>
          <a:xfrm>
            <a:off x="548640" y="3291840"/>
            <a:ext cx="11094415" cy="2651760"/>
          </a:xfrm>
          <a:prstGeom prst="roundRect">
            <a:avLst>
              <a:gd name="adj" fmla="val 2759"/>
            </a:avLst>
          </a:prstGeom>
          <a:solidFill>
            <a:schemeClr val="bg2"/>
          </a:solidFill>
          <a:ln w="9525">
            <a:solidFill>
              <a:schemeClr val="bg2"/>
            </a:solidFill>
            <a:prstDash val="solid"/>
          </a:ln>
        </p:spPr>
      </p:sp>
      <p:sp>
        <p:nvSpPr>
          <p:cNvPr id="10" name="ic39"/>
          <p:cNvSpPr/>
          <p:nvPr/>
        </p:nvSpPr>
        <p:spPr>
          <a:xfrm>
            <a:off x="868680" y="3566160"/>
            <a:ext cx="731520" cy="731520"/>
          </a:xfrm>
          <a:prstGeom prst="ellipse">
            <a:avLst/>
          </a:prstGeom>
          <a:solidFill>
            <a:schemeClr val="accent2"/>
          </a:solidFill>
          <a:ln w="12700">
            <a:solidFill>
              <a:schemeClr val="accent2"/>
            </a:solidFill>
            <a:prstDash val="solid"/>
          </a:ln>
        </p:spPr>
      </p:sp>
      <p:pic>
        <p:nvPicPr>
          <p:cNvPr id="11" name="icimg40" descr="preencoded.png">    </p:cNvPr>
          <p:cNvPicPr>
            <a:picLocks noChangeAspect="1"/>
          </p:cNvPicPr>
          <p:nvPr/>
        </p:nvPicPr>
        <p:blipFill>
          <a:blip r:embed="rId1"/>
          <a:stretch>
            <a:fillRect/>
          </a:stretch>
        </p:blipFill>
        <p:spPr>
          <a:xfrm>
            <a:off x="1051560" y="3749040"/>
            <a:ext cx="365760" cy="365760"/>
          </a:xfrm>
          <a:prstGeom prst="rect">
            <a:avLst/>
          </a:prstGeom>
        </p:spPr>
      </p:pic>
      <p:sp>
        <p:nvSpPr>
          <p:cNvPr id="12" name="t41"/>
          <p:cNvSpPr txBox="1"/>
          <p:nvPr/>
        </p:nvSpPr>
        <p:spPr>
          <a:xfrm>
            <a:off x="1828800" y="3566160"/>
            <a:ext cx="9144000" cy="411480"/>
          </a:xfrm>
          <a:prstGeom prst="rect">
            <a:avLst/>
          </a:prstGeom>
          <a:noFill/>
          <a:ln/>
        </p:spPr>
        <p:txBody>
          <a:bodyPr wrap="square" lIns="0" tIns="0" rIns="0" bIns="0" rtlCol="0" anchor="t"/>
          <a:lstStyle/>
          <a:p>
            <a:pPr indent="0" marL="0">
              <a:buNone/>
            </a:pPr>
            <a:r>
              <a:rPr lang="en-US" sz="1900" b="1" dirty="0">
                <a:solidFill>
                  <a:schemeClr val="tx1"/>
                </a:solidFill>
              </a:rPr>
              <a:t>What that means for an agent</a:t>
            </a:r>
            <a:endParaRPr lang="en-US" sz="1900" dirty="0"/>
          </a:p>
        </p:txBody>
      </p:sp>
      <p:sp>
        <p:nvSpPr>
          <p:cNvPr id="13" name="t42"/>
          <p:cNvSpPr txBox="1"/>
          <p:nvPr/>
        </p:nvSpPr>
        <p:spPr>
          <a:xfrm>
            <a:off x="1828800" y="4069080"/>
            <a:ext cx="969264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Re-creating the work tree, tool installs and run directories often costs more than the AI step itself</a:t>
            </a:r>
            <a:endParaRPr lang="en-US" sz="1500" dirty="0"/>
          </a:p>
          <a:p>
            <a:pPr marL="342900" indent="-342900">
              <a:spcAft>
                <a:spcPts val="600"/>
              </a:spcAft>
              <a:buSzPct val="100000"/>
              <a:buChar char="•"/>
            </a:pPr>
            <a:r>
              <a:rPr lang="en-US" sz="1500" dirty="0">
                <a:solidFill>
                  <a:schemeClr val="tx1"/>
                </a:solidFill>
              </a:rPr>
              <a:t>A sandbox that is thrown away after each task throws that investment away too</a:t>
            </a:r>
            <a:endParaRPr lang="en-US" sz="1500" dirty="0"/>
          </a:p>
          <a:p>
            <a:pPr marL="342900" indent="-342900">
              <a:spcAft>
                <a:spcPts val="600"/>
              </a:spcAft>
              <a:buSzPct val="100000"/>
              <a:buChar char="•"/>
            </a:pPr>
            <a:r>
              <a:rPr lang="en-US" sz="1500" dirty="0">
                <a:solidFill>
                  <a:schemeClr val="tx1"/>
                </a:solidFill>
              </a:rPr>
              <a:t>Plans, notes and triage logs belong to the task, not the design repo's history</a:t>
            </a:r>
            <a:endParaRPr lang="en-US" sz="1500" dirty="0"/>
          </a:p>
          <a:p>
            <a:pPr marL="342900" indent="-342900">
              <a:spcAft>
                <a:spcPts val="600"/>
              </a:spcAft>
              <a:buSzPct val="100000"/>
              <a:buChar char="•"/>
            </a:pPr>
            <a:r>
              <a:rPr lang="en-US" sz="1500" dirty="0">
                <a:solidFill>
                  <a:schemeClr val="tx1"/>
                </a:solidFill>
              </a:rPr>
              <a:t>A step that waits for a 2-hour regression must be able to sleep and resume, not hold a session open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long session gets expensive fast</a:t>
            </a:r>
            <a:endParaRPr lang="en-US" sz="3400" dirty="0"/>
          </a:p>
        </p:txBody>
      </p:sp>
      <p:sp>
        <p:nvSpPr>
          <p:cNvPr id="3" name="t43"/>
          <p:cNvSpPr txBox="1"/>
          <p:nvPr/>
        </p:nvSpPr>
        <p:spPr>
          <a:xfrm>
            <a:off x="548640" y="1188720"/>
            <a:ext cx="11094415" cy="365760"/>
          </a:xfrm>
          <a:prstGeom prst="rect">
            <a:avLst/>
          </a:prstGeom>
          <a:noFill/>
          <a:ln/>
        </p:spPr>
        <p:txBody>
          <a:bodyPr wrap="square" lIns="0" tIns="0" rIns="0" bIns="0" rtlCol="0" anchor="t"/>
          <a:lstStyle/>
          <a:p>
            <a:pPr indent="0" marL="0">
              <a:buNone/>
            </a:pPr>
            <a:r>
              <a:rPr lang="en-US" sz="1500" i="1" dirty="0">
                <a:solidFill>
                  <a:schemeClr val="tx2"/>
                </a:solidFill>
              </a:rPr>
              <a:t>A real fw-proto-chi development session, run interactively in Claude Code</a:t>
            </a:r>
            <a:endParaRPr lang="en-US" sz="1500" dirty="0"/>
          </a:p>
        </p:txBody>
      </p:sp>
      <p:sp>
        <p:nvSpPr>
          <p:cNvPr id="4" name="t44"/>
          <p:cNvSpPr txBox="1"/>
          <p:nvPr/>
        </p:nvSpPr>
        <p:spPr>
          <a:xfrm>
            <a:off x="548640" y="16459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665</a:t>
            </a:r>
            <a:endParaRPr lang="en-US" sz="4800" dirty="0"/>
          </a:p>
        </p:txBody>
      </p:sp>
      <p:sp>
        <p:nvSpPr>
          <p:cNvPr id="5" name="t45"/>
          <p:cNvSpPr txBox="1"/>
          <p:nvPr/>
        </p:nvSpPr>
        <p:spPr>
          <a:xfrm>
            <a:off x="548640" y="2560320"/>
            <a:ext cx="2560320" cy="685800"/>
          </a:xfrm>
          <a:prstGeom prst="rect">
            <a:avLst/>
          </a:prstGeom>
          <a:noFill/>
          <a:ln/>
        </p:spPr>
        <p:txBody>
          <a:bodyPr wrap="square" lIns="0" tIns="0" rIns="0" bIns="0" rtlCol="0" anchor="t"/>
          <a:lstStyle/>
          <a:p>
            <a:pPr indent="0" marL="0">
              <a:buNone/>
            </a:pPr>
            <a:r>
              <a:rPr lang="en-US" sz="1300" dirty="0">
                <a:solidFill>
                  <a:schemeClr val="tx2"/>
                </a:solidFill>
              </a:rPr>
              <a:t>API calls in the main session</a:t>
            </a:r>
            <a:endParaRPr lang="en-US" sz="1300" dirty="0"/>
          </a:p>
        </p:txBody>
      </p:sp>
      <p:sp>
        <p:nvSpPr>
          <p:cNvPr id="6" name="t46"/>
          <p:cNvSpPr txBox="1"/>
          <p:nvPr/>
        </p:nvSpPr>
        <p:spPr>
          <a:xfrm>
            <a:off x="3337560" y="16459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620k</a:t>
            </a:r>
            <a:endParaRPr lang="en-US" sz="4800" dirty="0"/>
          </a:p>
        </p:txBody>
      </p:sp>
      <p:sp>
        <p:nvSpPr>
          <p:cNvPr id="7" name="t47"/>
          <p:cNvSpPr txBox="1"/>
          <p:nvPr/>
        </p:nvSpPr>
        <p:spPr>
          <a:xfrm>
            <a:off x="3337560" y="2560320"/>
            <a:ext cx="2560320" cy="685800"/>
          </a:xfrm>
          <a:prstGeom prst="rect">
            <a:avLst/>
          </a:prstGeom>
          <a:noFill/>
          <a:ln/>
        </p:spPr>
        <p:txBody>
          <a:bodyPr wrap="square" lIns="0" tIns="0" rIns="0" bIns="0" rtlCol="0" anchor="t"/>
          <a:lstStyle/>
          <a:p>
            <a:pPr indent="0" marL="0">
              <a:buNone/>
            </a:pPr>
            <a:r>
              <a:rPr lang="en-US" sz="1300" dirty="0">
                <a:solidFill>
                  <a:schemeClr val="tx2"/>
                </a:solidFill>
              </a:rPr>
              <a:t>peak context tokens</a:t>
            </a:r>
            <a:endParaRPr lang="en-US" sz="1300" dirty="0"/>
          </a:p>
        </p:txBody>
      </p:sp>
      <p:sp>
        <p:nvSpPr>
          <p:cNvPr id="8" name="t48"/>
          <p:cNvSpPr txBox="1"/>
          <p:nvPr/>
        </p:nvSpPr>
        <p:spPr>
          <a:xfrm>
            <a:off x="6126480" y="16459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168M</a:t>
            </a:r>
            <a:endParaRPr lang="en-US" sz="4800" dirty="0"/>
          </a:p>
        </p:txBody>
      </p:sp>
      <p:sp>
        <p:nvSpPr>
          <p:cNvPr id="9" name="t49"/>
          <p:cNvSpPr txBox="1"/>
          <p:nvPr/>
        </p:nvSpPr>
        <p:spPr>
          <a:xfrm>
            <a:off x="6126480" y="2560320"/>
            <a:ext cx="2560320" cy="685800"/>
          </a:xfrm>
          <a:prstGeom prst="rect">
            <a:avLst/>
          </a:prstGeom>
          <a:noFill/>
          <a:ln/>
        </p:spPr>
        <p:txBody>
          <a:bodyPr wrap="square" lIns="0" tIns="0" rIns="0" bIns="0" rtlCol="0" anchor="t"/>
          <a:lstStyle/>
          <a:p>
            <a:pPr indent="0" marL="0">
              <a:buNone/>
            </a:pPr>
            <a:r>
              <a:rPr lang="en-US" sz="1300" dirty="0">
                <a:solidFill>
                  <a:schemeClr val="tx2"/>
                </a:solidFill>
              </a:rPr>
              <a:t>cache-read tokens</a:t>
            </a:r>
            <a:endParaRPr lang="en-US" sz="1300" dirty="0"/>
          </a:p>
        </p:txBody>
      </p:sp>
      <p:sp>
        <p:nvSpPr>
          <p:cNvPr id="10" name="t50"/>
          <p:cNvSpPr txBox="1"/>
          <p:nvPr/>
        </p:nvSpPr>
        <p:spPr>
          <a:xfrm>
            <a:off x="8915400" y="1645920"/>
            <a:ext cx="2560320" cy="868680"/>
          </a:xfrm>
          <a:prstGeom prst="rect">
            <a:avLst/>
          </a:prstGeom>
          <a:noFill/>
          <a:ln/>
        </p:spPr>
        <p:txBody>
          <a:bodyPr wrap="square" lIns="0" tIns="0" rIns="0" bIns="0" rtlCol="0" anchor="b"/>
          <a:lstStyle/>
          <a:p>
            <a:pPr indent="0" marL="0">
              <a:buNone/>
            </a:pPr>
            <a:r>
              <a:rPr lang="en-US" sz="4800" b="1" dirty="0">
                <a:solidFill>
                  <a:schemeClr val="accent4"/>
                </a:solidFill>
                <a:latin typeface="Cambria" pitchFamily="34" charset="0"/>
                <a:ea typeface="Cambria" pitchFamily="34" charset="-122"/>
                <a:cs typeface="Cambria" pitchFamily="34" charset="-120"/>
              </a:rPr>
              <a:t>6×</a:t>
            </a:r>
            <a:endParaRPr lang="en-US" sz="4800" dirty="0"/>
          </a:p>
        </p:txBody>
      </p:sp>
      <p:sp>
        <p:nvSpPr>
          <p:cNvPr id="11" name="t51"/>
          <p:cNvSpPr txBox="1"/>
          <p:nvPr/>
        </p:nvSpPr>
        <p:spPr>
          <a:xfrm>
            <a:off x="8915400" y="2560320"/>
            <a:ext cx="2560320" cy="685800"/>
          </a:xfrm>
          <a:prstGeom prst="rect">
            <a:avLst/>
          </a:prstGeom>
          <a:noFill/>
          <a:ln/>
        </p:spPr>
        <p:txBody>
          <a:bodyPr wrap="square" lIns="0" tIns="0" rIns="0" bIns="0" rtlCol="0" anchor="t"/>
          <a:lstStyle/>
          <a:p>
            <a:pPr indent="0" marL="0">
              <a:buNone/>
            </a:pPr>
            <a:r>
              <a:rPr lang="en-US" sz="1300" dirty="0">
                <a:solidFill>
                  <a:schemeClr val="tx2"/>
                </a:solidFill>
              </a:rPr>
              <a:t>manual /compact to keep going</a:t>
            </a:r>
            <a:endParaRPr lang="en-US" sz="1300" dirty="0"/>
          </a:p>
        </p:txBody>
      </p:sp>
      <p:sp>
        <p:nvSpPr>
          <p:cNvPr id="12" name="card52"/>
          <p:cNvSpPr/>
          <p:nvPr/>
        </p:nvSpPr>
        <p:spPr>
          <a:xfrm>
            <a:off x="548640" y="3749040"/>
            <a:ext cx="11094415" cy="2194560"/>
          </a:xfrm>
          <a:prstGeom prst="roundRect">
            <a:avLst>
              <a:gd name="adj" fmla="val 3333"/>
            </a:avLst>
          </a:prstGeom>
          <a:solidFill>
            <a:schemeClr val="tx1"/>
          </a:solidFill>
          <a:ln w="9525">
            <a:solidFill>
              <a:schemeClr val="tx1"/>
            </a:solidFill>
            <a:prstDash val="solid"/>
          </a:ln>
        </p:spPr>
      </p:sp>
      <p:sp>
        <p:nvSpPr>
          <p:cNvPr id="13" name="t53"/>
          <p:cNvSpPr txBox="1"/>
          <p:nvPr/>
        </p:nvSpPr>
        <p:spPr>
          <a:xfrm>
            <a:off x="868680" y="3931920"/>
            <a:ext cx="2743200" cy="365760"/>
          </a:xfrm>
          <a:prstGeom prst="rect">
            <a:avLst/>
          </a:prstGeom>
          <a:noFill/>
          <a:ln/>
        </p:spPr>
        <p:txBody>
          <a:bodyPr wrap="square" lIns="0" tIns="0" rIns="0" bIns="0" rtlCol="0" anchor="t"/>
          <a:lstStyle/>
          <a:p>
            <a:pPr indent="0" marL="0">
              <a:buNone/>
            </a:pPr>
            <a:r>
              <a:rPr lang="en-US" sz="1800" b="1" dirty="0">
                <a:solidFill>
                  <a:srgbClr val="E8A33D"/>
                </a:solidFill>
              </a:rPr>
              <a:t>Why</a:t>
            </a:r>
            <a:endParaRPr lang="en-US" sz="1800" dirty="0"/>
          </a:p>
        </p:txBody>
      </p:sp>
      <p:sp>
        <p:nvSpPr>
          <p:cNvPr id="14" name="t54"/>
          <p:cNvSpPr txBox="1"/>
          <p:nvPr/>
        </p:nvSpPr>
        <p:spPr>
          <a:xfrm>
            <a:off x="868680" y="4389120"/>
            <a:ext cx="10454335"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Every call re-reads the whole context: average ~250k tokens per call</a:t>
            </a:r>
            <a:endParaRPr lang="en-US" sz="1500" dirty="0"/>
          </a:p>
          <a:p>
            <a:pPr marL="342900" indent="-342900">
              <a:spcAft>
                <a:spcPts val="600"/>
              </a:spcAft>
              <a:buSzPct val="100000"/>
              <a:buChar char="•"/>
            </a:pPr>
            <a:r>
              <a:rPr lang="en-US" sz="1500" dirty="0">
                <a:solidFill>
                  <a:srgbClr val="FFFFFF"/>
                </a:solidFill>
              </a:rPr>
              <a:t>So cost grows roughly with the square of the session's length</a:t>
            </a:r>
            <a:endParaRPr lang="en-US" sz="1500" dirty="0"/>
          </a:p>
          <a:p>
            <a:pPr marL="342900" indent="-342900">
              <a:spcAft>
                <a:spcPts val="600"/>
              </a:spcAft>
              <a:buSzPct val="100000"/>
              <a:buChar char="•"/>
            </a:pPr>
            <a:r>
              <a:rPr lang="en-US" sz="1500" dirty="0">
                <a:solidFill>
                  <a:srgbClr val="FFFFFF"/>
                </a:solidFill>
              </a:rPr>
              <a:t>Compaction saves tokens but loses detail that has to be re-discovered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Real work is many projects, not one chat</a:t>
            </a:r>
            <a:endParaRPr lang="en-US" sz="3400" dirty="0"/>
          </a:p>
        </p:txBody>
      </p:sp>
      <p:sp>
        <p:nvSpPr>
          <p:cNvPr id="3" name="card55"/>
          <p:cNvSpPr/>
          <p:nvPr/>
        </p:nvSpPr>
        <p:spPr>
          <a:xfrm>
            <a:off x="548640" y="1325880"/>
            <a:ext cx="3520440" cy="1600200"/>
          </a:xfrm>
          <a:prstGeom prst="roundRect">
            <a:avLst>
              <a:gd name="adj" fmla="val 4571"/>
            </a:avLst>
          </a:prstGeom>
          <a:solidFill>
            <a:schemeClr val="bg2"/>
          </a:solidFill>
          <a:ln w="9525">
            <a:solidFill>
              <a:schemeClr val="bg2"/>
            </a:solidFill>
            <a:prstDash val="solid"/>
          </a:ln>
        </p:spPr>
      </p:sp>
      <p:sp>
        <p:nvSpPr>
          <p:cNvPr id="4" name="ic56"/>
          <p:cNvSpPr/>
          <p:nvPr/>
        </p:nvSpPr>
        <p:spPr>
          <a:xfrm>
            <a:off x="777240" y="1600200"/>
            <a:ext cx="594360" cy="594360"/>
          </a:xfrm>
          <a:prstGeom prst="ellipse">
            <a:avLst/>
          </a:prstGeom>
          <a:solidFill>
            <a:schemeClr val="accent2"/>
          </a:solidFill>
          <a:ln w="12700">
            <a:solidFill>
              <a:schemeClr val="accent2"/>
            </a:solidFill>
            <a:prstDash val="solid"/>
          </a:ln>
        </p:spPr>
      </p:sp>
      <p:pic>
        <p:nvPicPr>
          <p:cNvPr id="5" name="icimg57"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58"/>
          <p:cNvSpPr txBox="1"/>
          <p:nvPr/>
        </p:nvSpPr>
        <p:spPr>
          <a:xfrm>
            <a:off x="1554480" y="1600200"/>
            <a:ext cx="2331720" cy="365760"/>
          </a:xfrm>
          <a:prstGeom prst="rect">
            <a:avLst/>
          </a:prstGeom>
          <a:noFill/>
          <a:ln/>
        </p:spPr>
        <p:txBody>
          <a:bodyPr wrap="square" lIns="0" tIns="0" rIns="0" bIns="0" rtlCol="0" anchor="t"/>
          <a:lstStyle/>
          <a:p>
            <a:pPr indent="0" marL="0">
              <a:buNone/>
            </a:pPr>
            <a:r>
              <a:rPr lang="en-US" sz="1700" b="1" dirty="0">
                <a:solidFill>
                  <a:schemeClr val="tx1"/>
                </a:solidFill>
              </a:rPr>
              <a:t>Feature work</a:t>
            </a:r>
            <a:endParaRPr lang="en-US" sz="1700" dirty="0"/>
          </a:p>
        </p:txBody>
      </p:sp>
      <p:sp>
        <p:nvSpPr>
          <p:cNvPr id="7" name="t59"/>
          <p:cNvSpPr txBox="1"/>
          <p:nvPr/>
        </p:nvSpPr>
        <p:spPr>
          <a:xfrm>
            <a:off x="1554480" y="2011680"/>
            <a:ext cx="2331720" cy="822960"/>
          </a:xfrm>
          <a:prstGeom prst="rect">
            <a:avLst/>
          </a:prstGeom>
          <a:noFill/>
          <a:ln/>
        </p:spPr>
        <p:txBody>
          <a:bodyPr wrap="square" lIns="0" tIns="0" rIns="0" bIns="0" rtlCol="0" anchor="t"/>
          <a:lstStyle/>
          <a:p>
            <a:pPr indent="0" marL="0">
              <a:buNone/>
            </a:pPr>
            <a:r>
              <a:rPr lang="en-US" sz="1350" dirty="0">
                <a:solidFill>
                  <a:schemeClr val="tx2"/>
                </a:solidFill>
              </a:rPr>
              <a:t>Implement a block, extend a testbench: days of steps</a:t>
            </a:r>
            <a:endParaRPr lang="en-US" sz="1350" dirty="0"/>
          </a:p>
        </p:txBody>
      </p:sp>
      <p:sp>
        <p:nvSpPr>
          <p:cNvPr id="8" name="card60"/>
          <p:cNvSpPr/>
          <p:nvPr/>
        </p:nvSpPr>
        <p:spPr>
          <a:xfrm>
            <a:off x="4320540" y="1325880"/>
            <a:ext cx="3520440" cy="1600200"/>
          </a:xfrm>
          <a:prstGeom prst="roundRect">
            <a:avLst>
              <a:gd name="adj" fmla="val 4571"/>
            </a:avLst>
          </a:prstGeom>
          <a:solidFill>
            <a:schemeClr val="bg2"/>
          </a:solidFill>
          <a:ln w="9525">
            <a:solidFill>
              <a:schemeClr val="bg2"/>
            </a:solidFill>
            <a:prstDash val="solid"/>
          </a:ln>
        </p:spPr>
      </p:sp>
      <p:sp>
        <p:nvSpPr>
          <p:cNvPr id="9" name="ic61"/>
          <p:cNvSpPr/>
          <p:nvPr/>
        </p:nvSpPr>
        <p:spPr>
          <a:xfrm>
            <a:off x="4549140" y="1600200"/>
            <a:ext cx="594360" cy="594360"/>
          </a:xfrm>
          <a:prstGeom prst="ellipse">
            <a:avLst/>
          </a:prstGeom>
          <a:solidFill>
            <a:schemeClr val="accent2"/>
          </a:solidFill>
          <a:ln w="12700">
            <a:solidFill>
              <a:schemeClr val="accent2"/>
            </a:solidFill>
            <a:prstDash val="solid"/>
          </a:ln>
        </p:spPr>
      </p:sp>
      <p:pic>
        <p:nvPicPr>
          <p:cNvPr id="10" name="icimg62" descr="preencoded.png">    </p:cNvPr>
          <p:cNvPicPr>
            <a:picLocks noChangeAspect="1"/>
          </p:cNvPicPr>
          <p:nvPr/>
        </p:nvPicPr>
        <p:blipFill>
          <a:blip r:embed="rId2"/>
          <a:stretch>
            <a:fillRect/>
          </a:stretch>
        </p:blipFill>
        <p:spPr>
          <a:xfrm>
            <a:off x="4697730" y="1748790"/>
            <a:ext cx="297180" cy="297180"/>
          </a:xfrm>
          <a:prstGeom prst="rect">
            <a:avLst/>
          </a:prstGeom>
        </p:spPr>
      </p:pic>
      <p:sp>
        <p:nvSpPr>
          <p:cNvPr id="11" name="t63"/>
          <p:cNvSpPr txBox="1"/>
          <p:nvPr/>
        </p:nvSpPr>
        <p:spPr>
          <a:xfrm>
            <a:off x="5326380" y="1600200"/>
            <a:ext cx="2331720" cy="365760"/>
          </a:xfrm>
          <a:prstGeom prst="rect">
            <a:avLst/>
          </a:prstGeom>
          <a:noFill/>
          <a:ln/>
        </p:spPr>
        <p:txBody>
          <a:bodyPr wrap="square" lIns="0" tIns="0" rIns="0" bIns="0" rtlCol="0" anchor="t"/>
          <a:lstStyle/>
          <a:p>
            <a:pPr indent="0" marL="0">
              <a:buNone/>
            </a:pPr>
            <a:r>
              <a:rPr lang="en-US" sz="1700" b="1" dirty="0">
                <a:solidFill>
                  <a:schemeClr val="tx1"/>
                </a:solidFill>
              </a:rPr>
              <a:t>Nightly triage</a:t>
            </a:r>
            <a:endParaRPr lang="en-US" sz="1700" dirty="0"/>
          </a:p>
        </p:txBody>
      </p:sp>
      <p:sp>
        <p:nvSpPr>
          <p:cNvPr id="12" name="t64"/>
          <p:cNvSpPr txBox="1"/>
          <p:nvPr/>
        </p:nvSpPr>
        <p:spPr>
          <a:xfrm>
            <a:off x="5326380" y="2011680"/>
            <a:ext cx="2331720" cy="822960"/>
          </a:xfrm>
          <a:prstGeom prst="rect">
            <a:avLst/>
          </a:prstGeom>
          <a:noFill/>
          <a:ln/>
        </p:spPr>
        <p:txBody>
          <a:bodyPr wrap="square" lIns="0" tIns="0" rIns="0" bIns="0" rtlCol="0" anchor="t"/>
          <a:lstStyle/>
          <a:p>
            <a:pPr indent="0" marL="0">
              <a:buNone/>
            </a:pPr>
            <a:r>
              <a:rPr lang="en-US" sz="1350" dirty="0">
                <a:solidFill>
                  <a:schemeClr val="tx2"/>
                </a:solidFill>
              </a:rPr>
              <a:t>Look at last night's regression, file what broke</a:t>
            </a:r>
            <a:endParaRPr lang="en-US" sz="1350" dirty="0"/>
          </a:p>
        </p:txBody>
      </p:sp>
      <p:sp>
        <p:nvSpPr>
          <p:cNvPr id="13" name="card65"/>
          <p:cNvSpPr/>
          <p:nvPr/>
        </p:nvSpPr>
        <p:spPr>
          <a:xfrm>
            <a:off x="8092440" y="1325880"/>
            <a:ext cx="3520440" cy="1600200"/>
          </a:xfrm>
          <a:prstGeom prst="roundRect">
            <a:avLst>
              <a:gd name="adj" fmla="val 4571"/>
            </a:avLst>
          </a:prstGeom>
          <a:solidFill>
            <a:schemeClr val="bg2"/>
          </a:solidFill>
          <a:ln w="9525">
            <a:solidFill>
              <a:schemeClr val="bg2"/>
            </a:solidFill>
            <a:prstDash val="solid"/>
          </a:ln>
        </p:spPr>
      </p:sp>
      <p:sp>
        <p:nvSpPr>
          <p:cNvPr id="14" name="ic66"/>
          <p:cNvSpPr/>
          <p:nvPr/>
        </p:nvSpPr>
        <p:spPr>
          <a:xfrm>
            <a:off x="8321040" y="1600200"/>
            <a:ext cx="594360" cy="594360"/>
          </a:xfrm>
          <a:prstGeom prst="ellipse">
            <a:avLst/>
          </a:prstGeom>
          <a:solidFill>
            <a:schemeClr val="accent2"/>
          </a:solidFill>
          <a:ln w="12700">
            <a:solidFill>
              <a:schemeClr val="accent2"/>
            </a:solidFill>
            <a:prstDash val="solid"/>
          </a:ln>
        </p:spPr>
      </p:sp>
      <p:pic>
        <p:nvPicPr>
          <p:cNvPr id="15" name="icimg67" descr="preencoded.png">    </p:cNvPr>
          <p:cNvPicPr>
            <a:picLocks noChangeAspect="1"/>
          </p:cNvPicPr>
          <p:nvPr/>
        </p:nvPicPr>
        <p:blipFill>
          <a:blip r:embed="rId3"/>
          <a:stretch>
            <a:fillRect/>
          </a:stretch>
        </p:blipFill>
        <p:spPr>
          <a:xfrm>
            <a:off x="8469630" y="1748790"/>
            <a:ext cx="297180" cy="297180"/>
          </a:xfrm>
          <a:prstGeom prst="rect">
            <a:avLst/>
          </a:prstGeom>
        </p:spPr>
      </p:pic>
      <p:sp>
        <p:nvSpPr>
          <p:cNvPr id="16" name="t68"/>
          <p:cNvSpPr txBox="1"/>
          <p:nvPr/>
        </p:nvSpPr>
        <p:spPr>
          <a:xfrm>
            <a:off x="9098280" y="1600200"/>
            <a:ext cx="2331720" cy="365760"/>
          </a:xfrm>
          <a:prstGeom prst="rect">
            <a:avLst/>
          </a:prstGeom>
          <a:noFill/>
          <a:ln/>
        </p:spPr>
        <p:txBody>
          <a:bodyPr wrap="square" lIns="0" tIns="0" rIns="0" bIns="0" rtlCol="0" anchor="t"/>
          <a:lstStyle/>
          <a:p>
            <a:pPr indent="0" marL="0">
              <a:buNone/>
            </a:pPr>
            <a:r>
              <a:rPr lang="en-US" sz="1700" b="1" dirty="0">
                <a:solidFill>
                  <a:schemeClr val="tx1"/>
                </a:solidFill>
              </a:rPr>
              <a:t>Weekly reports</a:t>
            </a:r>
            <a:endParaRPr lang="en-US" sz="1700" dirty="0"/>
          </a:p>
        </p:txBody>
      </p:sp>
      <p:sp>
        <p:nvSpPr>
          <p:cNvPr id="17" name="t69"/>
          <p:cNvSpPr txBox="1"/>
          <p:nvPr/>
        </p:nvSpPr>
        <p:spPr>
          <a:xfrm>
            <a:off x="9098280" y="2011680"/>
            <a:ext cx="2331720" cy="822960"/>
          </a:xfrm>
          <a:prstGeom prst="rect">
            <a:avLst/>
          </a:prstGeom>
          <a:noFill/>
          <a:ln/>
        </p:spPr>
        <p:txBody>
          <a:bodyPr wrap="square" lIns="0" tIns="0" rIns="0" bIns="0" rtlCol="0" anchor="t"/>
          <a:lstStyle/>
          <a:p>
            <a:pPr indent="0" marL="0">
              <a:buNone/>
            </a:pPr>
            <a:r>
              <a:rPr lang="en-US" sz="1350" dirty="0">
                <a:solidFill>
                  <a:schemeClr val="tx2"/>
                </a:solidFill>
              </a:rPr>
              <a:t>Summarize progress, chase open questions</a:t>
            </a:r>
            <a:endParaRPr lang="en-US" sz="1350" dirty="0"/>
          </a:p>
        </p:txBody>
      </p:sp>
      <p:sp>
        <p:nvSpPr>
          <p:cNvPr id="18" name="card70"/>
          <p:cNvSpPr/>
          <p:nvPr/>
        </p:nvSpPr>
        <p:spPr>
          <a:xfrm>
            <a:off x="548640" y="3200400"/>
            <a:ext cx="3520440" cy="1600200"/>
          </a:xfrm>
          <a:prstGeom prst="roundRect">
            <a:avLst>
              <a:gd name="adj" fmla="val 4571"/>
            </a:avLst>
          </a:prstGeom>
          <a:solidFill>
            <a:schemeClr val="bg2"/>
          </a:solidFill>
          <a:ln w="9525">
            <a:solidFill>
              <a:schemeClr val="bg2"/>
            </a:solidFill>
            <a:prstDash val="solid"/>
          </a:ln>
        </p:spPr>
      </p:sp>
      <p:sp>
        <p:nvSpPr>
          <p:cNvPr id="19" name="ic71"/>
          <p:cNvSpPr/>
          <p:nvPr/>
        </p:nvSpPr>
        <p:spPr>
          <a:xfrm>
            <a:off x="777240" y="3474720"/>
            <a:ext cx="594360" cy="594360"/>
          </a:xfrm>
          <a:prstGeom prst="ellipse">
            <a:avLst/>
          </a:prstGeom>
          <a:solidFill>
            <a:schemeClr val="accent2"/>
          </a:solidFill>
          <a:ln w="12700">
            <a:solidFill>
              <a:schemeClr val="accent2"/>
            </a:solidFill>
            <a:prstDash val="solid"/>
          </a:ln>
        </p:spPr>
      </p:sp>
      <p:pic>
        <p:nvPicPr>
          <p:cNvPr id="20" name="icimg72" descr="preencoded.png">    </p:cNvPr>
          <p:cNvPicPr>
            <a:picLocks noChangeAspect="1"/>
          </p:cNvPicPr>
          <p:nvPr/>
        </p:nvPicPr>
        <p:blipFill>
          <a:blip r:embed="rId4"/>
          <a:stretch>
            <a:fillRect/>
          </a:stretch>
        </p:blipFill>
        <p:spPr>
          <a:xfrm>
            <a:off x="925830" y="3623310"/>
            <a:ext cx="297180" cy="297180"/>
          </a:xfrm>
          <a:prstGeom prst="rect">
            <a:avLst/>
          </a:prstGeom>
        </p:spPr>
      </p:pic>
      <p:sp>
        <p:nvSpPr>
          <p:cNvPr id="21" name="t73"/>
          <p:cNvSpPr txBox="1"/>
          <p:nvPr/>
        </p:nvSpPr>
        <p:spPr>
          <a:xfrm>
            <a:off x="1554480" y="3474720"/>
            <a:ext cx="2331720" cy="365760"/>
          </a:xfrm>
          <a:prstGeom prst="rect">
            <a:avLst/>
          </a:prstGeom>
          <a:noFill/>
          <a:ln/>
        </p:spPr>
        <p:txBody>
          <a:bodyPr wrap="square" lIns="0" tIns="0" rIns="0" bIns="0" rtlCol="0" anchor="t"/>
          <a:lstStyle/>
          <a:p>
            <a:pPr indent="0" marL="0">
              <a:buNone/>
            </a:pPr>
            <a:r>
              <a:rPr lang="en-US" sz="1700" b="1" dirty="0">
                <a:solidFill>
                  <a:schemeClr val="tx1"/>
                </a:solidFill>
              </a:rPr>
              <a:t>Research</a:t>
            </a:r>
            <a:endParaRPr lang="en-US" sz="1700" dirty="0"/>
          </a:p>
        </p:txBody>
      </p:sp>
      <p:sp>
        <p:nvSpPr>
          <p:cNvPr id="22" name="t74"/>
          <p:cNvSpPr txBox="1"/>
          <p:nvPr/>
        </p:nvSpPr>
        <p:spPr>
          <a:xfrm>
            <a:off x="1554480" y="3886200"/>
            <a:ext cx="2331720" cy="822960"/>
          </a:xfrm>
          <a:prstGeom prst="rect">
            <a:avLst/>
          </a:prstGeom>
          <a:noFill/>
          <a:ln/>
        </p:spPr>
        <p:txBody>
          <a:bodyPr wrap="square" lIns="0" tIns="0" rIns="0" bIns="0" rtlCol="0" anchor="t"/>
          <a:lstStyle/>
          <a:p>
            <a:pPr indent="0" marL="0">
              <a:buNone/>
            </a:pPr>
            <a:r>
              <a:rPr lang="en-US" sz="1350" dirty="0">
                <a:solidFill>
                  <a:schemeClr val="tx2"/>
                </a:solidFill>
              </a:rPr>
              <a:t>Survey a protocol or tool, write up findings</a:t>
            </a:r>
            <a:endParaRPr lang="en-US" sz="1350" dirty="0"/>
          </a:p>
        </p:txBody>
      </p:sp>
      <p:sp>
        <p:nvSpPr>
          <p:cNvPr id="23" name="card75"/>
          <p:cNvSpPr/>
          <p:nvPr/>
        </p:nvSpPr>
        <p:spPr>
          <a:xfrm>
            <a:off x="4320540" y="3200400"/>
            <a:ext cx="3520440" cy="1600200"/>
          </a:xfrm>
          <a:prstGeom prst="roundRect">
            <a:avLst>
              <a:gd name="adj" fmla="val 4571"/>
            </a:avLst>
          </a:prstGeom>
          <a:solidFill>
            <a:schemeClr val="bg2"/>
          </a:solidFill>
          <a:ln w="9525">
            <a:solidFill>
              <a:schemeClr val="bg2"/>
            </a:solidFill>
            <a:prstDash val="solid"/>
          </a:ln>
        </p:spPr>
      </p:sp>
      <p:sp>
        <p:nvSpPr>
          <p:cNvPr id="24" name="ic76"/>
          <p:cNvSpPr/>
          <p:nvPr/>
        </p:nvSpPr>
        <p:spPr>
          <a:xfrm>
            <a:off x="4549140" y="3474720"/>
            <a:ext cx="594360" cy="594360"/>
          </a:xfrm>
          <a:prstGeom prst="ellipse">
            <a:avLst/>
          </a:prstGeom>
          <a:solidFill>
            <a:schemeClr val="accent2"/>
          </a:solidFill>
          <a:ln w="12700">
            <a:solidFill>
              <a:schemeClr val="accent2"/>
            </a:solidFill>
            <a:prstDash val="solid"/>
          </a:ln>
        </p:spPr>
      </p:sp>
      <p:pic>
        <p:nvPicPr>
          <p:cNvPr id="25" name="icimg77" descr="preencoded.png">    </p:cNvPr>
          <p:cNvPicPr>
            <a:picLocks noChangeAspect="1"/>
          </p:cNvPicPr>
          <p:nvPr/>
        </p:nvPicPr>
        <p:blipFill>
          <a:blip r:embed="rId5"/>
          <a:stretch>
            <a:fillRect/>
          </a:stretch>
        </p:blipFill>
        <p:spPr>
          <a:xfrm>
            <a:off x="4697730" y="3623310"/>
            <a:ext cx="297180" cy="297180"/>
          </a:xfrm>
          <a:prstGeom prst="rect">
            <a:avLst/>
          </a:prstGeom>
        </p:spPr>
      </p:pic>
      <p:sp>
        <p:nvSpPr>
          <p:cNvPr id="26" name="t78"/>
          <p:cNvSpPr txBox="1"/>
          <p:nvPr/>
        </p:nvSpPr>
        <p:spPr>
          <a:xfrm>
            <a:off x="5326380" y="3474720"/>
            <a:ext cx="2331720" cy="365760"/>
          </a:xfrm>
          <a:prstGeom prst="rect">
            <a:avLst/>
          </a:prstGeom>
          <a:noFill/>
          <a:ln/>
        </p:spPr>
        <p:txBody>
          <a:bodyPr wrap="square" lIns="0" tIns="0" rIns="0" bIns="0" rtlCol="0" anchor="t"/>
          <a:lstStyle/>
          <a:p>
            <a:pPr indent="0" marL="0">
              <a:buNone/>
            </a:pPr>
            <a:r>
              <a:rPr lang="en-US" sz="1700" b="1" dirty="0">
                <a:solidFill>
                  <a:schemeClr val="tx1"/>
                </a:solidFill>
              </a:rPr>
              <a:t>Upkeep</a:t>
            </a:r>
            <a:endParaRPr lang="en-US" sz="1700" dirty="0"/>
          </a:p>
        </p:txBody>
      </p:sp>
      <p:sp>
        <p:nvSpPr>
          <p:cNvPr id="27" name="t79"/>
          <p:cNvSpPr txBox="1"/>
          <p:nvPr/>
        </p:nvSpPr>
        <p:spPr>
          <a:xfrm>
            <a:off x="5326380" y="3886200"/>
            <a:ext cx="2331720" cy="822960"/>
          </a:xfrm>
          <a:prstGeom prst="rect">
            <a:avLst/>
          </a:prstGeom>
          <a:noFill/>
          <a:ln/>
        </p:spPr>
        <p:txBody>
          <a:bodyPr wrap="square" lIns="0" tIns="0" rIns="0" bIns="0" rtlCol="0" anchor="t"/>
          <a:lstStyle/>
          <a:p>
            <a:pPr indent="0" marL="0">
              <a:buNone/>
            </a:pPr>
            <a:r>
              <a:rPr lang="en-US" sz="1350" dirty="0">
                <a:solidFill>
                  <a:schemeClr val="tx2"/>
                </a:solidFill>
              </a:rPr>
              <a:t>Bump dependencies, re-run benches, prune runs</a:t>
            </a:r>
            <a:endParaRPr lang="en-US" sz="1350" dirty="0"/>
          </a:p>
        </p:txBody>
      </p:sp>
      <p:sp>
        <p:nvSpPr>
          <p:cNvPr id="28" name="card80"/>
          <p:cNvSpPr/>
          <p:nvPr/>
        </p:nvSpPr>
        <p:spPr>
          <a:xfrm>
            <a:off x="8092440" y="3200400"/>
            <a:ext cx="3520440" cy="1600200"/>
          </a:xfrm>
          <a:prstGeom prst="roundRect">
            <a:avLst>
              <a:gd name="adj" fmla="val 4571"/>
            </a:avLst>
          </a:prstGeom>
          <a:solidFill>
            <a:schemeClr val="bg2"/>
          </a:solidFill>
          <a:ln w="9525">
            <a:solidFill>
              <a:schemeClr val="bg2"/>
            </a:solidFill>
            <a:prstDash val="solid"/>
          </a:ln>
        </p:spPr>
      </p:sp>
      <p:sp>
        <p:nvSpPr>
          <p:cNvPr id="29" name="ic81"/>
          <p:cNvSpPr/>
          <p:nvPr/>
        </p:nvSpPr>
        <p:spPr>
          <a:xfrm>
            <a:off x="8321040" y="3474720"/>
            <a:ext cx="594360" cy="594360"/>
          </a:xfrm>
          <a:prstGeom prst="ellipse">
            <a:avLst/>
          </a:prstGeom>
          <a:solidFill>
            <a:schemeClr val="accent2"/>
          </a:solidFill>
          <a:ln w="12700">
            <a:solidFill>
              <a:schemeClr val="accent2"/>
            </a:solidFill>
            <a:prstDash val="solid"/>
          </a:ln>
        </p:spPr>
      </p:sp>
      <p:pic>
        <p:nvPicPr>
          <p:cNvPr id="30" name="icimg82" descr="preencoded.png">    </p:cNvPr>
          <p:cNvPicPr>
            <a:picLocks noChangeAspect="1"/>
          </p:cNvPicPr>
          <p:nvPr/>
        </p:nvPicPr>
        <p:blipFill>
          <a:blip r:embed="rId6"/>
          <a:stretch>
            <a:fillRect/>
          </a:stretch>
        </p:blipFill>
        <p:spPr>
          <a:xfrm>
            <a:off x="8469630" y="3623310"/>
            <a:ext cx="297180" cy="297180"/>
          </a:xfrm>
          <a:prstGeom prst="rect">
            <a:avLst/>
          </a:prstGeom>
        </p:spPr>
      </p:pic>
      <p:sp>
        <p:nvSpPr>
          <p:cNvPr id="31" name="t83"/>
          <p:cNvSpPr txBox="1"/>
          <p:nvPr/>
        </p:nvSpPr>
        <p:spPr>
          <a:xfrm>
            <a:off x="9098280" y="3474720"/>
            <a:ext cx="2331720" cy="365760"/>
          </a:xfrm>
          <a:prstGeom prst="rect">
            <a:avLst/>
          </a:prstGeom>
          <a:noFill/>
          <a:ln/>
        </p:spPr>
        <p:txBody>
          <a:bodyPr wrap="square" lIns="0" tIns="0" rIns="0" bIns="0" rtlCol="0" anchor="t"/>
          <a:lstStyle/>
          <a:p>
            <a:pPr indent="0" marL="0">
              <a:buNone/>
            </a:pPr>
            <a:r>
              <a:rPr lang="en-US" sz="1700" b="1" dirty="0">
                <a:solidFill>
                  <a:schemeClr val="tx1"/>
                </a:solidFill>
              </a:rPr>
              <a:t>Waiting on people</a:t>
            </a:r>
            <a:endParaRPr lang="en-US" sz="1700" dirty="0"/>
          </a:p>
        </p:txBody>
      </p:sp>
      <p:sp>
        <p:nvSpPr>
          <p:cNvPr id="32" name="t84"/>
          <p:cNvSpPr txBox="1"/>
          <p:nvPr/>
        </p:nvSpPr>
        <p:spPr>
          <a:xfrm>
            <a:off x="9098280" y="3886200"/>
            <a:ext cx="2331720" cy="822960"/>
          </a:xfrm>
          <a:prstGeom prst="rect">
            <a:avLst/>
          </a:prstGeom>
          <a:noFill/>
          <a:ln/>
        </p:spPr>
        <p:txBody>
          <a:bodyPr wrap="square" lIns="0" tIns="0" rIns="0" bIns="0" rtlCol="0" anchor="t"/>
          <a:lstStyle/>
          <a:p>
            <a:pPr indent="0" marL="0">
              <a:buNone/>
            </a:pPr>
            <a:r>
              <a:rPr lang="en-US" sz="1350" dirty="0">
                <a:solidFill>
                  <a:schemeClr val="tx2"/>
                </a:solidFill>
              </a:rPr>
              <a:t>Questions parked until someone answers</a:t>
            </a:r>
            <a:endParaRPr lang="en-US" sz="1350" dirty="0"/>
          </a:p>
        </p:txBody>
      </p:sp>
      <p:sp>
        <p:nvSpPr>
          <p:cNvPr id="33" name="t85"/>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1700" b="1" i="1" dirty="0">
                <a:solidFill>
                  <a:schemeClr val="accent4"/>
                </a:solidFill>
              </a:rPr>
              <a:t>Who schedules these, tracks them, and knows what each one has cost?</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The packet is the unit of work and of persistence</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Everything a task needs, in one directory that outlives any session</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packet holds three kinds of thing</a:t>
            </a:r>
            <a:endParaRPr lang="en-US" sz="3400" dirty="0"/>
          </a:p>
        </p:txBody>
      </p:sp>
      <p:sp>
        <p:nvSpPr>
          <p:cNvPr id="3" name="card86"/>
          <p:cNvSpPr/>
          <p:nvPr/>
        </p:nvSpPr>
        <p:spPr>
          <a:xfrm>
            <a:off x="548640" y="1325880"/>
            <a:ext cx="3520440" cy="4023360"/>
          </a:xfrm>
          <a:prstGeom prst="roundRect">
            <a:avLst>
              <a:gd name="adj" fmla="val 2078"/>
            </a:avLst>
          </a:prstGeom>
          <a:solidFill>
            <a:schemeClr val="bg2"/>
          </a:solidFill>
          <a:ln w="9525">
            <a:solidFill>
              <a:schemeClr val="bg2"/>
            </a:solidFill>
            <a:prstDash val="solid"/>
          </a:ln>
        </p:spPr>
      </p:sp>
      <p:sp>
        <p:nvSpPr>
          <p:cNvPr id="4" name="ic87"/>
          <p:cNvSpPr/>
          <p:nvPr/>
        </p:nvSpPr>
        <p:spPr>
          <a:xfrm>
            <a:off x="822960" y="1600200"/>
            <a:ext cx="731520" cy="731520"/>
          </a:xfrm>
          <a:prstGeom prst="ellipse">
            <a:avLst/>
          </a:prstGeom>
          <a:solidFill>
            <a:schemeClr val="accent2"/>
          </a:solidFill>
          <a:ln w="12700">
            <a:solidFill>
              <a:schemeClr val="accent2"/>
            </a:solidFill>
            <a:prstDash val="solid"/>
          </a:ln>
        </p:spPr>
      </p:sp>
      <p:pic>
        <p:nvPicPr>
          <p:cNvPr id="5" name="icimg88"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6" name="t89"/>
          <p:cNvSpPr txBox="1"/>
          <p:nvPr/>
        </p:nvSpPr>
        <p:spPr>
          <a:xfrm>
            <a:off x="822960" y="251460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Subject data</a:t>
            </a:r>
            <a:endParaRPr lang="en-US" sz="1900" dirty="0"/>
          </a:p>
        </p:txBody>
      </p:sp>
      <p:sp>
        <p:nvSpPr>
          <p:cNvPr id="7" name="t90"/>
          <p:cNvSpPr txBox="1"/>
          <p:nvPr/>
        </p:nvSpPr>
        <p:spPr>
          <a:xfrm>
            <a:off x="822960" y="2926080"/>
            <a:ext cx="2971800" cy="548640"/>
          </a:xfrm>
          <a:prstGeom prst="rect">
            <a:avLst/>
          </a:prstGeom>
          <a:noFill/>
          <a:ln/>
        </p:spPr>
        <p:txBody>
          <a:bodyPr wrap="square" lIns="0" tIns="0" rIns="0" bIns="0" rtlCol="0" anchor="t"/>
          <a:lstStyle/>
          <a:p>
            <a:pPr indent="0" marL="0">
              <a:buNone/>
            </a:pPr>
            <a:r>
              <a:rPr lang="en-US" sz="1400" i="1" dirty="0">
                <a:solidFill>
                  <a:schemeClr val="tx2"/>
                </a:solidFill>
              </a:rPr>
              <a:t>The code and design being worked on</a:t>
            </a:r>
            <a:endParaRPr lang="en-US" sz="1400" dirty="0"/>
          </a:p>
        </p:txBody>
      </p:sp>
      <p:sp>
        <p:nvSpPr>
          <p:cNvPr id="8" name="t91"/>
          <p:cNvSpPr txBox="1"/>
          <p:nvPr/>
        </p:nvSpPr>
        <p:spPr>
          <a:xfrm>
            <a:off x="822960" y="356616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work/: git clones edited in place</a:t>
            </a:r>
            <a:endParaRPr lang="en-US" sz="1350" dirty="0"/>
          </a:p>
          <a:p>
            <a:pPr marL="342900" indent="-342900">
              <a:spcAft>
                <a:spcPts val="600"/>
              </a:spcAft>
              <a:buSzPct val="100000"/>
              <a:buChar char="•"/>
            </a:pPr>
            <a:r>
              <a:rPr lang="en-US" sz="1350" dirty="0">
                <a:solidFill>
                  <a:schemeClr val="tx1"/>
                </a:solidFill>
              </a:rPr>
              <a:t>identity/: read-only links to outside resources</a:t>
            </a:r>
            <a:endParaRPr lang="en-US" sz="1350" dirty="0"/>
          </a:p>
        </p:txBody>
      </p:sp>
      <p:sp>
        <p:nvSpPr>
          <p:cNvPr id="9" name="card92"/>
          <p:cNvSpPr/>
          <p:nvPr/>
        </p:nvSpPr>
        <p:spPr>
          <a:xfrm>
            <a:off x="4320540" y="1325880"/>
            <a:ext cx="3520440" cy="4023360"/>
          </a:xfrm>
          <a:prstGeom prst="roundRect">
            <a:avLst>
              <a:gd name="adj" fmla="val 2078"/>
            </a:avLst>
          </a:prstGeom>
          <a:solidFill>
            <a:schemeClr val="bg2"/>
          </a:solidFill>
          <a:ln w="9525">
            <a:solidFill>
              <a:schemeClr val="bg2"/>
            </a:solidFill>
            <a:prstDash val="solid"/>
          </a:ln>
        </p:spPr>
      </p:sp>
      <p:sp>
        <p:nvSpPr>
          <p:cNvPr id="10" name="ic93"/>
          <p:cNvSpPr/>
          <p:nvPr/>
        </p:nvSpPr>
        <p:spPr>
          <a:xfrm>
            <a:off x="4594860" y="1600200"/>
            <a:ext cx="731520" cy="731520"/>
          </a:xfrm>
          <a:prstGeom prst="ellipse">
            <a:avLst/>
          </a:prstGeom>
          <a:solidFill>
            <a:schemeClr val="accent1"/>
          </a:solidFill>
          <a:ln w="12700">
            <a:solidFill>
              <a:schemeClr val="accent1"/>
            </a:solidFill>
            <a:prstDash val="solid"/>
          </a:ln>
        </p:spPr>
      </p:sp>
      <p:pic>
        <p:nvPicPr>
          <p:cNvPr id="11" name="icimg94" descr="preencoded.png">    </p:cNvPr>
          <p:cNvPicPr>
            <a:picLocks noChangeAspect="1"/>
          </p:cNvPicPr>
          <p:nvPr/>
        </p:nvPicPr>
        <p:blipFill>
          <a:blip r:embed="rId2"/>
          <a:stretch>
            <a:fillRect/>
          </a:stretch>
        </p:blipFill>
        <p:spPr>
          <a:xfrm>
            <a:off x="4777740" y="1783080"/>
            <a:ext cx="365760" cy="365760"/>
          </a:xfrm>
          <a:prstGeom prst="rect">
            <a:avLst/>
          </a:prstGeom>
        </p:spPr>
      </p:pic>
      <p:sp>
        <p:nvSpPr>
          <p:cNvPr id="12" name="t95"/>
          <p:cNvSpPr txBox="1"/>
          <p:nvPr/>
        </p:nvSpPr>
        <p:spPr>
          <a:xfrm>
            <a:off x="4594860" y="251460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Instructions and tracking</a:t>
            </a:r>
            <a:endParaRPr lang="en-US" sz="1900" dirty="0"/>
          </a:p>
        </p:txBody>
      </p:sp>
      <p:sp>
        <p:nvSpPr>
          <p:cNvPr id="13" name="t96"/>
          <p:cNvSpPr txBox="1"/>
          <p:nvPr/>
        </p:nvSpPr>
        <p:spPr>
          <a:xfrm>
            <a:off x="4594860" y="2926080"/>
            <a:ext cx="2971800" cy="548640"/>
          </a:xfrm>
          <a:prstGeom prst="rect">
            <a:avLst/>
          </a:prstGeom>
          <a:noFill/>
          <a:ln/>
        </p:spPr>
        <p:txBody>
          <a:bodyPr wrap="square" lIns="0" tIns="0" rIns="0" bIns="0" rtlCol="0" anchor="t"/>
          <a:lstStyle/>
          <a:p>
            <a:pPr indent="0" marL="0">
              <a:buNone/>
            </a:pPr>
            <a:r>
              <a:rPr lang="en-US" sz="1400" i="1" dirty="0">
                <a:solidFill>
                  <a:schemeClr val="tx2"/>
                </a:solidFill>
              </a:rPr>
              <a:t>What to do next and what has happened</a:t>
            </a:r>
            <a:endParaRPr lang="en-US" sz="1400" dirty="0"/>
          </a:p>
        </p:txBody>
      </p:sp>
      <p:sp>
        <p:nvSpPr>
          <p:cNvPr id="14" name="t97"/>
          <p:cNvSpPr txBox="1"/>
          <p:nvPr/>
        </p:nvSpPr>
        <p:spPr>
          <a:xfrm>
            <a:off x="4594860" y="356616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memento.md: the next instruction</a:t>
            </a:r>
            <a:endParaRPr lang="en-US" sz="1350" dirty="0"/>
          </a:p>
          <a:p>
            <a:pPr marL="342900" indent="-342900">
              <a:spcAft>
                <a:spcPts val="600"/>
              </a:spcAft>
              <a:buSzPct val="100000"/>
              <a:buChar char="•"/>
            </a:pPr>
            <a:r>
              <a:rPr lang="en-US" sz="1350" dirty="0">
                <a:solidFill>
                  <a:schemeClr val="tx1"/>
                </a:solidFill>
              </a:rPr>
              <a:t>status.md, journal.jsonl, steps/NNNN/</a:t>
            </a:r>
            <a:endParaRPr lang="en-US" sz="1350" dirty="0"/>
          </a:p>
        </p:txBody>
      </p:sp>
      <p:sp>
        <p:nvSpPr>
          <p:cNvPr id="15" name="card98"/>
          <p:cNvSpPr/>
          <p:nvPr/>
        </p:nvSpPr>
        <p:spPr>
          <a:xfrm>
            <a:off x="8092440" y="1325880"/>
            <a:ext cx="3520440" cy="4023360"/>
          </a:xfrm>
          <a:prstGeom prst="roundRect">
            <a:avLst>
              <a:gd name="adj" fmla="val 2078"/>
            </a:avLst>
          </a:prstGeom>
          <a:solidFill>
            <a:schemeClr val="bg2"/>
          </a:solidFill>
          <a:ln w="9525">
            <a:solidFill>
              <a:schemeClr val="bg2"/>
            </a:solidFill>
            <a:prstDash val="solid"/>
          </a:ln>
        </p:spPr>
      </p:sp>
      <p:sp>
        <p:nvSpPr>
          <p:cNvPr id="16" name="ic99"/>
          <p:cNvSpPr/>
          <p:nvPr/>
        </p:nvSpPr>
        <p:spPr>
          <a:xfrm>
            <a:off x="8366760" y="1600200"/>
            <a:ext cx="731520" cy="731520"/>
          </a:xfrm>
          <a:prstGeom prst="ellipse">
            <a:avLst/>
          </a:prstGeom>
          <a:solidFill>
            <a:schemeClr val="tx2"/>
          </a:solidFill>
          <a:ln w="12700">
            <a:solidFill>
              <a:schemeClr val="tx2"/>
            </a:solidFill>
            <a:prstDash val="solid"/>
          </a:ln>
        </p:spPr>
      </p:sp>
      <p:pic>
        <p:nvPicPr>
          <p:cNvPr id="17" name="icimg100" descr="preencoded.png">    </p:cNvPr>
          <p:cNvPicPr>
            <a:picLocks noChangeAspect="1"/>
          </p:cNvPicPr>
          <p:nvPr/>
        </p:nvPicPr>
        <p:blipFill>
          <a:blip r:embed="rId3"/>
          <a:stretch>
            <a:fillRect/>
          </a:stretch>
        </p:blipFill>
        <p:spPr>
          <a:xfrm>
            <a:off x="8549640" y="1783080"/>
            <a:ext cx="365760" cy="365760"/>
          </a:xfrm>
          <a:prstGeom prst="rect">
            <a:avLst/>
          </a:prstGeom>
        </p:spPr>
      </p:pic>
      <p:sp>
        <p:nvSpPr>
          <p:cNvPr id="18" name="t101"/>
          <p:cNvSpPr txBox="1"/>
          <p:nvPr/>
        </p:nvSpPr>
        <p:spPr>
          <a:xfrm>
            <a:off x="8366760" y="2514600"/>
            <a:ext cx="29718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Temporary artifacts</a:t>
            </a:r>
            <a:endParaRPr lang="en-US" sz="1900" dirty="0"/>
          </a:p>
        </p:txBody>
      </p:sp>
      <p:sp>
        <p:nvSpPr>
          <p:cNvPr id="19" name="t102"/>
          <p:cNvSpPr txBox="1"/>
          <p:nvPr/>
        </p:nvSpPr>
        <p:spPr>
          <a:xfrm>
            <a:off x="8366760" y="2926080"/>
            <a:ext cx="2971800" cy="548640"/>
          </a:xfrm>
          <a:prstGeom prst="rect">
            <a:avLst/>
          </a:prstGeom>
          <a:noFill/>
          <a:ln/>
        </p:spPr>
        <p:txBody>
          <a:bodyPr wrap="square" lIns="0" tIns="0" rIns="0" bIns="0" rtlCol="0" anchor="t"/>
          <a:lstStyle/>
          <a:p>
            <a:pPr indent="0" marL="0">
              <a:buNone/>
            </a:pPr>
            <a:r>
              <a:rPr lang="en-US" sz="1400" i="1" dirty="0">
                <a:solidFill>
                  <a:schemeClr val="tx2"/>
                </a:solidFill>
              </a:rPr>
              <a:t>Everything expensive to re-create</a:t>
            </a:r>
            <a:endParaRPr lang="en-US" sz="1400" dirty="0"/>
          </a:p>
        </p:txBody>
      </p:sp>
      <p:sp>
        <p:nvSpPr>
          <p:cNvPr id="20" name="t103"/>
          <p:cNvSpPr txBox="1"/>
          <p:nvPr/>
        </p:nvSpPr>
        <p:spPr>
          <a:xfrm>
            <a:off x="8366760" y="356616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packages/, rundir/, build output kept across steps</a:t>
            </a:r>
            <a:endParaRPr lang="en-US" sz="1350" dirty="0"/>
          </a:p>
          <a:p>
            <a:pPr marL="342900" indent="-342900">
              <a:spcAft>
                <a:spcPts val="600"/>
              </a:spcAft>
              <a:buSzPct val="100000"/>
              <a:buChar char="•"/>
            </a:pPr>
            <a:r>
              <a:rPr lang="en-US" sz="1350" dirty="0">
                <a:solidFill>
                  <a:schemeClr val="tx1"/>
                </a:solidFill>
              </a:rPr>
              <a:t>state/: plans and notes, versioned per step</a:t>
            </a:r>
            <a:endParaRPr lang="en-US" sz="1350" dirty="0"/>
          </a:p>
        </p:txBody>
      </p:sp>
      <p:sp>
        <p:nvSpPr>
          <p:cNvPr id="21" name="t104"/>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600" b="1" i="1" dirty="0">
                <a:solidFill>
                  <a:schemeClr val="accent2"/>
                </a:solidFill>
              </a:rPr>
              <a:t>Nothing a step needs points outside the packet. Copy it, archive it or delete it as one unit.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Anatomy of a packet</a:t>
            </a:r>
            <a:endParaRPr lang="en-US" sz="3400" dirty="0"/>
          </a:p>
        </p:txBody>
      </p:sp>
      <p:sp>
        <p:nvSpPr>
          <p:cNvPr id="3" name="card105"/>
          <p:cNvSpPr/>
          <p:nvPr/>
        </p:nvSpPr>
        <p:spPr>
          <a:xfrm>
            <a:off x="548640" y="1280160"/>
            <a:ext cx="6675120" cy="4754880"/>
          </a:xfrm>
          <a:prstGeom prst="roundRect">
            <a:avLst>
              <a:gd name="adj" fmla="val 1538"/>
            </a:avLst>
          </a:prstGeom>
          <a:solidFill>
            <a:schemeClr val="tx1"/>
          </a:solidFill>
          <a:ln w="9525">
            <a:solidFill>
              <a:schemeClr val="tx1"/>
            </a:solidFill>
            <a:prstDash val="solid"/>
          </a:ln>
        </p:spPr>
      </p:sp>
      <p:sp>
        <p:nvSpPr>
          <p:cNvPr id="4" name="t106"/>
          <p:cNvSpPr txBox="1"/>
          <p:nvPr/>
        </p:nvSpPr>
        <p:spPr>
          <a:xfrm>
            <a:off x="822960" y="1481328"/>
            <a:ext cx="2651760" cy="365760"/>
          </a:xfrm>
          <a:prstGeom prst="rect">
            <a:avLst/>
          </a:prstGeom>
          <a:noFill/>
          <a:ln/>
        </p:spPr>
        <p:txBody>
          <a:bodyPr wrap="square" lIns="0" tIns="0" rIns="0" bIns="0" rtlCol="0" anchor="t"/>
          <a:lstStyle/>
          <a:p>
            <a:pPr indent="0" marL="0">
              <a:buNone/>
            </a:pPr>
            <a:r>
              <a:rPr lang="en-US" sz="1400" b="1" dirty="0">
                <a:solidFill>
                  <a:srgbClr val="E8A33D"/>
                </a:solidFill>
                <a:latin typeface="Courier New" pitchFamily="34" charset="0"/>
                <a:ea typeface="Courier New" pitchFamily="34" charset="-122"/>
                <a:cs typeface="Courier New" pitchFamily="34" charset="-120"/>
              </a:rPr>
              <a:t>packets/&lt;WPID&gt;/</a:t>
            </a:r>
            <a:endParaRPr lang="en-US" sz="1400" dirty="0"/>
          </a:p>
        </p:txBody>
      </p:sp>
      <p:sp>
        <p:nvSpPr>
          <p:cNvPr id="5" name="t107"/>
          <p:cNvSpPr txBox="1"/>
          <p:nvPr/>
        </p:nvSpPr>
        <p:spPr>
          <a:xfrm>
            <a:off x="3566160" y="1499616"/>
            <a:ext cx="3566160" cy="365760"/>
          </a:xfrm>
          <a:prstGeom prst="rect">
            <a:avLst/>
          </a:prstGeom>
          <a:noFill/>
          <a:ln/>
        </p:spPr>
        <p:txBody>
          <a:bodyPr wrap="square" lIns="0" tIns="0" rIns="0" bIns="0" rtlCol="0" anchor="t"/>
          <a:lstStyle/>
          <a:p>
            <a:pPr indent="0" marL="0">
              <a:buNone/>
            </a:pPr>
            <a:r>
              <a:rPr lang="en-US" sz="1300" dirty="0">
                <a:solidFill>
                  <a:srgbClr val="B8C2CC"/>
                </a:solidFill>
              </a:rPr>
              <a:t>one directory per task</a:t>
            </a:r>
            <a:endParaRPr lang="en-US" sz="1300" dirty="0"/>
          </a:p>
        </p:txBody>
      </p:sp>
      <p:sp>
        <p:nvSpPr>
          <p:cNvPr id="6" name="t108"/>
          <p:cNvSpPr txBox="1"/>
          <p:nvPr/>
        </p:nvSpPr>
        <p:spPr>
          <a:xfrm>
            <a:off x="822960" y="1929384"/>
            <a:ext cx="2651760" cy="365760"/>
          </a:xfrm>
          <a:prstGeom prst="rect">
            <a:avLst/>
          </a:prstGeom>
          <a:noFill/>
          <a:ln/>
        </p:spPr>
        <p:txBody>
          <a:bodyPr wrap="square" lIns="0" tIns="0" rIns="0" bIns="0" rtlCol="0" anchor="t"/>
          <a:lstStyle/>
          <a:p>
            <a:pPr indent="0" marL="0">
              <a:buNone/>
            </a:pPr>
            <a:r>
              <a:rPr lang="en-US" sz="1400" b="1" dirty="0">
                <a:solidFill>
                  <a:srgbClr val="E8A33D"/>
                </a:solidFill>
                <a:latin typeface="Courier New" pitchFamily="34" charset="0"/>
                <a:ea typeface="Courier New" pitchFamily="34" charset="-122"/>
                <a:cs typeface="Courier New" pitchFamily="34" charset="-120"/>
              </a:rPr>
              <a:t>  memento.md</a:t>
            </a:r>
            <a:endParaRPr lang="en-US" sz="1400" dirty="0"/>
          </a:p>
        </p:txBody>
      </p:sp>
      <p:sp>
        <p:nvSpPr>
          <p:cNvPr id="7" name="t109"/>
          <p:cNvSpPr txBox="1"/>
          <p:nvPr/>
        </p:nvSpPr>
        <p:spPr>
          <a:xfrm>
            <a:off x="3566160" y="1947672"/>
            <a:ext cx="3566160" cy="365760"/>
          </a:xfrm>
          <a:prstGeom prst="rect">
            <a:avLst/>
          </a:prstGeom>
          <a:noFill/>
          <a:ln/>
        </p:spPr>
        <p:txBody>
          <a:bodyPr wrap="square" lIns="0" tIns="0" rIns="0" bIns="0" rtlCol="0" anchor="t"/>
          <a:lstStyle/>
          <a:p>
            <a:pPr indent="0" marL="0">
              <a:buNone/>
            </a:pPr>
            <a:r>
              <a:rPr lang="en-US" sz="1300" dirty="0">
                <a:solidFill>
                  <a:srgbClr val="B8C2CC"/>
                </a:solidFill>
              </a:rPr>
              <a:t>next instruction, written by the model</a:t>
            </a:r>
            <a:endParaRPr lang="en-US" sz="1300" dirty="0"/>
          </a:p>
        </p:txBody>
      </p:sp>
      <p:sp>
        <p:nvSpPr>
          <p:cNvPr id="8" name="t110"/>
          <p:cNvSpPr txBox="1"/>
          <p:nvPr/>
        </p:nvSpPr>
        <p:spPr>
          <a:xfrm>
            <a:off x="822960" y="2377440"/>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status.md</a:t>
            </a:r>
            <a:endParaRPr lang="en-US" sz="1400" dirty="0"/>
          </a:p>
        </p:txBody>
      </p:sp>
      <p:sp>
        <p:nvSpPr>
          <p:cNvPr id="9" name="t111"/>
          <p:cNvSpPr txBox="1"/>
          <p:nvPr/>
        </p:nvSpPr>
        <p:spPr>
          <a:xfrm>
            <a:off x="3566160" y="2395728"/>
            <a:ext cx="3566160" cy="365760"/>
          </a:xfrm>
          <a:prstGeom prst="rect">
            <a:avLst/>
          </a:prstGeom>
          <a:noFill/>
          <a:ln/>
        </p:spPr>
        <p:txBody>
          <a:bodyPr wrap="square" lIns="0" tIns="0" rIns="0" bIns="0" rtlCol="0" anchor="t"/>
          <a:lstStyle/>
          <a:p>
            <a:pPr indent="0" marL="0">
              <a:buNone/>
            </a:pPr>
            <a:r>
              <a:rPr lang="en-US" sz="1300" dirty="0">
                <a:solidFill>
                  <a:srgbClr val="B8C2CC"/>
                </a:solidFill>
              </a:rPr>
              <a:t>state, step, wake_at: executor only</a:t>
            </a:r>
            <a:endParaRPr lang="en-US" sz="1300" dirty="0"/>
          </a:p>
        </p:txBody>
      </p:sp>
      <p:sp>
        <p:nvSpPr>
          <p:cNvPr id="10" name="t112"/>
          <p:cNvSpPr txBox="1"/>
          <p:nvPr/>
        </p:nvSpPr>
        <p:spPr>
          <a:xfrm>
            <a:off x="822960" y="2825496"/>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state/</a:t>
            </a:r>
            <a:endParaRPr lang="en-US" sz="1400" dirty="0"/>
          </a:p>
        </p:txBody>
      </p:sp>
      <p:sp>
        <p:nvSpPr>
          <p:cNvPr id="11" name="t113"/>
          <p:cNvSpPr txBox="1"/>
          <p:nvPr/>
        </p:nvSpPr>
        <p:spPr>
          <a:xfrm>
            <a:off x="3566160" y="2843784"/>
            <a:ext cx="3566160" cy="365760"/>
          </a:xfrm>
          <a:prstGeom prst="rect">
            <a:avLst/>
          </a:prstGeom>
          <a:noFill/>
          <a:ln/>
        </p:spPr>
        <p:txBody>
          <a:bodyPr wrap="square" lIns="0" tIns="0" rIns="0" bIns="0" rtlCol="0" anchor="t"/>
          <a:lstStyle/>
          <a:p>
            <a:pPr indent="0" marL="0">
              <a:buNone/>
            </a:pPr>
            <a:r>
              <a:rPr lang="en-US" sz="1300" dirty="0">
                <a:solidFill>
                  <a:srgbClr val="B8C2CC"/>
                </a:solidFill>
              </a:rPr>
              <a:t>plans and notes, versioned per step</a:t>
            </a:r>
            <a:endParaRPr lang="en-US" sz="1300" dirty="0"/>
          </a:p>
        </p:txBody>
      </p:sp>
      <p:sp>
        <p:nvSpPr>
          <p:cNvPr id="12" name="t114"/>
          <p:cNvSpPr txBox="1"/>
          <p:nvPr/>
        </p:nvSpPr>
        <p:spPr>
          <a:xfrm>
            <a:off x="822960" y="3273552"/>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work/&lt;repo&gt;/</a:t>
            </a:r>
            <a:endParaRPr lang="en-US" sz="1400" dirty="0"/>
          </a:p>
        </p:txBody>
      </p:sp>
      <p:sp>
        <p:nvSpPr>
          <p:cNvPr id="13" name="t115"/>
          <p:cNvSpPr txBox="1"/>
          <p:nvPr/>
        </p:nvSpPr>
        <p:spPr>
          <a:xfrm>
            <a:off x="3566160" y="3291840"/>
            <a:ext cx="3566160" cy="365760"/>
          </a:xfrm>
          <a:prstGeom prst="rect">
            <a:avLst/>
          </a:prstGeom>
          <a:noFill/>
          <a:ln/>
        </p:spPr>
        <p:txBody>
          <a:bodyPr wrap="square" lIns="0" tIns="0" rIns="0" bIns="0" rtlCol="0" anchor="t"/>
          <a:lstStyle/>
          <a:p>
            <a:pPr indent="0" marL="0">
              <a:buNone/>
            </a:pPr>
            <a:r>
              <a:rPr lang="en-US" sz="1300" dirty="0">
                <a:solidFill>
                  <a:srgbClr val="B8C2CC"/>
                </a:solidFill>
              </a:rPr>
              <a:t>git clones, one commit per step</a:t>
            </a:r>
            <a:endParaRPr lang="en-US" sz="1300" dirty="0"/>
          </a:p>
        </p:txBody>
      </p:sp>
      <p:sp>
        <p:nvSpPr>
          <p:cNvPr id="14" name="t116"/>
          <p:cNvSpPr txBox="1"/>
          <p:nvPr/>
        </p:nvSpPr>
        <p:spPr>
          <a:xfrm>
            <a:off x="822960" y="3721608"/>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identity/</a:t>
            </a:r>
            <a:endParaRPr lang="en-US" sz="1400" dirty="0"/>
          </a:p>
        </p:txBody>
      </p:sp>
      <p:sp>
        <p:nvSpPr>
          <p:cNvPr id="15" name="t117"/>
          <p:cNvSpPr txBox="1"/>
          <p:nvPr/>
        </p:nvSpPr>
        <p:spPr>
          <a:xfrm>
            <a:off x="3566160" y="3739896"/>
            <a:ext cx="3566160" cy="365760"/>
          </a:xfrm>
          <a:prstGeom prst="rect">
            <a:avLst/>
          </a:prstGeom>
          <a:noFill/>
          <a:ln/>
        </p:spPr>
        <p:txBody>
          <a:bodyPr wrap="square" lIns="0" tIns="0" rIns="0" bIns="0" rtlCol="0" anchor="t"/>
          <a:lstStyle/>
          <a:p>
            <a:pPr indent="0" marL="0">
              <a:buNone/>
            </a:pPr>
            <a:r>
              <a:rPr lang="en-US" sz="1300" dirty="0">
                <a:solidFill>
                  <a:srgbClr val="B8C2CC"/>
                </a:solidFill>
              </a:rPr>
              <a:t>read-only links to the outside</a:t>
            </a:r>
            <a:endParaRPr lang="en-US" sz="1300" dirty="0"/>
          </a:p>
        </p:txBody>
      </p:sp>
      <p:sp>
        <p:nvSpPr>
          <p:cNvPr id="16" name="t118"/>
          <p:cNvSpPr txBox="1"/>
          <p:nvPr/>
        </p:nvSpPr>
        <p:spPr>
          <a:xfrm>
            <a:off x="822960" y="4169664"/>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children/</a:t>
            </a:r>
            <a:endParaRPr lang="en-US" sz="1400" dirty="0"/>
          </a:p>
        </p:txBody>
      </p:sp>
      <p:sp>
        <p:nvSpPr>
          <p:cNvPr id="17" name="t119"/>
          <p:cNvSpPr txBox="1"/>
          <p:nvPr/>
        </p:nvSpPr>
        <p:spPr>
          <a:xfrm>
            <a:off x="3566160" y="4187952"/>
            <a:ext cx="3566160" cy="365760"/>
          </a:xfrm>
          <a:prstGeom prst="rect">
            <a:avLst/>
          </a:prstGeom>
          <a:noFill/>
          <a:ln/>
        </p:spPr>
        <p:txBody>
          <a:bodyPr wrap="square" lIns="0" tIns="0" rIns="0" bIns="0" rtlCol="0" anchor="t"/>
          <a:lstStyle/>
          <a:p>
            <a:pPr indent="0" marL="0">
              <a:buNone/>
            </a:pPr>
            <a:r>
              <a:rPr lang="en-US" sz="1300" dirty="0">
                <a:solidFill>
                  <a:srgbClr val="B8C2CC"/>
                </a:solidFill>
              </a:rPr>
              <a:t>links to spawned packets</a:t>
            </a:r>
            <a:endParaRPr lang="en-US" sz="1300" dirty="0"/>
          </a:p>
        </p:txBody>
      </p:sp>
      <p:sp>
        <p:nvSpPr>
          <p:cNvPr id="18" name="t120"/>
          <p:cNvSpPr txBox="1"/>
          <p:nvPr/>
        </p:nvSpPr>
        <p:spPr>
          <a:xfrm>
            <a:off x="822960" y="4617720"/>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mailbox/</a:t>
            </a:r>
            <a:endParaRPr lang="en-US" sz="1400" dirty="0"/>
          </a:p>
        </p:txBody>
      </p:sp>
      <p:sp>
        <p:nvSpPr>
          <p:cNvPr id="19" name="t121"/>
          <p:cNvSpPr txBox="1"/>
          <p:nvPr/>
        </p:nvSpPr>
        <p:spPr>
          <a:xfrm>
            <a:off x="3566160" y="4636008"/>
            <a:ext cx="3566160" cy="365760"/>
          </a:xfrm>
          <a:prstGeom prst="rect">
            <a:avLst/>
          </a:prstGeom>
          <a:noFill/>
          <a:ln/>
        </p:spPr>
        <p:txBody>
          <a:bodyPr wrap="square" lIns="0" tIns="0" rIns="0" bIns="0" rtlCol="0" anchor="t"/>
          <a:lstStyle/>
          <a:p>
            <a:pPr indent="0" marL="0">
              <a:buNone/>
            </a:pPr>
            <a:r>
              <a:rPr lang="en-US" sz="1300" dirty="0">
                <a:solidFill>
                  <a:srgbClr val="B8C2CC"/>
                </a:solidFill>
              </a:rPr>
              <a:t>notes from the owner</a:t>
            </a:r>
            <a:endParaRPr lang="en-US" sz="1300" dirty="0"/>
          </a:p>
        </p:txBody>
      </p:sp>
      <p:sp>
        <p:nvSpPr>
          <p:cNvPr id="20" name="t122"/>
          <p:cNvSpPr txBox="1"/>
          <p:nvPr/>
        </p:nvSpPr>
        <p:spPr>
          <a:xfrm>
            <a:off x="822960" y="5065776"/>
            <a:ext cx="2651760" cy="365760"/>
          </a:xfrm>
          <a:prstGeom prst="rect">
            <a:avLst/>
          </a:prstGeom>
          <a:noFill/>
          <a:ln/>
        </p:spPr>
        <p:txBody>
          <a:bodyPr wrap="square" lIns="0" tIns="0" rIns="0" bIns="0" rtlCol="0" anchor="t"/>
          <a:lstStyle/>
          <a:p>
            <a:pPr indent="0" marL="0">
              <a:buNone/>
            </a:pPr>
            <a:r>
              <a:rPr lang="en-US" sz="1400" b="1" dirty="0">
                <a:solidFill>
                  <a:srgbClr val="FFFFFF"/>
                </a:solidFill>
                <a:latin typeface="Courier New" pitchFamily="34" charset="0"/>
                <a:ea typeface="Courier New" pitchFamily="34" charset="-122"/>
                <a:cs typeface="Courier New" pitchFamily="34" charset="-120"/>
              </a:rPr>
              <a:t>  journal.jsonl</a:t>
            </a:r>
            <a:endParaRPr lang="en-US" sz="1400" dirty="0"/>
          </a:p>
        </p:txBody>
      </p:sp>
      <p:sp>
        <p:nvSpPr>
          <p:cNvPr id="21" name="t123"/>
          <p:cNvSpPr txBox="1"/>
          <p:nvPr/>
        </p:nvSpPr>
        <p:spPr>
          <a:xfrm>
            <a:off x="3566160" y="5084064"/>
            <a:ext cx="3566160" cy="365760"/>
          </a:xfrm>
          <a:prstGeom prst="rect">
            <a:avLst/>
          </a:prstGeom>
          <a:noFill/>
          <a:ln/>
        </p:spPr>
        <p:txBody>
          <a:bodyPr wrap="square" lIns="0" tIns="0" rIns="0" bIns="0" rtlCol="0" anchor="t"/>
          <a:lstStyle/>
          <a:p>
            <a:pPr indent="0" marL="0">
              <a:buNone/>
            </a:pPr>
            <a:r>
              <a:rPr lang="en-US" sz="1300" dirty="0">
                <a:solidFill>
                  <a:srgbClr val="B8C2CC"/>
                </a:solidFill>
              </a:rPr>
              <a:t>append-only, fsynced</a:t>
            </a:r>
            <a:endParaRPr lang="en-US" sz="1300" dirty="0"/>
          </a:p>
        </p:txBody>
      </p:sp>
      <p:sp>
        <p:nvSpPr>
          <p:cNvPr id="22" name="t124"/>
          <p:cNvSpPr txBox="1"/>
          <p:nvPr/>
        </p:nvSpPr>
        <p:spPr>
          <a:xfrm>
            <a:off x="822960" y="5513832"/>
            <a:ext cx="2651760" cy="365760"/>
          </a:xfrm>
          <a:prstGeom prst="rect">
            <a:avLst/>
          </a:prstGeom>
          <a:noFill/>
          <a:ln/>
        </p:spPr>
        <p:txBody>
          <a:bodyPr wrap="square" lIns="0" tIns="0" rIns="0" bIns="0" rtlCol="0" anchor="t"/>
          <a:lstStyle/>
          <a:p>
            <a:pPr indent="0" marL="0">
              <a:buNone/>
            </a:pPr>
            <a:r>
              <a:rPr lang="en-US" sz="1400" b="1" dirty="0">
                <a:solidFill>
                  <a:srgbClr val="E8A33D"/>
                </a:solidFill>
                <a:latin typeface="Courier New" pitchFamily="34" charset="0"/>
                <a:ea typeface="Courier New" pitchFamily="34" charset="-122"/>
                <a:cs typeface="Courier New" pitchFamily="34" charset="-120"/>
              </a:rPr>
              <a:t>  steps/NNNN/</a:t>
            </a:r>
            <a:endParaRPr lang="en-US" sz="1400" dirty="0"/>
          </a:p>
        </p:txBody>
      </p:sp>
      <p:sp>
        <p:nvSpPr>
          <p:cNvPr id="23" name="t125"/>
          <p:cNvSpPr txBox="1"/>
          <p:nvPr/>
        </p:nvSpPr>
        <p:spPr>
          <a:xfrm>
            <a:off x="3566160" y="5532120"/>
            <a:ext cx="3566160" cy="365760"/>
          </a:xfrm>
          <a:prstGeom prst="rect">
            <a:avLst/>
          </a:prstGeom>
          <a:noFill/>
          <a:ln/>
        </p:spPr>
        <p:txBody>
          <a:bodyPr wrap="square" lIns="0" tIns="0" rIns="0" bIns="0" rtlCol="0" anchor="t"/>
          <a:lstStyle/>
          <a:p>
            <a:pPr indent="0" marL="0">
              <a:buNone/>
            </a:pPr>
            <a:r>
              <a:rPr lang="en-US" sz="1300" dirty="0">
                <a:solidFill>
                  <a:srgbClr val="B8C2CC"/>
                </a:solidFill>
              </a:rPr>
              <a:t>prompt, transcript, diff, meta.json</a:t>
            </a:r>
            <a:endParaRPr lang="en-US" sz="1300" dirty="0"/>
          </a:p>
        </p:txBody>
      </p:sp>
      <p:sp>
        <p:nvSpPr>
          <p:cNvPr id="24" name="t126"/>
          <p:cNvSpPr txBox="1"/>
          <p:nvPr/>
        </p:nvSpPr>
        <p:spPr>
          <a:xfrm>
            <a:off x="7589520" y="1280160"/>
            <a:ext cx="4023360" cy="411480"/>
          </a:xfrm>
          <a:prstGeom prst="rect">
            <a:avLst/>
          </a:prstGeom>
          <a:noFill/>
          <a:ln/>
        </p:spPr>
        <p:txBody>
          <a:bodyPr wrap="square" lIns="0" tIns="0" rIns="0" bIns="0" rtlCol="0" anchor="t"/>
          <a:lstStyle/>
          <a:p>
            <a:pPr indent="0" marL="0">
              <a:buNone/>
            </a:pPr>
            <a:r>
              <a:rPr lang="en-US" sz="1900" b="1" dirty="0">
                <a:solidFill>
                  <a:schemeClr val="accent2"/>
                </a:solidFill>
              </a:rPr>
              <a:t>Who writes what</a:t>
            </a:r>
            <a:endParaRPr lang="en-US" sz="1900" dirty="0"/>
          </a:p>
        </p:txBody>
      </p:sp>
      <p:sp>
        <p:nvSpPr>
          <p:cNvPr id="25" name="card127"/>
          <p:cNvSpPr/>
          <p:nvPr/>
        </p:nvSpPr>
        <p:spPr>
          <a:xfrm>
            <a:off x="7589520" y="1828800"/>
            <a:ext cx="4050792" cy="822960"/>
          </a:xfrm>
          <a:prstGeom prst="roundRect">
            <a:avLst>
              <a:gd name="adj" fmla="val 8889"/>
            </a:avLst>
          </a:prstGeom>
          <a:solidFill>
            <a:schemeClr val="bg2"/>
          </a:solidFill>
          <a:ln w="9525">
            <a:solidFill>
              <a:schemeClr val="bg2"/>
            </a:solidFill>
            <a:prstDash val="solid"/>
          </a:ln>
        </p:spPr>
      </p:sp>
      <p:sp>
        <p:nvSpPr>
          <p:cNvPr id="26" name="t128"/>
          <p:cNvSpPr txBox="1"/>
          <p:nvPr/>
        </p:nvSpPr>
        <p:spPr>
          <a:xfrm>
            <a:off x="7772400" y="1920240"/>
            <a:ext cx="3657600" cy="320040"/>
          </a:xfrm>
          <a:prstGeom prst="rect">
            <a:avLst/>
          </a:prstGeom>
          <a:noFill/>
          <a:ln/>
        </p:spPr>
        <p:txBody>
          <a:bodyPr wrap="square" lIns="0" tIns="0" rIns="0" bIns="0" rtlCol="0" anchor="t"/>
          <a:lstStyle/>
          <a:p>
            <a:pPr indent="0" marL="0">
              <a:buNone/>
            </a:pPr>
            <a:r>
              <a:rPr lang="en-US" sz="1500" b="1" dirty="0">
                <a:solidFill>
                  <a:schemeClr val="tx1"/>
                </a:solidFill>
              </a:rPr>
              <a:t>Executor</a:t>
            </a:r>
            <a:endParaRPr lang="en-US" sz="1500" dirty="0"/>
          </a:p>
        </p:txBody>
      </p:sp>
      <p:sp>
        <p:nvSpPr>
          <p:cNvPr id="27" name="t129"/>
          <p:cNvSpPr txBox="1"/>
          <p:nvPr/>
        </p:nvSpPr>
        <p:spPr>
          <a:xfrm>
            <a:off x="7772400" y="2240280"/>
            <a:ext cx="3749040" cy="365760"/>
          </a:xfrm>
          <a:prstGeom prst="rect">
            <a:avLst/>
          </a:prstGeom>
          <a:noFill/>
          <a:ln/>
        </p:spPr>
        <p:txBody>
          <a:bodyPr wrap="square" lIns="0" tIns="0" rIns="0" bIns="0" rtlCol="0" anchor="t"/>
          <a:lstStyle/>
          <a:p>
            <a:pPr indent="0" marL="0">
              <a:buNone/>
            </a:pPr>
            <a:r>
              <a:rPr lang="en-US" sz="1300" dirty="0">
                <a:solidFill>
                  <a:schemeClr val="tx2"/>
                </a:solidFill>
              </a:rPr>
              <a:t>everything committed, through the commit protocol</a:t>
            </a:r>
            <a:endParaRPr lang="en-US" sz="1300" dirty="0"/>
          </a:p>
        </p:txBody>
      </p:sp>
      <p:sp>
        <p:nvSpPr>
          <p:cNvPr id="28" name="card130"/>
          <p:cNvSpPr/>
          <p:nvPr/>
        </p:nvSpPr>
        <p:spPr>
          <a:xfrm>
            <a:off x="7589520" y="2788920"/>
            <a:ext cx="4050792" cy="822960"/>
          </a:xfrm>
          <a:prstGeom prst="roundRect">
            <a:avLst>
              <a:gd name="adj" fmla="val 8889"/>
            </a:avLst>
          </a:prstGeom>
          <a:solidFill>
            <a:srgbClr val="F6E3C1"/>
          </a:solidFill>
          <a:ln w="9525">
            <a:solidFill>
              <a:srgbClr val="F6E3C1"/>
            </a:solidFill>
            <a:prstDash val="solid"/>
          </a:ln>
        </p:spPr>
      </p:sp>
      <p:sp>
        <p:nvSpPr>
          <p:cNvPr id="29" name="t131"/>
          <p:cNvSpPr txBox="1"/>
          <p:nvPr/>
        </p:nvSpPr>
        <p:spPr>
          <a:xfrm>
            <a:off x="7772400" y="2880360"/>
            <a:ext cx="3657600" cy="320040"/>
          </a:xfrm>
          <a:prstGeom prst="rect">
            <a:avLst/>
          </a:prstGeom>
          <a:noFill/>
          <a:ln/>
        </p:spPr>
        <p:txBody>
          <a:bodyPr wrap="square" lIns="0" tIns="0" rIns="0" bIns="0" rtlCol="0" anchor="t"/>
          <a:lstStyle/>
          <a:p>
            <a:pPr indent="0" marL="0">
              <a:buNone/>
            </a:pPr>
            <a:r>
              <a:rPr lang="en-US" sz="1500" b="1" dirty="0">
                <a:solidFill>
                  <a:schemeClr val="tx1"/>
                </a:solidFill>
              </a:rPr>
              <a:t>Model</a:t>
            </a:r>
            <a:endParaRPr lang="en-US" sz="1500" dirty="0"/>
          </a:p>
        </p:txBody>
      </p:sp>
      <p:sp>
        <p:nvSpPr>
          <p:cNvPr id="30" name="t132"/>
          <p:cNvSpPr txBox="1"/>
          <p:nvPr/>
        </p:nvSpPr>
        <p:spPr>
          <a:xfrm>
            <a:off x="7772400" y="3200400"/>
            <a:ext cx="3749040" cy="365760"/>
          </a:xfrm>
          <a:prstGeom prst="rect">
            <a:avLst/>
          </a:prstGeom>
          <a:noFill/>
          <a:ln/>
        </p:spPr>
        <p:txBody>
          <a:bodyPr wrap="square" lIns="0" tIns="0" rIns="0" bIns="0" rtlCol="0" anchor="t"/>
          <a:lstStyle/>
          <a:p>
            <a:pPr indent="0" marL="0">
              <a:buNone/>
            </a:pPr>
            <a:r>
              <a:rPr lang="en-US" sz="1300" dirty="0">
                <a:solidFill>
                  <a:schemeClr val="tx2"/>
                </a:solidFill>
              </a:rPr>
              <a:t>only .pending/ during a step: a proposal</a:t>
            </a:r>
            <a:endParaRPr lang="en-US" sz="1300" dirty="0"/>
          </a:p>
        </p:txBody>
      </p:sp>
      <p:sp>
        <p:nvSpPr>
          <p:cNvPr id="31" name="card133"/>
          <p:cNvSpPr/>
          <p:nvPr/>
        </p:nvSpPr>
        <p:spPr>
          <a:xfrm>
            <a:off x="7589520" y="3749040"/>
            <a:ext cx="4050792" cy="822960"/>
          </a:xfrm>
          <a:prstGeom prst="roundRect">
            <a:avLst>
              <a:gd name="adj" fmla="val 8889"/>
            </a:avLst>
          </a:prstGeom>
          <a:solidFill>
            <a:schemeClr val="bg2"/>
          </a:solidFill>
          <a:ln w="9525">
            <a:solidFill>
              <a:schemeClr val="bg2"/>
            </a:solidFill>
            <a:prstDash val="solid"/>
          </a:ln>
        </p:spPr>
      </p:sp>
      <p:sp>
        <p:nvSpPr>
          <p:cNvPr id="32" name="t134"/>
          <p:cNvSpPr txBox="1"/>
          <p:nvPr/>
        </p:nvSpPr>
        <p:spPr>
          <a:xfrm>
            <a:off x="7772400" y="3840480"/>
            <a:ext cx="3657600" cy="320040"/>
          </a:xfrm>
          <a:prstGeom prst="rect">
            <a:avLst/>
          </a:prstGeom>
          <a:noFill/>
          <a:ln/>
        </p:spPr>
        <p:txBody>
          <a:bodyPr wrap="square" lIns="0" tIns="0" rIns="0" bIns="0" rtlCol="0" anchor="t"/>
          <a:lstStyle/>
          <a:p>
            <a:pPr indent="0" marL="0">
              <a:buNone/>
            </a:pPr>
            <a:r>
              <a:rPr lang="en-US" sz="1500" b="1" dirty="0">
                <a:solidFill>
                  <a:schemeClr val="tx1"/>
                </a:solidFill>
              </a:rPr>
              <a:t>Person</a:t>
            </a:r>
            <a:endParaRPr lang="en-US" sz="1500" dirty="0"/>
          </a:p>
        </p:txBody>
      </p:sp>
      <p:sp>
        <p:nvSpPr>
          <p:cNvPr id="33" name="t135"/>
          <p:cNvSpPr txBox="1"/>
          <p:nvPr/>
        </p:nvSpPr>
        <p:spPr>
          <a:xfrm>
            <a:off x="7772400" y="4160520"/>
            <a:ext cx="3749040" cy="365760"/>
          </a:xfrm>
          <a:prstGeom prst="rect">
            <a:avLst/>
          </a:prstGeom>
          <a:noFill/>
          <a:ln/>
        </p:spPr>
        <p:txBody>
          <a:bodyPr wrap="square" lIns="0" tIns="0" rIns="0" bIns="0" rtlCol="0" anchor="t"/>
          <a:lstStyle/>
          <a:p>
            <a:pPr indent="0" marL="0">
              <a:buNone/>
            </a:pPr>
            <a:r>
              <a:rPr lang="en-US" sz="1300" dirty="0">
                <a:solidFill>
                  <a:schemeClr val="tx2"/>
                </a:solidFill>
              </a:rPr>
              <a:t>only through wpk commands and the board</a:t>
            </a:r>
            <a:endParaRPr lang="en-US" sz="1300" dirty="0"/>
          </a:p>
        </p:txBody>
      </p:sp>
      <p:sp>
        <p:nvSpPr>
          <p:cNvPr id="34" name="t136"/>
          <p:cNvSpPr txBox="1"/>
          <p:nvPr/>
        </p:nvSpPr>
        <p:spPr>
          <a:xfrm>
            <a:off x="7589520" y="4846320"/>
            <a:ext cx="4050792" cy="1097280"/>
          </a:xfrm>
          <a:prstGeom prst="rect">
            <a:avLst/>
          </a:prstGeom>
          <a:noFill/>
          <a:ln/>
        </p:spPr>
        <p:txBody>
          <a:bodyPr wrap="square" lIns="0" tIns="0" rIns="0" bIns="0" rtlCol="0" anchor="t"/>
          <a:lstStyle/>
          <a:p>
            <a:pPr indent="0" marL="0">
              <a:buNone/>
            </a:pPr>
            <a:r>
              <a:rPr lang="en-US" sz="1400" i="1" dirty="0">
                <a:solidFill>
                  <a:schemeClr val="tx2"/>
                </a:solidFill>
              </a:rPr>
              <a:t>Each step leaves a full record: prompt, system prompt, transcript, state.diff, work.diff and its token and cost figures.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repo becomes a passenger, not the center</a:t>
            </a:r>
            <a:endParaRPr lang="en-US" sz="3400" dirty="0"/>
          </a:p>
        </p:txBody>
      </p:sp>
      <p:sp>
        <p:nvSpPr>
          <p:cNvPr id="3" name="card137"/>
          <p:cNvSpPr/>
          <p:nvPr/>
        </p:nvSpPr>
        <p:spPr>
          <a:xfrm>
            <a:off x="548640" y="1325880"/>
            <a:ext cx="5422392" cy="594360"/>
          </a:xfrm>
          <a:prstGeom prst="roundRect">
            <a:avLst>
              <a:gd name="adj" fmla="val 12308"/>
            </a:avLst>
          </a:prstGeom>
          <a:solidFill>
            <a:schemeClr val="tx2"/>
          </a:solidFill>
          <a:ln w="9525">
            <a:solidFill>
              <a:schemeClr val="tx2"/>
            </a:solidFill>
            <a:prstDash val="solid"/>
          </a:ln>
        </p:spPr>
      </p:sp>
      <p:sp>
        <p:nvSpPr>
          <p:cNvPr id="4" name="t138"/>
          <p:cNvSpPr txBox="1"/>
          <p:nvPr/>
        </p:nvSpPr>
        <p:spPr>
          <a:xfrm>
            <a:off x="822960" y="1325880"/>
            <a:ext cx="4873752" cy="594360"/>
          </a:xfrm>
          <a:prstGeom prst="rect">
            <a:avLst/>
          </a:prstGeom>
          <a:noFill/>
          <a:ln/>
        </p:spPr>
        <p:txBody>
          <a:bodyPr wrap="square" lIns="0" tIns="0" rIns="0" bIns="0" rtlCol="0" anchor="ctr"/>
          <a:lstStyle/>
          <a:p>
            <a:pPr indent="0" marL="0">
              <a:buNone/>
            </a:pPr>
            <a:r>
              <a:rPr lang="en-US" sz="1800" b="1" dirty="0">
                <a:solidFill>
                  <a:schemeClr val="bg1"/>
                </a:solidFill>
              </a:rPr>
              <a:t>Repo-centric</a:t>
            </a:r>
            <a:endParaRPr lang="en-US" sz="1800" dirty="0"/>
          </a:p>
        </p:txBody>
      </p:sp>
      <p:sp>
        <p:nvSpPr>
          <p:cNvPr id="5" name="card139"/>
          <p:cNvSpPr/>
          <p:nvPr/>
        </p:nvSpPr>
        <p:spPr>
          <a:xfrm>
            <a:off x="548640" y="2103120"/>
            <a:ext cx="5422392" cy="640080"/>
          </a:xfrm>
          <a:prstGeom prst="roundRect">
            <a:avLst>
              <a:gd name="adj" fmla="val 11429"/>
            </a:avLst>
          </a:prstGeom>
          <a:solidFill>
            <a:schemeClr val="bg2"/>
          </a:solidFill>
          <a:ln w="9525">
            <a:solidFill>
              <a:schemeClr val="bg2"/>
            </a:solidFill>
            <a:prstDash val="solid"/>
          </a:ln>
        </p:spPr>
      </p:sp>
      <p:sp>
        <p:nvSpPr>
          <p:cNvPr id="6" name="t140"/>
          <p:cNvSpPr txBox="1"/>
          <p:nvPr/>
        </p:nvSpPr>
        <p:spPr>
          <a:xfrm>
            <a:off x="822960" y="2103120"/>
            <a:ext cx="4873752" cy="640080"/>
          </a:xfrm>
          <a:prstGeom prst="rect">
            <a:avLst/>
          </a:prstGeom>
          <a:noFill/>
          <a:ln/>
        </p:spPr>
        <p:txBody>
          <a:bodyPr wrap="square" lIns="0" tIns="0" rIns="0" bIns="0" rtlCol="0" anchor="ctr"/>
          <a:lstStyle/>
          <a:p>
            <a:pPr indent="0" marL="0">
              <a:buNone/>
            </a:pPr>
            <a:r>
              <a:rPr lang="en-US" sz="1450" dirty="0">
                <a:solidFill>
                  <a:schemeClr val="tx1"/>
                </a:solidFill>
              </a:rPr>
              <a:t>State lives in branches, PRs and the session</a:t>
            </a:r>
            <a:endParaRPr lang="en-US" sz="1450" dirty="0"/>
          </a:p>
        </p:txBody>
      </p:sp>
      <p:sp>
        <p:nvSpPr>
          <p:cNvPr id="7" name="card141"/>
          <p:cNvSpPr/>
          <p:nvPr/>
        </p:nvSpPr>
        <p:spPr>
          <a:xfrm>
            <a:off x="548640" y="2862072"/>
            <a:ext cx="5422392" cy="640080"/>
          </a:xfrm>
          <a:prstGeom prst="roundRect">
            <a:avLst>
              <a:gd name="adj" fmla="val 11429"/>
            </a:avLst>
          </a:prstGeom>
          <a:solidFill>
            <a:schemeClr val="bg2"/>
          </a:solidFill>
          <a:ln w="9525">
            <a:solidFill>
              <a:schemeClr val="bg2"/>
            </a:solidFill>
            <a:prstDash val="solid"/>
          </a:ln>
        </p:spPr>
      </p:sp>
      <p:sp>
        <p:nvSpPr>
          <p:cNvPr id="8" name="t142"/>
          <p:cNvSpPr txBox="1"/>
          <p:nvPr/>
        </p:nvSpPr>
        <p:spPr>
          <a:xfrm>
            <a:off x="822960" y="2862072"/>
            <a:ext cx="4873752" cy="640080"/>
          </a:xfrm>
          <a:prstGeom prst="rect">
            <a:avLst/>
          </a:prstGeom>
          <a:noFill/>
          <a:ln/>
        </p:spPr>
        <p:txBody>
          <a:bodyPr wrap="square" lIns="0" tIns="0" rIns="0" bIns="0" rtlCol="0" anchor="ctr"/>
          <a:lstStyle/>
          <a:p>
            <a:pPr indent="0" marL="0">
              <a:buNone/>
            </a:pPr>
            <a:r>
              <a:rPr lang="en-US" sz="1450" dirty="0">
                <a:solidFill>
                  <a:schemeClr val="tx1"/>
                </a:solidFill>
              </a:rPr>
              <a:t>Plans and notes get committed or lost</a:t>
            </a:r>
            <a:endParaRPr lang="en-US" sz="1450" dirty="0"/>
          </a:p>
        </p:txBody>
      </p:sp>
      <p:sp>
        <p:nvSpPr>
          <p:cNvPr id="9" name="card143"/>
          <p:cNvSpPr/>
          <p:nvPr/>
        </p:nvSpPr>
        <p:spPr>
          <a:xfrm>
            <a:off x="548640" y="3621024"/>
            <a:ext cx="5422392" cy="640080"/>
          </a:xfrm>
          <a:prstGeom prst="roundRect">
            <a:avLst>
              <a:gd name="adj" fmla="val 11429"/>
            </a:avLst>
          </a:prstGeom>
          <a:solidFill>
            <a:schemeClr val="bg2"/>
          </a:solidFill>
          <a:ln w="9525">
            <a:solidFill>
              <a:schemeClr val="bg2"/>
            </a:solidFill>
            <a:prstDash val="solid"/>
          </a:ln>
        </p:spPr>
      </p:sp>
      <p:sp>
        <p:nvSpPr>
          <p:cNvPr id="10" name="t144"/>
          <p:cNvSpPr txBox="1"/>
          <p:nvPr/>
        </p:nvSpPr>
        <p:spPr>
          <a:xfrm>
            <a:off x="822960" y="3621024"/>
            <a:ext cx="4873752" cy="640080"/>
          </a:xfrm>
          <a:prstGeom prst="rect">
            <a:avLst/>
          </a:prstGeom>
          <a:noFill/>
          <a:ln/>
        </p:spPr>
        <p:txBody>
          <a:bodyPr wrap="square" lIns="0" tIns="0" rIns="0" bIns="0" rtlCol="0" anchor="ctr"/>
          <a:lstStyle/>
          <a:p>
            <a:pPr indent="0" marL="0">
              <a:buNone/>
            </a:pPr>
            <a:r>
              <a:rPr lang="en-US" sz="1450" dirty="0">
                <a:solidFill>
                  <a:schemeClr val="tx1"/>
                </a:solidFill>
              </a:rPr>
              <a:t>Workspace rebuilt for each task or session</a:t>
            </a:r>
            <a:endParaRPr lang="en-US" sz="1450" dirty="0"/>
          </a:p>
        </p:txBody>
      </p:sp>
      <p:sp>
        <p:nvSpPr>
          <p:cNvPr id="11" name="card145"/>
          <p:cNvSpPr/>
          <p:nvPr/>
        </p:nvSpPr>
        <p:spPr>
          <a:xfrm>
            <a:off x="548640" y="4379976"/>
            <a:ext cx="5422392" cy="640080"/>
          </a:xfrm>
          <a:prstGeom prst="roundRect">
            <a:avLst>
              <a:gd name="adj" fmla="val 11429"/>
            </a:avLst>
          </a:prstGeom>
          <a:solidFill>
            <a:schemeClr val="bg2"/>
          </a:solidFill>
          <a:ln w="9525">
            <a:solidFill>
              <a:schemeClr val="bg2"/>
            </a:solidFill>
            <a:prstDash val="solid"/>
          </a:ln>
        </p:spPr>
      </p:sp>
      <p:sp>
        <p:nvSpPr>
          <p:cNvPr id="12" name="t146"/>
          <p:cNvSpPr txBox="1"/>
          <p:nvPr/>
        </p:nvSpPr>
        <p:spPr>
          <a:xfrm>
            <a:off x="822960" y="4379976"/>
            <a:ext cx="4873752" cy="640080"/>
          </a:xfrm>
          <a:prstGeom prst="rect">
            <a:avLst/>
          </a:prstGeom>
          <a:noFill/>
          <a:ln/>
        </p:spPr>
        <p:txBody>
          <a:bodyPr wrap="square" lIns="0" tIns="0" rIns="0" bIns="0" rtlCol="0" anchor="ctr"/>
          <a:lstStyle/>
          <a:p>
            <a:pPr indent="0" marL="0">
              <a:buNone/>
            </a:pPr>
            <a:r>
              <a:rPr lang="en-US" sz="1450" dirty="0">
                <a:solidFill>
                  <a:schemeClr val="tx1"/>
                </a:solidFill>
              </a:rPr>
              <a:t>One task, one repo, one session</a:t>
            </a:r>
            <a:endParaRPr lang="en-US" sz="1450" dirty="0"/>
          </a:p>
        </p:txBody>
      </p:sp>
      <p:sp>
        <p:nvSpPr>
          <p:cNvPr id="13" name="card147"/>
          <p:cNvSpPr/>
          <p:nvPr/>
        </p:nvSpPr>
        <p:spPr>
          <a:xfrm>
            <a:off x="548640" y="5138928"/>
            <a:ext cx="5422392" cy="640080"/>
          </a:xfrm>
          <a:prstGeom prst="roundRect">
            <a:avLst>
              <a:gd name="adj" fmla="val 11429"/>
            </a:avLst>
          </a:prstGeom>
          <a:solidFill>
            <a:schemeClr val="bg2"/>
          </a:solidFill>
          <a:ln w="9525">
            <a:solidFill>
              <a:schemeClr val="bg2"/>
            </a:solidFill>
            <a:prstDash val="solid"/>
          </a:ln>
        </p:spPr>
      </p:sp>
      <p:sp>
        <p:nvSpPr>
          <p:cNvPr id="14" name="t148"/>
          <p:cNvSpPr txBox="1"/>
          <p:nvPr/>
        </p:nvSpPr>
        <p:spPr>
          <a:xfrm>
            <a:off x="822960" y="5138928"/>
            <a:ext cx="4873752" cy="640080"/>
          </a:xfrm>
          <a:prstGeom prst="rect">
            <a:avLst/>
          </a:prstGeom>
          <a:noFill/>
          <a:ln/>
        </p:spPr>
        <p:txBody>
          <a:bodyPr wrap="square" lIns="0" tIns="0" rIns="0" bIns="0" rtlCol="0" anchor="ctr"/>
          <a:lstStyle/>
          <a:p>
            <a:pPr indent="0" marL="0">
              <a:buNone/>
            </a:pPr>
            <a:r>
              <a:rPr lang="en-US" sz="1450" dirty="0">
                <a:solidFill>
                  <a:schemeClr val="tx1"/>
                </a:solidFill>
              </a:rPr>
              <a:t>History is git log plus whatever the chat kept</a:t>
            </a:r>
            <a:endParaRPr lang="en-US" sz="1450" dirty="0"/>
          </a:p>
        </p:txBody>
      </p:sp>
      <p:sp>
        <p:nvSpPr>
          <p:cNvPr id="15" name="card149"/>
          <p:cNvSpPr/>
          <p:nvPr/>
        </p:nvSpPr>
        <p:spPr>
          <a:xfrm>
            <a:off x="6217920" y="1325880"/>
            <a:ext cx="5422392" cy="594360"/>
          </a:xfrm>
          <a:prstGeom prst="roundRect">
            <a:avLst>
              <a:gd name="adj" fmla="val 12308"/>
            </a:avLst>
          </a:prstGeom>
          <a:solidFill>
            <a:schemeClr val="accent2"/>
          </a:solidFill>
          <a:ln w="9525">
            <a:solidFill>
              <a:schemeClr val="accent2"/>
            </a:solidFill>
            <a:prstDash val="solid"/>
          </a:ln>
        </p:spPr>
      </p:sp>
      <p:sp>
        <p:nvSpPr>
          <p:cNvPr id="16" name="t150"/>
          <p:cNvSpPr txBox="1"/>
          <p:nvPr/>
        </p:nvSpPr>
        <p:spPr>
          <a:xfrm>
            <a:off x="6492240" y="1325880"/>
            <a:ext cx="4873752" cy="594360"/>
          </a:xfrm>
          <a:prstGeom prst="rect">
            <a:avLst/>
          </a:prstGeom>
          <a:noFill/>
          <a:ln/>
        </p:spPr>
        <p:txBody>
          <a:bodyPr wrap="square" lIns="0" tIns="0" rIns="0" bIns="0" rtlCol="0" anchor="ctr"/>
          <a:lstStyle/>
          <a:p>
            <a:pPr indent="0" marL="0">
              <a:buNone/>
            </a:pPr>
            <a:r>
              <a:rPr lang="en-US" sz="1800" b="1" dirty="0">
                <a:solidFill>
                  <a:schemeClr val="bg1"/>
                </a:solidFill>
              </a:rPr>
              <a:t>Packet-centric (work-packet)</a:t>
            </a:r>
            <a:endParaRPr lang="en-US" sz="1800" dirty="0"/>
          </a:p>
        </p:txBody>
      </p:sp>
      <p:sp>
        <p:nvSpPr>
          <p:cNvPr id="17" name="card151"/>
          <p:cNvSpPr/>
          <p:nvPr/>
        </p:nvSpPr>
        <p:spPr>
          <a:xfrm>
            <a:off x="6217920" y="2103120"/>
            <a:ext cx="5422392" cy="640080"/>
          </a:xfrm>
          <a:prstGeom prst="roundRect">
            <a:avLst>
              <a:gd name="adj" fmla="val 11429"/>
            </a:avLst>
          </a:prstGeom>
          <a:solidFill>
            <a:srgbClr val="D5ECE9"/>
          </a:solidFill>
          <a:ln w="9525">
            <a:solidFill>
              <a:srgbClr val="D5ECE9"/>
            </a:solidFill>
            <a:prstDash val="solid"/>
          </a:ln>
        </p:spPr>
      </p:sp>
      <p:sp>
        <p:nvSpPr>
          <p:cNvPr id="18" name="t152"/>
          <p:cNvSpPr txBox="1"/>
          <p:nvPr/>
        </p:nvSpPr>
        <p:spPr>
          <a:xfrm>
            <a:off x="6492240" y="2103120"/>
            <a:ext cx="4873752" cy="640080"/>
          </a:xfrm>
          <a:prstGeom prst="rect">
            <a:avLst/>
          </a:prstGeom>
          <a:noFill/>
          <a:ln/>
        </p:spPr>
        <p:txBody>
          <a:bodyPr wrap="square" lIns="0" tIns="0" rIns="0" bIns="0" rtlCol="0" anchor="ctr"/>
          <a:lstStyle/>
          <a:p>
            <a:pPr indent="0" marL="0">
              <a:buNone/>
            </a:pPr>
            <a:r>
              <a:rPr lang="en-US" sz="1450" dirty="0">
                <a:solidFill>
                  <a:schemeClr val="tx1"/>
                </a:solidFill>
              </a:rPr>
              <a:t>State lives in the packet; repos are clones in work/</a:t>
            </a:r>
            <a:endParaRPr lang="en-US" sz="1450" dirty="0"/>
          </a:p>
        </p:txBody>
      </p:sp>
      <p:sp>
        <p:nvSpPr>
          <p:cNvPr id="19" name="card153"/>
          <p:cNvSpPr/>
          <p:nvPr/>
        </p:nvSpPr>
        <p:spPr>
          <a:xfrm>
            <a:off x="6217920" y="2862072"/>
            <a:ext cx="5422392" cy="640080"/>
          </a:xfrm>
          <a:prstGeom prst="roundRect">
            <a:avLst>
              <a:gd name="adj" fmla="val 11429"/>
            </a:avLst>
          </a:prstGeom>
          <a:solidFill>
            <a:srgbClr val="D5ECE9"/>
          </a:solidFill>
          <a:ln w="9525">
            <a:solidFill>
              <a:srgbClr val="D5ECE9"/>
            </a:solidFill>
            <a:prstDash val="solid"/>
          </a:ln>
        </p:spPr>
      </p:sp>
      <p:sp>
        <p:nvSpPr>
          <p:cNvPr id="20" name="t154"/>
          <p:cNvSpPr txBox="1"/>
          <p:nvPr/>
        </p:nvSpPr>
        <p:spPr>
          <a:xfrm>
            <a:off x="6492240" y="2862072"/>
            <a:ext cx="4873752" cy="640080"/>
          </a:xfrm>
          <a:prstGeom prst="rect">
            <a:avLst/>
          </a:prstGeom>
          <a:noFill/>
          <a:ln/>
        </p:spPr>
        <p:txBody>
          <a:bodyPr wrap="square" lIns="0" tIns="0" rIns="0" bIns="0" rtlCol="0" anchor="ctr"/>
          <a:lstStyle/>
          <a:p>
            <a:pPr indent="0" marL="0">
              <a:buNone/>
            </a:pPr>
            <a:r>
              <a:rPr lang="en-US" sz="1450" dirty="0">
                <a:solidFill>
                  <a:schemeClr val="tx1"/>
                </a:solidFill>
              </a:rPr>
              <a:t>Plans live in state/ and never touch the code's history</a:t>
            </a:r>
            <a:endParaRPr lang="en-US" sz="1450" dirty="0"/>
          </a:p>
        </p:txBody>
      </p:sp>
      <p:sp>
        <p:nvSpPr>
          <p:cNvPr id="21" name="card155"/>
          <p:cNvSpPr/>
          <p:nvPr/>
        </p:nvSpPr>
        <p:spPr>
          <a:xfrm>
            <a:off x="6217920" y="3621024"/>
            <a:ext cx="5422392" cy="640080"/>
          </a:xfrm>
          <a:prstGeom prst="roundRect">
            <a:avLst>
              <a:gd name="adj" fmla="val 11429"/>
            </a:avLst>
          </a:prstGeom>
          <a:solidFill>
            <a:srgbClr val="D5ECE9"/>
          </a:solidFill>
          <a:ln w="9525">
            <a:solidFill>
              <a:srgbClr val="D5ECE9"/>
            </a:solidFill>
            <a:prstDash val="solid"/>
          </a:ln>
        </p:spPr>
      </p:sp>
      <p:sp>
        <p:nvSpPr>
          <p:cNvPr id="22" name="t156"/>
          <p:cNvSpPr txBox="1"/>
          <p:nvPr/>
        </p:nvSpPr>
        <p:spPr>
          <a:xfrm>
            <a:off x="6492240" y="3621024"/>
            <a:ext cx="4873752" cy="640080"/>
          </a:xfrm>
          <a:prstGeom prst="rect">
            <a:avLst/>
          </a:prstGeom>
          <a:noFill/>
          <a:ln/>
        </p:spPr>
        <p:txBody>
          <a:bodyPr wrap="square" lIns="0" tIns="0" rIns="0" bIns="0" rtlCol="0" anchor="ctr"/>
          <a:lstStyle/>
          <a:p>
            <a:pPr indent="0" marL="0">
              <a:buNone/>
            </a:pPr>
            <a:r>
              <a:rPr lang="en-US" sz="1450" dirty="0">
                <a:solidFill>
                  <a:schemeClr val="tx1"/>
                </a:solidFill>
              </a:rPr>
              <a:t>Builds, packages and run dirs persist across steps</a:t>
            </a:r>
            <a:endParaRPr lang="en-US" sz="1450" dirty="0"/>
          </a:p>
        </p:txBody>
      </p:sp>
      <p:sp>
        <p:nvSpPr>
          <p:cNvPr id="23" name="card157"/>
          <p:cNvSpPr/>
          <p:nvPr/>
        </p:nvSpPr>
        <p:spPr>
          <a:xfrm>
            <a:off x="6217920" y="4379976"/>
            <a:ext cx="5422392" cy="640080"/>
          </a:xfrm>
          <a:prstGeom prst="roundRect">
            <a:avLst>
              <a:gd name="adj" fmla="val 11429"/>
            </a:avLst>
          </a:prstGeom>
          <a:solidFill>
            <a:srgbClr val="D5ECE9"/>
          </a:solidFill>
          <a:ln w="9525">
            <a:solidFill>
              <a:srgbClr val="D5ECE9"/>
            </a:solidFill>
            <a:prstDash val="solid"/>
          </a:ln>
        </p:spPr>
      </p:sp>
      <p:sp>
        <p:nvSpPr>
          <p:cNvPr id="24" name="t158"/>
          <p:cNvSpPr txBox="1"/>
          <p:nvPr/>
        </p:nvSpPr>
        <p:spPr>
          <a:xfrm>
            <a:off x="6492240" y="4379976"/>
            <a:ext cx="4873752" cy="640080"/>
          </a:xfrm>
          <a:prstGeom prst="rect">
            <a:avLst/>
          </a:prstGeom>
          <a:noFill/>
          <a:ln/>
        </p:spPr>
        <p:txBody>
          <a:bodyPr wrap="square" lIns="0" tIns="0" rIns="0" bIns="0" rtlCol="0" anchor="ctr"/>
          <a:lstStyle/>
          <a:p>
            <a:pPr indent="0" marL="0">
              <a:buNone/>
            </a:pPr>
            <a:r>
              <a:rPr lang="en-US" sz="1450" dirty="0">
                <a:solidFill>
                  <a:schemeClr val="tx1"/>
                </a:solidFill>
              </a:rPr>
              <a:t>One task may span several repos, or none</a:t>
            </a:r>
            <a:endParaRPr lang="en-US" sz="1450" dirty="0"/>
          </a:p>
        </p:txBody>
      </p:sp>
      <p:sp>
        <p:nvSpPr>
          <p:cNvPr id="25" name="card159"/>
          <p:cNvSpPr/>
          <p:nvPr/>
        </p:nvSpPr>
        <p:spPr>
          <a:xfrm>
            <a:off x="6217920" y="5138928"/>
            <a:ext cx="5422392" cy="640080"/>
          </a:xfrm>
          <a:prstGeom prst="roundRect">
            <a:avLst>
              <a:gd name="adj" fmla="val 11429"/>
            </a:avLst>
          </a:prstGeom>
          <a:solidFill>
            <a:srgbClr val="D5ECE9"/>
          </a:solidFill>
          <a:ln w="9525">
            <a:solidFill>
              <a:srgbClr val="D5ECE9"/>
            </a:solidFill>
            <a:prstDash val="solid"/>
          </a:ln>
        </p:spPr>
      </p:sp>
      <p:sp>
        <p:nvSpPr>
          <p:cNvPr id="26" name="t160"/>
          <p:cNvSpPr txBox="1"/>
          <p:nvPr/>
        </p:nvSpPr>
        <p:spPr>
          <a:xfrm>
            <a:off x="6492240" y="5138928"/>
            <a:ext cx="4873752" cy="640080"/>
          </a:xfrm>
          <a:prstGeom prst="rect">
            <a:avLst/>
          </a:prstGeom>
          <a:noFill/>
          <a:ln/>
        </p:spPr>
        <p:txBody>
          <a:bodyPr wrap="square" lIns="0" tIns="0" rIns="0" bIns="0" rtlCol="0" anchor="ctr"/>
          <a:lstStyle/>
          <a:p>
            <a:pPr indent="0" marL="0">
              <a:buNone/>
            </a:pPr>
            <a:r>
              <a:rPr lang="en-US" sz="1450" dirty="0">
                <a:solidFill>
                  <a:schemeClr val="tx1"/>
                </a:solidFill>
              </a:rPr>
              <a:t>Journal, per-step record and cost for every step</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work/ repos: edited in place, atomic per step</a:t>
            </a:r>
            <a:endParaRPr lang="en-US" sz="3400" dirty="0"/>
          </a:p>
        </p:txBody>
      </p:sp>
      <p:sp>
        <p:nvSpPr>
          <p:cNvPr id="3" name="card161"/>
          <p:cNvSpPr/>
          <p:nvPr/>
        </p:nvSpPr>
        <p:spPr>
          <a:xfrm>
            <a:off x="548640" y="1463040"/>
            <a:ext cx="2286000" cy="1188720"/>
          </a:xfrm>
          <a:prstGeom prst="roundRect">
            <a:avLst>
              <a:gd name="adj" fmla="val 6154"/>
            </a:avLst>
          </a:prstGeom>
          <a:solidFill>
            <a:schemeClr val="bg2"/>
          </a:solidFill>
          <a:ln w="9525">
            <a:solidFill>
              <a:schemeClr val="bg2"/>
            </a:solidFill>
            <a:prstDash val="solid"/>
          </a:ln>
        </p:spPr>
      </p:sp>
      <p:sp>
        <p:nvSpPr>
          <p:cNvPr id="4" name="t162"/>
          <p:cNvSpPr txBox="1"/>
          <p:nvPr/>
        </p:nvSpPr>
        <p:spPr>
          <a:xfrm>
            <a:off x="731520" y="1572768"/>
            <a:ext cx="1920240" cy="365760"/>
          </a:xfrm>
          <a:prstGeom prst="rect">
            <a:avLst/>
          </a:prstGeom>
          <a:noFill/>
          <a:ln/>
        </p:spPr>
        <p:txBody>
          <a:bodyPr wrap="square" lIns="0" tIns="0" rIns="0" bIns="0" rtlCol="0" anchor="t"/>
          <a:lstStyle/>
          <a:p>
            <a:pPr indent="0" marL="0">
              <a:buNone/>
            </a:pPr>
            <a:r>
              <a:rPr lang="en-US" sz="1700" b="1" dirty="0">
                <a:solidFill>
                  <a:schemeClr val="tx1"/>
                </a:solidFill>
              </a:rPr>
              <a:t>Base</a:t>
            </a:r>
            <a:endParaRPr lang="en-US" sz="1700" dirty="0"/>
          </a:p>
        </p:txBody>
      </p:sp>
      <p:sp>
        <p:nvSpPr>
          <p:cNvPr id="5" name="t163"/>
          <p:cNvSpPr txBox="1"/>
          <p:nvPr/>
        </p:nvSpPr>
        <p:spPr>
          <a:xfrm>
            <a:off x="731520" y="1965960"/>
            <a:ext cx="1965960" cy="640080"/>
          </a:xfrm>
          <a:prstGeom prst="rect">
            <a:avLst/>
          </a:prstGeom>
          <a:noFill/>
          <a:ln/>
        </p:spPr>
        <p:txBody>
          <a:bodyPr wrap="square" lIns="0" tIns="0" rIns="0" bIns="0" rtlCol="0" anchor="t"/>
          <a:lstStyle/>
          <a:p>
            <a:pPr indent="0" marL="0">
              <a:buNone/>
            </a:pPr>
            <a:r>
              <a:rPr lang="en-US" sz="1300" dirty="0">
                <a:solidFill>
                  <a:schemeClr val="tx2"/>
                </a:solidFill>
              </a:rPr>
              <a:t>commit at the start of the step</a:t>
            </a:r>
            <a:endParaRPr lang="en-US" sz="1300" dirty="0"/>
          </a:p>
        </p:txBody>
      </p:sp>
      <p:sp>
        <p:nvSpPr>
          <p:cNvPr id="6" name="arr164"/>
          <p:cNvSpPr/>
          <p:nvPr/>
        </p:nvSpPr>
        <p:spPr>
          <a:xfrm>
            <a:off x="2926080" y="1920240"/>
            <a:ext cx="274320" cy="274320"/>
          </a:xfrm>
          <a:prstGeom prst="rightArrow">
            <a:avLst/>
          </a:prstGeom>
          <a:solidFill>
            <a:schemeClr val="accent3"/>
          </a:solidFill>
          <a:ln w="12700">
            <a:solidFill>
              <a:schemeClr val="accent3"/>
            </a:solidFill>
            <a:prstDash val="solid"/>
          </a:ln>
        </p:spPr>
      </p:sp>
      <p:sp>
        <p:nvSpPr>
          <p:cNvPr id="7" name="card165"/>
          <p:cNvSpPr/>
          <p:nvPr/>
        </p:nvSpPr>
        <p:spPr>
          <a:xfrm>
            <a:off x="3291840" y="1463040"/>
            <a:ext cx="2286000" cy="1188720"/>
          </a:xfrm>
          <a:prstGeom prst="roundRect">
            <a:avLst>
              <a:gd name="adj" fmla="val 6154"/>
            </a:avLst>
          </a:prstGeom>
          <a:solidFill>
            <a:srgbClr val="F6E3C1"/>
          </a:solidFill>
          <a:ln w="9525">
            <a:solidFill>
              <a:srgbClr val="F6E3C1"/>
            </a:solidFill>
            <a:prstDash val="solid"/>
          </a:ln>
        </p:spPr>
      </p:sp>
      <p:sp>
        <p:nvSpPr>
          <p:cNvPr id="8" name="t166"/>
          <p:cNvSpPr txBox="1"/>
          <p:nvPr/>
        </p:nvSpPr>
        <p:spPr>
          <a:xfrm>
            <a:off x="3474720" y="1572768"/>
            <a:ext cx="1920240" cy="365760"/>
          </a:xfrm>
          <a:prstGeom prst="rect">
            <a:avLst/>
          </a:prstGeom>
          <a:noFill/>
          <a:ln/>
        </p:spPr>
        <p:txBody>
          <a:bodyPr wrap="square" lIns="0" tIns="0" rIns="0" bIns="0" rtlCol="0" anchor="t"/>
          <a:lstStyle/>
          <a:p>
            <a:pPr indent="0" marL="0">
              <a:buNone/>
            </a:pPr>
            <a:r>
              <a:rPr lang="en-US" sz="1700" b="1" dirty="0">
                <a:solidFill>
                  <a:schemeClr val="tx1"/>
                </a:solidFill>
              </a:rPr>
              <a:t>Step</a:t>
            </a:r>
            <a:endParaRPr lang="en-US" sz="1700" dirty="0"/>
          </a:p>
        </p:txBody>
      </p:sp>
      <p:sp>
        <p:nvSpPr>
          <p:cNvPr id="9" name="t167"/>
          <p:cNvSpPr txBox="1"/>
          <p:nvPr/>
        </p:nvSpPr>
        <p:spPr>
          <a:xfrm>
            <a:off x="3474720" y="1965960"/>
            <a:ext cx="1965960" cy="640080"/>
          </a:xfrm>
          <a:prstGeom prst="rect">
            <a:avLst/>
          </a:prstGeom>
          <a:noFill/>
          <a:ln/>
        </p:spPr>
        <p:txBody>
          <a:bodyPr wrap="square" lIns="0" tIns="0" rIns="0" bIns="0" rtlCol="0" anchor="t"/>
          <a:lstStyle/>
          <a:p>
            <a:pPr indent="0" marL="0">
              <a:buNone/>
            </a:pPr>
            <a:r>
              <a:rPr lang="en-US" sz="1300" dirty="0">
                <a:solidFill>
                  <a:schemeClr val="tx2"/>
                </a:solidFill>
              </a:rPr>
              <a:t>model edits files in work/</a:t>
            </a:r>
            <a:endParaRPr lang="en-US" sz="1300" dirty="0"/>
          </a:p>
        </p:txBody>
      </p:sp>
      <p:sp>
        <p:nvSpPr>
          <p:cNvPr id="10" name="arr168"/>
          <p:cNvSpPr/>
          <p:nvPr/>
        </p:nvSpPr>
        <p:spPr>
          <a:xfrm>
            <a:off x="5669280" y="1920240"/>
            <a:ext cx="274320" cy="274320"/>
          </a:xfrm>
          <a:prstGeom prst="rightArrow">
            <a:avLst/>
          </a:prstGeom>
          <a:solidFill>
            <a:schemeClr val="accent3"/>
          </a:solidFill>
          <a:ln w="12700">
            <a:solidFill>
              <a:schemeClr val="accent3"/>
            </a:solidFill>
            <a:prstDash val="solid"/>
          </a:ln>
        </p:spPr>
      </p:sp>
      <p:sp>
        <p:nvSpPr>
          <p:cNvPr id="11" name="card169"/>
          <p:cNvSpPr/>
          <p:nvPr/>
        </p:nvSpPr>
        <p:spPr>
          <a:xfrm>
            <a:off x="6035040" y="1463040"/>
            <a:ext cx="2286000" cy="1188720"/>
          </a:xfrm>
          <a:prstGeom prst="roundRect">
            <a:avLst>
              <a:gd name="adj" fmla="val 6154"/>
            </a:avLst>
          </a:prstGeom>
          <a:solidFill>
            <a:schemeClr val="bg2"/>
          </a:solidFill>
          <a:ln w="9525">
            <a:solidFill>
              <a:schemeClr val="bg2"/>
            </a:solidFill>
            <a:prstDash val="solid"/>
          </a:ln>
        </p:spPr>
      </p:sp>
      <p:sp>
        <p:nvSpPr>
          <p:cNvPr id="12" name="t170"/>
          <p:cNvSpPr txBox="1"/>
          <p:nvPr/>
        </p:nvSpPr>
        <p:spPr>
          <a:xfrm>
            <a:off x="6217920" y="1572768"/>
            <a:ext cx="1920240" cy="365760"/>
          </a:xfrm>
          <a:prstGeom prst="rect">
            <a:avLst/>
          </a:prstGeom>
          <a:noFill/>
          <a:ln/>
        </p:spPr>
        <p:txBody>
          <a:bodyPr wrap="square" lIns="0" tIns="0" rIns="0" bIns="0" rtlCol="0" anchor="t"/>
          <a:lstStyle/>
          <a:p>
            <a:pPr indent="0" marL="0">
              <a:buNone/>
            </a:pPr>
            <a:r>
              <a:rPr lang="en-US" sz="1700" b="1" dirty="0">
                <a:solidFill>
                  <a:schemeClr val="tx1"/>
                </a:solidFill>
              </a:rPr>
              <a:t>Validate</a:t>
            </a:r>
            <a:endParaRPr lang="en-US" sz="1700" dirty="0"/>
          </a:p>
        </p:txBody>
      </p:sp>
      <p:sp>
        <p:nvSpPr>
          <p:cNvPr id="13" name="t171"/>
          <p:cNvSpPr txBox="1"/>
          <p:nvPr/>
        </p:nvSpPr>
        <p:spPr>
          <a:xfrm>
            <a:off x="6217920" y="1965960"/>
            <a:ext cx="1965960" cy="640080"/>
          </a:xfrm>
          <a:prstGeom prst="rect">
            <a:avLst/>
          </a:prstGeom>
          <a:noFill/>
          <a:ln/>
        </p:spPr>
        <p:txBody>
          <a:bodyPr wrap="square" lIns="0" tIns="0" rIns="0" bIns="0" rtlCol="0" anchor="t"/>
          <a:lstStyle/>
          <a:p>
            <a:pPr indent="0" marL="0">
              <a:buNone/>
            </a:pPr>
            <a:r>
              <a:rPr lang="en-US" sz="1300" dirty="0">
                <a:solidFill>
                  <a:schemeClr val="tx2"/>
                </a:solidFill>
              </a:rPr>
              <a:t>memento and summary present</a:t>
            </a:r>
            <a:endParaRPr lang="en-US" sz="1300" dirty="0"/>
          </a:p>
        </p:txBody>
      </p:sp>
      <p:sp>
        <p:nvSpPr>
          <p:cNvPr id="14" name="arr172"/>
          <p:cNvSpPr/>
          <p:nvPr/>
        </p:nvSpPr>
        <p:spPr>
          <a:xfrm>
            <a:off x="8366760" y="1600200"/>
            <a:ext cx="411480" cy="274320"/>
          </a:xfrm>
          <a:prstGeom prst="rightArrow">
            <a:avLst/>
          </a:prstGeom>
          <a:solidFill>
            <a:schemeClr val="accent2"/>
          </a:solidFill>
          <a:ln w="12700">
            <a:solidFill>
              <a:schemeClr val="accent2"/>
            </a:solidFill>
            <a:prstDash val="solid"/>
          </a:ln>
        </p:spPr>
      </p:sp>
      <p:sp>
        <p:nvSpPr>
          <p:cNvPr id="15" name="arr173"/>
          <p:cNvSpPr/>
          <p:nvPr/>
        </p:nvSpPr>
        <p:spPr>
          <a:xfrm>
            <a:off x="8366760" y="2331720"/>
            <a:ext cx="411480" cy="274320"/>
          </a:xfrm>
          <a:prstGeom prst="rightArrow">
            <a:avLst/>
          </a:prstGeom>
          <a:solidFill>
            <a:schemeClr val="accent4"/>
          </a:solidFill>
          <a:ln w="12700">
            <a:solidFill>
              <a:schemeClr val="accent4"/>
            </a:solidFill>
            <a:prstDash val="solid"/>
          </a:ln>
        </p:spPr>
      </p:sp>
      <p:sp>
        <p:nvSpPr>
          <p:cNvPr id="16" name="card174"/>
          <p:cNvSpPr/>
          <p:nvPr/>
        </p:nvSpPr>
        <p:spPr>
          <a:xfrm>
            <a:off x="8869680" y="1325880"/>
            <a:ext cx="2770632" cy="777240"/>
          </a:xfrm>
          <a:prstGeom prst="roundRect">
            <a:avLst>
              <a:gd name="adj" fmla="val 9412"/>
            </a:avLst>
          </a:prstGeom>
          <a:solidFill>
            <a:srgbClr val="D5ECE9"/>
          </a:solidFill>
          <a:ln w="9525">
            <a:solidFill>
              <a:srgbClr val="D5ECE9"/>
            </a:solidFill>
            <a:prstDash val="solid"/>
          </a:ln>
        </p:spPr>
      </p:sp>
      <p:sp>
        <p:nvSpPr>
          <p:cNvPr id="17" name="t175"/>
          <p:cNvSpPr txBox="1"/>
          <p:nvPr/>
        </p:nvSpPr>
        <p:spPr>
          <a:xfrm>
            <a:off x="9006840" y="1325880"/>
            <a:ext cx="2560320" cy="777240"/>
          </a:xfrm>
          <a:prstGeom prst="rect">
            <a:avLst/>
          </a:prstGeom>
          <a:noFill/>
          <a:ln/>
        </p:spPr>
        <p:txBody>
          <a:bodyPr wrap="square" lIns="0" tIns="0" rIns="0" bIns="0" rtlCol="0" anchor="ctr"/>
          <a:lstStyle/>
          <a:p>
            <a:pPr indent="0" marL="0">
              <a:buNone/>
            </a:pPr>
            <a:r>
              <a:rPr lang="en-US" sz="1400" b="1" dirty="0">
                <a:solidFill>
                  <a:schemeClr val="tx1"/>
                </a:solidFill>
              </a:rPr>
              <a:t>Success</a:t>
            </a:r>
            <a:endParaRPr lang="en-US" sz="1400" dirty="0"/>
          </a:p>
          <a:p>
            <a:pPr indent="0" marL="0">
              <a:buNone/>
            </a:pPr>
            <a:r>
              <a:rPr lang="en-US" sz="1100" dirty="0">
                <a:solidFill>
                  <a:schemeClr val="tx1"/>
                </a:solidFill>
                <a:latin typeface="Courier New" pitchFamily="34" charset="0"/>
                <a:ea typeface="Courier New" pitchFamily="34" charset="-122"/>
                <a:cs typeface="Courier New" pitchFamily="34" charset="-120"/>
              </a:rPr>
              <a:t>git commit "step N: …"</a:t>
            </a:r>
            <a:endParaRPr lang="en-US" sz="1400" dirty="0"/>
          </a:p>
        </p:txBody>
      </p:sp>
      <p:sp>
        <p:nvSpPr>
          <p:cNvPr id="18" name="card176"/>
          <p:cNvSpPr/>
          <p:nvPr/>
        </p:nvSpPr>
        <p:spPr>
          <a:xfrm>
            <a:off x="8869680" y="2194560"/>
            <a:ext cx="2770632" cy="777240"/>
          </a:xfrm>
          <a:prstGeom prst="roundRect">
            <a:avLst>
              <a:gd name="adj" fmla="val 9412"/>
            </a:avLst>
          </a:prstGeom>
          <a:solidFill>
            <a:srgbClr val="F6E3C1"/>
          </a:solidFill>
          <a:ln w="9525">
            <a:solidFill>
              <a:srgbClr val="F6E3C1"/>
            </a:solidFill>
            <a:prstDash val="solid"/>
          </a:ln>
        </p:spPr>
      </p:sp>
      <p:sp>
        <p:nvSpPr>
          <p:cNvPr id="19" name="t177"/>
          <p:cNvSpPr txBox="1"/>
          <p:nvPr/>
        </p:nvSpPr>
        <p:spPr>
          <a:xfrm>
            <a:off x="9006840" y="2194560"/>
            <a:ext cx="2560320" cy="777240"/>
          </a:xfrm>
          <a:prstGeom prst="rect">
            <a:avLst/>
          </a:prstGeom>
          <a:noFill/>
          <a:ln/>
        </p:spPr>
        <p:txBody>
          <a:bodyPr wrap="square" lIns="0" tIns="0" rIns="0" bIns="0" rtlCol="0" anchor="ctr"/>
          <a:lstStyle/>
          <a:p>
            <a:pPr indent="0" marL="0">
              <a:buNone/>
            </a:pPr>
            <a:r>
              <a:rPr lang="en-US" sz="1400" b="1" dirty="0">
                <a:solidFill>
                  <a:schemeClr val="tx1"/>
                </a:solidFill>
              </a:rPr>
              <a:t>Failure</a:t>
            </a:r>
            <a:endParaRPr lang="en-US" sz="1400" dirty="0"/>
          </a:p>
          <a:p>
            <a:pPr indent="0" marL="0">
              <a:buNone/>
            </a:pPr>
            <a:r>
              <a:rPr lang="en-US" sz="1100" dirty="0">
                <a:solidFill>
                  <a:schemeClr val="tx1"/>
                </a:solidFill>
                <a:latin typeface="Courier New" pitchFamily="34" charset="0"/>
                <a:ea typeface="Courier New" pitchFamily="34" charset="-122"/>
                <a:cs typeface="Courier New" pitchFamily="34" charset="-120"/>
              </a:rPr>
              <a:t>reset --hard; clean -fd</a:t>
            </a:r>
            <a:endParaRPr lang="en-US" sz="1400" dirty="0"/>
          </a:p>
        </p:txBody>
      </p:sp>
      <p:sp>
        <p:nvSpPr>
          <p:cNvPr id="20" name="card178"/>
          <p:cNvSpPr/>
          <p:nvPr/>
        </p:nvSpPr>
        <p:spPr>
          <a:xfrm>
            <a:off x="548640" y="3291840"/>
            <a:ext cx="5760720" cy="1828800"/>
          </a:xfrm>
          <a:prstGeom prst="roundRect">
            <a:avLst>
              <a:gd name="adj" fmla="val 4000"/>
            </a:avLst>
          </a:prstGeom>
          <a:solidFill>
            <a:schemeClr val="tx1"/>
          </a:solidFill>
          <a:ln w="9525">
            <a:solidFill>
              <a:schemeClr val="tx1"/>
            </a:solidFill>
            <a:prstDash val="solid"/>
          </a:ln>
        </p:spPr>
      </p:sp>
      <p:sp>
        <p:nvSpPr>
          <p:cNvPr id="21" name="t179"/>
          <p:cNvSpPr txBox="1"/>
          <p:nvPr/>
        </p:nvSpPr>
        <p:spPr>
          <a:xfrm>
            <a:off x="822960" y="3493008"/>
            <a:ext cx="5303520" cy="1463040"/>
          </a:xfrm>
          <a:prstGeom prst="rect">
            <a:avLst/>
          </a:prstGeom>
          <a:noFill/>
          <a:ln/>
        </p:spPr>
        <p:txBody>
          <a:bodyPr wrap="square" lIns="0" tIns="0" rIns="0" bIns="0" rtlCol="0" anchor="t"/>
          <a:lstStyle/>
          <a:p>
            <a:pPr indent="0" marL="0">
              <a:buNone/>
            </a:pPr>
            <a:r>
              <a:rPr lang="en-US" sz="1400" dirty="0">
                <a:solidFill>
                  <a:srgbClr val="E8A33D"/>
                </a:solidFill>
                <a:latin typeface="Courier New" pitchFamily="34" charset="0"/>
                <a:ea typeface="Courier New" pitchFamily="34" charset="-122"/>
                <a:cs typeface="Courier New" pitchFamily="34" charset="-120"/>
              </a:rPr>
              <a:t>step 12: add CHI snoop response checks</a:t>
            </a:r>
            <a:endParaRPr lang="en-US" sz="1400" dirty="0"/>
          </a:p>
          <a:p>
            <a:pPr indent="0" marL="0">
              <a:buNone/>
            </a:pPr>
            <a:endParaRPr lang="en-US" sz="1400" dirty="0"/>
          </a:p>
          <a:p>
            <a:pPr indent="0" marL="0">
              <a:buNone/>
            </a:pPr>
            <a:r>
              <a:rPr lang="en-US" sz="1400" dirty="0">
                <a:solidFill>
                  <a:srgbClr val="B8C2CC"/>
                </a:solidFill>
                <a:latin typeface="Courier New" pitchFamily="34" charset="0"/>
                <a:ea typeface="Courier New" pitchFamily="34" charset="-122"/>
                <a:cs typeface="Courier New" pitchFamily="34" charset="-120"/>
              </a:rPr>
              <a:t>Wpk-Packet: 3f9c…e21a</a:t>
            </a:r>
            <a:endParaRPr lang="en-US" sz="1400" dirty="0"/>
          </a:p>
          <a:p>
            <a:pPr indent="0" marL="0">
              <a:buNone/>
            </a:pPr>
            <a:r>
              <a:rPr lang="en-US" sz="1400" dirty="0">
                <a:solidFill>
                  <a:srgbClr val="B8C2CC"/>
                </a:solidFill>
                <a:latin typeface="Courier New" pitchFamily="34" charset="0"/>
                <a:ea typeface="Courier New" pitchFamily="34" charset="-122"/>
                <a:cs typeface="Courier New" pitchFamily="34" charset="-120"/>
              </a:rPr>
              <a:t>Wpk-Step: 12</a:t>
            </a:r>
            <a:endParaRPr lang="en-US" sz="1400" dirty="0"/>
          </a:p>
        </p:txBody>
      </p:sp>
      <p:sp>
        <p:nvSpPr>
          <p:cNvPr id="22" name="t180"/>
          <p:cNvSpPr txBox="1"/>
          <p:nvPr/>
        </p:nvSpPr>
        <p:spPr>
          <a:xfrm>
            <a:off x="6675120" y="329184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Ignored files (packages/, rundir/, build output) survive a failed step: no re-fetch, no rebuild</a:t>
            </a:r>
            <a:endParaRPr lang="en-US" sz="1400" dirty="0"/>
          </a:p>
          <a:p>
            <a:pPr marL="342900" indent="-342900">
              <a:spcAft>
                <a:spcPts val="600"/>
              </a:spcAft>
              <a:buSzPct val="100000"/>
              <a:buChar char="•"/>
            </a:pPr>
            <a:r>
              <a:rPr lang="en-US" sz="1400" dirty="0">
                <a:solidFill>
                  <a:schemeClr val="tx1"/>
                </a:solidFill>
              </a:rPr>
              <a:t>Every commit is traceable back to its packet and step through trailers</a:t>
            </a:r>
            <a:endParaRPr lang="en-US" sz="1400" dirty="0"/>
          </a:p>
          <a:p>
            <a:pPr marL="342900" indent="-342900">
              <a:spcAft>
                <a:spcPts val="600"/>
              </a:spcAft>
              <a:buSzPct val="100000"/>
              <a:buChar char="•"/>
            </a:pPr>
            <a:r>
              <a:rPr lang="en-US" sz="1400" dirty="0">
                <a:solidFill>
                  <a:schemeClr val="tx1"/>
                </a:solidFill>
              </a:rPr>
              <a:t>The diff is also kept in steps/NNNN/work.diff</a:t>
            </a:r>
            <a:endParaRPr lang="en-US" sz="1400" dirty="0"/>
          </a:p>
          <a:p>
            <a:pPr marL="342900" indent="-342900">
              <a:spcAft>
                <a:spcPts val="600"/>
              </a:spcAft>
              <a:buSzPct val="100000"/>
              <a:buChar char="•"/>
            </a:pPr>
            <a:r>
              <a:rPr lang="en-US" sz="1400" dirty="0">
                <a:solidFill>
                  <a:schemeClr val="tx1"/>
                </a:solidFill>
              </a:rPr>
              <a:t>Never put a clone under state/: state/ is read in full at each step</a:t>
            </a:r>
            <a:endParaRPr lang="en-US" sz="1400" dirty="0"/>
          </a:p>
        </p:txBody>
      </p:sp>
      <p:sp>
        <p:nvSpPr>
          <p:cNvPr id="23" name="t181"/>
          <p:cNvSpPr txBox="1"/>
          <p:nvPr/>
        </p:nvSpPr>
        <p:spPr>
          <a:xfrm>
            <a:off x="548640" y="5303520"/>
            <a:ext cx="5760720" cy="365760"/>
          </a:xfrm>
          <a:prstGeom prst="rect">
            <a:avLst/>
          </a:prstGeom>
          <a:noFill/>
          <a:ln/>
        </p:spPr>
        <p:txBody>
          <a:bodyPr wrap="square" lIns="0" tIns="0" rIns="0" bIns="0" rtlCol="0" anchor="t"/>
          <a:lstStyle/>
          <a:p>
            <a:pPr indent="0" marL="0">
              <a:buNone/>
            </a:pPr>
            <a:r>
              <a:rPr lang="en-US" sz="1200" i="1" dirty="0">
                <a:solidFill>
                  <a:schemeClr val="tx2"/>
                </a:solidFill>
              </a:rPr>
              <a:t>Design L2: in the dv-solve trial the model commits each item itself.</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step: a fresh model run, committed by the executor</a:t>
            </a:r>
            <a:endParaRPr lang="en-US" sz="3400" dirty="0"/>
          </a:p>
        </p:txBody>
      </p:sp>
      <p:sp>
        <p:nvSpPr>
          <p:cNvPr id="3" name="card182"/>
          <p:cNvSpPr/>
          <p:nvPr/>
        </p:nvSpPr>
        <p:spPr>
          <a:xfrm>
            <a:off x="548640" y="1371600"/>
            <a:ext cx="1691640" cy="2377440"/>
          </a:xfrm>
          <a:prstGeom prst="roundRect">
            <a:avLst>
              <a:gd name="adj" fmla="val 4324"/>
            </a:avLst>
          </a:prstGeom>
          <a:solidFill>
            <a:schemeClr val="bg2"/>
          </a:solidFill>
          <a:ln w="9525">
            <a:solidFill>
              <a:schemeClr val="bg2"/>
            </a:solidFill>
            <a:prstDash val="solid"/>
          </a:ln>
        </p:spPr>
      </p:sp>
      <p:sp>
        <p:nvSpPr>
          <p:cNvPr id="4" name="t183"/>
          <p:cNvSpPr txBox="1"/>
          <p:nvPr/>
        </p:nvSpPr>
        <p:spPr>
          <a:xfrm>
            <a:off x="731520"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5" name="t184"/>
          <p:cNvSpPr txBox="1"/>
          <p:nvPr/>
        </p:nvSpPr>
        <p:spPr>
          <a:xfrm>
            <a:off x="731520"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Lease</a:t>
            </a:r>
            <a:endParaRPr lang="en-US" sz="1700" dirty="0"/>
          </a:p>
        </p:txBody>
      </p:sp>
      <p:sp>
        <p:nvSpPr>
          <p:cNvPr id="6" name="t185"/>
          <p:cNvSpPr txBox="1"/>
          <p:nvPr/>
        </p:nvSpPr>
        <p:spPr>
          <a:xfrm>
            <a:off x="731520"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take the lease, log step-start</a:t>
            </a:r>
            <a:endParaRPr lang="en-US" sz="1300" dirty="0"/>
          </a:p>
        </p:txBody>
      </p:sp>
      <p:sp>
        <p:nvSpPr>
          <p:cNvPr id="7" name="card186"/>
          <p:cNvSpPr/>
          <p:nvPr/>
        </p:nvSpPr>
        <p:spPr>
          <a:xfrm>
            <a:off x="2432304" y="1371600"/>
            <a:ext cx="1691640" cy="2377440"/>
          </a:xfrm>
          <a:prstGeom prst="roundRect">
            <a:avLst>
              <a:gd name="adj" fmla="val 4324"/>
            </a:avLst>
          </a:prstGeom>
          <a:solidFill>
            <a:schemeClr val="bg2"/>
          </a:solidFill>
          <a:ln w="9525">
            <a:solidFill>
              <a:schemeClr val="bg2"/>
            </a:solidFill>
            <a:prstDash val="solid"/>
          </a:ln>
        </p:spPr>
      </p:sp>
      <p:sp>
        <p:nvSpPr>
          <p:cNvPr id="8" name="t187"/>
          <p:cNvSpPr txBox="1"/>
          <p:nvPr/>
        </p:nvSpPr>
        <p:spPr>
          <a:xfrm>
            <a:off x="2615184"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9" name="t188"/>
          <p:cNvSpPr txBox="1"/>
          <p:nvPr/>
        </p:nvSpPr>
        <p:spPr>
          <a:xfrm>
            <a:off x="2615184"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Prepare</a:t>
            </a:r>
            <a:endParaRPr lang="en-US" sz="1700" dirty="0"/>
          </a:p>
        </p:txBody>
      </p:sp>
      <p:sp>
        <p:nvSpPr>
          <p:cNvPr id="10" name="t189"/>
          <p:cNvSpPr txBox="1"/>
          <p:nvPr/>
        </p:nvSpPr>
        <p:spPr>
          <a:xfrm>
            <a:off x="2615184"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copy state/ to .pending/, build the prompt</a:t>
            </a:r>
            <a:endParaRPr lang="en-US" sz="1300" dirty="0"/>
          </a:p>
        </p:txBody>
      </p:sp>
      <p:sp>
        <p:nvSpPr>
          <p:cNvPr id="11" name="card190"/>
          <p:cNvSpPr/>
          <p:nvPr/>
        </p:nvSpPr>
        <p:spPr>
          <a:xfrm>
            <a:off x="4315968" y="1371600"/>
            <a:ext cx="1691640" cy="2377440"/>
          </a:xfrm>
          <a:prstGeom prst="roundRect">
            <a:avLst>
              <a:gd name="adj" fmla="val 4324"/>
            </a:avLst>
          </a:prstGeom>
          <a:solidFill>
            <a:schemeClr val="bg2"/>
          </a:solidFill>
          <a:ln w="9525">
            <a:solidFill>
              <a:schemeClr val="bg2"/>
            </a:solidFill>
            <a:prstDash val="solid"/>
          </a:ln>
        </p:spPr>
      </p:sp>
      <p:sp>
        <p:nvSpPr>
          <p:cNvPr id="12" name="t191"/>
          <p:cNvSpPr txBox="1"/>
          <p:nvPr/>
        </p:nvSpPr>
        <p:spPr>
          <a:xfrm>
            <a:off x="4498848"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3" name="t192"/>
          <p:cNvSpPr txBox="1"/>
          <p:nvPr/>
        </p:nvSpPr>
        <p:spPr>
          <a:xfrm>
            <a:off x="4498848"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Run</a:t>
            </a:r>
            <a:endParaRPr lang="en-US" sz="1700" dirty="0"/>
          </a:p>
        </p:txBody>
      </p:sp>
      <p:sp>
        <p:nvSpPr>
          <p:cNvPr id="14" name="t193"/>
          <p:cNvSpPr txBox="1"/>
          <p:nvPr/>
        </p:nvSpPr>
        <p:spPr>
          <a:xfrm>
            <a:off x="4498848"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claude -p with hooks; optionally carry the session</a:t>
            </a:r>
            <a:endParaRPr lang="en-US" sz="1300" dirty="0"/>
          </a:p>
        </p:txBody>
      </p:sp>
      <p:sp>
        <p:nvSpPr>
          <p:cNvPr id="15" name="card194"/>
          <p:cNvSpPr/>
          <p:nvPr/>
        </p:nvSpPr>
        <p:spPr>
          <a:xfrm>
            <a:off x="6199632" y="1371600"/>
            <a:ext cx="1691640" cy="2377440"/>
          </a:xfrm>
          <a:prstGeom prst="roundRect">
            <a:avLst>
              <a:gd name="adj" fmla="val 4324"/>
            </a:avLst>
          </a:prstGeom>
          <a:solidFill>
            <a:schemeClr val="bg2"/>
          </a:solidFill>
          <a:ln w="9525">
            <a:solidFill>
              <a:schemeClr val="bg2"/>
            </a:solidFill>
            <a:prstDash val="solid"/>
          </a:ln>
        </p:spPr>
      </p:sp>
      <p:sp>
        <p:nvSpPr>
          <p:cNvPr id="16" name="t195"/>
          <p:cNvSpPr txBox="1"/>
          <p:nvPr/>
        </p:nvSpPr>
        <p:spPr>
          <a:xfrm>
            <a:off x="6382512"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17" name="t196"/>
          <p:cNvSpPr txBox="1"/>
          <p:nvPr/>
        </p:nvSpPr>
        <p:spPr>
          <a:xfrm>
            <a:off x="6382512"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Validate</a:t>
            </a:r>
            <a:endParaRPr lang="en-US" sz="1700" dirty="0"/>
          </a:p>
        </p:txBody>
      </p:sp>
      <p:sp>
        <p:nvSpPr>
          <p:cNvPr id="18" name="t197"/>
          <p:cNvSpPr txBox="1"/>
          <p:nvPr/>
        </p:nvSpPr>
        <p:spPr>
          <a:xfrm>
            <a:off x="6382512"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memento + summary; nudge once if missing</a:t>
            </a:r>
            <a:endParaRPr lang="en-US" sz="1300" dirty="0"/>
          </a:p>
        </p:txBody>
      </p:sp>
      <p:sp>
        <p:nvSpPr>
          <p:cNvPr id="19" name="card198"/>
          <p:cNvSpPr/>
          <p:nvPr/>
        </p:nvSpPr>
        <p:spPr>
          <a:xfrm>
            <a:off x="8083296" y="1371600"/>
            <a:ext cx="1691640" cy="2377440"/>
          </a:xfrm>
          <a:prstGeom prst="roundRect">
            <a:avLst>
              <a:gd name="adj" fmla="val 4324"/>
            </a:avLst>
          </a:prstGeom>
          <a:solidFill>
            <a:srgbClr val="F6E3C1"/>
          </a:solidFill>
          <a:ln w="9525">
            <a:solidFill>
              <a:srgbClr val="F6E3C1"/>
            </a:solidFill>
            <a:prstDash val="solid"/>
          </a:ln>
        </p:spPr>
      </p:sp>
      <p:sp>
        <p:nvSpPr>
          <p:cNvPr id="20" name="t199"/>
          <p:cNvSpPr txBox="1"/>
          <p:nvPr/>
        </p:nvSpPr>
        <p:spPr>
          <a:xfrm>
            <a:off x="8266176"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5</a:t>
            </a:r>
            <a:endParaRPr lang="en-US" sz="3000" dirty="0"/>
          </a:p>
        </p:txBody>
      </p:sp>
      <p:sp>
        <p:nvSpPr>
          <p:cNvPr id="21" name="t200"/>
          <p:cNvSpPr txBox="1"/>
          <p:nvPr/>
        </p:nvSpPr>
        <p:spPr>
          <a:xfrm>
            <a:off x="8266176"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Commit</a:t>
            </a:r>
            <a:endParaRPr lang="en-US" sz="1700" dirty="0"/>
          </a:p>
        </p:txBody>
      </p:sp>
      <p:sp>
        <p:nvSpPr>
          <p:cNvPr id="22" name="t201"/>
          <p:cNvSpPr txBox="1"/>
          <p:nvPr/>
        </p:nvSpPr>
        <p:spPr>
          <a:xfrm>
            <a:off x="8266176"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children, state, memento, status, journal</a:t>
            </a:r>
            <a:endParaRPr lang="en-US" sz="1300" dirty="0"/>
          </a:p>
        </p:txBody>
      </p:sp>
      <p:sp>
        <p:nvSpPr>
          <p:cNvPr id="23" name="card202"/>
          <p:cNvSpPr/>
          <p:nvPr/>
        </p:nvSpPr>
        <p:spPr>
          <a:xfrm>
            <a:off x="9966960" y="1371600"/>
            <a:ext cx="1691640" cy="2377440"/>
          </a:xfrm>
          <a:prstGeom prst="roundRect">
            <a:avLst>
              <a:gd name="adj" fmla="val 4324"/>
            </a:avLst>
          </a:prstGeom>
          <a:solidFill>
            <a:schemeClr val="bg2"/>
          </a:solidFill>
          <a:ln w="9525">
            <a:solidFill>
              <a:schemeClr val="bg2"/>
            </a:solidFill>
            <a:prstDash val="solid"/>
          </a:ln>
        </p:spPr>
      </p:sp>
      <p:sp>
        <p:nvSpPr>
          <p:cNvPr id="24" name="t203"/>
          <p:cNvSpPr txBox="1"/>
          <p:nvPr/>
        </p:nvSpPr>
        <p:spPr>
          <a:xfrm>
            <a:off x="10149840" y="1508760"/>
            <a:ext cx="7315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a:t>
            </a:r>
            <a:endParaRPr lang="en-US" sz="3000" dirty="0"/>
          </a:p>
        </p:txBody>
      </p:sp>
      <p:sp>
        <p:nvSpPr>
          <p:cNvPr id="25" name="t204"/>
          <p:cNvSpPr txBox="1"/>
          <p:nvPr/>
        </p:nvSpPr>
        <p:spPr>
          <a:xfrm>
            <a:off x="10149840" y="2103120"/>
            <a:ext cx="1417320" cy="365760"/>
          </a:xfrm>
          <a:prstGeom prst="rect">
            <a:avLst/>
          </a:prstGeom>
          <a:noFill/>
          <a:ln/>
        </p:spPr>
        <p:txBody>
          <a:bodyPr wrap="square" lIns="0" tIns="0" rIns="0" bIns="0" rtlCol="0" anchor="t"/>
          <a:lstStyle/>
          <a:p>
            <a:pPr indent="0" marL="0">
              <a:buNone/>
            </a:pPr>
            <a:r>
              <a:rPr lang="en-US" sz="1700" b="1" dirty="0">
                <a:solidFill>
                  <a:schemeClr val="tx1"/>
                </a:solidFill>
              </a:rPr>
              <a:t>Schedule</a:t>
            </a:r>
            <a:endParaRPr lang="en-US" sz="1700" dirty="0"/>
          </a:p>
        </p:txBody>
      </p:sp>
      <p:sp>
        <p:nvSpPr>
          <p:cNvPr id="26" name="t205"/>
          <p:cNvSpPr txBox="1"/>
          <p:nvPr/>
        </p:nvSpPr>
        <p:spPr>
          <a:xfrm>
            <a:off x="10149840" y="2514600"/>
            <a:ext cx="1371600" cy="1188720"/>
          </a:xfrm>
          <a:prstGeom prst="rect">
            <a:avLst/>
          </a:prstGeom>
          <a:noFill/>
          <a:ln/>
        </p:spPr>
        <p:txBody>
          <a:bodyPr wrap="square" lIns="0" tIns="0" rIns="0" bIns="0" rtlCol="0" anchor="t"/>
          <a:lstStyle/>
          <a:p>
            <a:pPr indent="0" marL="0">
              <a:buNone/>
            </a:pPr>
            <a:r>
              <a:rPr lang="en-US" sz="1300" dirty="0">
                <a:solidFill>
                  <a:schemeClr val="tx2"/>
                </a:solidFill>
              </a:rPr>
              <a:t>resolve resume: to a state and wake_at</a:t>
            </a:r>
            <a:endParaRPr lang="en-US" sz="1300" dirty="0"/>
          </a:p>
        </p:txBody>
      </p:sp>
      <p:sp>
        <p:nvSpPr>
          <p:cNvPr id="27" name="t206"/>
          <p:cNvSpPr txBox="1"/>
          <p:nvPr/>
        </p:nvSpPr>
        <p:spPr>
          <a:xfrm>
            <a:off x="548640" y="4069080"/>
            <a:ext cx="5486400" cy="365760"/>
          </a:xfrm>
          <a:prstGeom prst="rect">
            <a:avLst/>
          </a:prstGeom>
          <a:noFill/>
          <a:ln/>
        </p:spPr>
        <p:txBody>
          <a:bodyPr wrap="square" lIns="0" tIns="0" rIns="0" bIns="0" rtlCol="0" anchor="t"/>
          <a:lstStyle/>
          <a:p>
            <a:pPr indent="0" marL="0">
              <a:buNone/>
            </a:pPr>
            <a:r>
              <a:rPr lang="en-US" sz="1600" b="1" dirty="0">
                <a:solidFill>
                  <a:schemeClr val="accent2"/>
                </a:solidFill>
              </a:rPr>
              <a:t>The model's memento ends every step:</a:t>
            </a:r>
            <a:endParaRPr lang="en-US" sz="1600" dirty="0"/>
          </a:p>
        </p:txBody>
      </p:sp>
      <p:sp>
        <p:nvSpPr>
          <p:cNvPr id="28" name="card207"/>
          <p:cNvSpPr/>
          <p:nvPr/>
        </p:nvSpPr>
        <p:spPr>
          <a:xfrm>
            <a:off x="548640" y="4480560"/>
            <a:ext cx="5486400" cy="1600200"/>
          </a:xfrm>
          <a:prstGeom prst="roundRect">
            <a:avLst>
              <a:gd name="adj" fmla="val 4571"/>
            </a:avLst>
          </a:prstGeom>
          <a:solidFill>
            <a:schemeClr val="tx1"/>
          </a:solidFill>
          <a:ln w="9525">
            <a:solidFill>
              <a:schemeClr val="tx1"/>
            </a:solidFill>
            <a:prstDash val="solid"/>
          </a:ln>
        </p:spPr>
      </p:sp>
      <p:sp>
        <p:nvSpPr>
          <p:cNvPr id="29" name="t208"/>
          <p:cNvSpPr txBox="1"/>
          <p:nvPr/>
        </p:nvSpPr>
        <p:spPr>
          <a:xfrm>
            <a:off x="822960" y="4681728"/>
            <a:ext cx="5029200" cy="1234440"/>
          </a:xfrm>
          <a:prstGeom prst="rect">
            <a:avLst/>
          </a:prstGeom>
          <a:noFill/>
          <a:ln/>
        </p:spPr>
        <p:txBody>
          <a:bodyPr wrap="square" lIns="0" tIns="0" rIns="0" bIns="0" rtlCol="0" anchor="t"/>
          <a:lstStyle/>
          <a:p>
            <a:pPr indent="0" marL="0">
              <a:buNone/>
            </a:pPr>
            <a:r>
              <a:rPr lang="en-US" sz="1300" dirty="0">
                <a:solidFill>
                  <a:srgbClr val="B8C2C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A33D"/>
                </a:solidFill>
                <a:latin typeface="Courier New" pitchFamily="34" charset="0"/>
                <a:ea typeface="Courier New" pitchFamily="34" charset="-122"/>
                <a:cs typeface="Courier New" pitchFamily="34" charset="-120"/>
              </a:rPr>
              <a:t>resume: in 1 day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reason: waiting for nightly regression</a:t>
            </a:r>
            <a:endParaRPr lang="en-US" sz="1300" dirty="0"/>
          </a:p>
          <a:p>
            <a:pPr indent="0" marL="0">
              <a:buNone/>
            </a:pPr>
            <a:r>
              <a:rPr lang="en-US" sz="1300" dirty="0">
                <a:solidFill>
                  <a:srgbClr val="B8C2C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Check rundir/nightly for failures in …</a:t>
            </a:r>
            <a:endParaRPr lang="en-US" sz="1300" dirty="0"/>
          </a:p>
        </p:txBody>
      </p:sp>
      <p:sp>
        <p:nvSpPr>
          <p:cNvPr id="30" name="t209"/>
          <p:cNvSpPr txBox="1"/>
          <p:nvPr/>
        </p:nvSpPr>
        <p:spPr>
          <a:xfrm>
            <a:off x="6400800" y="4114800"/>
            <a:ext cx="52120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Each step starts fresh: no hidden memory, only files</a:t>
            </a:r>
            <a:endParaRPr lang="en-US" sz="1400" dirty="0"/>
          </a:p>
          <a:p>
            <a:pPr marL="342900" indent="-342900">
              <a:spcAft>
                <a:spcPts val="600"/>
              </a:spcAft>
              <a:buSzPct val="100000"/>
              <a:buChar char="•"/>
            </a:pPr>
            <a:r>
              <a:rPr lang="en-US" sz="1400" dirty="0">
                <a:solidFill>
                  <a:schemeClr val="tx1"/>
                </a:solidFill>
              </a:rPr>
              <a:t>Any model can take any step: Haiku for routine, a bigger model for design</a:t>
            </a:r>
            <a:endParaRPr lang="en-US" sz="1400" dirty="0"/>
          </a:p>
          <a:p>
            <a:pPr marL="342900" indent="-342900">
              <a:spcAft>
                <a:spcPts val="600"/>
              </a:spcAft>
              <a:buSzPct val="100000"/>
              <a:buChar char="•"/>
            </a:pPr>
            <a:r>
              <a:rPr lang="en-US" sz="1400" dirty="0">
                <a:solidFill>
                  <a:schemeClr val="tx1"/>
                </a:solidFill>
              </a:rPr>
              <a:t>A step that fails is retried with a 'Last attempt' section; after 3 the packet is FAILED</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Crash-safe by construction</a:t>
            </a:r>
            <a:endParaRPr lang="en-US" sz="3400" dirty="0"/>
          </a:p>
        </p:txBody>
      </p:sp>
      <p:sp>
        <p:nvSpPr>
          <p:cNvPr id="3" name="card210"/>
          <p:cNvSpPr/>
          <p:nvPr/>
        </p:nvSpPr>
        <p:spPr>
          <a:xfrm>
            <a:off x="548640" y="1417320"/>
            <a:ext cx="1719072" cy="777240"/>
          </a:xfrm>
          <a:prstGeom prst="roundRect">
            <a:avLst>
              <a:gd name="adj" fmla="val 9412"/>
            </a:avLst>
          </a:prstGeom>
          <a:solidFill>
            <a:schemeClr val="tx1"/>
          </a:solidFill>
          <a:ln w="9525">
            <a:solidFill>
              <a:schemeClr val="tx1"/>
            </a:solidFill>
            <a:prstDash val="solid"/>
          </a:ln>
        </p:spPr>
      </p:sp>
      <p:sp>
        <p:nvSpPr>
          <p:cNvPr id="4" name="t211"/>
          <p:cNvSpPr txBox="1"/>
          <p:nvPr/>
        </p:nvSpPr>
        <p:spPr>
          <a:xfrm>
            <a:off x="548640" y="1417320"/>
            <a:ext cx="1719072" cy="777240"/>
          </a:xfrm>
          <a:prstGeom prst="rect">
            <a:avLst/>
          </a:prstGeom>
          <a:noFill/>
          <a:ln/>
        </p:spPr>
        <p:txBody>
          <a:bodyPr wrap="square" lIns="0" tIns="0" rIns="0" bIns="0" rtlCol="0" anchor="ctr"/>
          <a:lstStyle/>
          <a:p>
            <a:pPr algn="ctr" indent="0" marL="0">
              <a:buNone/>
            </a:pPr>
            <a:r>
              <a:rPr lang="en-US" sz="1400" b="1" dirty="0">
                <a:solidFill>
                  <a:srgbClr val="E8A33D"/>
                </a:solidFill>
                <a:latin typeface="Courier New" pitchFamily="34" charset="0"/>
                <a:ea typeface="Courier New" pitchFamily="34" charset="-122"/>
                <a:cs typeface="Courier New" pitchFamily="34" charset="-120"/>
              </a:rPr>
              <a:t>commit-begin</a:t>
            </a:r>
            <a:endParaRPr lang="en-US" sz="1400" dirty="0"/>
          </a:p>
        </p:txBody>
      </p:sp>
      <p:sp>
        <p:nvSpPr>
          <p:cNvPr id="5" name="card212"/>
          <p:cNvSpPr/>
          <p:nvPr/>
        </p:nvSpPr>
        <p:spPr>
          <a:xfrm>
            <a:off x="2423160" y="1417320"/>
            <a:ext cx="1719072" cy="777240"/>
          </a:xfrm>
          <a:prstGeom prst="roundRect">
            <a:avLst>
              <a:gd name="adj" fmla="val 9412"/>
            </a:avLst>
          </a:prstGeom>
          <a:solidFill>
            <a:schemeClr val="bg2"/>
          </a:solidFill>
          <a:ln w="9525">
            <a:solidFill>
              <a:schemeClr val="bg2"/>
            </a:solidFill>
            <a:prstDash val="solid"/>
          </a:ln>
        </p:spPr>
      </p:sp>
      <p:sp>
        <p:nvSpPr>
          <p:cNvPr id="6" name="t213"/>
          <p:cNvSpPr txBox="1"/>
          <p:nvPr/>
        </p:nvSpPr>
        <p:spPr>
          <a:xfrm>
            <a:off x="2423160" y="1417320"/>
            <a:ext cx="1719072" cy="7772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children</a:t>
            </a:r>
            <a:endParaRPr lang="en-US" sz="1400" dirty="0"/>
          </a:p>
        </p:txBody>
      </p:sp>
      <p:sp>
        <p:nvSpPr>
          <p:cNvPr id="7" name="card214"/>
          <p:cNvSpPr/>
          <p:nvPr/>
        </p:nvSpPr>
        <p:spPr>
          <a:xfrm>
            <a:off x="4297680" y="1417320"/>
            <a:ext cx="1719072" cy="777240"/>
          </a:xfrm>
          <a:prstGeom prst="roundRect">
            <a:avLst>
              <a:gd name="adj" fmla="val 9412"/>
            </a:avLst>
          </a:prstGeom>
          <a:solidFill>
            <a:schemeClr val="bg2"/>
          </a:solidFill>
          <a:ln w="9525">
            <a:solidFill>
              <a:schemeClr val="bg2"/>
            </a:solidFill>
            <a:prstDash val="solid"/>
          </a:ln>
        </p:spPr>
      </p:sp>
      <p:sp>
        <p:nvSpPr>
          <p:cNvPr id="8" name="t215"/>
          <p:cNvSpPr txBox="1"/>
          <p:nvPr/>
        </p:nvSpPr>
        <p:spPr>
          <a:xfrm>
            <a:off x="4297680" y="1417320"/>
            <a:ext cx="1719072" cy="7772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state swap</a:t>
            </a:r>
            <a:endParaRPr lang="en-US" sz="1400" dirty="0"/>
          </a:p>
        </p:txBody>
      </p:sp>
      <p:sp>
        <p:nvSpPr>
          <p:cNvPr id="9" name="card216"/>
          <p:cNvSpPr/>
          <p:nvPr/>
        </p:nvSpPr>
        <p:spPr>
          <a:xfrm>
            <a:off x="6172200" y="1417320"/>
            <a:ext cx="1719072" cy="777240"/>
          </a:xfrm>
          <a:prstGeom prst="roundRect">
            <a:avLst>
              <a:gd name="adj" fmla="val 9412"/>
            </a:avLst>
          </a:prstGeom>
          <a:solidFill>
            <a:schemeClr val="bg2"/>
          </a:solidFill>
          <a:ln w="9525">
            <a:solidFill>
              <a:schemeClr val="bg2"/>
            </a:solidFill>
            <a:prstDash val="solid"/>
          </a:ln>
        </p:spPr>
      </p:sp>
      <p:sp>
        <p:nvSpPr>
          <p:cNvPr id="10" name="t217"/>
          <p:cNvSpPr txBox="1"/>
          <p:nvPr/>
        </p:nvSpPr>
        <p:spPr>
          <a:xfrm>
            <a:off x="6172200" y="1417320"/>
            <a:ext cx="1719072" cy="7772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memento</a:t>
            </a:r>
            <a:endParaRPr lang="en-US" sz="1400" dirty="0"/>
          </a:p>
        </p:txBody>
      </p:sp>
      <p:sp>
        <p:nvSpPr>
          <p:cNvPr id="11" name="card218"/>
          <p:cNvSpPr/>
          <p:nvPr/>
        </p:nvSpPr>
        <p:spPr>
          <a:xfrm>
            <a:off x="8046720" y="1417320"/>
            <a:ext cx="1719072" cy="777240"/>
          </a:xfrm>
          <a:prstGeom prst="roundRect">
            <a:avLst>
              <a:gd name="adj" fmla="val 9412"/>
            </a:avLst>
          </a:prstGeom>
          <a:solidFill>
            <a:schemeClr val="bg2"/>
          </a:solidFill>
          <a:ln w="9525">
            <a:solidFill>
              <a:schemeClr val="bg2"/>
            </a:solidFill>
            <a:prstDash val="solid"/>
          </a:ln>
        </p:spPr>
      </p:sp>
      <p:sp>
        <p:nvSpPr>
          <p:cNvPr id="12" name="t219"/>
          <p:cNvSpPr txBox="1"/>
          <p:nvPr/>
        </p:nvSpPr>
        <p:spPr>
          <a:xfrm>
            <a:off x="8046720" y="1417320"/>
            <a:ext cx="1719072" cy="7772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status.md</a:t>
            </a:r>
            <a:endParaRPr lang="en-US" sz="1400" dirty="0"/>
          </a:p>
        </p:txBody>
      </p:sp>
      <p:sp>
        <p:nvSpPr>
          <p:cNvPr id="13" name="card220"/>
          <p:cNvSpPr/>
          <p:nvPr/>
        </p:nvSpPr>
        <p:spPr>
          <a:xfrm>
            <a:off x="9921240" y="1417320"/>
            <a:ext cx="1719072" cy="777240"/>
          </a:xfrm>
          <a:prstGeom prst="roundRect">
            <a:avLst>
              <a:gd name="adj" fmla="val 9412"/>
            </a:avLst>
          </a:prstGeom>
          <a:solidFill>
            <a:schemeClr val="tx1"/>
          </a:solidFill>
          <a:ln w="9525">
            <a:solidFill>
              <a:schemeClr val="tx1"/>
            </a:solidFill>
            <a:prstDash val="solid"/>
          </a:ln>
        </p:spPr>
      </p:sp>
      <p:sp>
        <p:nvSpPr>
          <p:cNvPr id="14" name="t221"/>
          <p:cNvSpPr txBox="1"/>
          <p:nvPr/>
        </p:nvSpPr>
        <p:spPr>
          <a:xfrm>
            <a:off x="9921240" y="1417320"/>
            <a:ext cx="1719072" cy="777240"/>
          </a:xfrm>
          <a:prstGeom prst="rect">
            <a:avLst/>
          </a:prstGeom>
          <a:noFill/>
          <a:ln/>
        </p:spPr>
        <p:txBody>
          <a:bodyPr wrap="square" lIns="0" tIns="0" rIns="0" bIns="0" rtlCol="0" anchor="ctr"/>
          <a:lstStyle/>
          <a:p>
            <a:pPr algn="ctr" indent="0" marL="0">
              <a:buNone/>
            </a:pPr>
            <a:r>
              <a:rPr lang="en-US" sz="1400" b="1" dirty="0">
                <a:solidFill>
                  <a:srgbClr val="E8A33D"/>
                </a:solidFill>
                <a:latin typeface="Courier New" pitchFamily="34" charset="0"/>
                <a:ea typeface="Courier New" pitchFamily="34" charset="-122"/>
                <a:cs typeface="Courier New" pitchFamily="34" charset="-120"/>
              </a:rPr>
              <a:t>commit-end</a:t>
            </a:r>
            <a:endParaRPr lang="en-US" sz="1400" dirty="0"/>
          </a:p>
        </p:txBody>
      </p:sp>
      <p:sp>
        <p:nvSpPr>
          <p:cNvPr id="15" name="t222"/>
          <p:cNvSpPr txBox="1"/>
          <p:nvPr/>
        </p:nvSpPr>
        <p:spPr>
          <a:xfrm>
            <a:off x="548640" y="2377440"/>
            <a:ext cx="11094415" cy="640080"/>
          </a:xfrm>
          <a:prstGeom prst="rect">
            <a:avLst/>
          </a:prstGeom>
          <a:noFill/>
          <a:ln/>
        </p:spPr>
        <p:txBody>
          <a:bodyPr wrap="square" lIns="0" tIns="0" rIns="0" bIns="0" rtlCol="0" anchor="t"/>
          <a:lstStyle/>
          <a:p>
            <a:pPr indent="0" marL="0">
              <a:buNone/>
            </a:pPr>
            <a:r>
              <a:rPr lang="en-US" sz="1500" dirty="0">
                <a:solidFill>
                  <a:schemeClr val="tx2"/>
                </a:solidFill>
              </a:rPr>
              <a:t>The whole decision is journaled and fsynced first. Every sub-step can tell whether it already happened, so wpk recover redoes only what is missing.</a:t>
            </a:r>
            <a:endParaRPr lang="en-US" sz="1500" dirty="0"/>
          </a:p>
        </p:txBody>
      </p:sp>
      <p:sp>
        <p:nvSpPr>
          <p:cNvPr id="16" name="card223"/>
          <p:cNvSpPr/>
          <p:nvPr/>
        </p:nvSpPr>
        <p:spPr>
          <a:xfrm>
            <a:off x="548640" y="3291840"/>
            <a:ext cx="3520440" cy="2468880"/>
          </a:xfrm>
          <a:prstGeom prst="roundRect">
            <a:avLst>
              <a:gd name="adj" fmla="val 2963"/>
            </a:avLst>
          </a:prstGeom>
          <a:solidFill>
            <a:schemeClr val="bg2"/>
          </a:solidFill>
          <a:ln w="9525">
            <a:solidFill>
              <a:schemeClr val="bg2"/>
            </a:solidFill>
            <a:prstDash val="solid"/>
          </a:ln>
        </p:spPr>
      </p:sp>
      <p:sp>
        <p:nvSpPr>
          <p:cNvPr id="17" name="ic224"/>
          <p:cNvSpPr/>
          <p:nvPr/>
        </p:nvSpPr>
        <p:spPr>
          <a:xfrm>
            <a:off x="822960" y="3520440"/>
            <a:ext cx="640080" cy="640080"/>
          </a:xfrm>
          <a:prstGeom prst="ellipse">
            <a:avLst/>
          </a:prstGeom>
          <a:solidFill>
            <a:schemeClr val="accent2"/>
          </a:solidFill>
          <a:ln w="12700">
            <a:solidFill>
              <a:schemeClr val="accent2"/>
            </a:solidFill>
            <a:prstDash val="solid"/>
          </a:ln>
        </p:spPr>
      </p:sp>
      <p:pic>
        <p:nvPicPr>
          <p:cNvPr id="18" name="icimg225" descr="preencoded.png">    </p:cNvPr>
          <p:cNvPicPr>
            <a:picLocks noChangeAspect="1"/>
          </p:cNvPicPr>
          <p:nvPr/>
        </p:nvPicPr>
        <p:blipFill>
          <a:blip r:embed="rId1"/>
          <a:stretch>
            <a:fillRect/>
          </a:stretch>
        </p:blipFill>
        <p:spPr>
          <a:xfrm>
            <a:off x="982980" y="3680460"/>
            <a:ext cx="320040" cy="320040"/>
          </a:xfrm>
          <a:prstGeom prst="rect">
            <a:avLst/>
          </a:prstGeom>
        </p:spPr>
      </p:pic>
      <p:sp>
        <p:nvSpPr>
          <p:cNvPr id="19" name="t226"/>
          <p:cNvSpPr txBox="1"/>
          <p:nvPr/>
        </p:nvSpPr>
        <p:spPr>
          <a:xfrm>
            <a:off x="822960" y="4297680"/>
            <a:ext cx="2971800" cy="365760"/>
          </a:xfrm>
          <a:prstGeom prst="rect">
            <a:avLst/>
          </a:prstGeom>
          <a:noFill/>
          <a:ln/>
        </p:spPr>
        <p:txBody>
          <a:bodyPr wrap="square" lIns="0" tIns="0" rIns="0" bIns="0" rtlCol="0" anchor="t"/>
          <a:lstStyle/>
          <a:p>
            <a:pPr indent="0" marL="0">
              <a:buNone/>
            </a:pPr>
            <a:r>
              <a:rPr lang="en-US" sz="1700" b="1" dirty="0">
                <a:solidFill>
                  <a:schemeClr val="tx1"/>
                </a:solidFill>
              </a:rPr>
              <a:t>Lease</a:t>
            </a:r>
            <a:endParaRPr lang="en-US" sz="1700" dirty="0"/>
          </a:p>
        </p:txBody>
      </p:sp>
      <p:sp>
        <p:nvSpPr>
          <p:cNvPr id="20" name="t227"/>
          <p:cNvSpPr txBox="1"/>
          <p:nvPr/>
        </p:nvSpPr>
        <p:spPr>
          <a:xfrm>
            <a:off x="822960" y="4663440"/>
            <a:ext cx="2971800" cy="1005840"/>
          </a:xfrm>
          <a:prstGeom prst="rect">
            <a:avLst/>
          </a:prstGeom>
          <a:noFill/>
          <a:ln/>
        </p:spPr>
        <p:txBody>
          <a:bodyPr wrap="square" lIns="0" tIns="0" rIns="0" bIns="0" rtlCol="0" anchor="t"/>
          <a:lstStyle/>
          <a:p>
            <a:pPr indent="0" marL="0">
              <a:buNone/>
            </a:pPr>
            <a:r>
              <a:rPr lang="en-US" sz="1350" dirty="0">
                <a:solidFill>
                  <a:schemeClr val="tx2"/>
                </a:solidFill>
              </a:rPr>
              <a:t>.lease created O_CREAT|O_EXCL: one runner per packet, with host, pid and expiry</a:t>
            </a:r>
            <a:endParaRPr lang="en-US" sz="1350" dirty="0"/>
          </a:p>
        </p:txBody>
      </p:sp>
      <p:sp>
        <p:nvSpPr>
          <p:cNvPr id="21" name="card228"/>
          <p:cNvSpPr/>
          <p:nvPr/>
        </p:nvSpPr>
        <p:spPr>
          <a:xfrm>
            <a:off x="4320540" y="3291840"/>
            <a:ext cx="3520440" cy="2468880"/>
          </a:xfrm>
          <a:prstGeom prst="roundRect">
            <a:avLst>
              <a:gd name="adj" fmla="val 2963"/>
            </a:avLst>
          </a:prstGeom>
          <a:solidFill>
            <a:schemeClr val="bg2"/>
          </a:solidFill>
          <a:ln w="9525">
            <a:solidFill>
              <a:schemeClr val="bg2"/>
            </a:solidFill>
            <a:prstDash val="solid"/>
          </a:ln>
        </p:spPr>
      </p:sp>
      <p:sp>
        <p:nvSpPr>
          <p:cNvPr id="22" name="ic229"/>
          <p:cNvSpPr/>
          <p:nvPr/>
        </p:nvSpPr>
        <p:spPr>
          <a:xfrm>
            <a:off x="4594860" y="3520440"/>
            <a:ext cx="640080" cy="640080"/>
          </a:xfrm>
          <a:prstGeom prst="ellipse">
            <a:avLst/>
          </a:prstGeom>
          <a:solidFill>
            <a:schemeClr val="accent2"/>
          </a:solidFill>
          <a:ln w="12700">
            <a:solidFill>
              <a:schemeClr val="accent2"/>
            </a:solidFill>
            <a:prstDash val="solid"/>
          </a:ln>
        </p:spPr>
      </p:sp>
      <p:pic>
        <p:nvPicPr>
          <p:cNvPr id="23" name="icimg230" descr="preencoded.png">    </p:cNvPr>
          <p:cNvPicPr>
            <a:picLocks noChangeAspect="1"/>
          </p:cNvPicPr>
          <p:nvPr/>
        </p:nvPicPr>
        <p:blipFill>
          <a:blip r:embed="rId2"/>
          <a:stretch>
            <a:fillRect/>
          </a:stretch>
        </p:blipFill>
        <p:spPr>
          <a:xfrm>
            <a:off x="4754880" y="3680460"/>
            <a:ext cx="320040" cy="320040"/>
          </a:xfrm>
          <a:prstGeom prst="rect">
            <a:avLst/>
          </a:prstGeom>
        </p:spPr>
      </p:pic>
      <p:sp>
        <p:nvSpPr>
          <p:cNvPr id="24" name="t231"/>
          <p:cNvSpPr txBox="1"/>
          <p:nvPr/>
        </p:nvSpPr>
        <p:spPr>
          <a:xfrm>
            <a:off x="4594860" y="4297680"/>
            <a:ext cx="2971800" cy="365760"/>
          </a:xfrm>
          <a:prstGeom prst="rect">
            <a:avLst/>
          </a:prstGeom>
          <a:noFill/>
          <a:ln/>
        </p:spPr>
        <p:txBody>
          <a:bodyPr wrap="square" lIns="0" tIns="0" rIns="0" bIns="0" rtlCol="0" anchor="t"/>
          <a:lstStyle/>
          <a:p>
            <a:pPr indent="0" marL="0">
              <a:buNone/>
            </a:pPr>
            <a:r>
              <a:rPr lang="en-US" sz="1700" b="1" dirty="0">
                <a:solidFill>
                  <a:schemeClr val="tx1"/>
                </a:solidFill>
              </a:rPr>
              <a:t>Journal</a:t>
            </a:r>
            <a:endParaRPr lang="en-US" sz="1700" dirty="0"/>
          </a:p>
        </p:txBody>
      </p:sp>
      <p:sp>
        <p:nvSpPr>
          <p:cNvPr id="25" name="t232"/>
          <p:cNvSpPr txBox="1"/>
          <p:nvPr/>
        </p:nvSpPr>
        <p:spPr>
          <a:xfrm>
            <a:off x="4594860" y="4663440"/>
            <a:ext cx="2971800" cy="1005840"/>
          </a:xfrm>
          <a:prstGeom prst="rect">
            <a:avLst/>
          </a:prstGeom>
          <a:noFill/>
          <a:ln/>
        </p:spPr>
        <p:txBody>
          <a:bodyPr wrap="square" lIns="0" tIns="0" rIns="0" bIns="0" rtlCol="0" anchor="t"/>
          <a:lstStyle/>
          <a:p>
            <a:pPr indent="0" marL="0">
              <a:buNone/>
            </a:pPr>
            <a:r>
              <a:rPr lang="en-US" sz="1350" dirty="0">
                <a:solidFill>
                  <a:schemeClr val="tx2"/>
                </a:solidFill>
              </a:rPr>
              <a:t>journal.jsonl: step-start, step-failed, nudge, commit, hand-off, note</a:t>
            </a:r>
            <a:endParaRPr lang="en-US" sz="1350" dirty="0"/>
          </a:p>
        </p:txBody>
      </p:sp>
      <p:sp>
        <p:nvSpPr>
          <p:cNvPr id="26" name="card233"/>
          <p:cNvSpPr/>
          <p:nvPr/>
        </p:nvSpPr>
        <p:spPr>
          <a:xfrm>
            <a:off x="8092440" y="3291840"/>
            <a:ext cx="3520440" cy="2468880"/>
          </a:xfrm>
          <a:prstGeom prst="roundRect">
            <a:avLst>
              <a:gd name="adj" fmla="val 2963"/>
            </a:avLst>
          </a:prstGeom>
          <a:solidFill>
            <a:schemeClr val="bg2"/>
          </a:solidFill>
          <a:ln w="9525">
            <a:solidFill>
              <a:schemeClr val="bg2"/>
            </a:solidFill>
            <a:prstDash val="solid"/>
          </a:ln>
        </p:spPr>
      </p:sp>
      <p:sp>
        <p:nvSpPr>
          <p:cNvPr id="27" name="ic234"/>
          <p:cNvSpPr/>
          <p:nvPr/>
        </p:nvSpPr>
        <p:spPr>
          <a:xfrm>
            <a:off x="8366760" y="3520440"/>
            <a:ext cx="640080" cy="640080"/>
          </a:xfrm>
          <a:prstGeom prst="ellipse">
            <a:avLst/>
          </a:prstGeom>
          <a:solidFill>
            <a:schemeClr val="accent2"/>
          </a:solidFill>
          <a:ln w="12700">
            <a:solidFill>
              <a:schemeClr val="accent2"/>
            </a:solidFill>
            <a:prstDash val="solid"/>
          </a:ln>
        </p:spPr>
      </p:sp>
      <p:pic>
        <p:nvPicPr>
          <p:cNvPr id="28" name="icimg235" descr="preencoded.png">    </p:cNvPr>
          <p:cNvPicPr>
            <a:picLocks noChangeAspect="1"/>
          </p:cNvPicPr>
          <p:nvPr/>
        </p:nvPicPr>
        <p:blipFill>
          <a:blip r:embed="rId3"/>
          <a:stretch>
            <a:fillRect/>
          </a:stretch>
        </p:blipFill>
        <p:spPr>
          <a:xfrm>
            <a:off x="8526780" y="3680460"/>
            <a:ext cx="320040" cy="320040"/>
          </a:xfrm>
          <a:prstGeom prst="rect">
            <a:avLst/>
          </a:prstGeom>
        </p:spPr>
      </p:pic>
      <p:sp>
        <p:nvSpPr>
          <p:cNvPr id="29" name="t236"/>
          <p:cNvSpPr txBox="1"/>
          <p:nvPr/>
        </p:nvSpPr>
        <p:spPr>
          <a:xfrm>
            <a:off x="8366760" y="4297680"/>
            <a:ext cx="2971800" cy="365760"/>
          </a:xfrm>
          <a:prstGeom prst="rect">
            <a:avLst/>
          </a:prstGeom>
          <a:noFill/>
          <a:ln/>
        </p:spPr>
        <p:txBody>
          <a:bodyPr wrap="square" lIns="0" tIns="0" rIns="0" bIns="0" rtlCol="0" anchor="t"/>
          <a:lstStyle/>
          <a:p>
            <a:pPr indent="0" marL="0">
              <a:buNone/>
            </a:pPr>
            <a:r>
              <a:rPr lang="en-US" sz="1700" b="1" dirty="0">
                <a:solidFill>
                  <a:schemeClr val="tx1"/>
                </a:solidFill>
              </a:rPr>
              <a:t>Idempotent children</a:t>
            </a:r>
            <a:endParaRPr lang="en-US" sz="1700" dirty="0"/>
          </a:p>
        </p:txBody>
      </p:sp>
      <p:sp>
        <p:nvSpPr>
          <p:cNvPr id="30" name="t237"/>
          <p:cNvSpPr txBox="1"/>
          <p:nvPr/>
        </p:nvSpPr>
        <p:spPr>
          <a:xfrm>
            <a:off x="8366760" y="4663440"/>
            <a:ext cx="2971800" cy="1005840"/>
          </a:xfrm>
          <a:prstGeom prst="rect">
            <a:avLst/>
          </a:prstGeom>
          <a:noFill/>
          <a:ln/>
        </p:spPr>
        <p:txBody>
          <a:bodyPr wrap="square" lIns="0" tIns="0" rIns="0" bIns="0" rtlCol="0" anchor="t"/>
          <a:lstStyle/>
          <a:p>
            <a:pPr indent="0" marL="0">
              <a:buNone/>
            </a:pPr>
            <a:r>
              <a:rPr lang="en-US" sz="1350" dirty="0">
                <a:solidFill>
                  <a:schemeClr val="tx2"/>
                </a:solidFill>
              </a:rPr>
              <a:t>child IDs are uuid5(parent:step:index): a retry can't duplicate them</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Many projects under one runner</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Scheduling, periodic management tasks, hand-offs and a board to watch them</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Four layers, and files are the truth</a:t>
            </a:r>
            <a:endParaRPr lang="en-US" sz="3400" dirty="0"/>
          </a:p>
        </p:txBody>
      </p:sp>
      <p:sp>
        <p:nvSpPr>
          <p:cNvPr id="3" name="card238"/>
          <p:cNvSpPr/>
          <p:nvPr/>
        </p:nvSpPr>
        <p:spPr>
          <a:xfrm>
            <a:off x="548640" y="1325880"/>
            <a:ext cx="6766560" cy="868680"/>
          </a:xfrm>
          <a:prstGeom prst="roundRect">
            <a:avLst>
              <a:gd name="adj" fmla="val 8421"/>
            </a:avLst>
          </a:prstGeom>
          <a:solidFill>
            <a:schemeClr val="accent2"/>
          </a:solidFill>
          <a:ln w="9525">
            <a:solidFill>
              <a:schemeClr val="accent2"/>
            </a:solidFill>
            <a:prstDash val="solid"/>
          </a:ln>
        </p:spPr>
      </p:sp>
      <p:sp>
        <p:nvSpPr>
          <p:cNvPr id="4" name="t239"/>
          <p:cNvSpPr txBox="1"/>
          <p:nvPr/>
        </p:nvSpPr>
        <p:spPr>
          <a:xfrm>
            <a:off x="822960" y="1325880"/>
            <a:ext cx="2011680" cy="868680"/>
          </a:xfrm>
          <a:prstGeom prst="rect">
            <a:avLst/>
          </a:prstGeom>
          <a:noFill/>
          <a:ln/>
        </p:spPr>
        <p:txBody>
          <a:bodyPr wrap="square" lIns="0" tIns="0" rIns="0" bIns="0" rtlCol="0" anchor="ctr"/>
          <a:lstStyle/>
          <a:p>
            <a:pPr indent="0" marL="0">
              <a:buNone/>
            </a:pPr>
            <a:r>
              <a:rPr lang="en-US" sz="1700" b="1" dirty="0">
                <a:solidFill>
                  <a:schemeClr val="bg1"/>
                </a:solidFill>
              </a:rPr>
              <a:t>CLI and board</a:t>
            </a:r>
            <a:endParaRPr lang="en-US" sz="1700" dirty="0"/>
          </a:p>
        </p:txBody>
      </p:sp>
      <p:sp>
        <p:nvSpPr>
          <p:cNvPr id="5" name="t240"/>
          <p:cNvSpPr txBox="1"/>
          <p:nvPr/>
        </p:nvSpPr>
        <p:spPr>
          <a:xfrm>
            <a:off x="2834640" y="1325880"/>
            <a:ext cx="4297680" cy="8686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wpk new · ps · show · handoff · answer · wpk dash</a:t>
            </a:r>
            <a:endParaRPr lang="en-US" sz="1300" dirty="0"/>
          </a:p>
        </p:txBody>
      </p:sp>
      <p:sp>
        <p:nvSpPr>
          <p:cNvPr id="6" name="card241"/>
          <p:cNvSpPr/>
          <p:nvPr/>
        </p:nvSpPr>
        <p:spPr>
          <a:xfrm>
            <a:off x="548640" y="2377440"/>
            <a:ext cx="6766560" cy="868680"/>
          </a:xfrm>
          <a:prstGeom prst="roundRect">
            <a:avLst>
              <a:gd name="adj" fmla="val 8421"/>
            </a:avLst>
          </a:prstGeom>
          <a:solidFill>
            <a:schemeClr val="tx2"/>
          </a:solidFill>
          <a:ln w="9525">
            <a:solidFill>
              <a:schemeClr val="tx2"/>
            </a:solidFill>
            <a:prstDash val="solid"/>
          </a:ln>
        </p:spPr>
      </p:sp>
      <p:sp>
        <p:nvSpPr>
          <p:cNvPr id="7" name="t242"/>
          <p:cNvSpPr txBox="1"/>
          <p:nvPr/>
        </p:nvSpPr>
        <p:spPr>
          <a:xfrm>
            <a:off x="822960" y="2377440"/>
            <a:ext cx="2011680" cy="868680"/>
          </a:xfrm>
          <a:prstGeom prst="rect">
            <a:avLst/>
          </a:prstGeom>
          <a:noFill/>
          <a:ln/>
        </p:spPr>
        <p:txBody>
          <a:bodyPr wrap="square" lIns="0" tIns="0" rIns="0" bIns="0" rtlCol="0" anchor="ctr"/>
          <a:lstStyle/>
          <a:p>
            <a:pPr indent="0" marL="0">
              <a:buNone/>
            </a:pPr>
            <a:r>
              <a:rPr lang="en-US" sz="1700" b="1" dirty="0">
                <a:solidFill>
                  <a:schemeClr val="bg1"/>
                </a:solidFill>
              </a:rPr>
              <a:t>Runner</a:t>
            </a:r>
            <a:endParaRPr lang="en-US" sz="1700" dirty="0"/>
          </a:p>
        </p:txBody>
      </p:sp>
      <p:sp>
        <p:nvSpPr>
          <p:cNvPr id="8" name="t243"/>
          <p:cNvSpPr txBox="1"/>
          <p:nvPr/>
        </p:nvSpPr>
        <p:spPr>
          <a:xfrm>
            <a:off x="2834640" y="2377440"/>
            <a:ext cx="4297680" cy="8686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registry · scheduler · worker pool · reaper · event log</a:t>
            </a:r>
            <a:endParaRPr lang="en-US" sz="1300" dirty="0"/>
          </a:p>
        </p:txBody>
      </p:sp>
      <p:sp>
        <p:nvSpPr>
          <p:cNvPr id="9" name="card244"/>
          <p:cNvSpPr/>
          <p:nvPr/>
        </p:nvSpPr>
        <p:spPr>
          <a:xfrm>
            <a:off x="548640" y="3429000"/>
            <a:ext cx="6766560" cy="868680"/>
          </a:xfrm>
          <a:prstGeom prst="roundRect">
            <a:avLst>
              <a:gd name="adj" fmla="val 8421"/>
            </a:avLst>
          </a:prstGeom>
          <a:solidFill>
            <a:schemeClr val="tx1"/>
          </a:solidFill>
          <a:ln w="9525">
            <a:solidFill>
              <a:schemeClr val="tx1"/>
            </a:solidFill>
            <a:prstDash val="solid"/>
          </a:ln>
        </p:spPr>
      </p:sp>
      <p:sp>
        <p:nvSpPr>
          <p:cNvPr id="10" name="t245"/>
          <p:cNvSpPr txBox="1"/>
          <p:nvPr/>
        </p:nvSpPr>
        <p:spPr>
          <a:xfrm>
            <a:off x="822960" y="3429000"/>
            <a:ext cx="2011680" cy="868680"/>
          </a:xfrm>
          <a:prstGeom prst="rect">
            <a:avLst/>
          </a:prstGeom>
          <a:noFill/>
          <a:ln/>
        </p:spPr>
        <p:txBody>
          <a:bodyPr wrap="square" lIns="0" tIns="0" rIns="0" bIns="0" rtlCol="0" anchor="ctr"/>
          <a:lstStyle/>
          <a:p>
            <a:pPr indent="0" marL="0">
              <a:buNone/>
            </a:pPr>
            <a:r>
              <a:rPr lang="en-US" sz="1700" b="1" dirty="0">
                <a:solidFill>
                  <a:schemeClr val="bg1"/>
                </a:solidFill>
              </a:rPr>
              <a:t>Executor</a:t>
            </a:r>
            <a:endParaRPr lang="en-US" sz="1700" dirty="0"/>
          </a:p>
        </p:txBody>
      </p:sp>
      <p:sp>
        <p:nvSpPr>
          <p:cNvPr id="11" name="t246"/>
          <p:cNvSpPr txBox="1"/>
          <p:nvPr/>
        </p:nvSpPr>
        <p:spPr>
          <a:xfrm>
            <a:off x="2834640" y="3429000"/>
            <a:ext cx="4297680" cy="8686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wpk step &lt;WPID&gt;: one step, committed atomically</a:t>
            </a:r>
            <a:endParaRPr lang="en-US" sz="1300" dirty="0"/>
          </a:p>
        </p:txBody>
      </p:sp>
      <p:sp>
        <p:nvSpPr>
          <p:cNvPr id="12" name="card247"/>
          <p:cNvSpPr/>
          <p:nvPr/>
        </p:nvSpPr>
        <p:spPr>
          <a:xfrm>
            <a:off x="548640" y="4480560"/>
            <a:ext cx="6766560" cy="868680"/>
          </a:xfrm>
          <a:prstGeom prst="roundRect">
            <a:avLst>
              <a:gd name="adj" fmla="val 8421"/>
            </a:avLst>
          </a:prstGeom>
          <a:solidFill>
            <a:schemeClr val="accent3"/>
          </a:solidFill>
          <a:ln w="9525">
            <a:solidFill>
              <a:schemeClr val="accent3"/>
            </a:solidFill>
            <a:prstDash val="solid"/>
          </a:ln>
        </p:spPr>
      </p:sp>
      <p:sp>
        <p:nvSpPr>
          <p:cNvPr id="13" name="t248"/>
          <p:cNvSpPr txBox="1"/>
          <p:nvPr/>
        </p:nvSpPr>
        <p:spPr>
          <a:xfrm>
            <a:off x="822960" y="4480560"/>
            <a:ext cx="2011680" cy="868680"/>
          </a:xfrm>
          <a:prstGeom prst="rect">
            <a:avLst/>
          </a:prstGeom>
          <a:noFill/>
          <a:ln/>
        </p:spPr>
        <p:txBody>
          <a:bodyPr wrap="square" lIns="0" tIns="0" rIns="0" bIns="0" rtlCol="0" anchor="ctr"/>
          <a:lstStyle/>
          <a:p>
            <a:pPr indent="0" marL="0">
              <a:buNone/>
            </a:pPr>
            <a:r>
              <a:rPr lang="en-US" sz="1700" b="1" dirty="0">
                <a:solidFill>
                  <a:schemeClr val="bg1"/>
                </a:solidFill>
              </a:rPr>
              <a:t>Files</a:t>
            </a:r>
            <a:endParaRPr lang="en-US" sz="1700" dirty="0"/>
          </a:p>
        </p:txBody>
      </p:sp>
      <p:sp>
        <p:nvSpPr>
          <p:cNvPr id="14" name="t249"/>
          <p:cNvSpPr txBox="1"/>
          <p:nvPr/>
        </p:nvSpPr>
        <p:spPr>
          <a:xfrm>
            <a:off x="2834640" y="4480560"/>
            <a:ext cx="4297680" cy="8686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~/.work-packet/projects/*.toml  →  &lt;project&gt;/packets/&lt;WPID&gt;/</a:t>
            </a:r>
            <a:endParaRPr lang="en-US" sz="1300" dirty="0"/>
          </a:p>
        </p:txBody>
      </p:sp>
      <p:sp>
        <p:nvSpPr>
          <p:cNvPr id="15" name="t250"/>
          <p:cNvSpPr txBox="1"/>
          <p:nvPr/>
        </p:nvSpPr>
        <p:spPr>
          <a:xfrm>
            <a:off x="7772400" y="1325880"/>
            <a:ext cx="3840480" cy="411480"/>
          </a:xfrm>
          <a:prstGeom prst="rect">
            <a:avLst/>
          </a:prstGeom>
          <a:noFill/>
          <a:ln/>
        </p:spPr>
        <p:txBody>
          <a:bodyPr wrap="square" lIns="0" tIns="0" rIns="0" bIns="0" rtlCol="0" anchor="t"/>
          <a:lstStyle/>
          <a:p>
            <a:pPr indent="0" marL="0">
              <a:buNone/>
            </a:pPr>
            <a:r>
              <a:rPr lang="en-US" sz="1900" b="1" dirty="0">
                <a:solidFill>
                  <a:schemeClr val="accent2"/>
                </a:solidFill>
              </a:rPr>
              <a:t>Design rules</a:t>
            </a:r>
            <a:endParaRPr lang="en-US" sz="1900" dirty="0"/>
          </a:p>
        </p:txBody>
      </p:sp>
      <p:sp>
        <p:nvSpPr>
          <p:cNvPr id="16" name="t251"/>
          <p:cNvSpPr txBox="1"/>
          <p:nvPr/>
        </p:nvSpPr>
        <p:spPr>
          <a:xfrm>
            <a:off x="7772400" y="1828800"/>
            <a:ext cx="3867912" cy="36576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The runner holds no state that can't be rebuilt by scanning directories</a:t>
            </a:r>
            <a:endParaRPr lang="en-US" sz="1450" dirty="0"/>
          </a:p>
          <a:p>
            <a:pPr marL="342900" indent="-342900">
              <a:spcAft>
                <a:spcPts val="600"/>
              </a:spcAft>
              <a:buSzPct val="100000"/>
              <a:buChar char="•"/>
            </a:pPr>
            <a:r>
              <a:rPr lang="en-US" sz="1450" dirty="0">
                <a:solidFill>
                  <a:schemeClr val="tx1"/>
                </a:solidFill>
              </a:rPr>
              <a:t>The executor knows nothing about the runner</a:t>
            </a:r>
            <a:endParaRPr lang="en-US" sz="1450" dirty="0"/>
          </a:p>
          <a:p>
            <a:pPr marL="342900" indent="-342900">
              <a:spcAft>
                <a:spcPts val="600"/>
              </a:spcAft>
              <a:buSzPct val="100000"/>
              <a:buChar char="•"/>
            </a:pPr>
            <a:r>
              <a:rPr lang="en-US" sz="1450" dirty="0">
                <a:solidFill>
                  <a:schemeClr val="tx1"/>
                </a:solidFill>
              </a:rPr>
              <a:t>Today: wpk tick (one scheduler pass), from cron or by hand</a:t>
            </a:r>
            <a:endParaRPr lang="en-US" sz="1450" dirty="0"/>
          </a:p>
          <a:p>
            <a:pPr marL="342900" indent="-342900">
              <a:spcAft>
                <a:spcPts val="600"/>
              </a:spcAft>
              <a:buSzPct val="100000"/>
              <a:buChar char="•"/>
            </a:pPr>
            <a:r>
              <a:rPr lang="en-US" sz="1450" dirty="0">
                <a:solidFill>
                  <a:schemeClr val="tx1"/>
                </a:solidFill>
              </a:rPr>
              <a:t>Next: a per-user runner daemon that starts a hand-off within about a second</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Time is the executor's job; sleeping is free</a:t>
            </a:r>
            <a:endParaRPr lang="en-US" sz="3400" dirty="0"/>
          </a:p>
        </p:txBody>
      </p:sp>
      <p:sp>
        <p:nvSpPr>
          <p:cNvPr id="3" name="card252"/>
          <p:cNvSpPr/>
          <p:nvPr/>
        </p:nvSpPr>
        <p:spPr>
          <a:xfrm>
            <a:off x="548640" y="1325880"/>
            <a:ext cx="2057400" cy="1097280"/>
          </a:xfrm>
          <a:prstGeom prst="roundRect">
            <a:avLst>
              <a:gd name="adj" fmla="val 6667"/>
            </a:avLst>
          </a:prstGeom>
          <a:solidFill>
            <a:schemeClr val="tx1"/>
          </a:solidFill>
          <a:ln w="9525">
            <a:solidFill>
              <a:schemeClr val="tx1"/>
            </a:solidFill>
            <a:prstDash val="solid"/>
          </a:ln>
        </p:spPr>
      </p:sp>
      <p:sp>
        <p:nvSpPr>
          <p:cNvPr id="4" name="t253"/>
          <p:cNvSpPr txBox="1"/>
          <p:nvPr/>
        </p:nvSpPr>
        <p:spPr>
          <a:xfrm>
            <a:off x="713232" y="1444752"/>
            <a:ext cx="1783080" cy="365760"/>
          </a:xfrm>
          <a:prstGeom prst="rect">
            <a:avLst/>
          </a:prstGeom>
          <a:noFill/>
          <a:ln/>
        </p:spPr>
        <p:txBody>
          <a:bodyPr wrap="square" lIns="0" tIns="0" rIns="0" bIns="0" rtlCol="0" anchor="t"/>
          <a:lstStyle/>
          <a:p>
            <a:pPr indent="0" marL="0">
              <a:buNone/>
            </a:pPr>
            <a:r>
              <a:rPr lang="en-US" sz="1500" b="1" dirty="0">
                <a:solidFill>
                  <a:schemeClr val="accent1"/>
                </a:solidFill>
              </a:rPr>
              <a:t>Step</a:t>
            </a:r>
            <a:endParaRPr lang="en-US" sz="1500" dirty="0"/>
          </a:p>
        </p:txBody>
      </p:sp>
      <p:sp>
        <p:nvSpPr>
          <p:cNvPr id="5" name="t254"/>
          <p:cNvSpPr txBox="1"/>
          <p:nvPr/>
        </p:nvSpPr>
        <p:spPr>
          <a:xfrm>
            <a:off x="713232" y="1810512"/>
            <a:ext cx="1783080" cy="548640"/>
          </a:xfrm>
          <a:prstGeom prst="rect">
            <a:avLst/>
          </a:prstGeom>
          <a:noFill/>
          <a:ln/>
        </p:spPr>
        <p:txBody>
          <a:bodyPr wrap="square" lIns="0" tIns="0" rIns="0" bIns="0" rtlCol="0" anchor="t"/>
          <a:lstStyle/>
          <a:p>
            <a:pPr indent="0" marL="0">
              <a:buNone/>
            </a:pPr>
            <a:r>
              <a:rPr lang="en-US" sz="1200" dirty="0">
                <a:solidFill>
                  <a:schemeClr val="bg1"/>
                </a:solidFill>
              </a:rPr>
              <a:t>writes resume: in 10 days</a:t>
            </a:r>
            <a:endParaRPr lang="en-US" sz="1200" dirty="0"/>
          </a:p>
        </p:txBody>
      </p:sp>
      <p:sp>
        <p:nvSpPr>
          <p:cNvPr id="6" name="card255"/>
          <p:cNvSpPr/>
          <p:nvPr/>
        </p:nvSpPr>
        <p:spPr>
          <a:xfrm>
            <a:off x="2679192" y="1325880"/>
            <a:ext cx="2340864" cy="1097280"/>
          </a:xfrm>
          <a:prstGeom prst="roundRect">
            <a:avLst>
              <a:gd name="adj" fmla="val 6667"/>
            </a:avLst>
          </a:prstGeom>
          <a:solidFill>
            <a:schemeClr val="bg2"/>
          </a:solidFill>
          <a:ln w="9525">
            <a:solidFill>
              <a:schemeClr val="bg2"/>
            </a:solidFill>
            <a:prstDash val="solid"/>
          </a:ln>
        </p:spPr>
      </p:sp>
      <p:sp>
        <p:nvSpPr>
          <p:cNvPr id="7" name="t256"/>
          <p:cNvSpPr txBox="1"/>
          <p:nvPr/>
        </p:nvSpPr>
        <p:spPr>
          <a:xfrm>
            <a:off x="2843784" y="1444752"/>
            <a:ext cx="2066544" cy="365760"/>
          </a:xfrm>
          <a:prstGeom prst="rect">
            <a:avLst/>
          </a:prstGeom>
          <a:noFill/>
          <a:ln/>
        </p:spPr>
        <p:txBody>
          <a:bodyPr wrap="square" lIns="0" tIns="0" rIns="0" bIns="0" rtlCol="0" anchor="t"/>
          <a:lstStyle/>
          <a:p>
            <a:pPr indent="0" marL="0">
              <a:buNone/>
            </a:pPr>
            <a:r>
              <a:rPr lang="en-US" sz="1500" b="1" dirty="0">
                <a:solidFill>
                  <a:schemeClr val="tx1"/>
                </a:solidFill>
              </a:rPr>
              <a:t>Asleep: 0 tokens</a:t>
            </a:r>
            <a:endParaRPr lang="en-US" sz="1500" dirty="0"/>
          </a:p>
        </p:txBody>
      </p:sp>
      <p:sp>
        <p:nvSpPr>
          <p:cNvPr id="8" name="t257"/>
          <p:cNvSpPr txBox="1"/>
          <p:nvPr/>
        </p:nvSpPr>
        <p:spPr>
          <a:xfrm>
            <a:off x="2843784" y="1810512"/>
            <a:ext cx="2066544" cy="548640"/>
          </a:xfrm>
          <a:prstGeom prst="rect">
            <a:avLst/>
          </a:prstGeom>
          <a:noFill/>
          <a:ln/>
        </p:spPr>
        <p:txBody>
          <a:bodyPr wrap="square" lIns="0" tIns="0" rIns="0" bIns="0" rtlCol="0" anchor="t"/>
          <a:lstStyle/>
          <a:p>
            <a:pPr indent="0" marL="0">
              <a:buNone/>
            </a:pPr>
            <a:r>
              <a:rPr lang="en-US" sz="1200" dirty="0">
                <a:solidFill>
                  <a:schemeClr val="tx2"/>
                </a:solidFill>
              </a:rPr>
              <a:t>just a directory on disk</a:t>
            </a:r>
            <a:endParaRPr lang="en-US" sz="1200" dirty="0"/>
          </a:p>
        </p:txBody>
      </p:sp>
      <p:sp>
        <p:nvSpPr>
          <p:cNvPr id="9" name="card258"/>
          <p:cNvSpPr/>
          <p:nvPr/>
        </p:nvSpPr>
        <p:spPr>
          <a:xfrm>
            <a:off x="5093208" y="1325880"/>
            <a:ext cx="2057400" cy="1097280"/>
          </a:xfrm>
          <a:prstGeom prst="roundRect">
            <a:avLst>
              <a:gd name="adj" fmla="val 6667"/>
            </a:avLst>
          </a:prstGeom>
          <a:solidFill>
            <a:schemeClr val="tx1"/>
          </a:solidFill>
          <a:ln w="9525">
            <a:solidFill>
              <a:schemeClr val="tx1"/>
            </a:solidFill>
            <a:prstDash val="solid"/>
          </a:ln>
        </p:spPr>
      </p:sp>
      <p:sp>
        <p:nvSpPr>
          <p:cNvPr id="10" name="t259"/>
          <p:cNvSpPr txBox="1"/>
          <p:nvPr/>
        </p:nvSpPr>
        <p:spPr>
          <a:xfrm>
            <a:off x="5257800" y="1444752"/>
            <a:ext cx="1783080" cy="365760"/>
          </a:xfrm>
          <a:prstGeom prst="rect">
            <a:avLst/>
          </a:prstGeom>
          <a:noFill/>
          <a:ln/>
        </p:spPr>
        <p:txBody>
          <a:bodyPr wrap="square" lIns="0" tIns="0" rIns="0" bIns="0" rtlCol="0" anchor="t"/>
          <a:lstStyle/>
          <a:p>
            <a:pPr indent="0" marL="0">
              <a:buNone/>
            </a:pPr>
            <a:r>
              <a:rPr lang="en-US" sz="1500" b="1" dirty="0">
                <a:solidFill>
                  <a:schemeClr val="accent1"/>
                </a:solidFill>
              </a:rPr>
              <a:t>Wake + step</a:t>
            </a:r>
            <a:endParaRPr lang="en-US" sz="1500" dirty="0"/>
          </a:p>
        </p:txBody>
      </p:sp>
      <p:sp>
        <p:nvSpPr>
          <p:cNvPr id="11" name="t260"/>
          <p:cNvSpPr txBox="1"/>
          <p:nvPr/>
        </p:nvSpPr>
        <p:spPr>
          <a:xfrm>
            <a:off x="5257800" y="1810512"/>
            <a:ext cx="1783080" cy="548640"/>
          </a:xfrm>
          <a:prstGeom prst="rect">
            <a:avLst/>
          </a:prstGeom>
          <a:noFill/>
          <a:ln/>
        </p:spPr>
        <p:txBody>
          <a:bodyPr wrap="square" lIns="0" tIns="0" rIns="0" bIns="0" rtlCol="0" anchor="t"/>
          <a:lstStyle/>
          <a:p>
            <a:pPr indent="0" marL="0">
              <a:buNone/>
            </a:pPr>
            <a:r>
              <a:rPr lang="en-US" sz="1200" dirty="0">
                <a:solidFill>
                  <a:schemeClr val="bg1"/>
                </a:solidFill>
              </a:rPr>
              <a:t>writes resume: in 3 days</a:t>
            </a:r>
            <a:endParaRPr lang="en-US" sz="1200" dirty="0"/>
          </a:p>
        </p:txBody>
      </p:sp>
      <p:sp>
        <p:nvSpPr>
          <p:cNvPr id="12" name="card261"/>
          <p:cNvSpPr/>
          <p:nvPr/>
        </p:nvSpPr>
        <p:spPr>
          <a:xfrm>
            <a:off x="7223760" y="1325880"/>
            <a:ext cx="2340864" cy="1097280"/>
          </a:xfrm>
          <a:prstGeom prst="roundRect">
            <a:avLst>
              <a:gd name="adj" fmla="val 6667"/>
            </a:avLst>
          </a:prstGeom>
          <a:solidFill>
            <a:schemeClr val="bg2"/>
          </a:solidFill>
          <a:ln w="9525">
            <a:solidFill>
              <a:schemeClr val="bg2"/>
            </a:solidFill>
            <a:prstDash val="solid"/>
          </a:ln>
        </p:spPr>
      </p:sp>
      <p:sp>
        <p:nvSpPr>
          <p:cNvPr id="13" name="t262"/>
          <p:cNvSpPr txBox="1"/>
          <p:nvPr/>
        </p:nvSpPr>
        <p:spPr>
          <a:xfrm>
            <a:off x="7388352" y="1444752"/>
            <a:ext cx="2066544" cy="365760"/>
          </a:xfrm>
          <a:prstGeom prst="rect">
            <a:avLst/>
          </a:prstGeom>
          <a:noFill/>
          <a:ln/>
        </p:spPr>
        <p:txBody>
          <a:bodyPr wrap="square" lIns="0" tIns="0" rIns="0" bIns="0" rtlCol="0" anchor="t"/>
          <a:lstStyle/>
          <a:p>
            <a:pPr indent="0" marL="0">
              <a:buNone/>
            </a:pPr>
            <a:r>
              <a:rPr lang="en-US" sz="1500" b="1" dirty="0">
                <a:solidFill>
                  <a:schemeClr val="tx1"/>
                </a:solidFill>
              </a:rPr>
              <a:t>Asleep: 0 tokens</a:t>
            </a:r>
            <a:endParaRPr lang="en-US" sz="1500" dirty="0"/>
          </a:p>
        </p:txBody>
      </p:sp>
      <p:sp>
        <p:nvSpPr>
          <p:cNvPr id="14" name="t263"/>
          <p:cNvSpPr txBox="1"/>
          <p:nvPr/>
        </p:nvSpPr>
        <p:spPr>
          <a:xfrm>
            <a:off x="7388352" y="1810512"/>
            <a:ext cx="2066544" cy="548640"/>
          </a:xfrm>
          <a:prstGeom prst="rect">
            <a:avLst/>
          </a:prstGeom>
          <a:noFill/>
          <a:ln/>
        </p:spPr>
        <p:txBody>
          <a:bodyPr wrap="square" lIns="0" tIns="0" rIns="0" bIns="0" rtlCol="0" anchor="t"/>
          <a:lstStyle/>
          <a:p>
            <a:pPr indent="0" marL="0">
              <a:buNone/>
            </a:pPr>
            <a:r>
              <a:rPr lang="en-US" sz="1200" dirty="0">
                <a:solidFill>
                  <a:schemeClr val="tx2"/>
                </a:solidFill>
              </a:rPr>
              <a:t>wake_at is visible and editable</a:t>
            </a:r>
            <a:endParaRPr lang="en-US" sz="1200" dirty="0"/>
          </a:p>
        </p:txBody>
      </p:sp>
      <p:sp>
        <p:nvSpPr>
          <p:cNvPr id="15" name="card264"/>
          <p:cNvSpPr/>
          <p:nvPr/>
        </p:nvSpPr>
        <p:spPr>
          <a:xfrm>
            <a:off x="9637776" y="1325880"/>
            <a:ext cx="2057400" cy="1097280"/>
          </a:xfrm>
          <a:prstGeom prst="roundRect">
            <a:avLst>
              <a:gd name="adj" fmla="val 6667"/>
            </a:avLst>
          </a:prstGeom>
          <a:solidFill>
            <a:schemeClr val="tx1"/>
          </a:solidFill>
          <a:ln w="9525">
            <a:solidFill>
              <a:schemeClr val="tx1"/>
            </a:solidFill>
            <a:prstDash val="solid"/>
          </a:ln>
        </p:spPr>
      </p:sp>
      <p:sp>
        <p:nvSpPr>
          <p:cNvPr id="16" name="t265"/>
          <p:cNvSpPr txBox="1"/>
          <p:nvPr/>
        </p:nvSpPr>
        <p:spPr>
          <a:xfrm>
            <a:off x="9802368" y="1444752"/>
            <a:ext cx="1783080" cy="365760"/>
          </a:xfrm>
          <a:prstGeom prst="rect">
            <a:avLst/>
          </a:prstGeom>
          <a:noFill/>
          <a:ln/>
        </p:spPr>
        <p:txBody>
          <a:bodyPr wrap="square" lIns="0" tIns="0" rIns="0" bIns="0" rtlCol="0" anchor="t"/>
          <a:lstStyle/>
          <a:p>
            <a:pPr indent="0" marL="0">
              <a:buNone/>
            </a:pPr>
            <a:r>
              <a:rPr lang="en-US" sz="1500" b="1" dirty="0">
                <a:solidFill>
                  <a:schemeClr val="accent1"/>
                </a:solidFill>
              </a:rPr>
              <a:t>Wake + step</a:t>
            </a:r>
            <a:endParaRPr lang="en-US" sz="1500" dirty="0"/>
          </a:p>
        </p:txBody>
      </p:sp>
      <p:sp>
        <p:nvSpPr>
          <p:cNvPr id="17" name="t266"/>
          <p:cNvSpPr txBox="1"/>
          <p:nvPr/>
        </p:nvSpPr>
        <p:spPr>
          <a:xfrm>
            <a:off x="9802368" y="1810512"/>
            <a:ext cx="1783080" cy="548640"/>
          </a:xfrm>
          <a:prstGeom prst="rect">
            <a:avLst/>
          </a:prstGeom>
          <a:noFill/>
          <a:ln/>
        </p:spPr>
        <p:txBody>
          <a:bodyPr wrap="square" lIns="0" tIns="0" rIns="0" bIns="0" rtlCol="0" anchor="t"/>
          <a:lstStyle/>
          <a:p>
            <a:pPr indent="0" marL="0">
              <a:buNone/>
            </a:pPr>
            <a:r>
              <a:rPr lang="en-US" sz="1200" dirty="0">
                <a:solidFill>
                  <a:schemeClr val="bg1"/>
                </a:solidFill>
              </a:rPr>
              <a:t>on time, or early on a note</a:t>
            </a:r>
            <a:endParaRPr lang="en-US" sz="1200" dirty="0"/>
          </a:p>
        </p:txBody>
      </p:sp>
      <p:sp>
        <p:nvSpPr>
          <p:cNvPr id="18" name="ic267"/>
          <p:cNvSpPr/>
          <p:nvPr/>
        </p:nvSpPr>
        <p:spPr>
          <a:xfrm>
            <a:off x="548640" y="2834640"/>
            <a:ext cx="594360" cy="594360"/>
          </a:xfrm>
          <a:prstGeom prst="ellipse">
            <a:avLst/>
          </a:prstGeom>
          <a:solidFill>
            <a:schemeClr val="accent2"/>
          </a:solidFill>
          <a:ln w="12700">
            <a:solidFill>
              <a:schemeClr val="accent2"/>
            </a:solidFill>
            <a:prstDash val="solid"/>
          </a:ln>
        </p:spPr>
      </p:sp>
      <p:pic>
        <p:nvPicPr>
          <p:cNvPr id="19" name="icimg268" descr="preencoded.png">    </p:cNvPr>
          <p:cNvPicPr>
            <a:picLocks noChangeAspect="1"/>
          </p:cNvPicPr>
          <p:nvPr/>
        </p:nvPicPr>
        <p:blipFill>
          <a:blip r:embed="rId1"/>
          <a:stretch>
            <a:fillRect/>
          </a:stretch>
        </p:blipFill>
        <p:spPr>
          <a:xfrm>
            <a:off x="697230" y="2983230"/>
            <a:ext cx="297180" cy="297180"/>
          </a:xfrm>
          <a:prstGeom prst="rect">
            <a:avLst/>
          </a:prstGeom>
        </p:spPr>
      </p:pic>
      <p:sp>
        <p:nvSpPr>
          <p:cNvPr id="20" name="t269"/>
          <p:cNvSpPr txBox="1"/>
          <p:nvPr/>
        </p:nvSpPr>
        <p:spPr>
          <a:xfrm>
            <a:off x="1417320" y="2743200"/>
            <a:ext cx="10058400" cy="365760"/>
          </a:xfrm>
          <a:prstGeom prst="rect">
            <a:avLst/>
          </a:prstGeom>
          <a:noFill/>
          <a:ln/>
        </p:spPr>
        <p:txBody>
          <a:bodyPr wrap="square" lIns="0" tIns="0" rIns="0" bIns="0" rtlCol="0" anchor="t"/>
          <a:lstStyle/>
          <a:p>
            <a:pPr indent="0" marL="0">
              <a:buNone/>
            </a:pPr>
            <a:r>
              <a:rPr lang="en-US" sz="1700" b="1" dirty="0">
                <a:solidFill>
                  <a:schemeClr val="tx1"/>
                </a:solidFill>
              </a:rPr>
              <a:t>The model never does date arithmetic</a:t>
            </a:r>
            <a:endParaRPr lang="en-US" sz="1700" dirty="0"/>
          </a:p>
        </p:txBody>
      </p:sp>
      <p:sp>
        <p:nvSpPr>
          <p:cNvPr id="21" name="t270"/>
          <p:cNvSpPr txBox="1"/>
          <p:nvPr/>
        </p:nvSpPr>
        <p:spPr>
          <a:xfrm>
            <a:off x="1417320" y="3127248"/>
            <a:ext cx="10058400" cy="548640"/>
          </a:xfrm>
          <a:prstGeom prst="rect">
            <a:avLst/>
          </a:prstGeom>
          <a:noFill/>
          <a:ln/>
        </p:spPr>
        <p:txBody>
          <a:bodyPr wrap="square" lIns="0" tIns="0" rIns="0" bIns="0" rtlCol="0" anchor="t"/>
          <a:lstStyle/>
          <a:p>
            <a:pPr indent="0" marL="0">
              <a:buNone/>
            </a:pPr>
            <a:r>
              <a:rPr lang="en-US" sz="1400" dirty="0">
                <a:solidFill>
                  <a:schemeClr val="tx2"/>
                </a:solidFill>
              </a:rPr>
              <a:t>It writes an expression; the executor resolves it to a UTC wake_at in the project's time zone and stores both.</a:t>
            </a:r>
            <a:endParaRPr lang="en-US" sz="1400" dirty="0"/>
          </a:p>
        </p:txBody>
      </p:sp>
      <p:sp>
        <p:nvSpPr>
          <p:cNvPr id="22" name="ic271"/>
          <p:cNvSpPr/>
          <p:nvPr/>
        </p:nvSpPr>
        <p:spPr>
          <a:xfrm>
            <a:off x="548640" y="3931920"/>
            <a:ext cx="594360" cy="594360"/>
          </a:xfrm>
          <a:prstGeom prst="ellipse">
            <a:avLst/>
          </a:prstGeom>
          <a:solidFill>
            <a:schemeClr val="accent2"/>
          </a:solidFill>
          <a:ln w="12700">
            <a:solidFill>
              <a:schemeClr val="accent2"/>
            </a:solidFill>
            <a:prstDash val="solid"/>
          </a:ln>
        </p:spPr>
      </p:sp>
      <p:pic>
        <p:nvPicPr>
          <p:cNvPr id="23" name="icimg272" descr="preencoded.png">    </p:cNvPr>
          <p:cNvPicPr>
            <a:picLocks noChangeAspect="1"/>
          </p:cNvPicPr>
          <p:nvPr/>
        </p:nvPicPr>
        <p:blipFill>
          <a:blip r:embed="rId2"/>
          <a:stretch>
            <a:fillRect/>
          </a:stretch>
        </p:blipFill>
        <p:spPr>
          <a:xfrm>
            <a:off x="697230" y="4080510"/>
            <a:ext cx="297180" cy="297180"/>
          </a:xfrm>
          <a:prstGeom prst="rect">
            <a:avLst/>
          </a:prstGeom>
        </p:spPr>
      </p:pic>
      <p:sp>
        <p:nvSpPr>
          <p:cNvPr id="24" name="t273"/>
          <p:cNvSpPr txBox="1"/>
          <p:nvPr/>
        </p:nvSpPr>
        <p:spPr>
          <a:xfrm>
            <a:off x="1417320" y="3840480"/>
            <a:ext cx="10058400" cy="365760"/>
          </a:xfrm>
          <a:prstGeom prst="rect">
            <a:avLst/>
          </a:prstGeom>
          <a:noFill/>
          <a:ln/>
        </p:spPr>
        <p:txBody>
          <a:bodyPr wrap="square" lIns="0" tIns="0" rIns="0" bIns="0" rtlCol="0" anchor="t"/>
          <a:lstStyle/>
          <a:p>
            <a:pPr indent="0" marL="0">
              <a:buNone/>
            </a:pPr>
            <a:r>
              <a:rPr lang="en-US" sz="1700" b="1" dirty="0">
                <a:solidFill>
                  <a:schemeClr val="tx1"/>
                </a:solidFill>
              </a:rPr>
              <a:t>Recurrence belongs to the executor</a:t>
            </a:r>
            <a:endParaRPr lang="en-US" sz="1700" dirty="0"/>
          </a:p>
        </p:txBody>
      </p:sp>
      <p:sp>
        <p:nvSpPr>
          <p:cNvPr id="25" name="t274"/>
          <p:cNvSpPr txBox="1"/>
          <p:nvPr/>
        </p:nvSpPr>
        <p:spPr>
          <a:xfrm>
            <a:off x="1417320" y="4224528"/>
            <a:ext cx="10058400" cy="548640"/>
          </a:xfrm>
          <a:prstGeom prst="rect">
            <a:avLst/>
          </a:prstGeom>
          <a:noFill/>
          <a:ln/>
        </p:spPr>
        <p:txBody>
          <a:bodyPr wrap="square" lIns="0" tIns="0" rIns="0" bIns="0" rtlCol="0" anchor="t"/>
          <a:lstStyle/>
          <a:p>
            <a:pPr indent="0" marL="0">
              <a:buNone/>
            </a:pPr>
            <a:r>
              <a:rPr lang="en-US" sz="1400" dirty="0">
                <a:solidFill>
                  <a:schemeClr val="tx2"/>
                </a:solidFill>
              </a:rPr>
              <a:t>With every: (designed, Stage 2), the timer is re-armed even after a failed step, so a periodic task can't silently stop.</a:t>
            </a:r>
            <a:endParaRPr lang="en-US" sz="1400" dirty="0"/>
          </a:p>
        </p:txBody>
      </p:sp>
      <p:sp>
        <p:nvSpPr>
          <p:cNvPr id="26" name="ic275"/>
          <p:cNvSpPr/>
          <p:nvPr/>
        </p:nvSpPr>
        <p:spPr>
          <a:xfrm>
            <a:off x="548640" y="5029200"/>
            <a:ext cx="594360" cy="594360"/>
          </a:xfrm>
          <a:prstGeom prst="ellipse">
            <a:avLst/>
          </a:prstGeom>
          <a:solidFill>
            <a:schemeClr val="accent2"/>
          </a:solidFill>
          <a:ln w="12700">
            <a:solidFill>
              <a:schemeClr val="accent2"/>
            </a:solidFill>
            <a:prstDash val="solid"/>
          </a:ln>
        </p:spPr>
      </p:sp>
      <p:pic>
        <p:nvPicPr>
          <p:cNvPr id="27" name="icimg276" descr="preencoded.png">    </p:cNvPr>
          <p:cNvPicPr>
            <a:picLocks noChangeAspect="1"/>
          </p:cNvPicPr>
          <p:nvPr/>
        </p:nvPicPr>
        <p:blipFill>
          <a:blip r:embed="rId3"/>
          <a:stretch>
            <a:fillRect/>
          </a:stretch>
        </p:blipFill>
        <p:spPr>
          <a:xfrm>
            <a:off x="697230" y="5177790"/>
            <a:ext cx="297180" cy="297180"/>
          </a:xfrm>
          <a:prstGeom prst="rect">
            <a:avLst/>
          </a:prstGeom>
        </p:spPr>
      </p:pic>
      <p:sp>
        <p:nvSpPr>
          <p:cNvPr id="28" name="t277"/>
          <p:cNvSpPr txBox="1"/>
          <p:nvPr/>
        </p:nvSpPr>
        <p:spPr>
          <a:xfrm>
            <a:off x="1417320" y="4937760"/>
            <a:ext cx="10058400" cy="365760"/>
          </a:xfrm>
          <a:prstGeom prst="rect">
            <a:avLst/>
          </a:prstGeom>
          <a:noFill/>
          <a:ln/>
        </p:spPr>
        <p:txBody>
          <a:bodyPr wrap="square" lIns="0" tIns="0" rIns="0" bIns="0" rtlCol="0" anchor="t"/>
          <a:lstStyle/>
          <a:p>
            <a:pPr indent="0" marL="0">
              <a:buNone/>
            </a:pPr>
            <a:r>
              <a:rPr lang="en-US" sz="1700" b="1" dirty="0">
                <a:solidFill>
                  <a:schemeClr val="tx1"/>
                </a:solidFill>
              </a:rPr>
              <a:t>Missed wakes catch up once</a:t>
            </a:r>
            <a:endParaRPr lang="en-US" sz="1700" dirty="0"/>
          </a:p>
        </p:txBody>
      </p:sp>
      <p:sp>
        <p:nvSpPr>
          <p:cNvPr id="29" name="t278"/>
          <p:cNvSpPr txBox="1"/>
          <p:nvPr/>
        </p:nvSpPr>
        <p:spPr>
          <a:xfrm>
            <a:off x="1417320" y="5321808"/>
            <a:ext cx="10058400" cy="548640"/>
          </a:xfrm>
          <a:prstGeom prst="rect">
            <a:avLst/>
          </a:prstGeom>
          <a:noFill/>
          <a:ln/>
        </p:spPr>
        <p:txBody>
          <a:bodyPr wrap="square" lIns="0" tIns="0" rIns="0" bIns="0" rtlCol="0" anchor="t"/>
          <a:lstStyle/>
          <a:p>
            <a:pPr indent="0" marL="0">
              <a:buNone/>
            </a:pPr>
            <a:r>
              <a:rPr lang="en-US" sz="1400" dirty="0">
                <a:solidFill>
                  <a:schemeClr val="tx2"/>
                </a:solidFill>
              </a:rPr>
              <a:t>Like systemd Persistent=true or anacron: a laptop that slept runs the job once, not ten times.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Management-like work is a first-class packet</a:t>
            </a:r>
            <a:endParaRPr lang="en-US" sz="3400" dirty="0"/>
          </a:p>
        </p:txBody>
      </p:sp>
      <p:sp>
        <p:nvSpPr>
          <p:cNvPr id="3" name="card279"/>
          <p:cNvSpPr/>
          <p:nvPr/>
        </p:nvSpPr>
        <p:spPr>
          <a:xfrm>
            <a:off x="548640" y="1325880"/>
            <a:ext cx="5852160" cy="1280160"/>
          </a:xfrm>
          <a:prstGeom prst="roundRect">
            <a:avLst>
              <a:gd name="adj" fmla="val 5714"/>
            </a:avLst>
          </a:prstGeom>
          <a:solidFill>
            <a:schemeClr val="tx1"/>
          </a:solidFill>
          <a:ln w="9525">
            <a:solidFill>
              <a:schemeClr val="tx1"/>
            </a:solidFill>
            <a:prstDash val="solid"/>
          </a:ln>
        </p:spPr>
      </p:sp>
      <p:sp>
        <p:nvSpPr>
          <p:cNvPr id="4" name="t280"/>
          <p:cNvSpPr txBox="1"/>
          <p:nvPr/>
        </p:nvSpPr>
        <p:spPr>
          <a:xfrm>
            <a:off x="822960" y="1527048"/>
            <a:ext cx="5394960" cy="91440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 wpk new nightly-triage --template nightly-triage \</a:t>
            </a:r>
            <a:endParaRPr lang="en-US" sz="1300" dirty="0"/>
          </a:p>
          <a:p>
            <a:pPr indent="0" marL="0">
              <a:buNone/>
            </a:pPr>
            <a:r>
              <a:rPr lang="en-US" sz="1300" dirty="0">
                <a:solidFill>
                  <a:srgbClr val="E8A33D"/>
                </a:solidFill>
                <a:latin typeface="Courier New" pitchFamily="34" charset="0"/>
                <a:ea typeface="Courier New" pitchFamily="34" charset="-122"/>
                <a:cs typeface="Courier New" pitchFamily="34" charset="-120"/>
              </a:rPr>
              <a:t>    --every "daily 06:00"</a:t>
            </a:r>
            <a:endParaRPr lang="en-US" sz="1300" dirty="0"/>
          </a:p>
          <a:p>
            <a:pPr indent="0" marL="0">
              <a:buNone/>
            </a:pPr>
            <a:r>
              <a:rPr lang="en-US" sz="1300" dirty="0">
                <a:solidFill>
                  <a:srgbClr val="B8C2CC"/>
                </a:solidFill>
                <a:latin typeface="Courier New" pitchFamily="34" charset="0"/>
                <a:ea typeface="Courier New" pitchFamily="34" charset="-122"/>
                <a:cs typeface="Courier New" pitchFamily="34" charset="-120"/>
              </a:rPr>
              <a:t># designed: templates, --every</a:t>
            </a:r>
            <a:endParaRPr lang="en-US" sz="1300" dirty="0"/>
          </a:p>
        </p:txBody>
      </p:sp>
      <p:sp>
        <p:nvSpPr>
          <p:cNvPr id="5" name="card281"/>
          <p:cNvSpPr/>
          <p:nvPr/>
        </p:nvSpPr>
        <p:spPr>
          <a:xfrm>
            <a:off x="548640" y="2743200"/>
            <a:ext cx="5852160" cy="658368"/>
          </a:xfrm>
          <a:prstGeom prst="roundRect">
            <a:avLst>
              <a:gd name="adj" fmla="val 11111"/>
            </a:avLst>
          </a:prstGeom>
          <a:solidFill>
            <a:schemeClr val="bg2"/>
          </a:solidFill>
          <a:ln w="9525">
            <a:solidFill>
              <a:schemeClr val="bg2"/>
            </a:solidFill>
            <a:prstDash val="solid"/>
          </a:ln>
        </p:spPr>
      </p:sp>
      <p:sp>
        <p:nvSpPr>
          <p:cNvPr id="6" name="t282"/>
          <p:cNvSpPr txBox="1"/>
          <p:nvPr/>
        </p:nvSpPr>
        <p:spPr>
          <a:xfrm>
            <a:off x="777240" y="2743200"/>
            <a:ext cx="2011680" cy="658368"/>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blank</a:t>
            </a:r>
            <a:endParaRPr lang="en-US" sz="1400" dirty="0"/>
          </a:p>
        </p:txBody>
      </p:sp>
      <p:sp>
        <p:nvSpPr>
          <p:cNvPr id="7" name="t283"/>
          <p:cNvSpPr txBox="1"/>
          <p:nvPr/>
        </p:nvSpPr>
        <p:spPr>
          <a:xfrm>
            <a:off x="2834640" y="2743200"/>
            <a:ext cx="3474720" cy="658368"/>
          </a:xfrm>
          <a:prstGeom prst="rect">
            <a:avLst/>
          </a:prstGeom>
          <a:noFill/>
          <a:ln/>
        </p:spPr>
        <p:txBody>
          <a:bodyPr wrap="square" lIns="0" tIns="0" rIns="0" bIns="0" rtlCol="0" anchor="ctr"/>
          <a:lstStyle/>
          <a:p>
            <a:pPr indent="0" marL="0">
              <a:buNone/>
            </a:pPr>
            <a:r>
              <a:rPr lang="en-US" sz="1350" dirty="0">
                <a:solidFill>
                  <a:schemeClr val="tx2"/>
                </a:solidFill>
              </a:rPr>
              <a:t>the prompt is the first instruction (built)</a:t>
            </a:r>
            <a:endParaRPr lang="en-US" sz="1350" dirty="0"/>
          </a:p>
        </p:txBody>
      </p:sp>
      <p:sp>
        <p:nvSpPr>
          <p:cNvPr id="8" name="card284"/>
          <p:cNvSpPr/>
          <p:nvPr/>
        </p:nvSpPr>
        <p:spPr>
          <a:xfrm>
            <a:off x="548640" y="3520440"/>
            <a:ext cx="5852160" cy="658368"/>
          </a:xfrm>
          <a:prstGeom prst="roundRect">
            <a:avLst>
              <a:gd name="adj" fmla="val 11111"/>
            </a:avLst>
          </a:prstGeom>
          <a:solidFill>
            <a:schemeClr val="bg2"/>
          </a:solidFill>
          <a:ln w="9525">
            <a:solidFill>
              <a:schemeClr val="bg2"/>
            </a:solidFill>
            <a:prstDash val="solid"/>
          </a:ln>
        </p:spPr>
      </p:sp>
      <p:sp>
        <p:nvSpPr>
          <p:cNvPr id="9" name="t285"/>
          <p:cNvSpPr txBox="1"/>
          <p:nvPr/>
        </p:nvSpPr>
        <p:spPr>
          <a:xfrm>
            <a:off x="777240" y="3520440"/>
            <a:ext cx="2011680" cy="658368"/>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periodic</a:t>
            </a:r>
            <a:endParaRPr lang="en-US" sz="1400" dirty="0"/>
          </a:p>
        </p:txBody>
      </p:sp>
      <p:sp>
        <p:nvSpPr>
          <p:cNvPr id="10" name="t286"/>
          <p:cNvSpPr txBox="1"/>
          <p:nvPr/>
        </p:nvSpPr>
        <p:spPr>
          <a:xfrm>
            <a:off x="2834640" y="3520440"/>
            <a:ext cx="3474720" cy="658368"/>
          </a:xfrm>
          <a:prstGeom prst="rect">
            <a:avLst/>
          </a:prstGeom>
          <a:noFill/>
          <a:ln/>
        </p:spPr>
        <p:txBody>
          <a:bodyPr wrap="square" lIns="0" tIns="0" rIns="0" bIns="0" rtlCol="0" anchor="ctr"/>
          <a:lstStyle/>
          <a:p>
            <a:pPr indent="0" marL="0">
              <a:buNone/>
            </a:pPr>
            <a:r>
              <a:rPr lang="en-US" sz="1350" dirty="0">
                <a:solidFill>
                  <a:schemeClr val="tx2"/>
                </a:solidFill>
              </a:rPr>
              <a:t>a recurring check that writes one report per run</a:t>
            </a:r>
            <a:endParaRPr lang="en-US" sz="1350" dirty="0"/>
          </a:p>
        </p:txBody>
      </p:sp>
      <p:sp>
        <p:nvSpPr>
          <p:cNvPr id="11" name="card287"/>
          <p:cNvSpPr/>
          <p:nvPr/>
        </p:nvSpPr>
        <p:spPr>
          <a:xfrm>
            <a:off x="548640" y="4297680"/>
            <a:ext cx="5852160" cy="658368"/>
          </a:xfrm>
          <a:prstGeom prst="roundRect">
            <a:avLst>
              <a:gd name="adj" fmla="val 11111"/>
            </a:avLst>
          </a:prstGeom>
          <a:solidFill>
            <a:schemeClr val="bg2"/>
          </a:solidFill>
          <a:ln w="9525">
            <a:solidFill>
              <a:schemeClr val="bg2"/>
            </a:solidFill>
            <a:prstDash val="solid"/>
          </a:ln>
        </p:spPr>
      </p:sp>
      <p:sp>
        <p:nvSpPr>
          <p:cNvPr id="12" name="t288"/>
          <p:cNvSpPr txBox="1"/>
          <p:nvPr/>
        </p:nvSpPr>
        <p:spPr>
          <a:xfrm>
            <a:off x="777240" y="4297680"/>
            <a:ext cx="2011680" cy="658368"/>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research</a:t>
            </a:r>
            <a:endParaRPr lang="en-US" sz="1400" dirty="0"/>
          </a:p>
        </p:txBody>
      </p:sp>
      <p:sp>
        <p:nvSpPr>
          <p:cNvPr id="13" name="t289"/>
          <p:cNvSpPr txBox="1"/>
          <p:nvPr/>
        </p:nvSpPr>
        <p:spPr>
          <a:xfrm>
            <a:off x="2834640" y="4297680"/>
            <a:ext cx="3474720" cy="658368"/>
          </a:xfrm>
          <a:prstGeom prst="rect">
            <a:avLst/>
          </a:prstGeom>
          <a:noFill/>
          <a:ln/>
        </p:spPr>
        <p:txBody>
          <a:bodyPr wrap="square" lIns="0" tIns="0" rIns="0" bIns="0" rtlCol="0" anchor="ctr"/>
          <a:lstStyle/>
          <a:p>
            <a:pPr indent="0" marL="0">
              <a:buNone/>
            </a:pPr>
            <a:r>
              <a:rPr lang="en-US" sz="1350" dirty="0">
                <a:solidFill>
                  <a:schemeClr val="tx2"/>
                </a:solidFill>
              </a:rPr>
              <a:t>plan, fan out a child per sub-question, merge</a:t>
            </a:r>
            <a:endParaRPr lang="en-US" sz="1350" dirty="0"/>
          </a:p>
        </p:txBody>
      </p:sp>
      <p:sp>
        <p:nvSpPr>
          <p:cNvPr id="14" name="card290"/>
          <p:cNvSpPr/>
          <p:nvPr/>
        </p:nvSpPr>
        <p:spPr>
          <a:xfrm>
            <a:off x="548640" y="5074920"/>
            <a:ext cx="5852160" cy="658368"/>
          </a:xfrm>
          <a:prstGeom prst="roundRect">
            <a:avLst>
              <a:gd name="adj" fmla="val 11111"/>
            </a:avLst>
          </a:prstGeom>
          <a:solidFill>
            <a:schemeClr val="bg2"/>
          </a:solidFill>
          <a:ln w="9525">
            <a:solidFill>
              <a:schemeClr val="bg2"/>
            </a:solidFill>
            <a:prstDash val="solid"/>
          </a:ln>
        </p:spPr>
      </p:sp>
      <p:sp>
        <p:nvSpPr>
          <p:cNvPr id="15" name="t291"/>
          <p:cNvSpPr txBox="1"/>
          <p:nvPr/>
        </p:nvSpPr>
        <p:spPr>
          <a:xfrm>
            <a:off x="777240" y="5074920"/>
            <a:ext cx="2011680" cy="658368"/>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nightly-triage</a:t>
            </a:r>
            <a:endParaRPr lang="en-US" sz="1400" dirty="0"/>
          </a:p>
        </p:txBody>
      </p:sp>
      <p:sp>
        <p:nvSpPr>
          <p:cNvPr id="16" name="t292"/>
          <p:cNvSpPr txBox="1"/>
          <p:nvPr/>
        </p:nvSpPr>
        <p:spPr>
          <a:xfrm>
            <a:off x="2834640" y="5074920"/>
            <a:ext cx="3474720" cy="658368"/>
          </a:xfrm>
          <a:prstGeom prst="rect">
            <a:avLst/>
          </a:prstGeom>
          <a:noFill/>
          <a:ln/>
        </p:spPr>
        <p:txBody>
          <a:bodyPr wrap="square" lIns="0" tIns="0" rIns="0" bIns="0" rtlCol="0" anchor="ctr"/>
          <a:lstStyle/>
          <a:p>
            <a:pPr indent="0" marL="0">
              <a:buNone/>
            </a:pPr>
            <a:r>
              <a:rPr lang="en-US" sz="1350" dirty="0">
                <a:solidFill>
                  <a:schemeClr val="tx2"/>
                </a:solidFill>
              </a:rPr>
              <a:t>run the dv-flow regression, triage new failures</a:t>
            </a:r>
            <a:endParaRPr lang="en-US" sz="1350" dirty="0"/>
          </a:p>
        </p:txBody>
      </p:sp>
      <p:sp>
        <p:nvSpPr>
          <p:cNvPr id="17" name="card293"/>
          <p:cNvSpPr/>
          <p:nvPr/>
        </p:nvSpPr>
        <p:spPr>
          <a:xfrm>
            <a:off x="6766560" y="1325880"/>
            <a:ext cx="4873752" cy="4572000"/>
          </a:xfrm>
          <a:prstGeom prst="roundRect">
            <a:avLst>
              <a:gd name="adj" fmla="val 1600"/>
            </a:avLst>
          </a:prstGeom>
          <a:solidFill>
            <a:srgbClr val="D5ECE9"/>
          </a:solidFill>
          <a:ln w="9525">
            <a:solidFill>
              <a:srgbClr val="D5ECE9"/>
            </a:solidFill>
            <a:prstDash val="solid"/>
          </a:ln>
        </p:spPr>
      </p:sp>
      <p:sp>
        <p:nvSpPr>
          <p:cNvPr id="18" name="t294"/>
          <p:cNvSpPr txBox="1"/>
          <p:nvPr/>
        </p:nvSpPr>
        <p:spPr>
          <a:xfrm>
            <a:off x="7040880" y="1508760"/>
            <a:ext cx="4389120" cy="411480"/>
          </a:xfrm>
          <a:prstGeom prst="rect">
            <a:avLst/>
          </a:prstGeom>
          <a:noFill/>
          <a:ln/>
        </p:spPr>
        <p:txBody>
          <a:bodyPr wrap="square" lIns="0" tIns="0" rIns="0" bIns="0" rtlCol="0" anchor="t"/>
          <a:lstStyle/>
          <a:p>
            <a:pPr indent="0" marL="0">
              <a:buNone/>
            </a:pPr>
            <a:r>
              <a:rPr lang="en-US" sz="1900" b="1" dirty="0">
                <a:solidFill>
                  <a:schemeClr val="tx1"/>
                </a:solidFill>
              </a:rPr>
              <a:t>Packets can manage packets</a:t>
            </a:r>
            <a:endParaRPr lang="en-US" sz="1900" dirty="0"/>
          </a:p>
        </p:txBody>
      </p:sp>
      <p:sp>
        <p:nvSpPr>
          <p:cNvPr id="19" name="t295"/>
          <p:cNvSpPr txBox="1"/>
          <p:nvPr/>
        </p:nvSpPr>
        <p:spPr>
          <a:xfrm>
            <a:off x="7040880" y="2057400"/>
            <a:ext cx="4389120" cy="36576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spawn: in a memento creates children with their own instruction, copied state and model</a:t>
            </a:r>
            <a:endParaRPr lang="en-US" sz="1450" dirty="0"/>
          </a:p>
          <a:p>
            <a:pPr marL="342900" indent="-342900">
              <a:spcAft>
                <a:spcPts val="600"/>
              </a:spcAft>
              <a:buSzPct val="100000"/>
              <a:buChar char="•"/>
            </a:pPr>
            <a:r>
              <a:rPr lang="en-US" sz="1450" dirty="0">
                <a:solidFill>
                  <a:schemeClr val="tx1"/>
                </a:solidFill>
              </a:rPr>
              <a:t>A project is a root packet and everything it spawns; the board shows the tree</a:t>
            </a:r>
            <a:endParaRPr lang="en-US" sz="1450" dirty="0"/>
          </a:p>
          <a:p>
            <a:pPr marL="342900" indent="-342900">
              <a:spcAft>
                <a:spcPts val="600"/>
              </a:spcAft>
              <a:buSzPct val="100000"/>
              <a:buChar char="•"/>
            </a:pPr>
            <a:r>
              <a:rPr lang="en-US" sz="1450" dirty="0">
                <a:solidFill>
                  <a:schemeClr val="tx1"/>
                </a:solidFill>
              </a:rPr>
              <a:t>Planned: an outline with a cursor; items are work, research or gates</a:t>
            </a:r>
            <a:endParaRPr lang="en-US" sz="1450" dirty="0"/>
          </a:p>
          <a:p>
            <a:pPr marL="342900" indent="-342900">
              <a:spcAft>
                <a:spcPts val="600"/>
              </a:spcAft>
              <a:buSzPct val="100000"/>
              <a:buChar char="•"/>
            </a:pPr>
            <a:r>
              <a:rPr lang="en-US" sz="1450" dirty="0">
                <a:solidFill>
                  <a:schemeClr val="tx1"/>
                </a:solidFill>
              </a:rPr>
              <a:t>Gates collect questions with provisional answers, so work goes on while a person decides</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 packet belongs to one party at a time</a:t>
            </a:r>
            <a:endParaRPr lang="en-US" sz="3400" dirty="0"/>
          </a:p>
        </p:txBody>
      </p:sp>
      <p:sp>
        <p:nvSpPr>
          <p:cNvPr id="3" name="card296"/>
          <p:cNvSpPr/>
          <p:nvPr/>
        </p:nvSpPr>
        <p:spPr>
          <a:xfrm>
            <a:off x="548640" y="1463040"/>
            <a:ext cx="3108960" cy="1828800"/>
          </a:xfrm>
          <a:prstGeom prst="roundRect">
            <a:avLst>
              <a:gd name="adj" fmla="val 4000"/>
            </a:avLst>
          </a:prstGeom>
          <a:solidFill>
            <a:schemeClr val="tx2"/>
          </a:solidFill>
          <a:ln w="9525">
            <a:solidFill>
              <a:schemeClr val="tx2"/>
            </a:solidFill>
            <a:prstDash val="solid"/>
          </a:ln>
        </p:spPr>
      </p:sp>
      <p:sp>
        <p:nvSpPr>
          <p:cNvPr id="4" name="ic297"/>
          <p:cNvSpPr/>
          <p:nvPr/>
        </p:nvSpPr>
        <p:spPr>
          <a:xfrm>
            <a:off x="1737360" y="1645920"/>
            <a:ext cx="731520" cy="731520"/>
          </a:xfrm>
          <a:prstGeom prst="ellipse">
            <a:avLst/>
          </a:prstGeom>
          <a:solidFill>
            <a:schemeClr val="accent1"/>
          </a:solidFill>
          <a:ln w="12700">
            <a:solidFill>
              <a:schemeClr val="accent1"/>
            </a:solidFill>
            <a:prstDash val="solid"/>
          </a:ln>
        </p:spPr>
      </p:sp>
      <p:pic>
        <p:nvPicPr>
          <p:cNvPr id="5" name="icimg298" descr="preencoded.png">    </p:cNvPr>
          <p:cNvPicPr>
            <a:picLocks noChangeAspect="1"/>
          </p:cNvPicPr>
          <p:nvPr/>
        </p:nvPicPr>
        <p:blipFill>
          <a:blip r:embed="rId1"/>
          <a:stretch>
            <a:fillRect/>
          </a:stretch>
        </p:blipFill>
        <p:spPr>
          <a:xfrm>
            <a:off x="1920240" y="1828800"/>
            <a:ext cx="365760" cy="365760"/>
          </a:xfrm>
          <a:prstGeom prst="rect">
            <a:avLst/>
          </a:prstGeom>
        </p:spPr>
      </p:pic>
      <p:sp>
        <p:nvSpPr>
          <p:cNvPr id="6" name="t299"/>
          <p:cNvSpPr txBox="1"/>
          <p:nvPr/>
        </p:nvSpPr>
        <p:spPr>
          <a:xfrm>
            <a:off x="548640" y="2514600"/>
            <a:ext cx="3108960" cy="457200"/>
          </a:xfrm>
          <a:prstGeom prst="rect">
            <a:avLst/>
          </a:prstGeom>
          <a:noFill/>
          <a:ln/>
        </p:spPr>
        <p:txBody>
          <a:bodyPr wrap="square" lIns="0" tIns="0" rIns="0" bIns="0" rtlCol="0" anchor="t"/>
          <a:lstStyle/>
          <a:p>
            <a:pPr algn="ctr" indent="0" marL="0">
              <a:buNone/>
            </a:pPr>
            <a:r>
              <a:rPr lang="en-US" sz="1900" b="1" dirty="0">
                <a:solidFill>
                  <a:schemeClr val="bg1"/>
                </a:solidFill>
              </a:rPr>
              <a:t>Person</a:t>
            </a:r>
            <a:endParaRPr lang="en-US" sz="1900" dirty="0"/>
          </a:p>
        </p:txBody>
      </p:sp>
      <p:sp>
        <p:nvSpPr>
          <p:cNvPr id="7" name="card300"/>
          <p:cNvSpPr/>
          <p:nvPr/>
        </p:nvSpPr>
        <p:spPr>
          <a:xfrm>
            <a:off x="8531352" y="1463040"/>
            <a:ext cx="3108960" cy="1828800"/>
          </a:xfrm>
          <a:prstGeom prst="roundRect">
            <a:avLst>
              <a:gd name="adj" fmla="val 4000"/>
            </a:avLst>
          </a:prstGeom>
          <a:solidFill>
            <a:schemeClr val="accent2"/>
          </a:solidFill>
          <a:ln w="9525">
            <a:solidFill>
              <a:schemeClr val="accent2"/>
            </a:solidFill>
            <a:prstDash val="solid"/>
          </a:ln>
        </p:spPr>
      </p:sp>
      <p:sp>
        <p:nvSpPr>
          <p:cNvPr id="8" name="ic301"/>
          <p:cNvSpPr/>
          <p:nvPr/>
        </p:nvSpPr>
        <p:spPr>
          <a:xfrm>
            <a:off x="9720072" y="1645920"/>
            <a:ext cx="731520" cy="731520"/>
          </a:xfrm>
          <a:prstGeom prst="ellipse">
            <a:avLst/>
          </a:prstGeom>
          <a:solidFill>
            <a:schemeClr val="tx1"/>
          </a:solidFill>
          <a:ln w="12700">
            <a:solidFill>
              <a:schemeClr val="tx1"/>
            </a:solidFill>
            <a:prstDash val="solid"/>
          </a:ln>
        </p:spPr>
      </p:sp>
      <p:pic>
        <p:nvPicPr>
          <p:cNvPr id="9" name="icimg302" descr="preencoded.png">    </p:cNvPr>
          <p:cNvPicPr>
            <a:picLocks noChangeAspect="1"/>
          </p:cNvPicPr>
          <p:nvPr/>
        </p:nvPicPr>
        <p:blipFill>
          <a:blip r:embed="rId2"/>
          <a:stretch>
            <a:fillRect/>
          </a:stretch>
        </p:blipFill>
        <p:spPr>
          <a:xfrm>
            <a:off x="9902952" y="1828800"/>
            <a:ext cx="365760" cy="365760"/>
          </a:xfrm>
          <a:prstGeom prst="rect">
            <a:avLst/>
          </a:prstGeom>
        </p:spPr>
      </p:pic>
      <p:sp>
        <p:nvSpPr>
          <p:cNvPr id="10" name="t303"/>
          <p:cNvSpPr txBox="1"/>
          <p:nvPr/>
        </p:nvSpPr>
        <p:spPr>
          <a:xfrm>
            <a:off x="8531352" y="2514600"/>
            <a:ext cx="3108960" cy="457200"/>
          </a:xfrm>
          <a:prstGeom prst="rect">
            <a:avLst/>
          </a:prstGeom>
          <a:noFill/>
          <a:ln/>
        </p:spPr>
        <p:txBody>
          <a:bodyPr wrap="square" lIns="0" tIns="0" rIns="0" bIns="0" rtlCol="0" anchor="t"/>
          <a:lstStyle/>
          <a:p>
            <a:pPr algn="ctr" indent="0" marL="0">
              <a:buNone/>
            </a:pPr>
            <a:r>
              <a:rPr lang="en-US" sz="1900" b="1" dirty="0">
                <a:solidFill>
                  <a:schemeClr val="bg1"/>
                </a:solidFill>
              </a:rPr>
              <a:t>Runner</a:t>
            </a:r>
            <a:endParaRPr lang="en-US" sz="1900" dirty="0"/>
          </a:p>
        </p:txBody>
      </p:sp>
      <p:sp>
        <p:nvSpPr>
          <p:cNvPr id="11" name="arr304"/>
          <p:cNvSpPr/>
          <p:nvPr/>
        </p:nvSpPr>
        <p:spPr>
          <a:xfrm>
            <a:off x="3931920" y="1691640"/>
            <a:ext cx="4297680" cy="411480"/>
          </a:xfrm>
          <a:prstGeom prst="rightArrow">
            <a:avLst/>
          </a:prstGeom>
          <a:solidFill>
            <a:schemeClr val="accent2"/>
          </a:solidFill>
          <a:ln w="12700">
            <a:solidFill>
              <a:schemeClr val="accent2"/>
            </a:solidFill>
            <a:prstDash val="solid"/>
          </a:ln>
        </p:spPr>
      </p:sp>
      <p:sp>
        <p:nvSpPr>
          <p:cNvPr id="12" name="t305"/>
          <p:cNvSpPr txBox="1"/>
          <p:nvPr/>
        </p:nvSpPr>
        <p:spPr>
          <a:xfrm>
            <a:off x="3931920" y="1234440"/>
            <a:ext cx="4297680" cy="36576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wpk handoff -m "…"</a:t>
            </a:r>
            <a:endParaRPr lang="en-US" sz="1300" dirty="0"/>
          </a:p>
        </p:txBody>
      </p:sp>
      <p:sp>
        <p:nvSpPr>
          <p:cNvPr id="13" name="larr"/>
          <p:cNvSpPr/>
          <p:nvPr/>
        </p:nvSpPr>
        <p:spPr>
          <a:xfrm>
            <a:off x="3931920" y="2606040"/>
            <a:ext cx="4297680" cy="411480"/>
          </a:xfrm>
          <a:prstGeom prst="leftArrow">
            <a:avLst/>
          </a:prstGeom>
          <a:solidFill>
            <a:schemeClr val="accent1"/>
          </a:solidFill>
          <a:ln w="12700">
            <a:solidFill>
              <a:schemeClr val="accent1"/>
            </a:solidFill>
            <a:prstDash val="solid"/>
          </a:ln>
        </p:spPr>
      </p:sp>
      <p:sp>
        <p:nvSpPr>
          <p:cNvPr id="14" name="t306"/>
          <p:cNvSpPr txBox="1"/>
          <p:nvPr/>
        </p:nvSpPr>
        <p:spPr>
          <a:xfrm>
            <a:off x="3931920" y="3063240"/>
            <a:ext cx="4297680" cy="365760"/>
          </a:xfrm>
          <a:prstGeom prst="rect">
            <a:avLst/>
          </a:prstGeom>
          <a:noFill/>
          <a:ln/>
        </p:spPr>
        <p:txBody>
          <a:bodyPr wrap="square" lIns="0" tIns="0" rIns="0" bIns="0" rtlCol="0" anchor="t"/>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ask: → NEEDS_INPUT · wpk take</a:t>
            </a:r>
            <a:endParaRPr lang="en-US" sz="1300" dirty="0"/>
          </a:p>
        </p:txBody>
      </p:sp>
      <p:sp>
        <p:nvSpPr>
          <p:cNvPr id="15" name="card307"/>
          <p:cNvSpPr/>
          <p:nvPr/>
        </p:nvSpPr>
        <p:spPr>
          <a:xfrm>
            <a:off x="548640" y="3840480"/>
            <a:ext cx="3520440" cy="2103120"/>
          </a:xfrm>
          <a:prstGeom prst="roundRect">
            <a:avLst>
              <a:gd name="adj" fmla="val 3478"/>
            </a:avLst>
          </a:prstGeom>
          <a:solidFill>
            <a:schemeClr val="bg2"/>
          </a:solidFill>
          <a:ln w="9525">
            <a:solidFill>
              <a:schemeClr val="bg2"/>
            </a:solidFill>
            <a:prstDash val="solid"/>
          </a:ln>
        </p:spPr>
      </p:sp>
      <p:sp>
        <p:nvSpPr>
          <p:cNvPr id="16" name="t308"/>
          <p:cNvSpPr txBox="1"/>
          <p:nvPr/>
        </p:nvSpPr>
        <p:spPr>
          <a:xfrm>
            <a:off x="822960" y="3977640"/>
            <a:ext cx="2971800" cy="365760"/>
          </a:xfrm>
          <a:prstGeom prst="rect">
            <a:avLst/>
          </a:prstGeom>
          <a:noFill/>
          <a:ln/>
        </p:spPr>
        <p:txBody>
          <a:bodyPr wrap="square" lIns="0" tIns="0" rIns="0" bIns="0" rtlCol="0" anchor="t"/>
          <a:lstStyle/>
          <a:p>
            <a:pPr indent="0" marL="0">
              <a:buNone/>
            </a:pPr>
            <a:r>
              <a:rPr lang="en-US" sz="1600" b="1" dirty="0">
                <a:solidFill>
                  <a:schemeClr val="tx1"/>
                </a:solidFill>
              </a:rPr>
              <a:t>Structured questions</a:t>
            </a:r>
            <a:endParaRPr lang="en-US" sz="1600" dirty="0"/>
          </a:p>
        </p:txBody>
      </p:sp>
      <p:sp>
        <p:nvSpPr>
          <p:cNvPr id="17" name="t309"/>
          <p:cNvSpPr txBox="1"/>
          <p:nvPr/>
        </p:nvSpPr>
        <p:spPr>
          <a:xfrm>
            <a:off x="822960" y="4389120"/>
            <a:ext cx="2971800" cy="1463040"/>
          </a:xfrm>
          <a:prstGeom prst="rect">
            <a:avLst/>
          </a:prstGeom>
          <a:noFill/>
          <a:ln/>
        </p:spPr>
        <p:txBody>
          <a:bodyPr wrap="square" lIns="0" tIns="0" rIns="0" bIns="0" rtlCol="0" anchor="t"/>
          <a:lstStyle/>
          <a:p>
            <a:pPr indent="0" marL="0">
              <a:buNone/>
            </a:pPr>
            <a:r>
              <a:rPr lang="en-US" sz="1350" dirty="0">
                <a:solidFill>
                  <a:schemeClr val="tx2"/>
                </a:solidFill>
              </a:rPr>
              <a:t>ask: items carry id, question, a recommendation, choices and tool grants. Answer one, or take all the recommendations.</a:t>
            </a:r>
            <a:endParaRPr lang="en-US" sz="1350" dirty="0"/>
          </a:p>
        </p:txBody>
      </p:sp>
      <p:sp>
        <p:nvSpPr>
          <p:cNvPr id="18" name="card310"/>
          <p:cNvSpPr/>
          <p:nvPr/>
        </p:nvSpPr>
        <p:spPr>
          <a:xfrm>
            <a:off x="4320540" y="3840480"/>
            <a:ext cx="3520440" cy="2103120"/>
          </a:xfrm>
          <a:prstGeom prst="roundRect">
            <a:avLst>
              <a:gd name="adj" fmla="val 3478"/>
            </a:avLst>
          </a:prstGeom>
          <a:solidFill>
            <a:schemeClr val="bg2"/>
          </a:solidFill>
          <a:ln w="9525">
            <a:solidFill>
              <a:schemeClr val="bg2"/>
            </a:solidFill>
            <a:prstDash val="solid"/>
          </a:ln>
        </p:spPr>
      </p:sp>
      <p:sp>
        <p:nvSpPr>
          <p:cNvPr id="19" name="t311"/>
          <p:cNvSpPr txBox="1"/>
          <p:nvPr/>
        </p:nvSpPr>
        <p:spPr>
          <a:xfrm>
            <a:off x="4594860" y="3977640"/>
            <a:ext cx="2971800" cy="365760"/>
          </a:xfrm>
          <a:prstGeom prst="rect">
            <a:avLst/>
          </a:prstGeom>
          <a:noFill/>
          <a:ln/>
        </p:spPr>
        <p:txBody>
          <a:bodyPr wrap="square" lIns="0" tIns="0" rIns="0" bIns="0" rtlCol="0" anchor="t"/>
          <a:lstStyle/>
          <a:p>
            <a:pPr indent="0" marL="0">
              <a:buNone/>
            </a:pPr>
            <a:r>
              <a:rPr lang="en-US" sz="1600" b="1" dirty="0">
                <a:solidFill>
                  <a:schemeClr val="tx1"/>
                </a:solidFill>
              </a:rPr>
              <a:t>Notes in any state</a:t>
            </a:r>
            <a:endParaRPr lang="en-US" sz="1600" dirty="0"/>
          </a:p>
        </p:txBody>
      </p:sp>
      <p:sp>
        <p:nvSpPr>
          <p:cNvPr id="20" name="t312"/>
          <p:cNvSpPr txBox="1"/>
          <p:nvPr/>
        </p:nvSpPr>
        <p:spPr>
          <a:xfrm>
            <a:off x="4594860" y="4389120"/>
            <a:ext cx="2971800" cy="1463040"/>
          </a:xfrm>
          <a:prstGeom prst="rect">
            <a:avLst/>
          </a:prstGeom>
          <a:noFill/>
          <a:ln/>
        </p:spPr>
        <p:txBody>
          <a:bodyPr wrap="square" lIns="0" tIns="0" rIns="0" bIns="0" rtlCol="0" anchor="t"/>
          <a:lstStyle/>
          <a:p>
            <a:pPr indent="0" marL="0">
              <a:buNone/>
            </a:pPr>
            <a:r>
              <a:rPr lang="en-US" sz="1350" dirty="0">
                <a:solidFill>
                  <a:schemeClr val="tx2"/>
                </a:solidFill>
              </a:rPr>
              <a:t>wpk note drops a message in mailbox/; a hook delivers it mid-step, or the next prompt shows it.</a:t>
            </a:r>
            <a:endParaRPr lang="en-US" sz="1350" dirty="0"/>
          </a:p>
        </p:txBody>
      </p:sp>
      <p:sp>
        <p:nvSpPr>
          <p:cNvPr id="21" name="card313"/>
          <p:cNvSpPr/>
          <p:nvPr/>
        </p:nvSpPr>
        <p:spPr>
          <a:xfrm>
            <a:off x="8092440" y="3840480"/>
            <a:ext cx="3520440" cy="2103120"/>
          </a:xfrm>
          <a:prstGeom prst="roundRect">
            <a:avLst>
              <a:gd name="adj" fmla="val 3478"/>
            </a:avLst>
          </a:prstGeom>
          <a:solidFill>
            <a:schemeClr val="bg2"/>
          </a:solidFill>
          <a:ln w="9525">
            <a:solidFill>
              <a:schemeClr val="bg2"/>
            </a:solidFill>
            <a:prstDash val="solid"/>
          </a:ln>
        </p:spPr>
      </p:sp>
      <p:sp>
        <p:nvSpPr>
          <p:cNvPr id="22" name="t314"/>
          <p:cNvSpPr txBox="1"/>
          <p:nvPr/>
        </p:nvSpPr>
        <p:spPr>
          <a:xfrm>
            <a:off x="8366760" y="3977640"/>
            <a:ext cx="2971800" cy="365760"/>
          </a:xfrm>
          <a:prstGeom prst="rect">
            <a:avLst/>
          </a:prstGeom>
          <a:noFill/>
          <a:ln/>
        </p:spPr>
        <p:txBody>
          <a:bodyPr wrap="square" lIns="0" tIns="0" rIns="0" bIns="0" rtlCol="0" anchor="t"/>
          <a:lstStyle/>
          <a:p>
            <a:pPr indent="0" marL="0">
              <a:buNone/>
            </a:pPr>
            <a:r>
              <a:rPr lang="en-US" sz="1600" b="1" dirty="0">
                <a:solidFill>
                  <a:schemeClr val="tx1"/>
                </a:solidFill>
              </a:rPr>
              <a:t>Everything is journaled</a:t>
            </a:r>
            <a:endParaRPr lang="en-US" sz="1600" dirty="0"/>
          </a:p>
        </p:txBody>
      </p:sp>
      <p:sp>
        <p:nvSpPr>
          <p:cNvPr id="23" name="t315"/>
          <p:cNvSpPr txBox="1"/>
          <p:nvPr/>
        </p:nvSpPr>
        <p:spPr>
          <a:xfrm>
            <a:off x="8366760" y="4389120"/>
            <a:ext cx="2971800" cy="1463040"/>
          </a:xfrm>
          <a:prstGeom prst="rect">
            <a:avLst/>
          </a:prstGeom>
          <a:noFill/>
          <a:ln/>
        </p:spPr>
        <p:txBody>
          <a:bodyPr wrap="square" lIns="0" tIns="0" rIns="0" bIns="0" rtlCol="0" anchor="t"/>
          <a:lstStyle/>
          <a:p>
            <a:pPr indent="0" marL="0">
              <a:buNone/>
            </a:pPr>
            <a:r>
              <a:rPr lang="en-US" sz="1350" dirty="0">
                <a:solidFill>
                  <a:schemeClr val="tx2"/>
                </a:solidFill>
              </a:rPr>
              <a:t>Hand-offs, answers and notes appear in the journal and in the next step's prompt.</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board: every project and packet at a glance</a:t>
            </a:r>
            <a:endParaRPr lang="en-US" sz="3400" dirty="0"/>
          </a:p>
        </p:txBody>
      </p:sp>
      <p:sp>
        <p:nvSpPr>
          <p:cNvPr id="3" name="card316"/>
          <p:cNvSpPr/>
          <p:nvPr/>
        </p:nvSpPr>
        <p:spPr>
          <a:xfrm>
            <a:off x="548640" y="1280160"/>
            <a:ext cx="11094415" cy="3291840"/>
          </a:xfrm>
          <a:prstGeom prst="roundRect">
            <a:avLst>
              <a:gd name="adj" fmla="val 2222"/>
            </a:avLst>
          </a:prstGeom>
          <a:solidFill>
            <a:schemeClr val="bg2"/>
          </a:solidFill>
          <a:ln w="9525">
            <a:solidFill>
              <a:srgbClr val="C9D1D9"/>
            </a:solidFill>
            <a:prstDash val="solid"/>
          </a:ln>
        </p:spPr>
      </p:sp>
      <p:sp>
        <p:nvSpPr>
          <p:cNvPr id="4" name="t317"/>
          <p:cNvSpPr txBox="1"/>
          <p:nvPr/>
        </p:nvSpPr>
        <p:spPr>
          <a:xfrm>
            <a:off x="731520"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Running</a:t>
            </a:r>
            <a:endParaRPr lang="en-US" sz="1300" dirty="0"/>
          </a:p>
        </p:txBody>
      </p:sp>
      <p:sp>
        <p:nvSpPr>
          <p:cNvPr id="5" name="card318"/>
          <p:cNvSpPr/>
          <p:nvPr/>
        </p:nvSpPr>
        <p:spPr>
          <a:xfrm>
            <a:off x="731520" y="1828800"/>
            <a:ext cx="1737360" cy="749808"/>
          </a:xfrm>
          <a:prstGeom prst="roundRect">
            <a:avLst>
              <a:gd name="adj" fmla="val 9756"/>
            </a:avLst>
          </a:prstGeom>
          <a:solidFill>
            <a:schemeClr val="bg1"/>
          </a:solidFill>
          <a:ln w="9525">
            <a:solidFill>
              <a:srgbClr val="D5DBE1"/>
            </a:solidFill>
            <a:prstDash val="solid"/>
          </a:ln>
        </p:spPr>
      </p:sp>
      <p:sp>
        <p:nvSpPr>
          <p:cNvPr id="6" name="bd319"/>
          <p:cNvSpPr/>
          <p:nvPr/>
        </p:nvSpPr>
        <p:spPr>
          <a:xfrm>
            <a:off x="841248" y="1956816"/>
            <a:ext cx="164592" cy="164592"/>
          </a:xfrm>
          <a:prstGeom prst="ellipse">
            <a:avLst/>
          </a:prstGeom>
          <a:solidFill>
            <a:schemeClr val="accent2"/>
          </a:solidFill>
          <a:ln w="12700">
            <a:solidFill>
              <a:schemeClr val="accent2"/>
            </a:solidFill>
            <a:prstDash val="solid"/>
          </a:ln>
        </p:spPr>
      </p:sp>
      <p:sp>
        <p:nvSpPr>
          <p:cNvPr id="7" name="t320"/>
          <p:cNvSpPr txBox="1"/>
          <p:nvPr/>
        </p:nvSpPr>
        <p:spPr>
          <a:xfrm>
            <a:off x="1078992"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uart16550</a:t>
            </a:r>
            <a:endParaRPr lang="en-US" sz="1100" dirty="0"/>
          </a:p>
        </p:txBody>
      </p:sp>
      <p:sp>
        <p:nvSpPr>
          <p:cNvPr id="8" name="t321"/>
          <p:cNvSpPr txBox="1"/>
          <p:nvPr/>
        </p:nvSpPr>
        <p:spPr>
          <a:xfrm>
            <a:off x="1078992"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12 · $0.41</a:t>
            </a:r>
            <a:endParaRPr lang="en-US" sz="1050" dirty="0"/>
          </a:p>
        </p:txBody>
      </p:sp>
      <p:sp>
        <p:nvSpPr>
          <p:cNvPr id="9" name="card322"/>
          <p:cNvSpPr/>
          <p:nvPr/>
        </p:nvSpPr>
        <p:spPr>
          <a:xfrm>
            <a:off x="731520" y="2697480"/>
            <a:ext cx="1737360" cy="749808"/>
          </a:xfrm>
          <a:prstGeom prst="roundRect">
            <a:avLst>
              <a:gd name="adj" fmla="val 9756"/>
            </a:avLst>
          </a:prstGeom>
          <a:solidFill>
            <a:schemeClr val="bg1"/>
          </a:solidFill>
          <a:ln w="9525">
            <a:solidFill>
              <a:srgbClr val="D5DBE1"/>
            </a:solidFill>
            <a:prstDash val="solid"/>
          </a:ln>
        </p:spPr>
      </p:sp>
      <p:sp>
        <p:nvSpPr>
          <p:cNvPr id="10" name="bd323"/>
          <p:cNvSpPr/>
          <p:nvPr/>
        </p:nvSpPr>
        <p:spPr>
          <a:xfrm>
            <a:off x="841248" y="2825496"/>
            <a:ext cx="164592" cy="164592"/>
          </a:xfrm>
          <a:prstGeom prst="ellipse">
            <a:avLst/>
          </a:prstGeom>
          <a:solidFill>
            <a:schemeClr val="accent2"/>
          </a:solidFill>
          <a:ln w="12700">
            <a:solidFill>
              <a:schemeClr val="accent2"/>
            </a:solidFill>
            <a:prstDash val="solid"/>
          </a:ln>
        </p:spPr>
      </p:sp>
      <p:sp>
        <p:nvSpPr>
          <p:cNvPr id="11" name="t324"/>
          <p:cNvSpPr txBox="1"/>
          <p:nvPr/>
        </p:nvSpPr>
        <p:spPr>
          <a:xfrm>
            <a:off x="1078992" y="277063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chi-snoop</a:t>
            </a:r>
            <a:endParaRPr lang="en-US" sz="1100" dirty="0"/>
          </a:p>
        </p:txBody>
      </p:sp>
      <p:sp>
        <p:nvSpPr>
          <p:cNvPr id="12" name="t325"/>
          <p:cNvSpPr txBox="1"/>
          <p:nvPr/>
        </p:nvSpPr>
        <p:spPr>
          <a:xfrm>
            <a:off x="1078992" y="3081528"/>
            <a:ext cx="1325880" cy="274320"/>
          </a:xfrm>
          <a:prstGeom prst="rect">
            <a:avLst/>
          </a:prstGeom>
          <a:noFill/>
          <a:ln/>
        </p:spPr>
        <p:txBody>
          <a:bodyPr wrap="square" lIns="0" tIns="0" rIns="0" bIns="0" rtlCol="0" anchor="t"/>
          <a:lstStyle/>
          <a:p>
            <a:pPr indent="0" marL="0">
              <a:buNone/>
            </a:pPr>
            <a:r>
              <a:rPr lang="en-US" sz="1050" dirty="0">
                <a:solidFill>
                  <a:schemeClr val="tx2"/>
                </a:solidFill>
              </a:rPr>
              <a:t>wakes 06:00</a:t>
            </a:r>
            <a:endParaRPr lang="en-US" sz="1050" dirty="0"/>
          </a:p>
        </p:txBody>
      </p:sp>
      <p:sp>
        <p:nvSpPr>
          <p:cNvPr id="13" name="t326"/>
          <p:cNvSpPr txBox="1"/>
          <p:nvPr/>
        </p:nvSpPr>
        <p:spPr>
          <a:xfrm>
            <a:off x="2532888"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Ready</a:t>
            </a:r>
            <a:endParaRPr lang="en-US" sz="1300" dirty="0"/>
          </a:p>
        </p:txBody>
      </p:sp>
      <p:sp>
        <p:nvSpPr>
          <p:cNvPr id="14" name="card327"/>
          <p:cNvSpPr/>
          <p:nvPr/>
        </p:nvSpPr>
        <p:spPr>
          <a:xfrm>
            <a:off x="2532888" y="1828800"/>
            <a:ext cx="1737360" cy="749808"/>
          </a:xfrm>
          <a:prstGeom prst="roundRect">
            <a:avLst>
              <a:gd name="adj" fmla="val 9756"/>
            </a:avLst>
          </a:prstGeom>
          <a:solidFill>
            <a:schemeClr val="bg1"/>
          </a:solidFill>
          <a:ln w="9525">
            <a:solidFill>
              <a:srgbClr val="D5DBE1"/>
            </a:solidFill>
            <a:prstDash val="solid"/>
          </a:ln>
        </p:spPr>
      </p:sp>
      <p:sp>
        <p:nvSpPr>
          <p:cNvPr id="15" name="bd328"/>
          <p:cNvSpPr/>
          <p:nvPr/>
        </p:nvSpPr>
        <p:spPr>
          <a:xfrm>
            <a:off x="2642616" y="1956816"/>
            <a:ext cx="164592" cy="164592"/>
          </a:xfrm>
          <a:prstGeom prst="ellipse">
            <a:avLst/>
          </a:prstGeom>
          <a:solidFill>
            <a:schemeClr val="accent6"/>
          </a:solidFill>
          <a:ln w="12700">
            <a:solidFill>
              <a:schemeClr val="accent6"/>
            </a:solidFill>
            <a:prstDash val="solid"/>
          </a:ln>
        </p:spPr>
      </p:sp>
      <p:sp>
        <p:nvSpPr>
          <p:cNvPr id="16" name="t329"/>
          <p:cNvSpPr txBox="1"/>
          <p:nvPr/>
        </p:nvSpPr>
        <p:spPr>
          <a:xfrm>
            <a:off x="2880360"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chi-snoop</a:t>
            </a:r>
            <a:endParaRPr lang="en-US" sz="1100" dirty="0"/>
          </a:p>
        </p:txBody>
      </p:sp>
      <p:sp>
        <p:nvSpPr>
          <p:cNvPr id="17" name="t330"/>
          <p:cNvSpPr txBox="1"/>
          <p:nvPr/>
        </p:nvSpPr>
        <p:spPr>
          <a:xfrm>
            <a:off x="2880360"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2 questions</a:t>
            </a:r>
            <a:endParaRPr lang="en-US" sz="1050" dirty="0"/>
          </a:p>
        </p:txBody>
      </p:sp>
      <p:sp>
        <p:nvSpPr>
          <p:cNvPr id="18" name="t331"/>
          <p:cNvSpPr txBox="1"/>
          <p:nvPr/>
        </p:nvSpPr>
        <p:spPr>
          <a:xfrm>
            <a:off x="4334256"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Sleeping</a:t>
            </a:r>
            <a:endParaRPr lang="en-US" sz="1300" dirty="0"/>
          </a:p>
        </p:txBody>
      </p:sp>
      <p:sp>
        <p:nvSpPr>
          <p:cNvPr id="19" name="card332"/>
          <p:cNvSpPr/>
          <p:nvPr/>
        </p:nvSpPr>
        <p:spPr>
          <a:xfrm>
            <a:off x="4334256" y="1828800"/>
            <a:ext cx="1737360" cy="749808"/>
          </a:xfrm>
          <a:prstGeom prst="roundRect">
            <a:avLst>
              <a:gd name="adj" fmla="val 9756"/>
            </a:avLst>
          </a:prstGeom>
          <a:solidFill>
            <a:schemeClr val="bg1"/>
          </a:solidFill>
          <a:ln w="9525">
            <a:solidFill>
              <a:srgbClr val="D5DBE1"/>
            </a:solidFill>
            <a:prstDash val="solid"/>
          </a:ln>
        </p:spPr>
      </p:sp>
      <p:sp>
        <p:nvSpPr>
          <p:cNvPr id="20" name="bd333"/>
          <p:cNvSpPr/>
          <p:nvPr/>
        </p:nvSpPr>
        <p:spPr>
          <a:xfrm>
            <a:off x="4443984" y="1956816"/>
            <a:ext cx="164592" cy="164592"/>
          </a:xfrm>
          <a:prstGeom prst="ellipse">
            <a:avLst/>
          </a:prstGeom>
          <a:solidFill>
            <a:schemeClr val="accent3"/>
          </a:solidFill>
          <a:ln w="12700">
            <a:solidFill>
              <a:schemeClr val="accent3"/>
            </a:solidFill>
            <a:prstDash val="solid"/>
          </a:ln>
        </p:spPr>
      </p:sp>
      <p:sp>
        <p:nvSpPr>
          <p:cNvPr id="21" name="t334"/>
          <p:cNvSpPr txBox="1"/>
          <p:nvPr/>
        </p:nvSpPr>
        <p:spPr>
          <a:xfrm>
            <a:off x="4681728"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nightly-triage</a:t>
            </a:r>
            <a:endParaRPr lang="en-US" sz="1100" dirty="0"/>
          </a:p>
        </p:txBody>
      </p:sp>
      <p:sp>
        <p:nvSpPr>
          <p:cNvPr id="22" name="t335"/>
          <p:cNvSpPr txBox="1"/>
          <p:nvPr/>
        </p:nvSpPr>
        <p:spPr>
          <a:xfrm>
            <a:off x="4681728"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12 · $0.41</a:t>
            </a:r>
            <a:endParaRPr lang="en-US" sz="1050" dirty="0"/>
          </a:p>
        </p:txBody>
      </p:sp>
      <p:sp>
        <p:nvSpPr>
          <p:cNvPr id="23" name="card336"/>
          <p:cNvSpPr/>
          <p:nvPr/>
        </p:nvSpPr>
        <p:spPr>
          <a:xfrm>
            <a:off x="4334256" y="2697480"/>
            <a:ext cx="1737360" cy="749808"/>
          </a:xfrm>
          <a:prstGeom prst="roundRect">
            <a:avLst>
              <a:gd name="adj" fmla="val 9756"/>
            </a:avLst>
          </a:prstGeom>
          <a:solidFill>
            <a:schemeClr val="bg1"/>
          </a:solidFill>
          <a:ln w="9525">
            <a:solidFill>
              <a:srgbClr val="D5DBE1"/>
            </a:solidFill>
            <a:prstDash val="solid"/>
          </a:ln>
        </p:spPr>
      </p:sp>
      <p:sp>
        <p:nvSpPr>
          <p:cNvPr id="24" name="bd337"/>
          <p:cNvSpPr/>
          <p:nvPr/>
        </p:nvSpPr>
        <p:spPr>
          <a:xfrm>
            <a:off x="4443984" y="2825496"/>
            <a:ext cx="164592" cy="164592"/>
          </a:xfrm>
          <a:prstGeom prst="ellipse">
            <a:avLst/>
          </a:prstGeom>
          <a:solidFill>
            <a:schemeClr val="accent3"/>
          </a:solidFill>
          <a:ln w="12700">
            <a:solidFill>
              <a:schemeClr val="accent3"/>
            </a:solidFill>
            <a:prstDash val="solid"/>
          </a:ln>
        </p:spPr>
      </p:sp>
      <p:sp>
        <p:nvSpPr>
          <p:cNvPr id="25" name="t338"/>
          <p:cNvSpPr txBox="1"/>
          <p:nvPr/>
        </p:nvSpPr>
        <p:spPr>
          <a:xfrm>
            <a:off x="4681728" y="277063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weekly-report</a:t>
            </a:r>
            <a:endParaRPr lang="en-US" sz="1100" dirty="0"/>
          </a:p>
        </p:txBody>
      </p:sp>
      <p:sp>
        <p:nvSpPr>
          <p:cNvPr id="26" name="t339"/>
          <p:cNvSpPr txBox="1"/>
          <p:nvPr/>
        </p:nvSpPr>
        <p:spPr>
          <a:xfrm>
            <a:off x="4681728" y="3081528"/>
            <a:ext cx="1325880" cy="274320"/>
          </a:xfrm>
          <a:prstGeom prst="rect">
            <a:avLst/>
          </a:prstGeom>
          <a:noFill/>
          <a:ln/>
        </p:spPr>
        <p:txBody>
          <a:bodyPr wrap="square" lIns="0" tIns="0" rIns="0" bIns="0" rtlCol="0" anchor="t"/>
          <a:lstStyle/>
          <a:p>
            <a:pPr indent="0" marL="0">
              <a:buNone/>
            </a:pPr>
            <a:r>
              <a:rPr lang="en-US" sz="1050" dirty="0">
                <a:solidFill>
                  <a:schemeClr val="tx2"/>
                </a:solidFill>
              </a:rPr>
              <a:t>wakes 06:00</a:t>
            </a:r>
            <a:endParaRPr lang="en-US" sz="1050" dirty="0"/>
          </a:p>
        </p:txBody>
      </p:sp>
      <p:sp>
        <p:nvSpPr>
          <p:cNvPr id="27" name="card340"/>
          <p:cNvSpPr/>
          <p:nvPr/>
        </p:nvSpPr>
        <p:spPr>
          <a:xfrm>
            <a:off x="4334256" y="3566160"/>
            <a:ext cx="1737360" cy="749808"/>
          </a:xfrm>
          <a:prstGeom prst="roundRect">
            <a:avLst>
              <a:gd name="adj" fmla="val 9756"/>
            </a:avLst>
          </a:prstGeom>
          <a:solidFill>
            <a:schemeClr val="bg1"/>
          </a:solidFill>
          <a:ln w="9525">
            <a:solidFill>
              <a:srgbClr val="D5DBE1"/>
            </a:solidFill>
            <a:prstDash val="solid"/>
          </a:ln>
        </p:spPr>
      </p:sp>
      <p:sp>
        <p:nvSpPr>
          <p:cNvPr id="28" name="bd341"/>
          <p:cNvSpPr/>
          <p:nvPr/>
        </p:nvSpPr>
        <p:spPr>
          <a:xfrm>
            <a:off x="4443984" y="3694176"/>
            <a:ext cx="164592" cy="164592"/>
          </a:xfrm>
          <a:prstGeom prst="ellipse">
            <a:avLst/>
          </a:prstGeom>
          <a:solidFill>
            <a:schemeClr val="accent3"/>
          </a:solidFill>
          <a:ln w="12700">
            <a:solidFill>
              <a:schemeClr val="accent3"/>
            </a:solidFill>
            <a:prstDash val="solid"/>
          </a:ln>
        </p:spPr>
      </p:sp>
      <p:sp>
        <p:nvSpPr>
          <p:cNvPr id="29" name="t342"/>
          <p:cNvSpPr txBox="1"/>
          <p:nvPr/>
        </p:nvSpPr>
        <p:spPr>
          <a:xfrm>
            <a:off x="4681728" y="363931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dvs-enh</a:t>
            </a:r>
            <a:endParaRPr lang="en-US" sz="1100" dirty="0"/>
          </a:p>
        </p:txBody>
      </p:sp>
      <p:sp>
        <p:nvSpPr>
          <p:cNvPr id="30" name="t343"/>
          <p:cNvSpPr txBox="1"/>
          <p:nvPr/>
        </p:nvSpPr>
        <p:spPr>
          <a:xfrm>
            <a:off x="4681728" y="3950208"/>
            <a:ext cx="1325880" cy="274320"/>
          </a:xfrm>
          <a:prstGeom prst="rect">
            <a:avLst/>
          </a:prstGeom>
          <a:noFill/>
          <a:ln/>
        </p:spPr>
        <p:txBody>
          <a:bodyPr wrap="square" lIns="0" tIns="0" rIns="0" bIns="0" rtlCol="0" anchor="t"/>
          <a:lstStyle/>
          <a:p>
            <a:pPr indent="0" marL="0">
              <a:buNone/>
            </a:pPr>
            <a:r>
              <a:rPr lang="en-US" sz="1050" dirty="0">
                <a:solidFill>
                  <a:schemeClr val="tx2"/>
                </a:solidFill>
              </a:rPr>
              <a:t>2 questions</a:t>
            </a:r>
            <a:endParaRPr lang="en-US" sz="1050" dirty="0"/>
          </a:p>
        </p:txBody>
      </p:sp>
      <p:sp>
        <p:nvSpPr>
          <p:cNvPr id="31" name="t344"/>
          <p:cNvSpPr txBox="1"/>
          <p:nvPr/>
        </p:nvSpPr>
        <p:spPr>
          <a:xfrm>
            <a:off x="6135624"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Needs you</a:t>
            </a:r>
            <a:endParaRPr lang="en-US" sz="1300" dirty="0"/>
          </a:p>
        </p:txBody>
      </p:sp>
      <p:sp>
        <p:nvSpPr>
          <p:cNvPr id="32" name="card345"/>
          <p:cNvSpPr/>
          <p:nvPr/>
        </p:nvSpPr>
        <p:spPr>
          <a:xfrm>
            <a:off x="6135624" y="1828800"/>
            <a:ext cx="1737360" cy="749808"/>
          </a:xfrm>
          <a:prstGeom prst="roundRect">
            <a:avLst>
              <a:gd name="adj" fmla="val 9756"/>
            </a:avLst>
          </a:prstGeom>
          <a:solidFill>
            <a:schemeClr val="bg1"/>
          </a:solidFill>
          <a:ln w="9525">
            <a:solidFill>
              <a:srgbClr val="D5DBE1"/>
            </a:solidFill>
            <a:prstDash val="solid"/>
          </a:ln>
        </p:spPr>
      </p:sp>
      <p:sp>
        <p:nvSpPr>
          <p:cNvPr id="33" name="bd346"/>
          <p:cNvSpPr/>
          <p:nvPr/>
        </p:nvSpPr>
        <p:spPr>
          <a:xfrm>
            <a:off x="6245352" y="1956816"/>
            <a:ext cx="164592" cy="164592"/>
          </a:xfrm>
          <a:prstGeom prst="ellipse">
            <a:avLst/>
          </a:prstGeom>
          <a:solidFill>
            <a:schemeClr val="accent1"/>
          </a:solidFill>
          <a:ln w="12700">
            <a:solidFill>
              <a:schemeClr val="accent1"/>
            </a:solidFill>
            <a:prstDash val="solid"/>
          </a:ln>
        </p:spPr>
      </p:sp>
      <p:sp>
        <p:nvSpPr>
          <p:cNvPr id="34" name="t347"/>
          <p:cNvSpPr txBox="1"/>
          <p:nvPr/>
        </p:nvSpPr>
        <p:spPr>
          <a:xfrm>
            <a:off x="6483096"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weekly-report</a:t>
            </a:r>
            <a:endParaRPr lang="en-US" sz="1100" dirty="0"/>
          </a:p>
        </p:txBody>
      </p:sp>
      <p:sp>
        <p:nvSpPr>
          <p:cNvPr id="35" name="t348"/>
          <p:cNvSpPr txBox="1"/>
          <p:nvPr/>
        </p:nvSpPr>
        <p:spPr>
          <a:xfrm>
            <a:off x="6483096"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2 questions</a:t>
            </a:r>
            <a:endParaRPr lang="en-US" sz="1050" dirty="0"/>
          </a:p>
        </p:txBody>
      </p:sp>
      <p:sp>
        <p:nvSpPr>
          <p:cNvPr id="36" name="card349"/>
          <p:cNvSpPr/>
          <p:nvPr/>
        </p:nvSpPr>
        <p:spPr>
          <a:xfrm>
            <a:off x="6135624" y="2697480"/>
            <a:ext cx="1737360" cy="749808"/>
          </a:xfrm>
          <a:prstGeom prst="roundRect">
            <a:avLst>
              <a:gd name="adj" fmla="val 9756"/>
            </a:avLst>
          </a:prstGeom>
          <a:solidFill>
            <a:schemeClr val="bg1"/>
          </a:solidFill>
          <a:ln w="9525">
            <a:solidFill>
              <a:srgbClr val="D5DBE1"/>
            </a:solidFill>
            <a:prstDash val="solid"/>
          </a:ln>
        </p:spPr>
      </p:sp>
      <p:sp>
        <p:nvSpPr>
          <p:cNvPr id="37" name="bd350"/>
          <p:cNvSpPr/>
          <p:nvPr/>
        </p:nvSpPr>
        <p:spPr>
          <a:xfrm>
            <a:off x="6245352" y="2825496"/>
            <a:ext cx="164592" cy="164592"/>
          </a:xfrm>
          <a:prstGeom prst="ellipse">
            <a:avLst/>
          </a:prstGeom>
          <a:solidFill>
            <a:schemeClr val="accent1"/>
          </a:solidFill>
          <a:ln w="12700">
            <a:solidFill>
              <a:schemeClr val="accent1"/>
            </a:solidFill>
            <a:prstDash val="solid"/>
          </a:ln>
        </p:spPr>
      </p:sp>
      <p:sp>
        <p:nvSpPr>
          <p:cNvPr id="38" name="t351"/>
          <p:cNvSpPr txBox="1"/>
          <p:nvPr/>
        </p:nvSpPr>
        <p:spPr>
          <a:xfrm>
            <a:off x="6483096" y="277063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dvs-enh</a:t>
            </a:r>
            <a:endParaRPr lang="en-US" sz="1100" dirty="0"/>
          </a:p>
        </p:txBody>
      </p:sp>
      <p:sp>
        <p:nvSpPr>
          <p:cNvPr id="39" name="t352"/>
          <p:cNvSpPr txBox="1"/>
          <p:nvPr/>
        </p:nvSpPr>
        <p:spPr>
          <a:xfrm>
            <a:off x="6483096" y="308152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3 · $0.05</a:t>
            </a:r>
            <a:endParaRPr lang="en-US" sz="1050" dirty="0"/>
          </a:p>
        </p:txBody>
      </p:sp>
      <p:sp>
        <p:nvSpPr>
          <p:cNvPr id="40" name="t353"/>
          <p:cNvSpPr txBox="1"/>
          <p:nvPr/>
        </p:nvSpPr>
        <p:spPr>
          <a:xfrm>
            <a:off x="7936992"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Failed</a:t>
            </a:r>
            <a:endParaRPr lang="en-US" sz="1300" dirty="0"/>
          </a:p>
        </p:txBody>
      </p:sp>
      <p:sp>
        <p:nvSpPr>
          <p:cNvPr id="41" name="card354"/>
          <p:cNvSpPr/>
          <p:nvPr/>
        </p:nvSpPr>
        <p:spPr>
          <a:xfrm>
            <a:off x="7936992" y="1828800"/>
            <a:ext cx="1737360" cy="749808"/>
          </a:xfrm>
          <a:prstGeom prst="roundRect">
            <a:avLst>
              <a:gd name="adj" fmla="val 9756"/>
            </a:avLst>
          </a:prstGeom>
          <a:solidFill>
            <a:schemeClr val="bg1"/>
          </a:solidFill>
          <a:ln w="9525">
            <a:solidFill>
              <a:srgbClr val="D5DBE1"/>
            </a:solidFill>
            <a:prstDash val="solid"/>
          </a:ln>
        </p:spPr>
      </p:sp>
      <p:sp>
        <p:nvSpPr>
          <p:cNvPr id="42" name="bd355"/>
          <p:cNvSpPr/>
          <p:nvPr/>
        </p:nvSpPr>
        <p:spPr>
          <a:xfrm>
            <a:off x="8046720" y="1956816"/>
            <a:ext cx="164592" cy="164592"/>
          </a:xfrm>
          <a:prstGeom prst="ellipse">
            <a:avLst/>
          </a:prstGeom>
          <a:solidFill>
            <a:schemeClr val="accent4"/>
          </a:solidFill>
          <a:ln w="12700">
            <a:solidFill>
              <a:schemeClr val="accent4"/>
            </a:solidFill>
            <a:prstDash val="solid"/>
          </a:ln>
        </p:spPr>
      </p:sp>
      <p:sp>
        <p:nvSpPr>
          <p:cNvPr id="43" name="t356"/>
          <p:cNvSpPr txBox="1"/>
          <p:nvPr/>
        </p:nvSpPr>
        <p:spPr>
          <a:xfrm>
            <a:off x="8284464"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dvs-enh</a:t>
            </a:r>
            <a:endParaRPr lang="en-US" sz="1100" dirty="0"/>
          </a:p>
        </p:txBody>
      </p:sp>
      <p:sp>
        <p:nvSpPr>
          <p:cNvPr id="44" name="t357"/>
          <p:cNvSpPr txBox="1"/>
          <p:nvPr/>
        </p:nvSpPr>
        <p:spPr>
          <a:xfrm>
            <a:off x="8284464"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12 · $0.41</a:t>
            </a:r>
            <a:endParaRPr lang="en-US" sz="1050" dirty="0"/>
          </a:p>
        </p:txBody>
      </p:sp>
      <p:sp>
        <p:nvSpPr>
          <p:cNvPr id="45" name="t358"/>
          <p:cNvSpPr txBox="1"/>
          <p:nvPr/>
        </p:nvSpPr>
        <p:spPr>
          <a:xfrm>
            <a:off x="9738360" y="1417320"/>
            <a:ext cx="1737360" cy="320040"/>
          </a:xfrm>
          <a:prstGeom prst="rect">
            <a:avLst/>
          </a:prstGeom>
          <a:noFill/>
          <a:ln/>
        </p:spPr>
        <p:txBody>
          <a:bodyPr wrap="square" lIns="0" tIns="0" rIns="0" bIns="0" rtlCol="0" anchor="t"/>
          <a:lstStyle/>
          <a:p>
            <a:pPr indent="0" marL="0">
              <a:buNone/>
            </a:pPr>
            <a:r>
              <a:rPr lang="en-US" sz="1300" b="1" dirty="0">
                <a:solidFill>
                  <a:schemeClr val="tx1"/>
                </a:solidFill>
              </a:rPr>
              <a:t>Done</a:t>
            </a:r>
            <a:endParaRPr lang="en-US" sz="1300" dirty="0"/>
          </a:p>
        </p:txBody>
      </p:sp>
      <p:sp>
        <p:nvSpPr>
          <p:cNvPr id="46" name="card359"/>
          <p:cNvSpPr/>
          <p:nvPr/>
        </p:nvSpPr>
        <p:spPr>
          <a:xfrm>
            <a:off x="9738360" y="1828800"/>
            <a:ext cx="1737360" cy="749808"/>
          </a:xfrm>
          <a:prstGeom prst="roundRect">
            <a:avLst>
              <a:gd name="adj" fmla="val 9756"/>
            </a:avLst>
          </a:prstGeom>
          <a:solidFill>
            <a:schemeClr val="bg1"/>
          </a:solidFill>
          <a:ln w="9525">
            <a:solidFill>
              <a:srgbClr val="D5DBE1"/>
            </a:solidFill>
            <a:prstDash val="solid"/>
          </a:ln>
        </p:spPr>
      </p:sp>
      <p:sp>
        <p:nvSpPr>
          <p:cNvPr id="47" name="bd360"/>
          <p:cNvSpPr/>
          <p:nvPr/>
        </p:nvSpPr>
        <p:spPr>
          <a:xfrm>
            <a:off x="9848088" y="1956816"/>
            <a:ext cx="164592" cy="164592"/>
          </a:xfrm>
          <a:prstGeom prst="ellipse">
            <a:avLst/>
          </a:prstGeom>
          <a:solidFill>
            <a:schemeClr val="tx2"/>
          </a:solidFill>
          <a:ln w="12700">
            <a:solidFill>
              <a:schemeClr val="tx2"/>
            </a:solidFill>
            <a:prstDash val="solid"/>
          </a:ln>
        </p:spPr>
      </p:sp>
      <p:sp>
        <p:nvSpPr>
          <p:cNvPr id="48" name="t361"/>
          <p:cNvSpPr txBox="1"/>
          <p:nvPr/>
        </p:nvSpPr>
        <p:spPr>
          <a:xfrm>
            <a:off x="10085832" y="190195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proto-survey</a:t>
            </a:r>
            <a:endParaRPr lang="en-US" sz="1100" dirty="0"/>
          </a:p>
        </p:txBody>
      </p:sp>
      <p:sp>
        <p:nvSpPr>
          <p:cNvPr id="49" name="t362"/>
          <p:cNvSpPr txBox="1"/>
          <p:nvPr/>
        </p:nvSpPr>
        <p:spPr>
          <a:xfrm>
            <a:off x="10085832" y="2212848"/>
            <a:ext cx="1325880" cy="274320"/>
          </a:xfrm>
          <a:prstGeom prst="rect">
            <a:avLst/>
          </a:prstGeom>
          <a:noFill/>
          <a:ln/>
        </p:spPr>
        <p:txBody>
          <a:bodyPr wrap="square" lIns="0" tIns="0" rIns="0" bIns="0" rtlCol="0" anchor="t"/>
          <a:lstStyle/>
          <a:p>
            <a:pPr indent="0" marL="0">
              <a:buNone/>
            </a:pPr>
            <a:r>
              <a:rPr lang="en-US" sz="1050" dirty="0">
                <a:solidFill>
                  <a:schemeClr val="tx2"/>
                </a:solidFill>
              </a:rPr>
              <a:t>2 questions</a:t>
            </a:r>
            <a:endParaRPr lang="en-US" sz="1050" dirty="0"/>
          </a:p>
        </p:txBody>
      </p:sp>
      <p:sp>
        <p:nvSpPr>
          <p:cNvPr id="50" name="card363"/>
          <p:cNvSpPr/>
          <p:nvPr/>
        </p:nvSpPr>
        <p:spPr>
          <a:xfrm>
            <a:off x="9738360" y="2697480"/>
            <a:ext cx="1737360" cy="749808"/>
          </a:xfrm>
          <a:prstGeom prst="roundRect">
            <a:avLst>
              <a:gd name="adj" fmla="val 9756"/>
            </a:avLst>
          </a:prstGeom>
          <a:solidFill>
            <a:schemeClr val="bg1"/>
          </a:solidFill>
          <a:ln w="9525">
            <a:solidFill>
              <a:srgbClr val="D5DBE1"/>
            </a:solidFill>
            <a:prstDash val="solid"/>
          </a:ln>
        </p:spPr>
      </p:sp>
      <p:sp>
        <p:nvSpPr>
          <p:cNvPr id="51" name="bd364"/>
          <p:cNvSpPr/>
          <p:nvPr/>
        </p:nvSpPr>
        <p:spPr>
          <a:xfrm>
            <a:off x="9848088" y="2825496"/>
            <a:ext cx="164592" cy="164592"/>
          </a:xfrm>
          <a:prstGeom prst="ellipse">
            <a:avLst/>
          </a:prstGeom>
          <a:solidFill>
            <a:schemeClr val="tx2"/>
          </a:solidFill>
          <a:ln w="12700">
            <a:solidFill>
              <a:schemeClr val="tx2"/>
            </a:solidFill>
            <a:prstDash val="solid"/>
          </a:ln>
        </p:spPr>
      </p:sp>
      <p:sp>
        <p:nvSpPr>
          <p:cNvPr id="52" name="t365"/>
          <p:cNvSpPr txBox="1"/>
          <p:nvPr/>
        </p:nvSpPr>
        <p:spPr>
          <a:xfrm>
            <a:off x="10085832" y="277063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uart16550</a:t>
            </a:r>
            <a:endParaRPr lang="en-US" sz="1100" dirty="0"/>
          </a:p>
        </p:txBody>
      </p:sp>
      <p:sp>
        <p:nvSpPr>
          <p:cNvPr id="53" name="t366"/>
          <p:cNvSpPr txBox="1"/>
          <p:nvPr/>
        </p:nvSpPr>
        <p:spPr>
          <a:xfrm>
            <a:off x="10085832" y="308152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3 · $0.05</a:t>
            </a:r>
            <a:endParaRPr lang="en-US" sz="1050" dirty="0"/>
          </a:p>
        </p:txBody>
      </p:sp>
      <p:sp>
        <p:nvSpPr>
          <p:cNvPr id="54" name="card367"/>
          <p:cNvSpPr/>
          <p:nvPr/>
        </p:nvSpPr>
        <p:spPr>
          <a:xfrm>
            <a:off x="9738360" y="3566160"/>
            <a:ext cx="1737360" cy="749808"/>
          </a:xfrm>
          <a:prstGeom prst="roundRect">
            <a:avLst>
              <a:gd name="adj" fmla="val 9756"/>
            </a:avLst>
          </a:prstGeom>
          <a:solidFill>
            <a:schemeClr val="bg1"/>
          </a:solidFill>
          <a:ln w="9525">
            <a:solidFill>
              <a:srgbClr val="D5DBE1"/>
            </a:solidFill>
            <a:prstDash val="solid"/>
          </a:ln>
        </p:spPr>
      </p:sp>
      <p:sp>
        <p:nvSpPr>
          <p:cNvPr id="55" name="bd368"/>
          <p:cNvSpPr/>
          <p:nvPr/>
        </p:nvSpPr>
        <p:spPr>
          <a:xfrm>
            <a:off x="9848088" y="3694176"/>
            <a:ext cx="164592" cy="164592"/>
          </a:xfrm>
          <a:prstGeom prst="ellipse">
            <a:avLst/>
          </a:prstGeom>
          <a:solidFill>
            <a:schemeClr val="tx2"/>
          </a:solidFill>
          <a:ln w="12700">
            <a:solidFill>
              <a:schemeClr val="tx2"/>
            </a:solidFill>
            <a:prstDash val="solid"/>
          </a:ln>
        </p:spPr>
      </p:sp>
      <p:sp>
        <p:nvSpPr>
          <p:cNvPr id="56" name="t369"/>
          <p:cNvSpPr txBox="1"/>
          <p:nvPr/>
        </p:nvSpPr>
        <p:spPr>
          <a:xfrm>
            <a:off x="10085832" y="3639312"/>
            <a:ext cx="1325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chi-snoop</a:t>
            </a:r>
            <a:endParaRPr lang="en-US" sz="1100" dirty="0"/>
          </a:p>
        </p:txBody>
      </p:sp>
      <p:sp>
        <p:nvSpPr>
          <p:cNvPr id="57" name="t370"/>
          <p:cNvSpPr txBox="1"/>
          <p:nvPr/>
        </p:nvSpPr>
        <p:spPr>
          <a:xfrm>
            <a:off x="10085832" y="3950208"/>
            <a:ext cx="1325880" cy="274320"/>
          </a:xfrm>
          <a:prstGeom prst="rect">
            <a:avLst/>
          </a:prstGeom>
          <a:noFill/>
          <a:ln/>
        </p:spPr>
        <p:txBody>
          <a:bodyPr wrap="square" lIns="0" tIns="0" rIns="0" bIns="0" rtlCol="0" anchor="t"/>
          <a:lstStyle/>
          <a:p>
            <a:pPr indent="0" marL="0">
              <a:buNone/>
            </a:pPr>
            <a:r>
              <a:rPr lang="en-US" sz="1050" dirty="0">
                <a:solidFill>
                  <a:schemeClr val="tx2"/>
                </a:solidFill>
              </a:rPr>
              <a:t>step 12 · $0.41</a:t>
            </a:r>
            <a:endParaRPr lang="en-US" sz="1050" dirty="0"/>
          </a:p>
        </p:txBody>
      </p:sp>
      <p:sp>
        <p:nvSpPr>
          <p:cNvPr id="58" name="t371"/>
          <p:cNvSpPr txBox="1"/>
          <p:nvPr/>
        </p:nvSpPr>
        <p:spPr>
          <a:xfrm>
            <a:off x="548640" y="4800600"/>
            <a:ext cx="3520440" cy="731520"/>
          </a:xfrm>
          <a:prstGeom prst="rect">
            <a:avLst/>
          </a:prstGeom>
          <a:noFill/>
          <a:ln/>
        </p:spPr>
        <p:txBody>
          <a:bodyPr wrap="square" lIns="0" tIns="0" rIns="0" bIns="0" rtlCol="0" anchor="t"/>
          <a:lstStyle/>
          <a:p>
            <a:pPr indent="0" marL="0">
              <a:buNone/>
            </a:pPr>
            <a:r>
              <a:rPr lang="en-US" sz="1400" b="1" dirty="0">
                <a:solidFill>
                  <a:schemeClr val="tx1"/>
                </a:solidFill>
              </a:rPr>
              <a:t>Project page: </a:t>
            </a:r>
            <a:pPr indent="0" marL="0">
              <a:buNone/>
            </a:pPr>
            <a:r>
              <a:rPr lang="en-US" sz="1400" dirty="0">
                <a:solidFill>
                  <a:srgbClr val="33414F"/>
                </a:solidFill>
              </a:rPr>
              <a:t>packet tree, timeline, Tokens panel</a:t>
            </a:r>
            <a:endParaRPr lang="en-US" sz="1400" dirty="0"/>
          </a:p>
        </p:txBody>
      </p:sp>
      <p:sp>
        <p:nvSpPr>
          <p:cNvPr id="59" name="t372"/>
          <p:cNvSpPr txBox="1"/>
          <p:nvPr/>
        </p:nvSpPr>
        <p:spPr>
          <a:xfrm>
            <a:off x="4320540" y="4800600"/>
            <a:ext cx="3520440" cy="731520"/>
          </a:xfrm>
          <a:prstGeom prst="rect">
            <a:avLst/>
          </a:prstGeom>
          <a:noFill/>
          <a:ln/>
        </p:spPr>
        <p:txBody>
          <a:bodyPr wrap="square" lIns="0" tIns="0" rIns="0" bIns="0" rtlCol="0" anchor="t"/>
          <a:lstStyle/>
          <a:p>
            <a:pPr indent="0" marL="0">
              <a:buNone/>
            </a:pPr>
            <a:r>
              <a:rPr lang="en-US" sz="1400" b="1" dirty="0">
                <a:solidFill>
                  <a:schemeClr val="tx1"/>
                </a:solidFill>
              </a:rPr>
              <a:t>Live view: </a:t>
            </a:r>
            <a:pPr indent="0" marL="0">
              <a:buNone/>
            </a:pPr>
            <a:r>
              <a:rPr lang="en-US" sz="1400" dirty="0">
                <a:solidFill>
                  <a:srgbClr val="33414F"/>
                </a:solidFill>
              </a:rPr>
              <a:t>what it is doing now, its tasks, processes, steps done</a:t>
            </a:r>
            <a:endParaRPr lang="en-US" sz="1400" dirty="0"/>
          </a:p>
        </p:txBody>
      </p:sp>
      <p:sp>
        <p:nvSpPr>
          <p:cNvPr id="60" name="t373"/>
          <p:cNvSpPr txBox="1"/>
          <p:nvPr/>
        </p:nvSpPr>
        <p:spPr>
          <a:xfrm>
            <a:off x="8092440" y="4800600"/>
            <a:ext cx="3520440" cy="731520"/>
          </a:xfrm>
          <a:prstGeom prst="rect">
            <a:avLst/>
          </a:prstGeom>
          <a:noFill/>
          <a:ln/>
        </p:spPr>
        <p:txBody>
          <a:bodyPr wrap="square" lIns="0" tIns="0" rIns="0" bIns="0" rtlCol="0" anchor="t"/>
          <a:lstStyle/>
          <a:p>
            <a:pPr indent="0" marL="0">
              <a:buNone/>
            </a:pPr>
            <a:r>
              <a:rPr lang="en-US" sz="1400" b="1" dirty="0">
                <a:solidFill>
                  <a:schemeClr val="tx1"/>
                </a:solidFill>
              </a:rPr>
              <a:t>Step viewer: </a:t>
            </a:r>
            <a:pPr indent="0" marL="0">
              <a:buNone/>
            </a:pPr>
            <a:r>
              <a:rPr lang="en-US" sz="1400" dirty="0">
                <a:solidFill>
                  <a:srgbClr val="33414F"/>
                </a:solidFill>
              </a:rPr>
              <a:t>transcript, console log, raw JSONL, a resumable session</a:t>
            </a:r>
            <a:endParaRPr lang="en-US" sz="1400" dirty="0"/>
          </a:p>
        </p:txBody>
      </p:sp>
      <p:sp>
        <p:nvSpPr>
          <p:cNvPr id="61" name="t374"/>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i="1" dirty="0">
                <a:solidFill>
                  <a:schemeClr val="accent2"/>
                </a:solidFill>
              </a:rPr>
              <a:t>wpk dash serves it locally; --tailnet shares it over Tailscale with an identity check.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Tuned for tokens, by measurement</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Record what every step costs, then change how steps are sized and chained</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a step really pays for</a:t>
            </a:r>
            <a:endParaRPr lang="en-US" sz="3400" dirty="0"/>
          </a:p>
        </p:txBody>
      </p:sp>
      <p:sp>
        <p:nvSpPr>
          <p:cNvPr id="3" name="t375"/>
          <p:cNvSpPr txBox="1"/>
          <p:nvPr/>
        </p:nvSpPr>
        <p:spPr>
          <a:xfrm>
            <a:off x="548640" y="128016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0.1×</a:t>
            </a:r>
            <a:endParaRPr lang="en-US" sz="4800" dirty="0"/>
          </a:p>
        </p:txBody>
      </p:sp>
      <p:sp>
        <p:nvSpPr>
          <p:cNvPr id="4" name="t376"/>
          <p:cNvSpPr txBox="1"/>
          <p:nvPr/>
        </p:nvSpPr>
        <p:spPr>
          <a:xfrm>
            <a:off x="548640" y="2194560"/>
            <a:ext cx="2560320" cy="685800"/>
          </a:xfrm>
          <a:prstGeom prst="rect">
            <a:avLst/>
          </a:prstGeom>
          <a:noFill/>
          <a:ln/>
        </p:spPr>
        <p:txBody>
          <a:bodyPr wrap="square" lIns="0" tIns="0" rIns="0" bIns="0" rtlCol="0" anchor="t"/>
          <a:lstStyle/>
          <a:p>
            <a:pPr indent="0" marL="0">
              <a:buNone/>
            </a:pPr>
            <a:r>
              <a:rPr lang="en-US" sz="1300" dirty="0">
                <a:solidFill>
                  <a:schemeClr val="tx2"/>
                </a:solidFill>
              </a:rPr>
              <a:t>input price for a cache read</a:t>
            </a:r>
            <a:endParaRPr lang="en-US" sz="1300" dirty="0"/>
          </a:p>
        </p:txBody>
      </p:sp>
      <p:sp>
        <p:nvSpPr>
          <p:cNvPr id="5" name="t377"/>
          <p:cNvSpPr txBox="1"/>
          <p:nvPr/>
        </p:nvSpPr>
        <p:spPr>
          <a:xfrm>
            <a:off x="3291840" y="128016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6" name="t378"/>
          <p:cNvSpPr txBox="1"/>
          <p:nvPr/>
        </p:nvSpPr>
        <p:spPr>
          <a:xfrm>
            <a:off x="3291840" y="2194560"/>
            <a:ext cx="2560320" cy="685800"/>
          </a:xfrm>
          <a:prstGeom prst="rect">
            <a:avLst/>
          </a:prstGeom>
          <a:noFill/>
          <a:ln/>
        </p:spPr>
        <p:txBody>
          <a:bodyPr wrap="square" lIns="0" tIns="0" rIns="0" bIns="0" rtlCol="0" anchor="t"/>
          <a:lstStyle/>
          <a:p>
            <a:pPr indent="0" marL="0">
              <a:buNone/>
            </a:pPr>
            <a:r>
              <a:rPr lang="en-US" sz="1300" dirty="0">
                <a:solidFill>
                  <a:schemeClr val="tx2"/>
                </a:solidFill>
              </a:rPr>
              <a:t>input price for a 1-hour cache write</a:t>
            </a:r>
            <a:endParaRPr lang="en-US" sz="1300" dirty="0"/>
          </a:p>
        </p:txBody>
      </p:sp>
      <p:sp>
        <p:nvSpPr>
          <p:cNvPr id="7" name="t379"/>
          <p:cNvSpPr txBox="1"/>
          <p:nvPr/>
        </p:nvSpPr>
        <p:spPr>
          <a:xfrm>
            <a:off x="6035040" y="128016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8" name="t380"/>
          <p:cNvSpPr txBox="1"/>
          <p:nvPr/>
        </p:nvSpPr>
        <p:spPr>
          <a:xfrm>
            <a:off x="6035040" y="2194560"/>
            <a:ext cx="2560320" cy="685800"/>
          </a:xfrm>
          <a:prstGeom prst="rect">
            <a:avLst/>
          </a:prstGeom>
          <a:noFill/>
          <a:ln/>
        </p:spPr>
        <p:txBody>
          <a:bodyPr wrap="square" lIns="0" tIns="0" rIns="0" bIns="0" rtlCol="0" anchor="t"/>
          <a:lstStyle/>
          <a:p>
            <a:pPr indent="0" marL="0">
              <a:buNone/>
            </a:pPr>
            <a:r>
              <a:rPr lang="en-US" sz="1300" dirty="0">
                <a:solidFill>
                  <a:schemeClr val="tx2"/>
                </a:solidFill>
              </a:rPr>
              <a:t>more input than output tokens in practice</a:t>
            </a:r>
            <a:endParaRPr lang="en-US" sz="1300" dirty="0"/>
          </a:p>
        </p:txBody>
      </p:sp>
      <p:sp>
        <p:nvSpPr>
          <p:cNvPr id="9" name="t381"/>
          <p:cNvSpPr txBox="1"/>
          <p:nvPr/>
        </p:nvSpPr>
        <p:spPr>
          <a:xfrm>
            <a:off x="8778240" y="1280160"/>
            <a:ext cx="2743200" cy="86868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97%</a:t>
            </a:r>
            <a:endParaRPr lang="en-US" sz="4800" dirty="0"/>
          </a:p>
        </p:txBody>
      </p:sp>
      <p:sp>
        <p:nvSpPr>
          <p:cNvPr id="10" name="t382"/>
          <p:cNvSpPr txBox="1"/>
          <p:nvPr/>
        </p:nvSpPr>
        <p:spPr>
          <a:xfrm>
            <a:off x="8778240" y="2194560"/>
            <a:ext cx="2743200" cy="685800"/>
          </a:xfrm>
          <a:prstGeom prst="rect">
            <a:avLst/>
          </a:prstGeom>
          <a:noFill/>
          <a:ln/>
        </p:spPr>
        <p:txBody>
          <a:bodyPr wrap="square" lIns="0" tIns="0" rIns="0" bIns="0" rtlCol="0" anchor="t"/>
          <a:lstStyle/>
          <a:p>
            <a:pPr indent="0" marL="0">
              <a:buNone/>
            </a:pPr>
            <a:r>
              <a:rPr lang="en-US" sz="1300" dirty="0">
                <a:solidFill>
                  <a:schemeClr val="tx2"/>
                </a:solidFill>
              </a:rPr>
              <a:t>of context tokens served from the cache (dvs-enh)</a:t>
            </a:r>
            <a:endParaRPr lang="en-US" sz="1300" dirty="0"/>
          </a:p>
        </p:txBody>
      </p:sp>
      <p:sp>
        <p:nvSpPr>
          <p:cNvPr id="11" name="card383"/>
          <p:cNvSpPr/>
          <p:nvPr/>
        </p:nvSpPr>
        <p:spPr>
          <a:xfrm>
            <a:off x="548640" y="3429000"/>
            <a:ext cx="11094415" cy="2514600"/>
          </a:xfrm>
          <a:prstGeom prst="roundRect">
            <a:avLst>
              <a:gd name="adj" fmla="val 2909"/>
            </a:avLst>
          </a:prstGeom>
          <a:solidFill>
            <a:schemeClr val="tx1"/>
          </a:solidFill>
          <a:ln w="9525">
            <a:solidFill>
              <a:schemeClr val="tx1"/>
            </a:solidFill>
            <a:prstDash val="solid"/>
          </a:ln>
        </p:spPr>
      </p:sp>
      <p:sp>
        <p:nvSpPr>
          <p:cNvPr id="12" name="t384"/>
          <p:cNvSpPr txBox="1"/>
          <p:nvPr/>
        </p:nvSpPr>
        <p:spPr>
          <a:xfrm>
            <a:off x="868680" y="3611880"/>
            <a:ext cx="4572000" cy="365760"/>
          </a:xfrm>
          <a:prstGeom prst="rect">
            <a:avLst/>
          </a:prstGeom>
          <a:noFill/>
          <a:ln/>
        </p:spPr>
        <p:txBody>
          <a:bodyPr wrap="square" lIns="0" tIns="0" rIns="0" bIns="0" rtlCol="0" anchor="t"/>
          <a:lstStyle/>
          <a:p>
            <a:pPr indent="0" marL="0">
              <a:buNone/>
            </a:pPr>
            <a:r>
              <a:rPr lang="en-US" sz="1800" b="1" dirty="0">
                <a:solidFill>
                  <a:srgbClr val="E8A33D"/>
                </a:solidFill>
              </a:rPr>
              <a:t>Consequences</a:t>
            </a:r>
            <a:endParaRPr lang="en-US" sz="1800" dirty="0"/>
          </a:p>
        </p:txBody>
      </p:sp>
      <p:sp>
        <p:nvSpPr>
          <p:cNvPr id="13" name="t385"/>
          <p:cNvSpPr txBox="1"/>
          <p:nvPr/>
        </p:nvSpPr>
        <p:spPr>
          <a:xfrm>
            <a:off x="868680" y="4069080"/>
            <a:ext cx="10454335"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Input, not output, is the bill: every call re-reads the context</a:t>
            </a:r>
            <a:endParaRPr lang="en-US" sz="1500" dirty="0"/>
          </a:p>
          <a:p>
            <a:pPr marL="342900" indent="-342900">
              <a:spcAft>
                <a:spcPts val="600"/>
              </a:spcAft>
              <a:buSzPct val="100000"/>
              <a:buChar char="•"/>
            </a:pPr>
            <a:r>
              <a:rPr lang="en-US" sz="1500" dirty="0">
                <a:solidFill>
                  <a:srgbClr val="FFFFFF"/>
                </a:solidFill>
              </a:rPr>
              <a:t>A session's cost grows roughly with the square of its length</a:t>
            </a:r>
            <a:endParaRPr lang="en-US" sz="1500" dirty="0"/>
          </a:p>
          <a:p>
            <a:pPr marL="342900" indent="-342900">
              <a:spcAft>
                <a:spcPts val="600"/>
              </a:spcAft>
              <a:buSzPct val="100000"/>
              <a:buChar char="•"/>
            </a:pPr>
            <a:r>
              <a:rPr lang="en-US" sz="1500" dirty="0">
                <a:solidFill>
                  <a:srgbClr val="FFFFFF"/>
                </a:solidFill>
              </a:rPr>
              <a:t>Carrying a session on beats starting fresh only while it is small: break-even near C ≈ 4–7 × the orientation context O</a:t>
            </a:r>
            <a:endParaRPr lang="en-US" sz="1500" dirty="0"/>
          </a:p>
          <a:p>
            <a:pPr marL="342900" indent="-342900">
              <a:spcAft>
                <a:spcPts val="600"/>
              </a:spcAft>
              <a:buSzPct val="100000"/>
              <a:buChar char="•"/>
            </a:pPr>
            <a:r>
              <a:rPr lang="en-US" sz="1500" dirty="0">
                <a:solidFill>
                  <a:srgbClr val="FFFFFF"/>
                </a:solidFill>
              </a:rPr>
              <a:t>Getting oriented costs 20–45k tokens: a third to half of an 80k step budget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Measure first: where the context went</a:t>
            </a:r>
            <a:endParaRPr lang="en-US" sz="3400" dirty="0"/>
          </a:p>
        </p:txBody>
      </p:sp>
      <p:graphicFrame>
        <p:nvGraphicFramePr>
          <p:cNvPr id="3" name="Chart 0" descr=""/>
          <p:cNvGraphicFramePr/>
          <p:nvPr/>
        </p:nvGraphicFramePr>
        <p:xfrm>
          <a:off x="548640" y="128016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4" name="t386"/>
          <p:cNvSpPr txBox="1"/>
          <p:nvPr/>
        </p:nvSpPr>
        <p:spPr>
          <a:xfrm>
            <a:off x="7498080" y="1280160"/>
            <a:ext cx="4114800" cy="365760"/>
          </a:xfrm>
          <a:prstGeom prst="rect">
            <a:avLst/>
          </a:prstGeom>
          <a:noFill/>
          <a:ln/>
        </p:spPr>
        <p:txBody>
          <a:bodyPr wrap="square" lIns="0" tIns="0" rIns="0" bIns="0" rtlCol="0" anchor="t"/>
          <a:lstStyle/>
          <a:p>
            <a:pPr indent="0" marL="0">
              <a:buNone/>
            </a:pPr>
            <a:r>
              <a:rPr lang="en-US" sz="1600" b="1" dirty="0">
                <a:solidFill>
                  <a:schemeClr val="accent2"/>
                </a:solidFill>
              </a:rPr>
              <a:t>dvs-enh totals at 19 attempts</a:t>
            </a:r>
            <a:endParaRPr lang="en-US" sz="1600" dirty="0"/>
          </a:p>
        </p:txBody>
      </p:sp>
      <p:sp>
        <p:nvSpPr>
          <p:cNvPr id="5" name="t387"/>
          <p:cNvSpPr txBox="1"/>
          <p:nvPr/>
        </p:nvSpPr>
        <p:spPr>
          <a:xfrm>
            <a:off x="7498080" y="1737360"/>
            <a:ext cx="21031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51.8M</a:t>
            </a:r>
            <a:endParaRPr lang="en-US" sz="3600" dirty="0"/>
          </a:p>
        </p:txBody>
      </p:sp>
      <p:sp>
        <p:nvSpPr>
          <p:cNvPr id="6" name="t388"/>
          <p:cNvSpPr txBox="1"/>
          <p:nvPr/>
        </p:nvSpPr>
        <p:spPr>
          <a:xfrm>
            <a:off x="9646920" y="1737360"/>
            <a:ext cx="2011680" cy="822960"/>
          </a:xfrm>
          <a:prstGeom prst="rect">
            <a:avLst/>
          </a:prstGeom>
          <a:noFill/>
          <a:ln/>
        </p:spPr>
        <p:txBody>
          <a:bodyPr wrap="square" lIns="0" tIns="0" rIns="0" bIns="0" rtlCol="0" anchor="ctr"/>
          <a:lstStyle/>
          <a:p>
            <a:pPr indent="0" marL="0">
              <a:buNone/>
            </a:pPr>
            <a:r>
              <a:rPr lang="en-US" sz="1400" dirty="0">
                <a:solidFill>
                  <a:schemeClr val="tx2"/>
                </a:solidFill>
              </a:rPr>
              <a:t>context tokens</a:t>
            </a:r>
            <a:endParaRPr lang="en-US" sz="1400" dirty="0"/>
          </a:p>
        </p:txBody>
      </p:sp>
      <p:sp>
        <p:nvSpPr>
          <p:cNvPr id="7" name="t389"/>
          <p:cNvSpPr txBox="1"/>
          <p:nvPr/>
        </p:nvSpPr>
        <p:spPr>
          <a:xfrm>
            <a:off x="7498080" y="2926080"/>
            <a:ext cx="21031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$20.70</a:t>
            </a:r>
            <a:endParaRPr lang="en-US" sz="3600" dirty="0"/>
          </a:p>
        </p:txBody>
      </p:sp>
      <p:sp>
        <p:nvSpPr>
          <p:cNvPr id="8" name="t390"/>
          <p:cNvSpPr txBox="1"/>
          <p:nvPr/>
        </p:nvSpPr>
        <p:spPr>
          <a:xfrm>
            <a:off x="9646920" y="2926080"/>
            <a:ext cx="2011680" cy="822960"/>
          </a:xfrm>
          <a:prstGeom prst="rect">
            <a:avLst/>
          </a:prstGeom>
          <a:noFill/>
          <a:ln/>
        </p:spPr>
        <p:txBody>
          <a:bodyPr wrap="square" lIns="0" tIns="0" rIns="0" bIns="0" rtlCol="0" anchor="ctr"/>
          <a:lstStyle/>
          <a:p>
            <a:pPr indent="0" marL="0">
              <a:buNone/>
            </a:pPr>
            <a:r>
              <a:rPr lang="en-US" sz="1400" dirty="0">
                <a:solidFill>
                  <a:schemeClr val="tx2"/>
                </a:solidFill>
              </a:rPr>
              <a:t>total spend</a:t>
            </a:r>
            <a:endParaRPr lang="en-US" sz="1400" dirty="0"/>
          </a:p>
        </p:txBody>
      </p:sp>
      <p:sp>
        <p:nvSpPr>
          <p:cNvPr id="9" name="t391"/>
          <p:cNvSpPr txBox="1"/>
          <p:nvPr/>
        </p:nvSpPr>
        <p:spPr>
          <a:xfrm>
            <a:off x="7498080" y="4114800"/>
            <a:ext cx="21031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13%</a:t>
            </a:r>
            <a:endParaRPr lang="en-US" sz="3600" dirty="0"/>
          </a:p>
        </p:txBody>
      </p:sp>
      <p:sp>
        <p:nvSpPr>
          <p:cNvPr id="10" name="t392"/>
          <p:cNvSpPr txBox="1"/>
          <p:nvPr/>
        </p:nvSpPr>
        <p:spPr>
          <a:xfrm>
            <a:off x="9646920" y="4114800"/>
            <a:ext cx="2011680" cy="822960"/>
          </a:xfrm>
          <a:prstGeom prst="rect">
            <a:avLst/>
          </a:prstGeom>
          <a:noFill/>
          <a:ln/>
        </p:spPr>
        <p:txBody>
          <a:bodyPr wrap="square" lIns="0" tIns="0" rIns="0" bIns="0" rtlCol="0" anchor="ctr"/>
          <a:lstStyle/>
          <a:p>
            <a:pPr indent="0" marL="0">
              <a:buNone/>
            </a:pPr>
            <a:r>
              <a:rPr lang="en-US" sz="1400" dirty="0">
                <a:solidFill>
                  <a:schemeClr val="tx2"/>
                </a:solidFill>
              </a:rPr>
              <a:t>of tokens on failed attempts</a:t>
            </a:r>
            <a:endParaRPr lang="en-US" sz="1400" dirty="0"/>
          </a:p>
        </p:txBody>
      </p:sp>
      <p:sp>
        <p:nvSpPr>
          <p:cNvPr id="11" name="t393"/>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500" b="1" i="1" dirty="0">
                <a:solidFill>
                  <a:schemeClr val="accent4"/>
                </a:solidFill>
              </a:rPr>
              <a:t>The ~23k-token prompt is read on every call: the biggest single lever.</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Case study: what dvs-enh's first steps taught us</a:t>
            </a:r>
            <a:endParaRPr lang="en-US" sz="3400" dirty="0"/>
          </a:p>
        </p:txBody>
      </p:sp>
      <p:sp>
        <p:nvSpPr>
          <p:cNvPr id="3" name="t394"/>
          <p:cNvSpPr txBox="1"/>
          <p:nvPr/>
        </p:nvSpPr>
        <p:spPr>
          <a:xfrm>
            <a:off x="548640" y="1188720"/>
            <a:ext cx="11094415" cy="365760"/>
          </a:xfrm>
          <a:prstGeom prst="rect">
            <a:avLst/>
          </a:prstGeom>
          <a:noFill/>
          <a:ln/>
        </p:spPr>
        <p:txBody>
          <a:bodyPr wrap="square" lIns="0" tIns="0" rIns="0" bIns="0" rtlCol="0" anchor="t"/>
          <a:lstStyle/>
          <a:p>
            <a:pPr indent="0" marL="0">
              <a:buNone/>
            </a:pPr>
            <a:r>
              <a:rPr lang="en-US" sz="1500" i="1" dirty="0">
                <a:solidFill>
                  <a:schemeClr val="tx2"/>
                </a:solidFill>
              </a:rPr>
              <a:t>A real packet: the dv-solve enhancement plan, Sonnet 5, an 80k context limit, a clone of dv-solve in work/</a:t>
            </a:r>
            <a:endParaRPr lang="en-US" sz="1500" dirty="0"/>
          </a:p>
        </p:txBody>
      </p:sp>
      <p:sp>
        <p:nvSpPr>
          <p:cNvPr id="4" name="t395"/>
          <p:cNvSpPr txBox="1"/>
          <p:nvPr/>
        </p:nvSpPr>
        <p:spPr>
          <a:xfrm>
            <a:off x="548640" y="1691640"/>
            <a:ext cx="5852160" cy="320040"/>
          </a:xfrm>
          <a:prstGeom prst="rect">
            <a:avLst/>
          </a:prstGeom>
          <a:noFill/>
          <a:ln/>
        </p:spPr>
        <p:txBody>
          <a:bodyPr wrap="square" lIns="0" tIns="0" rIns="0" bIns="0" rtlCol="0" anchor="t"/>
          <a:lstStyle/>
          <a:p>
            <a:pPr indent="0" marL="0">
              <a:buNone/>
            </a:pPr>
            <a:r>
              <a:rPr lang="en-US" sz="1500" b="1" dirty="0">
                <a:solidFill>
                  <a:schemeClr val="accent4"/>
                </a:solidFill>
              </a:rPr>
              <a:t>What we saw</a:t>
            </a:r>
            <a:endParaRPr lang="en-US" sz="1500" dirty="0"/>
          </a:p>
        </p:txBody>
      </p:sp>
      <p:sp>
        <p:nvSpPr>
          <p:cNvPr id="5" name="t396"/>
          <p:cNvSpPr txBox="1"/>
          <p:nvPr/>
        </p:nvSpPr>
        <p:spPr>
          <a:xfrm>
            <a:off x="6766560" y="1691640"/>
            <a:ext cx="4846320" cy="320040"/>
          </a:xfrm>
          <a:prstGeom prst="rect">
            <a:avLst/>
          </a:prstGeom>
          <a:noFill/>
          <a:ln/>
        </p:spPr>
        <p:txBody>
          <a:bodyPr wrap="square" lIns="0" tIns="0" rIns="0" bIns="0" rtlCol="0" anchor="t"/>
          <a:lstStyle/>
          <a:p>
            <a:pPr indent="0" marL="0">
              <a:buNone/>
            </a:pPr>
            <a:r>
              <a:rPr lang="en-US" sz="1500" b="1" dirty="0">
                <a:solidFill>
                  <a:schemeClr val="accent2"/>
                </a:solidFill>
              </a:rPr>
              <a:t>What changed</a:t>
            </a:r>
            <a:endParaRPr lang="en-US" sz="1500" dirty="0"/>
          </a:p>
        </p:txBody>
      </p:sp>
      <p:sp>
        <p:nvSpPr>
          <p:cNvPr id="6" name="card397"/>
          <p:cNvSpPr/>
          <p:nvPr/>
        </p:nvSpPr>
        <p:spPr>
          <a:xfrm>
            <a:off x="548640" y="2103120"/>
            <a:ext cx="5852160" cy="694944"/>
          </a:xfrm>
          <a:prstGeom prst="roundRect">
            <a:avLst>
              <a:gd name="adj" fmla="val 10526"/>
            </a:avLst>
          </a:prstGeom>
          <a:solidFill>
            <a:schemeClr val="bg2"/>
          </a:solidFill>
          <a:ln w="9525">
            <a:solidFill>
              <a:schemeClr val="bg2"/>
            </a:solidFill>
            <a:prstDash val="solid"/>
          </a:ln>
        </p:spPr>
      </p:sp>
      <p:sp>
        <p:nvSpPr>
          <p:cNvPr id="7" name="t398"/>
          <p:cNvSpPr txBox="1"/>
          <p:nvPr/>
        </p:nvSpPr>
        <p:spPr>
          <a:xfrm>
            <a:off x="731520" y="2157984"/>
            <a:ext cx="5486400" cy="320040"/>
          </a:xfrm>
          <a:prstGeom prst="rect">
            <a:avLst/>
          </a:prstGeom>
          <a:noFill/>
          <a:ln/>
        </p:spPr>
        <p:txBody>
          <a:bodyPr wrap="square" lIns="0" tIns="0" rIns="0" bIns="0" rtlCol="0" anchor="t"/>
          <a:lstStyle/>
          <a:p>
            <a:pPr indent="0" marL="0">
              <a:buNone/>
            </a:pPr>
            <a:r>
              <a:rPr lang="en-US" sz="1400" b="1" dirty="0">
                <a:solidFill>
                  <a:schemeClr val="tx1"/>
                </a:solidFill>
              </a:rPr>
              <a:t>The context limit set the step boundary</a:t>
            </a:r>
            <a:endParaRPr lang="en-US" sz="1400" dirty="0"/>
          </a:p>
        </p:txBody>
      </p:sp>
      <p:sp>
        <p:nvSpPr>
          <p:cNvPr id="8" name="t399"/>
          <p:cNvSpPr txBox="1"/>
          <p:nvPr/>
        </p:nvSpPr>
        <p:spPr>
          <a:xfrm>
            <a:off x="731520" y="2468880"/>
            <a:ext cx="5486400" cy="292608"/>
          </a:xfrm>
          <a:prstGeom prst="rect">
            <a:avLst/>
          </a:prstGeom>
          <a:noFill/>
          <a:ln/>
        </p:spPr>
        <p:txBody>
          <a:bodyPr wrap="square" lIns="0" tIns="0" rIns="0" bIns="0" rtlCol="0" anchor="t"/>
          <a:lstStyle/>
          <a:p>
            <a:pPr indent="0" marL="0">
              <a:buNone/>
            </a:pPr>
            <a:r>
              <a:rPr lang="en-US" sz="1200" dirty="0">
                <a:solidFill>
                  <a:schemeClr val="tx2"/>
                </a:solidFill>
              </a:rPr>
              <a:t>fired in 6 of 8 steps; no step did exactly one item</a:t>
            </a:r>
            <a:endParaRPr lang="en-US" sz="1200" dirty="0"/>
          </a:p>
        </p:txBody>
      </p:sp>
      <p:sp>
        <p:nvSpPr>
          <p:cNvPr id="9" name="arr400"/>
          <p:cNvSpPr/>
          <p:nvPr/>
        </p:nvSpPr>
        <p:spPr>
          <a:xfrm>
            <a:off x="6446520" y="2331720"/>
            <a:ext cx="274320" cy="237744"/>
          </a:xfrm>
          <a:prstGeom prst="rightArrow">
            <a:avLst/>
          </a:prstGeom>
          <a:solidFill>
            <a:schemeClr val="accent2"/>
          </a:solidFill>
          <a:ln w="12700">
            <a:solidFill>
              <a:schemeClr val="accent2"/>
            </a:solidFill>
            <a:prstDash val="solid"/>
          </a:ln>
        </p:spPr>
      </p:sp>
      <p:sp>
        <p:nvSpPr>
          <p:cNvPr id="10" name="card401"/>
          <p:cNvSpPr/>
          <p:nvPr/>
        </p:nvSpPr>
        <p:spPr>
          <a:xfrm>
            <a:off x="6766560" y="2103120"/>
            <a:ext cx="4873752" cy="694944"/>
          </a:xfrm>
          <a:prstGeom prst="roundRect">
            <a:avLst>
              <a:gd name="adj" fmla="val 10526"/>
            </a:avLst>
          </a:prstGeom>
          <a:solidFill>
            <a:srgbClr val="D5ECE9"/>
          </a:solidFill>
          <a:ln w="9525">
            <a:solidFill>
              <a:srgbClr val="D5ECE9"/>
            </a:solidFill>
            <a:prstDash val="solid"/>
          </a:ln>
        </p:spPr>
      </p:sp>
      <p:sp>
        <p:nvSpPr>
          <p:cNvPr id="11" name="t402"/>
          <p:cNvSpPr txBox="1"/>
          <p:nvPr/>
        </p:nvSpPr>
        <p:spPr>
          <a:xfrm>
            <a:off x="6949440" y="2103120"/>
            <a:ext cx="4572000" cy="694944"/>
          </a:xfrm>
          <a:prstGeom prst="rect">
            <a:avLst/>
          </a:prstGeom>
          <a:noFill/>
          <a:ln/>
        </p:spPr>
        <p:txBody>
          <a:bodyPr wrap="square" lIns="0" tIns="0" rIns="0" bIns="0" rtlCol="0" anchor="ctr"/>
          <a:lstStyle/>
          <a:p>
            <a:pPr indent="0" marL="0">
              <a:buNone/>
            </a:pPr>
            <a:r>
              <a:rPr lang="en-US" sz="1300" dirty="0">
                <a:solidFill>
                  <a:schemeClr val="tx1"/>
                </a:solidFill>
              </a:rPr>
              <a:t>Size outline items to one step and one commit when planning</a:t>
            </a:r>
            <a:endParaRPr lang="en-US" sz="1300" dirty="0"/>
          </a:p>
        </p:txBody>
      </p:sp>
      <p:sp>
        <p:nvSpPr>
          <p:cNvPr id="12" name="card403"/>
          <p:cNvSpPr/>
          <p:nvPr/>
        </p:nvSpPr>
        <p:spPr>
          <a:xfrm>
            <a:off x="548640" y="2889504"/>
            <a:ext cx="5852160" cy="694944"/>
          </a:xfrm>
          <a:prstGeom prst="roundRect">
            <a:avLst>
              <a:gd name="adj" fmla="val 10526"/>
            </a:avLst>
          </a:prstGeom>
          <a:solidFill>
            <a:schemeClr val="bg2"/>
          </a:solidFill>
          <a:ln w="9525">
            <a:solidFill>
              <a:schemeClr val="bg2"/>
            </a:solidFill>
            <a:prstDash val="solid"/>
          </a:ln>
        </p:spPr>
      </p:sp>
      <p:sp>
        <p:nvSpPr>
          <p:cNvPr id="13" name="t404"/>
          <p:cNvSpPr txBox="1"/>
          <p:nvPr/>
        </p:nvSpPr>
        <p:spPr>
          <a:xfrm>
            <a:off x="731520" y="2944368"/>
            <a:ext cx="5486400" cy="320040"/>
          </a:xfrm>
          <a:prstGeom prst="rect">
            <a:avLst/>
          </a:prstGeom>
          <a:noFill/>
          <a:ln/>
        </p:spPr>
        <p:txBody>
          <a:bodyPr wrap="square" lIns="0" tIns="0" rIns="0" bIns="0" rtlCol="0" anchor="t"/>
          <a:lstStyle/>
          <a:p>
            <a:pPr indent="0" marL="0">
              <a:buNone/>
            </a:pPr>
            <a:r>
              <a:rPr lang="en-US" sz="1400" b="1" dirty="0">
                <a:solidFill>
                  <a:schemeClr val="tx1"/>
                </a:solidFill>
              </a:rPr>
              <a:t>Orientation cost 20–45k tokens</a:t>
            </a:r>
            <a:endParaRPr lang="en-US" sz="1400" dirty="0"/>
          </a:p>
        </p:txBody>
      </p:sp>
      <p:sp>
        <p:nvSpPr>
          <p:cNvPr id="14" name="t405"/>
          <p:cNvSpPr txBox="1"/>
          <p:nvPr/>
        </p:nvSpPr>
        <p:spPr>
          <a:xfrm>
            <a:off x="731520" y="3255264"/>
            <a:ext cx="5486400" cy="292608"/>
          </a:xfrm>
          <a:prstGeom prst="rect">
            <a:avLst/>
          </a:prstGeom>
          <a:noFill/>
          <a:ln/>
        </p:spPr>
        <p:txBody>
          <a:bodyPr wrap="square" lIns="0" tIns="0" rIns="0" bIns="0" rtlCol="0" anchor="t"/>
          <a:lstStyle/>
          <a:p>
            <a:pPr indent="0" marL="0">
              <a:buNone/>
            </a:pPr>
            <a:r>
              <a:rPr lang="en-US" sz="1200" dirty="0">
                <a:solidFill>
                  <a:schemeClr val="tx2"/>
                </a:solidFill>
              </a:rPr>
              <a:t>a third to half of each step's budget, re-reading the same files</a:t>
            </a:r>
            <a:endParaRPr lang="en-US" sz="1200" dirty="0"/>
          </a:p>
        </p:txBody>
      </p:sp>
      <p:sp>
        <p:nvSpPr>
          <p:cNvPr id="15" name="arr406"/>
          <p:cNvSpPr/>
          <p:nvPr/>
        </p:nvSpPr>
        <p:spPr>
          <a:xfrm>
            <a:off x="6446520" y="3118104"/>
            <a:ext cx="274320" cy="237744"/>
          </a:xfrm>
          <a:prstGeom prst="rightArrow">
            <a:avLst/>
          </a:prstGeom>
          <a:solidFill>
            <a:schemeClr val="accent2"/>
          </a:solidFill>
          <a:ln w="12700">
            <a:solidFill>
              <a:schemeClr val="accent2"/>
            </a:solidFill>
            <a:prstDash val="solid"/>
          </a:ln>
        </p:spPr>
      </p:sp>
      <p:sp>
        <p:nvSpPr>
          <p:cNvPr id="16" name="card407"/>
          <p:cNvSpPr/>
          <p:nvPr/>
        </p:nvSpPr>
        <p:spPr>
          <a:xfrm>
            <a:off x="6766560" y="2889504"/>
            <a:ext cx="4873752" cy="694944"/>
          </a:xfrm>
          <a:prstGeom prst="roundRect">
            <a:avLst>
              <a:gd name="adj" fmla="val 10526"/>
            </a:avLst>
          </a:prstGeom>
          <a:solidFill>
            <a:srgbClr val="D5ECE9"/>
          </a:solidFill>
          <a:ln w="9525">
            <a:solidFill>
              <a:srgbClr val="D5ECE9"/>
            </a:solidFill>
            <a:prstDash val="solid"/>
          </a:ln>
        </p:spPr>
      </p:sp>
      <p:sp>
        <p:nvSpPr>
          <p:cNvPr id="17" name="t408"/>
          <p:cNvSpPr txBox="1"/>
          <p:nvPr/>
        </p:nvSpPr>
        <p:spPr>
          <a:xfrm>
            <a:off x="6949440" y="2889504"/>
            <a:ext cx="4572000" cy="694944"/>
          </a:xfrm>
          <a:prstGeom prst="rect">
            <a:avLst/>
          </a:prstGeom>
          <a:noFill/>
          <a:ln/>
        </p:spPr>
        <p:txBody>
          <a:bodyPr wrap="square" lIns="0" tIns="0" rIns="0" bIns="0" rtlCol="0" anchor="ctr"/>
          <a:lstStyle/>
          <a:p>
            <a:pPr indent="0" marL="0">
              <a:buNone/>
            </a:pPr>
            <a:r>
              <a:rPr lang="en-US" sz="1300" dirty="0">
                <a:solidFill>
                  <a:schemeClr val="tx1"/>
                </a:solidFill>
              </a:rPr>
              <a:t>Memento names the exact next action and file ranges; cap ~2 KB</a:t>
            </a:r>
            <a:endParaRPr lang="en-US" sz="1300" dirty="0"/>
          </a:p>
        </p:txBody>
      </p:sp>
      <p:sp>
        <p:nvSpPr>
          <p:cNvPr id="18" name="card409"/>
          <p:cNvSpPr/>
          <p:nvPr/>
        </p:nvSpPr>
        <p:spPr>
          <a:xfrm>
            <a:off x="548640" y="3675888"/>
            <a:ext cx="5852160" cy="694944"/>
          </a:xfrm>
          <a:prstGeom prst="roundRect">
            <a:avLst>
              <a:gd name="adj" fmla="val 10526"/>
            </a:avLst>
          </a:prstGeom>
          <a:solidFill>
            <a:schemeClr val="bg2"/>
          </a:solidFill>
          <a:ln w="9525">
            <a:solidFill>
              <a:schemeClr val="bg2"/>
            </a:solidFill>
            <a:prstDash val="solid"/>
          </a:ln>
        </p:spPr>
      </p:sp>
      <p:sp>
        <p:nvSpPr>
          <p:cNvPr id="19" name="t410"/>
          <p:cNvSpPr txBox="1"/>
          <p:nvPr/>
        </p:nvSpPr>
        <p:spPr>
          <a:xfrm>
            <a:off x="731520" y="3730752"/>
            <a:ext cx="5486400" cy="320040"/>
          </a:xfrm>
          <a:prstGeom prst="rect">
            <a:avLst/>
          </a:prstGeom>
          <a:noFill/>
          <a:ln/>
        </p:spPr>
        <p:txBody>
          <a:bodyPr wrap="square" lIns="0" tIns="0" rIns="0" bIns="0" rtlCol="0" anchor="t"/>
          <a:lstStyle/>
          <a:p>
            <a:pPr indent="0" marL="0">
              <a:buNone/>
            </a:pPr>
            <a:r>
              <a:rPr lang="en-US" sz="1400" b="1" dirty="0">
                <a:solidFill>
                  <a:schemeClr val="tx1"/>
                </a:solidFill>
              </a:rPr>
              <a:t>Research handed on as prose was redone</a:t>
            </a:r>
            <a:endParaRPr lang="en-US" sz="1400" dirty="0"/>
          </a:p>
        </p:txBody>
      </p:sp>
      <p:sp>
        <p:nvSpPr>
          <p:cNvPr id="20" name="t411"/>
          <p:cNvSpPr txBox="1"/>
          <p:nvPr/>
        </p:nvSpPr>
        <p:spPr>
          <a:xfrm>
            <a:off x="731520" y="4041648"/>
            <a:ext cx="5486400" cy="292608"/>
          </a:xfrm>
          <a:prstGeom prst="rect">
            <a:avLst/>
          </a:prstGeom>
          <a:noFill/>
          <a:ln/>
        </p:spPr>
        <p:txBody>
          <a:bodyPr wrap="square" lIns="0" tIns="0" rIns="0" bIns="0" rtlCol="0" anchor="t"/>
          <a:lstStyle/>
          <a:p>
            <a:pPr indent="0" marL="0">
              <a:buNone/>
            </a:pPr>
            <a:r>
              <a:rPr lang="en-US" sz="1200" dirty="0">
                <a:solidFill>
                  <a:schemeClr val="tx2"/>
                </a:solidFill>
              </a:rPr>
              <a:t>twice, the next step read everything again</a:t>
            </a:r>
            <a:endParaRPr lang="en-US" sz="1200" dirty="0"/>
          </a:p>
        </p:txBody>
      </p:sp>
      <p:sp>
        <p:nvSpPr>
          <p:cNvPr id="21" name="arr412"/>
          <p:cNvSpPr/>
          <p:nvPr/>
        </p:nvSpPr>
        <p:spPr>
          <a:xfrm>
            <a:off x="6446520" y="3904488"/>
            <a:ext cx="274320" cy="237744"/>
          </a:xfrm>
          <a:prstGeom prst="rightArrow">
            <a:avLst/>
          </a:prstGeom>
          <a:solidFill>
            <a:schemeClr val="accent2"/>
          </a:solidFill>
          <a:ln w="12700">
            <a:solidFill>
              <a:schemeClr val="accent2"/>
            </a:solidFill>
            <a:prstDash val="solid"/>
          </a:ln>
        </p:spPr>
      </p:sp>
      <p:sp>
        <p:nvSpPr>
          <p:cNvPr id="22" name="card413"/>
          <p:cNvSpPr/>
          <p:nvPr/>
        </p:nvSpPr>
        <p:spPr>
          <a:xfrm>
            <a:off x="6766560" y="3675888"/>
            <a:ext cx="4873752" cy="694944"/>
          </a:xfrm>
          <a:prstGeom prst="roundRect">
            <a:avLst>
              <a:gd name="adj" fmla="val 10526"/>
            </a:avLst>
          </a:prstGeom>
          <a:solidFill>
            <a:srgbClr val="D5ECE9"/>
          </a:solidFill>
          <a:ln w="9525">
            <a:solidFill>
              <a:srgbClr val="D5ECE9"/>
            </a:solidFill>
            <a:prstDash val="solid"/>
          </a:ln>
        </p:spPr>
      </p:sp>
      <p:sp>
        <p:nvSpPr>
          <p:cNvPr id="23" name="t414"/>
          <p:cNvSpPr txBox="1"/>
          <p:nvPr/>
        </p:nvSpPr>
        <p:spPr>
          <a:xfrm>
            <a:off x="6949440" y="3675888"/>
            <a:ext cx="4572000" cy="694944"/>
          </a:xfrm>
          <a:prstGeom prst="rect">
            <a:avLst/>
          </a:prstGeom>
          <a:noFill/>
          <a:ln/>
        </p:spPr>
        <p:txBody>
          <a:bodyPr wrap="square" lIns="0" tIns="0" rIns="0" bIns="0" rtlCol="0" anchor="ctr"/>
          <a:lstStyle/>
          <a:p>
            <a:pPr indent="0" marL="0">
              <a:buNone/>
            </a:pPr>
            <a:r>
              <a:rPr lang="en-US" sz="1300" dirty="0">
                <a:solidFill>
                  <a:schemeClr val="tx1"/>
                </a:solidFill>
              </a:rPr>
              <a:t>Stopping rule: start the next item only under half the limit</a:t>
            </a:r>
            <a:endParaRPr lang="en-US" sz="1300" dirty="0"/>
          </a:p>
        </p:txBody>
      </p:sp>
      <p:sp>
        <p:nvSpPr>
          <p:cNvPr id="24" name="card415"/>
          <p:cNvSpPr/>
          <p:nvPr/>
        </p:nvSpPr>
        <p:spPr>
          <a:xfrm>
            <a:off x="548640" y="4462272"/>
            <a:ext cx="5852160" cy="694944"/>
          </a:xfrm>
          <a:prstGeom prst="roundRect">
            <a:avLst>
              <a:gd name="adj" fmla="val 10526"/>
            </a:avLst>
          </a:prstGeom>
          <a:solidFill>
            <a:schemeClr val="bg2"/>
          </a:solidFill>
          <a:ln w="9525">
            <a:solidFill>
              <a:schemeClr val="bg2"/>
            </a:solidFill>
            <a:prstDash val="solid"/>
          </a:ln>
        </p:spPr>
      </p:sp>
      <p:sp>
        <p:nvSpPr>
          <p:cNvPr id="25" name="t416"/>
          <p:cNvSpPr txBox="1"/>
          <p:nvPr/>
        </p:nvSpPr>
        <p:spPr>
          <a:xfrm>
            <a:off x="731520" y="4517136"/>
            <a:ext cx="5486400" cy="320040"/>
          </a:xfrm>
          <a:prstGeom prst="rect">
            <a:avLst/>
          </a:prstGeom>
          <a:noFill/>
          <a:ln/>
        </p:spPr>
        <p:txBody>
          <a:bodyPr wrap="square" lIns="0" tIns="0" rIns="0" bIns="0" rtlCol="0" anchor="t"/>
          <a:lstStyle/>
          <a:p>
            <a:pPr indent="0" marL="0">
              <a:buNone/>
            </a:pPr>
            <a:r>
              <a:rPr lang="en-US" sz="1400" b="1" dirty="0">
                <a:solidFill>
                  <a:schemeClr val="tx1"/>
                </a:solidFill>
              </a:rPr>
              <a:t>Environment facts got lost or went wrong</a:t>
            </a:r>
            <a:endParaRPr lang="en-US" sz="1400" dirty="0"/>
          </a:p>
        </p:txBody>
      </p:sp>
      <p:sp>
        <p:nvSpPr>
          <p:cNvPr id="26" name="t417"/>
          <p:cNvSpPr txBox="1"/>
          <p:nvPr/>
        </p:nvSpPr>
        <p:spPr>
          <a:xfrm>
            <a:off x="731520" y="4828032"/>
            <a:ext cx="5486400" cy="292608"/>
          </a:xfrm>
          <a:prstGeom prst="rect">
            <a:avLst/>
          </a:prstGeom>
          <a:noFill/>
          <a:ln/>
        </p:spPr>
        <p:txBody>
          <a:bodyPr wrap="square" lIns="0" tIns="0" rIns="0" bIns="0" rtlCol="0" anchor="t"/>
          <a:lstStyle/>
          <a:p>
            <a:pPr indent="0" marL="0">
              <a:buNone/>
            </a:pPr>
            <a:r>
              <a:rPr lang="en-US" sz="1200" dirty="0">
                <a:solidFill>
                  <a:schemeClr val="tx2"/>
                </a:solidFill>
              </a:rPr>
              <a:t>solver path, venv, build flags rediscovered</a:t>
            </a:r>
            <a:endParaRPr lang="en-US" sz="1200" dirty="0"/>
          </a:p>
        </p:txBody>
      </p:sp>
      <p:sp>
        <p:nvSpPr>
          <p:cNvPr id="27" name="arr418"/>
          <p:cNvSpPr/>
          <p:nvPr/>
        </p:nvSpPr>
        <p:spPr>
          <a:xfrm>
            <a:off x="6446520" y="4690872"/>
            <a:ext cx="274320" cy="237744"/>
          </a:xfrm>
          <a:prstGeom prst="rightArrow">
            <a:avLst/>
          </a:prstGeom>
          <a:solidFill>
            <a:schemeClr val="accent2"/>
          </a:solidFill>
          <a:ln w="12700">
            <a:solidFill>
              <a:schemeClr val="accent2"/>
            </a:solidFill>
            <a:prstDash val="solid"/>
          </a:ln>
        </p:spPr>
      </p:sp>
      <p:sp>
        <p:nvSpPr>
          <p:cNvPr id="28" name="card419"/>
          <p:cNvSpPr/>
          <p:nvPr/>
        </p:nvSpPr>
        <p:spPr>
          <a:xfrm>
            <a:off x="6766560" y="4462272"/>
            <a:ext cx="4873752" cy="694944"/>
          </a:xfrm>
          <a:prstGeom prst="roundRect">
            <a:avLst>
              <a:gd name="adj" fmla="val 10526"/>
            </a:avLst>
          </a:prstGeom>
          <a:solidFill>
            <a:srgbClr val="D5ECE9"/>
          </a:solidFill>
          <a:ln w="9525">
            <a:solidFill>
              <a:srgbClr val="D5ECE9"/>
            </a:solidFill>
            <a:prstDash val="solid"/>
          </a:ln>
        </p:spPr>
      </p:sp>
      <p:sp>
        <p:nvSpPr>
          <p:cNvPr id="29" name="t420"/>
          <p:cNvSpPr txBox="1"/>
          <p:nvPr/>
        </p:nvSpPr>
        <p:spPr>
          <a:xfrm>
            <a:off x="6949440" y="4462272"/>
            <a:ext cx="4572000" cy="694944"/>
          </a:xfrm>
          <a:prstGeom prst="rect">
            <a:avLst/>
          </a:prstGeom>
          <a:noFill/>
          <a:ln/>
        </p:spPr>
        <p:txBody>
          <a:bodyPr wrap="square" lIns="0" tIns="0" rIns="0" bIns="0" rtlCol="0" anchor="ctr"/>
          <a:lstStyle/>
          <a:p>
            <a:pPr indent="0" marL="0">
              <a:buNone/>
            </a:pPr>
            <a:r>
              <a:rPr lang="en-US" sz="1300" dirty="0">
                <a:solidFill>
                  <a:schemeClr val="tx1"/>
                </a:solidFill>
              </a:rPr>
              <a:t>state/env.md: verified facts only, shown in every prompt</a:t>
            </a:r>
            <a:endParaRPr lang="en-US" sz="1300" dirty="0"/>
          </a:p>
        </p:txBody>
      </p:sp>
      <p:sp>
        <p:nvSpPr>
          <p:cNvPr id="30" name="card421"/>
          <p:cNvSpPr/>
          <p:nvPr/>
        </p:nvSpPr>
        <p:spPr>
          <a:xfrm>
            <a:off x="548640" y="5248656"/>
            <a:ext cx="5852160" cy="694944"/>
          </a:xfrm>
          <a:prstGeom prst="roundRect">
            <a:avLst>
              <a:gd name="adj" fmla="val 10526"/>
            </a:avLst>
          </a:prstGeom>
          <a:solidFill>
            <a:schemeClr val="bg2"/>
          </a:solidFill>
          <a:ln w="9525">
            <a:solidFill>
              <a:schemeClr val="bg2"/>
            </a:solidFill>
            <a:prstDash val="solid"/>
          </a:ln>
        </p:spPr>
      </p:sp>
      <p:sp>
        <p:nvSpPr>
          <p:cNvPr id="31" name="t422"/>
          <p:cNvSpPr txBox="1"/>
          <p:nvPr/>
        </p:nvSpPr>
        <p:spPr>
          <a:xfrm>
            <a:off x="731520" y="5303520"/>
            <a:ext cx="5486400" cy="320040"/>
          </a:xfrm>
          <a:prstGeom prst="rect">
            <a:avLst/>
          </a:prstGeom>
          <a:noFill/>
          <a:ln/>
        </p:spPr>
        <p:txBody>
          <a:bodyPr wrap="square" lIns="0" tIns="0" rIns="0" bIns="0" rtlCol="0" anchor="t"/>
          <a:lstStyle/>
          <a:p>
            <a:pPr indent="0" marL="0">
              <a:buNone/>
            </a:pPr>
            <a:r>
              <a:rPr lang="en-US" sz="1400" b="1" dirty="0">
                <a:solidFill>
                  <a:schemeClr val="tx1"/>
                </a:solidFill>
              </a:rPr>
              <a:t>The prompt grew from 15k to 25k</a:t>
            </a:r>
            <a:endParaRPr lang="en-US" sz="1400" dirty="0"/>
          </a:p>
        </p:txBody>
      </p:sp>
      <p:sp>
        <p:nvSpPr>
          <p:cNvPr id="32" name="t423"/>
          <p:cNvSpPr txBox="1"/>
          <p:nvPr/>
        </p:nvSpPr>
        <p:spPr>
          <a:xfrm>
            <a:off x="731520" y="5614416"/>
            <a:ext cx="5486400" cy="292608"/>
          </a:xfrm>
          <a:prstGeom prst="rect">
            <a:avLst/>
          </a:prstGeom>
          <a:noFill/>
          <a:ln/>
        </p:spPr>
        <p:txBody>
          <a:bodyPr wrap="square" lIns="0" tIns="0" rIns="0" bIns="0" rtlCol="0" anchor="t"/>
          <a:lstStyle/>
          <a:p>
            <a:pPr indent="0" marL="0">
              <a:buNone/>
            </a:pPr>
            <a:r>
              <a:rPr lang="en-US" sz="1200" dirty="0">
                <a:solidFill>
                  <a:schemeClr val="tx2"/>
                </a:solidFill>
              </a:rPr>
              <a:t>outline.md passed the 4 KB inline limit</a:t>
            </a:r>
            <a:endParaRPr lang="en-US" sz="1200" dirty="0"/>
          </a:p>
        </p:txBody>
      </p:sp>
      <p:sp>
        <p:nvSpPr>
          <p:cNvPr id="33" name="arr424"/>
          <p:cNvSpPr/>
          <p:nvPr/>
        </p:nvSpPr>
        <p:spPr>
          <a:xfrm>
            <a:off x="6446520" y="5477256"/>
            <a:ext cx="274320" cy="237744"/>
          </a:xfrm>
          <a:prstGeom prst="rightArrow">
            <a:avLst/>
          </a:prstGeom>
          <a:solidFill>
            <a:schemeClr val="accent2"/>
          </a:solidFill>
          <a:ln w="12700">
            <a:solidFill>
              <a:schemeClr val="accent2"/>
            </a:solidFill>
            <a:prstDash val="solid"/>
          </a:ln>
        </p:spPr>
      </p:sp>
      <p:sp>
        <p:nvSpPr>
          <p:cNvPr id="34" name="card425"/>
          <p:cNvSpPr/>
          <p:nvPr/>
        </p:nvSpPr>
        <p:spPr>
          <a:xfrm>
            <a:off x="6766560" y="5248656"/>
            <a:ext cx="4873752" cy="694944"/>
          </a:xfrm>
          <a:prstGeom prst="roundRect">
            <a:avLst>
              <a:gd name="adj" fmla="val 10526"/>
            </a:avLst>
          </a:prstGeom>
          <a:solidFill>
            <a:srgbClr val="D5ECE9"/>
          </a:solidFill>
          <a:ln w="9525">
            <a:solidFill>
              <a:srgbClr val="D5ECE9"/>
            </a:solidFill>
            <a:prstDash val="solid"/>
          </a:ln>
        </p:spPr>
      </p:sp>
      <p:sp>
        <p:nvSpPr>
          <p:cNvPr id="35" name="t426"/>
          <p:cNvSpPr txBox="1"/>
          <p:nvPr/>
        </p:nvSpPr>
        <p:spPr>
          <a:xfrm>
            <a:off x="6949440" y="5248656"/>
            <a:ext cx="4572000" cy="694944"/>
          </a:xfrm>
          <a:prstGeom prst="rect">
            <a:avLst/>
          </a:prstGeom>
          <a:noFill/>
          <a:ln/>
        </p:spPr>
        <p:txBody>
          <a:bodyPr wrap="square" lIns="0" tIns="0" rIns="0" bIns="0" rtlCol="0" anchor="ctr"/>
          <a:lstStyle/>
          <a:p>
            <a:pPr indent="0" marL="0">
              <a:buNone/>
            </a:pPr>
            <a:r>
              <a:rPr lang="en-US" sz="1300" dirty="0">
                <a:solidFill>
                  <a:schemeClr val="tx1"/>
                </a:solidFill>
              </a:rPr>
              <a:t>Results go to state/log.md; answered questions archived</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Five controls on context</a:t>
            </a:r>
            <a:endParaRPr lang="en-US" sz="3400" dirty="0"/>
          </a:p>
        </p:txBody>
      </p:sp>
      <p:sp>
        <p:nvSpPr>
          <p:cNvPr id="3" name="card427"/>
          <p:cNvSpPr/>
          <p:nvPr/>
        </p:nvSpPr>
        <p:spPr>
          <a:xfrm>
            <a:off x="548640" y="1325880"/>
            <a:ext cx="11094415" cy="777240"/>
          </a:xfrm>
          <a:prstGeom prst="roundRect">
            <a:avLst>
              <a:gd name="adj" fmla="val 9412"/>
            </a:avLst>
          </a:prstGeom>
          <a:solidFill>
            <a:schemeClr val="bg2"/>
          </a:solidFill>
          <a:ln w="9525">
            <a:solidFill>
              <a:srgbClr val="DDE2E7"/>
            </a:solidFill>
            <a:prstDash val="solid"/>
          </a:ln>
        </p:spPr>
      </p:sp>
      <p:sp>
        <p:nvSpPr>
          <p:cNvPr id="4" name="t428"/>
          <p:cNvSpPr txBox="1"/>
          <p:nvPr/>
        </p:nvSpPr>
        <p:spPr>
          <a:xfrm>
            <a:off x="777240" y="1325880"/>
            <a:ext cx="731520" cy="7772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C1</a:t>
            </a:r>
            <a:endParaRPr lang="en-US" sz="2200" dirty="0"/>
          </a:p>
        </p:txBody>
      </p:sp>
      <p:sp>
        <p:nvSpPr>
          <p:cNvPr id="5" name="t429"/>
          <p:cNvSpPr txBox="1"/>
          <p:nvPr/>
        </p:nvSpPr>
        <p:spPr>
          <a:xfrm>
            <a:off x="1554480" y="1325880"/>
            <a:ext cx="3108960" cy="777240"/>
          </a:xfrm>
          <a:prstGeom prst="rect">
            <a:avLst/>
          </a:prstGeom>
          <a:noFill/>
          <a:ln/>
        </p:spPr>
        <p:txBody>
          <a:bodyPr wrap="square" lIns="0" tIns="0" rIns="0" bIns="0" rtlCol="0" anchor="ctr"/>
          <a:lstStyle/>
          <a:p>
            <a:pPr indent="0" marL="0">
              <a:buNone/>
            </a:pPr>
            <a:r>
              <a:rPr lang="en-US" sz="1600" b="1" dirty="0">
                <a:solidFill>
                  <a:schemeClr val="tx1"/>
                </a:solidFill>
              </a:rPr>
              <a:t>Measure</a:t>
            </a:r>
            <a:endParaRPr lang="en-US" sz="1600" dirty="0"/>
          </a:p>
        </p:txBody>
      </p:sp>
      <p:sp>
        <p:nvSpPr>
          <p:cNvPr id="6" name="t430"/>
          <p:cNvSpPr txBox="1"/>
          <p:nvPr/>
        </p:nvSpPr>
        <p:spPr>
          <a:xfrm>
            <a:off x="4663440" y="1325880"/>
            <a:ext cx="5303520" cy="777240"/>
          </a:xfrm>
          <a:prstGeom prst="rect">
            <a:avLst/>
          </a:prstGeom>
          <a:noFill/>
          <a:ln/>
        </p:spPr>
        <p:txBody>
          <a:bodyPr wrap="square" lIns="0" tIns="0" rIns="0" bIns="0" rtlCol="0" anchor="ctr"/>
          <a:lstStyle/>
          <a:p>
            <a:pPr indent="0" marL="0">
              <a:buNone/>
            </a:pPr>
            <a:r>
              <a:rPr lang="en-US" sz="1350" dirty="0">
                <a:solidFill>
                  <a:schemeClr val="tx2"/>
                </a:solidFill>
              </a:rPr>
              <a:t>meta.json records first, peak and last context, calls, base, cache breaks</a:t>
            </a:r>
            <a:endParaRPr lang="en-US" sz="1350" dirty="0"/>
          </a:p>
        </p:txBody>
      </p:sp>
      <p:sp>
        <p:nvSpPr>
          <p:cNvPr id="7" name="pill431"/>
          <p:cNvSpPr/>
          <p:nvPr/>
        </p:nvSpPr>
        <p:spPr>
          <a:xfrm>
            <a:off x="10104120" y="1508760"/>
            <a:ext cx="1371600" cy="411480"/>
          </a:xfrm>
          <a:prstGeom prst="roundRect">
            <a:avLst>
              <a:gd name="adj" fmla="val 48889"/>
            </a:avLst>
          </a:prstGeom>
          <a:solidFill>
            <a:schemeClr val="accent2"/>
          </a:solidFill>
          <a:ln w="9525">
            <a:solidFill>
              <a:schemeClr val="accent2"/>
            </a:solidFill>
            <a:prstDash val="solid"/>
          </a:ln>
        </p:spPr>
      </p:sp>
      <p:sp>
        <p:nvSpPr>
          <p:cNvPr id="8" name="t432"/>
          <p:cNvSpPr txBox="1"/>
          <p:nvPr/>
        </p:nvSpPr>
        <p:spPr>
          <a:xfrm>
            <a:off x="10104120" y="1508760"/>
            <a:ext cx="1371600" cy="41148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9" name="card433"/>
          <p:cNvSpPr/>
          <p:nvPr/>
        </p:nvSpPr>
        <p:spPr>
          <a:xfrm>
            <a:off x="548640" y="2240280"/>
            <a:ext cx="11094415" cy="777240"/>
          </a:xfrm>
          <a:prstGeom prst="roundRect">
            <a:avLst>
              <a:gd name="adj" fmla="val 9412"/>
            </a:avLst>
          </a:prstGeom>
          <a:solidFill>
            <a:schemeClr val="bg1"/>
          </a:solidFill>
          <a:ln w="9525">
            <a:solidFill>
              <a:srgbClr val="DDE2E7"/>
            </a:solidFill>
            <a:prstDash val="solid"/>
          </a:ln>
        </p:spPr>
      </p:sp>
      <p:sp>
        <p:nvSpPr>
          <p:cNvPr id="10" name="t434"/>
          <p:cNvSpPr txBox="1"/>
          <p:nvPr/>
        </p:nvSpPr>
        <p:spPr>
          <a:xfrm>
            <a:off x="777240" y="2240280"/>
            <a:ext cx="731520" cy="7772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C2</a:t>
            </a:r>
            <a:endParaRPr lang="en-US" sz="2200" dirty="0"/>
          </a:p>
        </p:txBody>
      </p:sp>
      <p:sp>
        <p:nvSpPr>
          <p:cNvPr id="11" name="t435"/>
          <p:cNvSpPr txBox="1"/>
          <p:nvPr/>
        </p:nvSpPr>
        <p:spPr>
          <a:xfrm>
            <a:off x="1554480" y="2240280"/>
            <a:ext cx="3108960" cy="777240"/>
          </a:xfrm>
          <a:prstGeom prst="rect">
            <a:avLst/>
          </a:prstGeom>
          <a:noFill/>
          <a:ln/>
        </p:spPr>
        <p:txBody>
          <a:bodyPr wrap="square" lIns="0" tIns="0" rIns="0" bIns="0" rtlCol="0" anchor="ctr"/>
          <a:lstStyle/>
          <a:p>
            <a:pPr indent="0" marL="0">
              <a:buNone/>
            </a:pPr>
            <a:r>
              <a:rPr lang="en-US" sz="1600" b="1" dirty="0">
                <a:solidFill>
                  <a:schemeClr val="tx1"/>
                </a:solidFill>
              </a:rPr>
              <a:t>Protocol in the system prompt</a:t>
            </a:r>
            <a:endParaRPr lang="en-US" sz="1600" dirty="0"/>
          </a:p>
        </p:txBody>
      </p:sp>
      <p:sp>
        <p:nvSpPr>
          <p:cNvPr id="12" name="t436"/>
          <p:cNvSpPr txBox="1"/>
          <p:nvPr/>
        </p:nvSpPr>
        <p:spPr>
          <a:xfrm>
            <a:off x="4663440" y="2240280"/>
            <a:ext cx="5303520" cy="777240"/>
          </a:xfrm>
          <a:prstGeom prst="rect">
            <a:avLst/>
          </a:prstGeom>
          <a:noFill/>
          <a:ln/>
        </p:spPr>
        <p:txBody>
          <a:bodyPr wrap="square" lIns="0" tIns="0" rIns="0" bIns="0" rtlCol="0" anchor="ctr"/>
          <a:lstStyle/>
          <a:p>
            <a:pPr indent="0" marL="0">
              <a:buNone/>
            </a:pPr>
            <a:r>
              <a:rPr lang="en-US" sz="1350" dirty="0">
                <a:solidFill>
                  <a:schemeClr val="tx2"/>
                </a:solidFill>
              </a:rPr>
              <a:t>the step protocol goes in a cacheable system slot</a:t>
            </a:r>
            <a:endParaRPr lang="en-US" sz="1350" dirty="0"/>
          </a:p>
        </p:txBody>
      </p:sp>
      <p:sp>
        <p:nvSpPr>
          <p:cNvPr id="13" name="pill437"/>
          <p:cNvSpPr/>
          <p:nvPr/>
        </p:nvSpPr>
        <p:spPr>
          <a:xfrm>
            <a:off x="10104120" y="2423160"/>
            <a:ext cx="1371600" cy="411480"/>
          </a:xfrm>
          <a:prstGeom prst="roundRect">
            <a:avLst>
              <a:gd name="adj" fmla="val 48889"/>
            </a:avLst>
          </a:prstGeom>
          <a:solidFill>
            <a:schemeClr val="accent2"/>
          </a:solidFill>
          <a:ln w="9525">
            <a:solidFill>
              <a:schemeClr val="accent2"/>
            </a:solidFill>
            <a:prstDash val="solid"/>
          </a:ln>
        </p:spPr>
      </p:sp>
      <p:sp>
        <p:nvSpPr>
          <p:cNvPr id="14" name="t438"/>
          <p:cNvSpPr txBox="1"/>
          <p:nvPr/>
        </p:nvSpPr>
        <p:spPr>
          <a:xfrm>
            <a:off x="10104120" y="2423160"/>
            <a:ext cx="1371600" cy="41148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5" name="card439"/>
          <p:cNvSpPr/>
          <p:nvPr/>
        </p:nvSpPr>
        <p:spPr>
          <a:xfrm>
            <a:off x="548640" y="3154680"/>
            <a:ext cx="11094415" cy="777240"/>
          </a:xfrm>
          <a:prstGeom prst="roundRect">
            <a:avLst>
              <a:gd name="adj" fmla="val 9412"/>
            </a:avLst>
          </a:prstGeom>
          <a:solidFill>
            <a:schemeClr val="bg2"/>
          </a:solidFill>
          <a:ln w="9525">
            <a:solidFill>
              <a:srgbClr val="DDE2E7"/>
            </a:solidFill>
            <a:prstDash val="solid"/>
          </a:ln>
        </p:spPr>
      </p:sp>
      <p:sp>
        <p:nvSpPr>
          <p:cNvPr id="16" name="t440"/>
          <p:cNvSpPr txBox="1"/>
          <p:nvPr/>
        </p:nvSpPr>
        <p:spPr>
          <a:xfrm>
            <a:off x="777240" y="3154680"/>
            <a:ext cx="731520" cy="7772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C3</a:t>
            </a:r>
            <a:endParaRPr lang="en-US" sz="2200" dirty="0"/>
          </a:p>
        </p:txBody>
      </p:sp>
      <p:sp>
        <p:nvSpPr>
          <p:cNvPr id="17" name="t441"/>
          <p:cNvSpPr txBox="1"/>
          <p:nvPr/>
        </p:nvSpPr>
        <p:spPr>
          <a:xfrm>
            <a:off x="1554480" y="3154680"/>
            <a:ext cx="3108960" cy="777240"/>
          </a:xfrm>
          <a:prstGeom prst="rect">
            <a:avLst/>
          </a:prstGeom>
          <a:noFill/>
          <a:ln/>
        </p:spPr>
        <p:txBody>
          <a:bodyPr wrap="square" lIns="0" tIns="0" rIns="0" bIns="0" rtlCol="0" anchor="ctr"/>
          <a:lstStyle/>
          <a:p>
            <a:pPr indent="0" marL="0">
              <a:buNone/>
            </a:pPr>
            <a:r>
              <a:rPr lang="en-US" sz="1600" b="1" dirty="0">
                <a:solidFill>
                  <a:schemeClr val="tx1"/>
                </a:solidFill>
              </a:rPr>
              <a:t>Context budget hook</a:t>
            </a:r>
            <a:endParaRPr lang="en-US" sz="1600" dirty="0"/>
          </a:p>
        </p:txBody>
      </p:sp>
      <p:sp>
        <p:nvSpPr>
          <p:cNvPr id="18" name="t442"/>
          <p:cNvSpPr txBox="1"/>
          <p:nvPr/>
        </p:nvSpPr>
        <p:spPr>
          <a:xfrm>
            <a:off x="4663440" y="3154680"/>
            <a:ext cx="5303520" cy="777240"/>
          </a:xfrm>
          <a:prstGeom prst="rect">
            <a:avLst/>
          </a:prstGeom>
          <a:noFill/>
          <a:ln/>
        </p:spPr>
        <p:txBody>
          <a:bodyPr wrap="square" lIns="0" tIns="0" rIns="0" bIns="0" rtlCol="0" anchor="ctr"/>
          <a:lstStyle/>
          <a:p>
            <a:pPr indent="0" marL="0">
              <a:buNone/>
            </a:pPr>
            <a:r>
              <a:rPr lang="en-US" sz="1350" dirty="0">
                <a:solidFill>
                  <a:schemeClr val="tx2"/>
                </a:solidFill>
              </a:rPr>
              <a:t>ctxhook asks the model to finish the item in hand at 80k; hard stop at 1.2×</a:t>
            </a:r>
            <a:endParaRPr lang="en-US" sz="1350" dirty="0"/>
          </a:p>
        </p:txBody>
      </p:sp>
      <p:sp>
        <p:nvSpPr>
          <p:cNvPr id="19" name="pill443"/>
          <p:cNvSpPr/>
          <p:nvPr/>
        </p:nvSpPr>
        <p:spPr>
          <a:xfrm>
            <a:off x="10104120" y="3337560"/>
            <a:ext cx="1371600" cy="411480"/>
          </a:xfrm>
          <a:prstGeom prst="roundRect">
            <a:avLst>
              <a:gd name="adj" fmla="val 48889"/>
            </a:avLst>
          </a:prstGeom>
          <a:solidFill>
            <a:schemeClr val="accent2"/>
          </a:solidFill>
          <a:ln w="9525">
            <a:solidFill>
              <a:schemeClr val="accent2"/>
            </a:solidFill>
            <a:prstDash val="solid"/>
          </a:ln>
        </p:spPr>
      </p:sp>
      <p:sp>
        <p:nvSpPr>
          <p:cNvPr id="20" name="t444"/>
          <p:cNvSpPr txBox="1"/>
          <p:nvPr/>
        </p:nvSpPr>
        <p:spPr>
          <a:xfrm>
            <a:off x="10104120" y="3337560"/>
            <a:ext cx="1371600" cy="411480"/>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21" name="card445"/>
          <p:cNvSpPr/>
          <p:nvPr/>
        </p:nvSpPr>
        <p:spPr>
          <a:xfrm>
            <a:off x="548640" y="4069080"/>
            <a:ext cx="11094415" cy="777240"/>
          </a:xfrm>
          <a:prstGeom prst="roundRect">
            <a:avLst>
              <a:gd name="adj" fmla="val 9412"/>
            </a:avLst>
          </a:prstGeom>
          <a:solidFill>
            <a:schemeClr val="bg1"/>
          </a:solidFill>
          <a:ln w="9525">
            <a:solidFill>
              <a:srgbClr val="DDE2E7"/>
            </a:solidFill>
            <a:prstDash val="solid"/>
          </a:ln>
        </p:spPr>
      </p:sp>
      <p:sp>
        <p:nvSpPr>
          <p:cNvPr id="22" name="t446"/>
          <p:cNvSpPr txBox="1"/>
          <p:nvPr/>
        </p:nvSpPr>
        <p:spPr>
          <a:xfrm>
            <a:off x="777240" y="4069080"/>
            <a:ext cx="731520" cy="7772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C4</a:t>
            </a:r>
            <a:endParaRPr lang="en-US" sz="2200" dirty="0"/>
          </a:p>
        </p:txBody>
      </p:sp>
      <p:sp>
        <p:nvSpPr>
          <p:cNvPr id="23" name="t447"/>
          <p:cNvSpPr txBox="1"/>
          <p:nvPr/>
        </p:nvSpPr>
        <p:spPr>
          <a:xfrm>
            <a:off x="1554480" y="4069080"/>
            <a:ext cx="3108960" cy="777240"/>
          </a:xfrm>
          <a:prstGeom prst="rect">
            <a:avLst/>
          </a:prstGeom>
          <a:noFill/>
          <a:ln/>
        </p:spPr>
        <p:txBody>
          <a:bodyPr wrap="square" lIns="0" tIns="0" rIns="0" bIns="0" rtlCol="0" anchor="ctr"/>
          <a:lstStyle/>
          <a:p>
            <a:pPr indent="0" marL="0">
              <a:buNone/>
            </a:pPr>
            <a:r>
              <a:rPr lang="en-US" sz="1600" b="1" dirty="0">
                <a:solidFill>
                  <a:schemeClr val="tx1"/>
                </a:solidFill>
              </a:rPr>
              <a:t>Session carry-over</a:t>
            </a:r>
            <a:endParaRPr lang="en-US" sz="1600" dirty="0"/>
          </a:p>
        </p:txBody>
      </p:sp>
      <p:sp>
        <p:nvSpPr>
          <p:cNvPr id="24" name="t448"/>
          <p:cNvSpPr txBox="1"/>
          <p:nvPr/>
        </p:nvSpPr>
        <p:spPr>
          <a:xfrm>
            <a:off x="4663440" y="4069080"/>
            <a:ext cx="5303520" cy="777240"/>
          </a:xfrm>
          <a:prstGeom prst="rect">
            <a:avLst/>
          </a:prstGeom>
          <a:noFill/>
          <a:ln/>
        </p:spPr>
        <p:txBody>
          <a:bodyPr wrap="square" lIns="0" tIns="0" rIns="0" bIns="0" rtlCol="0" anchor="ctr"/>
          <a:lstStyle/>
          <a:p>
            <a:pPr indent="0" marL="0">
              <a:buNone/>
            </a:pPr>
            <a:r>
              <a:rPr lang="en-US" sz="1350" dirty="0">
                <a:solidFill>
                  <a:schemeClr val="tx2"/>
                </a:solidFill>
              </a:rPr>
              <a:t>resume and fork the previous step's session while it is still cheap</a:t>
            </a:r>
            <a:endParaRPr lang="en-US" sz="1350" dirty="0"/>
          </a:p>
        </p:txBody>
      </p:sp>
      <p:sp>
        <p:nvSpPr>
          <p:cNvPr id="25" name="pill449"/>
          <p:cNvSpPr/>
          <p:nvPr/>
        </p:nvSpPr>
        <p:spPr>
          <a:xfrm>
            <a:off x="10104120" y="4251960"/>
            <a:ext cx="1371600" cy="411480"/>
          </a:xfrm>
          <a:prstGeom prst="roundRect">
            <a:avLst>
              <a:gd name="adj" fmla="val 48889"/>
            </a:avLst>
          </a:prstGeom>
          <a:solidFill>
            <a:schemeClr val="accent2"/>
          </a:solidFill>
          <a:ln w="9525">
            <a:solidFill>
              <a:schemeClr val="accent2"/>
            </a:solidFill>
            <a:prstDash val="solid"/>
          </a:ln>
        </p:spPr>
      </p:sp>
      <p:sp>
        <p:nvSpPr>
          <p:cNvPr id="26" name="t450"/>
          <p:cNvSpPr txBox="1"/>
          <p:nvPr/>
        </p:nvSpPr>
        <p:spPr>
          <a:xfrm>
            <a:off x="10104120" y="4251960"/>
            <a:ext cx="1371600" cy="411480"/>
          </a:xfrm>
          <a:prstGeom prst="rect">
            <a:avLst/>
          </a:prstGeom>
          <a:noFill/>
          <a:ln/>
        </p:spPr>
        <p:txBody>
          <a:bodyPr wrap="square" lIns="0" tIns="0" rIns="0" bIns="0" rtlCol="0" anchor="ctr"/>
          <a:lstStyle/>
          <a:p>
            <a:pPr algn="ctr" indent="0" marL="0">
              <a:buNone/>
            </a:pPr>
            <a:r>
              <a:rPr lang="en-US" sz="1200" b="1" dirty="0">
                <a:solidFill>
                  <a:schemeClr val="bg1"/>
                </a:solidFill>
              </a:rPr>
              <a:t>Built, opt-in</a:t>
            </a:r>
            <a:endParaRPr lang="en-US" sz="1200" dirty="0"/>
          </a:p>
        </p:txBody>
      </p:sp>
      <p:sp>
        <p:nvSpPr>
          <p:cNvPr id="27" name="card451"/>
          <p:cNvSpPr/>
          <p:nvPr/>
        </p:nvSpPr>
        <p:spPr>
          <a:xfrm>
            <a:off x="548640" y="4983480"/>
            <a:ext cx="11094415" cy="777240"/>
          </a:xfrm>
          <a:prstGeom prst="roundRect">
            <a:avLst>
              <a:gd name="adj" fmla="val 9412"/>
            </a:avLst>
          </a:prstGeom>
          <a:solidFill>
            <a:schemeClr val="bg2"/>
          </a:solidFill>
          <a:ln w="9525">
            <a:solidFill>
              <a:srgbClr val="DDE2E7"/>
            </a:solidFill>
            <a:prstDash val="solid"/>
          </a:ln>
        </p:spPr>
      </p:sp>
      <p:sp>
        <p:nvSpPr>
          <p:cNvPr id="28" name="t452"/>
          <p:cNvSpPr txBox="1"/>
          <p:nvPr/>
        </p:nvSpPr>
        <p:spPr>
          <a:xfrm>
            <a:off x="777240" y="4983480"/>
            <a:ext cx="731520" cy="7772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C5</a:t>
            </a:r>
            <a:endParaRPr lang="en-US" sz="2200" dirty="0"/>
          </a:p>
        </p:txBody>
      </p:sp>
      <p:sp>
        <p:nvSpPr>
          <p:cNvPr id="29" name="t453"/>
          <p:cNvSpPr txBox="1"/>
          <p:nvPr/>
        </p:nvSpPr>
        <p:spPr>
          <a:xfrm>
            <a:off x="1554480" y="4983480"/>
            <a:ext cx="3108960" cy="777240"/>
          </a:xfrm>
          <a:prstGeom prst="rect">
            <a:avLst/>
          </a:prstGeom>
          <a:noFill/>
          <a:ln/>
        </p:spPr>
        <p:txBody>
          <a:bodyPr wrap="square" lIns="0" tIns="0" rIns="0" bIns="0" rtlCol="0" anchor="ctr"/>
          <a:lstStyle/>
          <a:p>
            <a:pPr indent="0" marL="0">
              <a:buNone/>
            </a:pPr>
            <a:r>
              <a:rPr lang="en-US" sz="1600" b="1" dirty="0">
                <a:solidFill>
                  <a:schemeClr val="tx1"/>
                </a:solidFill>
              </a:rPr>
              <a:t>work/ digest</a:t>
            </a:r>
            <a:endParaRPr lang="en-US" sz="1600" dirty="0"/>
          </a:p>
        </p:txBody>
      </p:sp>
      <p:sp>
        <p:nvSpPr>
          <p:cNvPr id="30" name="t454"/>
          <p:cNvSpPr txBox="1"/>
          <p:nvPr/>
        </p:nvSpPr>
        <p:spPr>
          <a:xfrm>
            <a:off x="4663440" y="4983480"/>
            <a:ext cx="5303520" cy="777240"/>
          </a:xfrm>
          <a:prstGeom prst="rect">
            <a:avLst/>
          </a:prstGeom>
          <a:noFill/>
          <a:ln/>
        </p:spPr>
        <p:txBody>
          <a:bodyPr wrap="square" lIns="0" tIns="0" rIns="0" bIns="0" rtlCol="0" anchor="ctr"/>
          <a:lstStyle/>
          <a:p>
            <a:pPr indent="0" marL="0">
              <a:buNone/>
            </a:pPr>
            <a:r>
              <a:rPr lang="en-US" sz="1350" dirty="0">
                <a:solidFill>
                  <a:schemeClr val="tx2"/>
                </a:solidFill>
              </a:rPr>
              <a:t>a summary of the work repos in the prompt instead of re-reading</a:t>
            </a:r>
            <a:endParaRPr lang="en-US" sz="1350" dirty="0"/>
          </a:p>
        </p:txBody>
      </p:sp>
      <p:sp>
        <p:nvSpPr>
          <p:cNvPr id="31" name="pill455"/>
          <p:cNvSpPr/>
          <p:nvPr/>
        </p:nvSpPr>
        <p:spPr>
          <a:xfrm>
            <a:off x="10104120" y="5166360"/>
            <a:ext cx="1371600" cy="411480"/>
          </a:xfrm>
          <a:prstGeom prst="roundRect">
            <a:avLst>
              <a:gd name="adj" fmla="val 48889"/>
            </a:avLst>
          </a:prstGeom>
          <a:solidFill>
            <a:schemeClr val="bg1"/>
          </a:solidFill>
          <a:ln w="9525">
            <a:solidFill>
              <a:schemeClr val="accent3"/>
            </a:solidFill>
            <a:prstDash val="solid"/>
          </a:ln>
        </p:spPr>
      </p:sp>
      <p:sp>
        <p:nvSpPr>
          <p:cNvPr id="32" name="t456"/>
          <p:cNvSpPr txBox="1"/>
          <p:nvPr/>
        </p:nvSpPr>
        <p:spPr>
          <a:xfrm>
            <a:off x="10104120" y="5166360"/>
            <a:ext cx="1371600" cy="411480"/>
          </a:xfrm>
          <a:prstGeom prst="rect">
            <a:avLst/>
          </a:prstGeom>
          <a:noFill/>
          <a:ln/>
        </p:spPr>
        <p:txBody>
          <a:bodyPr wrap="square" lIns="0" tIns="0" rIns="0" bIns="0" rtlCol="0" anchor="ctr"/>
          <a:lstStyle/>
          <a:p>
            <a:pPr algn="ctr" indent="0" marL="0">
              <a:buNone/>
            </a:pPr>
            <a:r>
              <a:rPr lang="en-US" sz="1200" b="1" dirty="0">
                <a:solidFill>
                  <a:schemeClr val="tx2"/>
                </a:solidFill>
              </a:rPr>
              <a:t>Planned</a:t>
            </a:r>
            <a:endParaRPr lang="en-US" sz="1200" dirty="0"/>
          </a:p>
        </p:txBody>
      </p:sp>
      <p:sp>
        <p:nvSpPr>
          <p:cNvPr id="33" name="t457"/>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300" i="1" dirty="0">
                <a:solidFill>
                  <a:schemeClr val="tx2"/>
                </a:solidFill>
              </a:rPr>
              <a:t>Prompt trimming too: state files over 4 KB are listed, not shown; state/archive/ is never shown; the memento is capped near 2 KB.</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From metrics to execution strategy</a:t>
            </a:r>
            <a:endParaRPr lang="en-US" sz="3400" dirty="0"/>
          </a:p>
        </p:txBody>
      </p:sp>
      <p:sp>
        <p:nvSpPr>
          <p:cNvPr id="3" name="card458"/>
          <p:cNvSpPr/>
          <p:nvPr/>
        </p:nvSpPr>
        <p:spPr>
          <a:xfrm>
            <a:off x="548640" y="1325880"/>
            <a:ext cx="5669280" cy="2011680"/>
          </a:xfrm>
          <a:prstGeom prst="roundRect">
            <a:avLst>
              <a:gd name="adj" fmla="val 3636"/>
            </a:avLst>
          </a:prstGeom>
          <a:solidFill>
            <a:schemeClr val="tx1"/>
          </a:solidFill>
          <a:ln w="9525">
            <a:solidFill>
              <a:schemeClr val="tx1"/>
            </a:solidFill>
            <a:prstDash val="solid"/>
          </a:ln>
        </p:spPr>
      </p:sp>
      <p:sp>
        <p:nvSpPr>
          <p:cNvPr id="4" name="t459"/>
          <p:cNvSpPr txBox="1"/>
          <p:nvPr/>
        </p:nvSpPr>
        <p:spPr>
          <a:xfrm>
            <a:off x="822960" y="1527048"/>
            <a:ext cx="5212080" cy="164592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 wpk stats --by model</a:t>
            </a:r>
            <a:endParaRPr lang="en-US" sz="1300" dirty="0"/>
          </a:p>
          <a:p>
            <a:pPr indent="0" marL="0">
              <a:buNone/>
            </a:pPr>
            <a:r>
              <a:rPr lang="en-US" sz="1300" dirty="0">
                <a:solidFill>
                  <a:srgbClr val="E8A33D"/>
                </a:solidFill>
                <a:latin typeface="Courier New" pitchFamily="34" charset="0"/>
                <a:ea typeface="Courier New" pitchFamily="34" charset="-122"/>
                <a:cs typeface="Courier New" pitchFamily="34" charset="-120"/>
              </a:rPr>
              <a:t>claude-haiku@1  27 steps  4 calls median</a:t>
            </a:r>
            <a:endParaRPr lang="en-US" sz="1300" dirty="0"/>
          </a:p>
          <a:p>
            <a:pPr indent="0" marL="0">
              <a:buNone/>
            </a:pPr>
            <a:r>
              <a:rPr lang="en-US" sz="1300" dirty="0">
                <a:solidFill>
                  <a:srgbClr val="E8A33D"/>
                </a:solidFill>
                <a:latin typeface="Courier New" pitchFamily="34" charset="0"/>
                <a:ea typeface="Courier New" pitchFamily="34" charset="-122"/>
                <a:cs typeface="Courier New" pitchFamily="34" charset="-120"/>
              </a:rPr>
              <a:t>  base 10.9k  $0.0164/step  15% short</a:t>
            </a:r>
            <a:endParaRPr lang="en-US" sz="1300" dirty="0"/>
          </a:p>
          <a:p>
            <a:pPr indent="0" marL="0">
              <a:buNone/>
            </a:pPr>
            <a:r>
              <a:rPr lang="en-US" sz="1300" dirty="0">
                <a:solidFill>
                  <a:srgbClr val="B8C2CC"/>
                </a:solidFill>
                <a:latin typeface="Courier New" pitchFamily="34" charset="0"/>
                <a:ea typeface="Courier New" pitchFamily="34" charset="-122"/>
                <a:cs typeface="Courier New" pitchFamily="34" charset="-120"/>
              </a:rPr>
              <a:t>  no advice</a:t>
            </a:r>
            <a:endParaRPr lang="en-US" sz="1300" dirty="0"/>
          </a:p>
        </p:txBody>
      </p:sp>
      <p:sp>
        <p:nvSpPr>
          <p:cNvPr id="5" name="t460"/>
          <p:cNvSpPr txBox="1"/>
          <p:nvPr/>
        </p:nvSpPr>
        <p:spPr>
          <a:xfrm>
            <a:off x="548640" y="3520440"/>
            <a:ext cx="5669280" cy="640080"/>
          </a:xfrm>
          <a:prstGeom prst="rect">
            <a:avLst/>
          </a:prstGeom>
          <a:noFill/>
          <a:ln/>
        </p:spPr>
        <p:txBody>
          <a:bodyPr wrap="square" lIns="0" tIns="0" rIns="0" bIns="0" rtlCol="0" anchor="t"/>
          <a:lstStyle/>
          <a:p>
            <a:pPr indent="0" marL="0">
              <a:buNone/>
            </a:pPr>
            <a:r>
              <a:rPr lang="en-US" sz="1400" i="1" dirty="0">
                <a:solidFill>
                  <a:schemeClr val="tx2"/>
                </a:solidFill>
              </a:rPr>
              <a:t>Advice is printed, never applied. The packet files stay the source of truth.</a:t>
            </a:r>
            <a:endParaRPr lang="en-US" sz="1400" dirty="0"/>
          </a:p>
        </p:txBody>
      </p:sp>
      <p:sp>
        <p:nvSpPr>
          <p:cNvPr id="6" name="t461"/>
          <p:cNvSpPr txBox="1"/>
          <p:nvPr/>
        </p:nvSpPr>
        <p:spPr>
          <a:xfrm>
            <a:off x="548640" y="4206240"/>
            <a:ext cx="5669280" cy="365760"/>
          </a:xfrm>
          <a:prstGeom prst="rect">
            <a:avLst/>
          </a:prstGeom>
          <a:noFill/>
          <a:ln/>
        </p:spPr>
        <p:txBody>
          <a:bodyPr wrap="square" lIns="0" tIns="0" rIns="0" bIns="0" rtlCol="0" anchor="t"/>
          <a:lstStyle/>
          <a:p>
            <a:pPr indent="0" marL="0">
              <a:buNone/>
            </a:pPr>
            <a:r>
              <a:rPr lang="en-US" sz="1500" b="1" dirty="0">
                <a:solidFill>
                  <a:schemeClr val="tx1"/>
                </a:solidFill>
              </a:rPr>
              <a:t>Profiles carry the tuning per harness and model</a:t>
            </a:r>
            <a:endParaRPr lang="en-US" sz="1500" dirty="0"/>
          </a:p>
        </p:txBody>
      </p:sp>
      <p:sp>
        <p:nvSpPr>
          <p:cNvPr id="7" name="card462"/>
          <p:cNvSpPr/>
          <p:nvPr/>
        </p:nvSpPr>
        <p:spPr>
          <a:xfrm>
            <a:off x="548640" y="4663440"/>
            <a:ext cx="1298448" cy="548640"/>
          </a:xfrm>
          <a:prstGeom prst="roundRect">
            <a:avLst>
              <a:gd name="adj" fmla="val 13333"/>
            </a:avLst>
          </a:prstGeom>
          <a:solidFill>
            <a:schemeClr val="bg2"/>
          </a:solidFill>
          <a:ln w="9525">
            <a:solidFill>
              <a:schemeClr val="bg2"/>
            </a:solidFill>
            <a:prstDash val="solid"/>
          </a:ln>
        </p:spPr>
      </p:sp>
      <p:sp>
        <p:nvSpPr>
          <p:cNvPr id="8" name="t463"/>
          <p:cNvSpPr txBox="1"/>
          <p:nvPr/>
        </p:nvSpPr>
        <p:spPr>
          <a:xfrm>
            <a:off x="548640" y="4663440"/>
            <a:ext cx="1298448" cy="548640"/>
          </a:xfrm>
          <a:prstGeom prst="rect">
            <a:avLst/>
          </a:prstGeom>
          <a:noFill/>
          <a:ln/>
        </p:spPr>
        <p:txBody>
          <a:bodyPr wrap="square" lIns="0" tIns="0" rIns="0" bIns="0" rtlCol="0" anchor="ctr"/>
          <a:lstStyle/>
          <a:p>
            <a:pPr algn="ctr" indent="0" marL="0">
              <a:buNone/>
            </a:pPr>
            <a:r>
              <a:rPr lang="en-US" sz="1150" dirty="0">
                <a:solidFill>
                  <a:schemeClr val="tx1"/>
                </a:solidFill>
                <a:latin typeface="Courier New" pitchFamily="34" charset="0"/>
                <a:ea typeface="Courier New" pitchFamily="34" charset="-122"/>
                <a:cs typeface="Courier New" pitchFamily="34" charset="-120"/>
              </a:rPr>
              <a:t>built-in</a:t>
            </a:r>
            <a:endParaRPr lang="en-US" sz="1150" dirty="0"/>
          </a:p>
        </p:txBody>
      </p:sp>
      <p:sp>
        <p:nvSpPr>
          <p:cNvPr id="9" name="t464"/>
          <p:cNvSpPr txBox="1"/>
          <p:nvPr/>
        </p:nvSpPr>
        <p:spPr>
          <a:xfrm>
            <a:off x="1847088" y="4663440"/>
            <a:ext cx="164592" cy="548640"/>
          </a:xfrm>
          <a:prstGeom prst="rect">
            <a:avLst/>
          </a:prstGeom>
          <a:noFill/>
          <a:ln/>
        </p:spPr>
        <p:txBody>
          <a:bodyPr wrap="square" lIns="0" tIns="0" rIns="0" bIns="0" rtlCol="0" anchor="ctr"/>
          <a:lstStyle/>
          <a:p>
            <a:pPr algn="ctr" indent="0" marL="0">
              <a:buNone/>
            </a:pPr>
            <a:r>
              <a:rPr lang="en-US" sz="1600" b="1" dirty="0">
                <a:solidFill>
                  <a:schemeClr val="accent3"/>
                </a:solidFill>
              </a:rPr>
              <a:t>&lt;</a:t>
            </a:r>
            <a:endParaRPr lang="en-US" sz="1600" dirty="0"/>
          </a:p>
        </p:txBody>
      </p:sp>
      <p:sp>
        <p:nvSpPr>
          <p:cNvPr id="10" name="card465"/>
          <p:cNvSpPr/>
          <p:nvPr/>
        </p:nvSpPr>
        <p:spPr>
          <a:xfrm>
            <a:off x="2011680" y="4663440"/>
            <a:ext cx="1298448" cy="548640"/>
          </a:xfrm>
          <a:prstGeom prst="roundRect">
            <a:avLst>
              <a:gd name="adj" fmla="val 13333"/>
            </a:avLst>
          </a:prstGeom>
          <a:solidFill>
            <a:schemeClr val="bg2"/>
          </a:solidFill>
          <a:ln w="9525">
            <a:solidFill>
              <a:schemeClr val="bg2"/>
            </a:solidFill>
            <a:prstDash val="solid"/>
          </a:ln>
        </p:spPr>
      </p:sp>
      <p:sp>
        <p:nvSpPr>
          <p:cNvPr id="11" name="t466"/>
          <p:cNvSpPr txBox="1"/>
          <p:nvPr/>
        </p:nvSpPr>
        <p:spPr>
          <a:xfrm>
            <a:off x="2011680" y="4663440"/>
            <a:ext cx="1298448" cy="548640"/>
          </a:xfrm>
          <a:prstGeom prst="rect">
            <a:avLst/>
          </a:prstGeom>
          <a:noFill/>
          <a:ln/>
        </p:spPr>
        <p:txBody>
          <a:bodyPr wrap="square" lIns="0" tIns="0" rIns="0" bIns="0" rtlCol="0" anchor="ctr"/>
          <a:lstStyle/>
          <a:p>
            <a:pPr algn="ctr" indent="0" marL="0">
              <a:buNone/>
            </a:pPr>
            <a:r>
              <a:rPr lang="en-US" sz="1150" dirty="0">
                <a:solidFill>
                  <a:schemeClr val="tx1"/>
                </a:solidFill>
                <a:latin typeface="Courier New" pitchFamily="34" charset="0"/>
                <a:ea typeface="Courier New" pitchFamily="34" charset="-122"/>
                <a:cs typeface="Courier New" pitchFamily="34" charset="-120"/>
              </a:rPr>
              <a:t>profile</a:t>
            </a:r>
            <a:endParaRPr lang="en-US" sz="1150" dirty="0"/>
          </a:p>
        </p:txBody>
      </p:sp>
      <p:sp>
        <p:nvSpPr>
          <p:cNvPr id="12" name="t467"/>
          <p:cNvSpPr txBox="1"/>
          <p:nvPr/>
        </p:nvSpPr>
        <p:spPr>
          <a:xfrm>
            <a:off x="3310128" y="4663440"/>
            <a:ext cx="164592" cy="548640"/>
          </a:xfrm>
          <a:prstGeom prst="rect">
            <a:avLst/>
          </a:prstGeom>
          <a:noFill/>
          <a:ln/>
        </p:spPr>
        <p:txBody>
          <a:bodyPr wrap="square" lIns="0" tIns="0" rIns="0" bIns="0" rtlCol="0" anchor="ctr"/>
          <a:lstStyle/>
          <a:p>
            <a:pPr algn="ctr" indent="0" marL="0">
              <a:buNone/>
            </a:pPr>
            <a:r>
              <a:rPr lang="en-US" sz="1600" b="1" dirty="0">
                <a:solidFill>
                  <a:schemeClr val="accent3"/>
                </a:solidFill>
              </a:rPr>
              <a:t>&lt;</a:t>
            </a:r>
            <a:endParaRPr lang="en-US" sz="1600" dirty="0"/>
          </a:p>
        </p:txBody>
      </p:sp>
      <p:sp>
        <p:nvSpPr>
          <p:cNvPr id="13" name="card468"/>
          <p:cNvSpPr/>
          <p:nvPr/>
        </p:nvSpPr>
        <p:spPr>
          <a:xfrm>
            <a:off x="3474720" y="4663440"/>
            <a:ext cx="1298448" cy="548640"/>
          </a:xfrm>
          <a:prstGeom prst="roundRect">
            <a:avLst>
              <a:gd name="adj" fmla="val 13333"/>
            </a:avLst>
          </a:prstGeom>
          <a:solidFill>
            <a:schemeClr val="bg2"/>
          </a:solidFill>
          <a:ln w="9525">
            <a:solidFill>
              <a:schemeClr val="bg2"/>
            </a:solidFill>
            <a:prstDash val="solid"/>
          </a:ln>
        </p:spPr>
      </p:sp>
      <p:sp>
        <p:nvSpPr>
          <p:cNvPr id="14" name="t469"/>
          <p:cNvSpPr txBox="1"/>
          <p:nvPr/>
        </p:nvSpPr>
        <p:spPr>
          <a:xfrm>
            <a:off x="3474720" y="4663440"/>
            <a:ext cx="1298448" cy="548640"/>
          </a:xfrm>
          <a:prstGeom prst="rect">
            <a:avLst/>
          </a:prstGeom>
          <a:noFill/>
          <a:ln/>
        </p:spPr>
        <p:txBody>
          <a:bodyPr wrap="square" lIns="0" tIns="0" rIns="0" bIns="0" rtlCol="0" anchor="ctr"/>
          <a:lstStyle/>
          <a:p>
            <a:pPr algn="ctr" indent="0" marL="0">
              <a:buNone/>
            </a:pPr>
            <a:r>
              <a:rPr lang="en-US" sz="1150" dirty="0">
                <a:solidFill>
                  <a:schemeClr val="tx1"/>
                </a:solidFill>
                <a:latin typeface="Courier New" pitchFamily="34" charset="0"/>
                <a:ea typeface="Courier New" pitchFamily="34" charset="-122"/>
                <a:cs typeface="Courier New" pitchFamily="34" charset="-120"/>
              </a:rPr>
              <a:t>config.toml</a:t>
            </a:r>
            <a:endParaRPr lang="en-US" sz="1150" dirty="0"/>
          </a:p>
        </p:txBody>
      </p:sp>
      <p:sp>
        <p:nvSpPr>
          <p:cNvPr id="15" name="t470"/>
          <p:cNvSpPr txBox="1"/>
          <p:nvPr/>
        </p:nvSpPr>
        <p:spPr>
          <a:xfrm>
            <a:off x="4773168" y="4663440"/>
            <a:ext cx="164592" cy="548640"/>
          </a:xfrm>
          <a:prstGeom prst="rect">
            <a:avLst/>
          </a:prstGeom>
          <a:noFill/>
          <a:ln/>
        </p:spPr>
        <p:txBody>
          <a:bodyPr wrap="square" lIns="0" tIns="0" rIns="0" bIns="0" rtlCol="0" anchor="ctr"/>
          <a:lstStyle/>
          <a:p>
            <a:pPr algn="ctr" indent="0" marL="0">
              <a:buNone/>
            </a:pPr>
            <a:r>
              <a:rPr lang="en-US" sz="1600" b="1" dirty="0">
                <a:solidFill>
                  <a:schemeClr val="accent3"/>
                </a:solidFill>
              </a:rPr>
              <a:t>&lt;</a:t>
            </a:r>
            <a:endParaRPr lang="en-US" sz="1600" dirty="0"/>
          </a:p>
        </p:txBody>
      </p:sp>
      <p:sp>
        <p:nvSpPr>
          <p:cNvPr id="16" name="card471"/>
          <p:cNvSpPr/>
          <p:nvPr/>
        </p:nvSpPr>
        <p:spPr>
          <a:xfrm>
            <a:off x="4937760" y="4663440"/>
            <a:ext cx="1298448" cy="548640"/>
          </a:xfrm>
          <a:prstGeom prst="roundRect">
            <a:avLst>
              <a:gd name="adj" fmla="val 13333"/>
            </a:avLst>
          </a:prstGeom>
          <a:solidFill>
            <a:srgbClr val="F6E3C1"/>
          </a:solidFill>
          <a:ln w="9525">
            <a:solidFill>
              <a:srgbClr val="F6E3C1"/>
            </a:solidFill>
            <a:prstDash val="solid"/>
          </a:ln>
        </p:spPr>
      </p:sp>
      <p:sp>
        <p:nvSpPr>
          <p:cNvPr id="17" name="t472"/>
          <p:cNvSpPr txBox="1"/>
          <p:nvPr/>
        </p:nvSpPr>
        <p:spPr>
          <a:xfrm>
            <a:off x="4937760" y="4663440"/>
            <a:ext cx="1298448" cy="548640"/>
          </a:xfrm>
          <a:prstGeom prst="rect">
            <a:avLst/>
          </a:prstGeom>
          <a:noFill/>
          <a:ln/>
        </p:spPr>
        <p:txBody>
          <a:bodyPr wrap="square" lIns="0" tIns="0" rIns="0" bIns="0" rtlCol="0" anchor="ctr"/>
          <a:lstStyle/>
          <a:p>
            <a:pPr algn="ctr" indent="0" marL="0">
              <a:buNone/>
            </a:pPr>
            <a:r>
              <a:rPr lang="en-US" sz="1150" dirty="0">
                <a:solidFill>
                  <a:schemeClr val="tx1"/>
                </a:solidFill>
                <a:latin typeface="Courier New" pitchFamily="34" charset="0"/>
                <a:ea typeface="Courier New" pitchFamily="34" charset="-122"/>
                <a:cs typeface="Courier New" pitchFamily="34" charset="-120"/>
              </a:rPr>
              <a:t>project.toml</a:t>
            </a:r>
            <a:endParaRPr lang="en-US" sz="1150" dirty="0"/>
          </a:p>
        </p:txBody>
      </p:sp>
      <p:sp>
        <p:nvSpPr>
          <p:cNvPr id="18" name="t473"/>
          <p:cNvSpPr txBox="1"/>
          <p:nvPr/>
        </p:nvSpPr>
        <p:spPr>
          <a:xfrm>
            <a:off x="548640" y="5349240"/>
            <a:ext cx="5669280" cy="36576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sizing · step_context_tokens · carry_factor · price</a:t>
            </a:r>
            <a:endParaRPr lang="en-US" sz="1200" dirty="0"/>
          </a:p>
        </p:txBody>
      </p:sp>
      <p:sp>
        <p:nvSpPr>
          <p:cNvPr id="19" name="card474"/>
          <p:cNvSpPr/>
          <p:nvPr/>
        </p:nvSpPr>
        <p:spPr>
          <a:xfrm>
            <a:off x="6583680" y="1325880"/>
            <a:ext cx="5056632" cy="960120"/>
          </a:xfrm>
          <a:prstGeom prst="roundRect">
            <a:avLst>
              <a:gd name="adj" fmla="val 7619"/>
            </a:avLst>
          </a:prstGeom>
          <a:solidFill>
            <a:schemeClr val="bg2"/>
          </a:solidFill>
          <a:ln w="9525">
            <a:solidFill>
              <a:schemeClr val="bg2"/>
            </a:solidFill>
            <a:prstDash val="solid"/>
          </a:ln>
        </p:spPr>
      </p:sp>
      <p:sp>
        <p:nvSpPr>
          <p:cNvPr id="20" name="t475"/>
          <p:cNvSpPr txBox="1"/>
          <p:nvPr/>
        </p:nvSpPr>
        <p:spPr>
          <a:xfrm>
            <a:off x="6812280" y="1435608"/>
            <a:ext cx="4663440" cy="365760"/>
          </a:xfrm>
          <a:prstGeom prst="rect">
            <a:avLst/>
          </a:prstGeom>
          <a:noFill/>
          <a:ln/>
        </p:spPr>
        <p:txBody>
          <a:bodyPr wrap="square" lIns="0" tIns="0" rIns="0" bIns="0" rtlCol="0" anchor="t"/>
          <a:lstStyle/>
          <a:p>
            <a:pPr indent="0" marL="0">
              <a:buNone/>
            </a:pPr>
            <a:r>
              <a:rPr lang="en-US" sz="1500" b="1" dirty="0">
                <a:solidFill>
                  <a:schemeClr val="accent2"/>
                </a:solidFill>
              </a:rPr>
              <a:t>Short rate &gt; 40%</a:t>
            </a:r>
            <a:endParaRPr lang="en-US" sz="1500" dirty="0"/>
          </a:p>
        </p:txBody>
      </p:sp>
      <p:sp>
        <p:nvSpPr>
          <p:cNvPr id="21" name="t476"/>
          <p:cNvSpPr txBox="1"/>
          <p:nvPr/>
        </p:nvSpPr>
        <p:spPr>
          <a:xfrm>
            <a:off x="6812280" y="1801368"/>
            <a:ext cx="4663440" cy="411480"/>
          </a:xfrm>
          <a:prstGeom prst="rect">
            <a:avLst/>
          </a:prstGeom>
          <a:noFill/>
          <a:ln/>
        </p:spPr>
        <p:txBody>
          <a:bodyPr wrap="square" lIns="0" tIns="0" rIns="0" bIns="0" rtlCol="0" anchor="t"/>
          <a:lstStyle/>
          <a:p>
            <a:pPr indent="0" marL="0">
              <a:buNone/>
            </a:pPr>
            <a:r>
              <a:rPr lang="en-US" sz="1350" dirty="0">
                <a:solidFill>
                  <a:schemeClr val="tx2"/>
                </a:solidFill>
              </a:rPr>
              <a:t>steps stop early → sizing = persistent, carry_session = true</a:t>
            </a:r>
            <a:endParaRPr lang="en-US" sz="1350" dirty="0"/>
          </a:p>
        </p:txBody>
      </p:sp>
      <p:sp>
        <p:nvSpPr>
          <p:cNvPr id="22" name="card477"/>
          <p:cNvSpPr/>
          <p:nvPr/>
        </p:nvSpPr>
        <p:spPr>
          <a:xfrm>
            <a:off x="6583680" y="2468880"/>
            <a:ext cx="5056632" cy="960120"/>
          </a:xfrm>
          <a:prstGeom prst="roundRect">
            <a:avLst>
              <a:gd name="adj" fmla="val 7619"/>
            </a:avLst>
          </a:prstGeom>
          <a:solidFill>
            <a:schemeClr val="bg2"/>
          </a:solidFill>
          <a:ln w="9525">
            <a:solidFill>
              <a:schemeClr val="bg2"/>
            </a:solidFill>
            <a:prstDash val="solid"/>
          </a:ln>
        </p:spPr>
      </p:sp>
      <p:sp>
        <p:nvSpPr>
          <p:cNvPr id="23" name="t478"/>
          <p:cNvSpPr txBox="1"/>
          <p:nvPr/>
        </p:nvSpPr>
        <p:spPr>
          <a:xfrm>
            <a:off x="6812280" y="2578608"/>
            <a:ext cx="4663440" cy="365760"/>
          </a:xfrm>
          <a:prstGeom prst="rect">
            <a:avLst/>
          </a:prstGeom>
          <a:noFill/>
          <a:ln/>
        </p:spPr>
        <p:txBody>
          <a:bodyPr wrap="square" lIns="0" tIns="0" rIns="0" bIns="0" rtlCol="0" anchor="t"/>
          <a:lstStyle/>
          <a:p>
            <a:pPr indent="0" marL="0">
              <a:buNone/>
            </a:pPr>
            <a:r>
              <a:rPr lang="en-US" sz="1500" b="1" dirty="0">
                <a:solidFill>
                  <a:schemeClr val="accent2"/>
                </a:solidFill>
              </a:rPr>
              <a:t>Hook fires &gt; 25%</a:t>
            </a:r>
            <a:endParaRPr lang="en-US" sz="1500" dirty="0"/>
          </a:p>
        </p:txBody>
      </p:sp>
      <p:sp>
        <p:nvSpPr>
          <p:cNvPr id="24" name="t479"/>
          <p:cNvSpPr txBox="1"/>
          <p:nvPr/>
        </p:nvSpPr>
        <p:spPr>
          <a:xfrm>
            <a:off x="6812280" y="2944368"/>
            <a:ext cx="4663440" cy="411480"/>
          </a:xfrm>
          <a:prstGeom prst="rect">
            <a:avLst/>
          </a:prstGeom>
          <a:noFill/>
          <a:ln/>
        </p:spPr>
        <p:txBody>
          <a:bodyPr wrap="square" lIns="0" tIns="0" rIns="0" bIns="0" rtlCol="0" anchor="t"/>
          <a:lstStyle/>
          <a:p>
            <a:pPr indent="0" marL="0">
              <a:buNone/>
            </a:pPr>
            <a:r>
              <a:rPr lang="en-US" sz="1350" dirty="0">
                <a:solidFill>
                  <a:schemeClr val="tx2"/>
                </a:solidFill>
              </a:rPr>
              <a:t>steps run long → smaller items or a bigger budget</a:t>
            </a:r>
            <a:endParaRPr lang="en-US" sz="1350" dirty="0"/>
          </a:p>
        </p:txBody>
      </p:sp>
      <p:sp>
        <p:nvSpPr>
          <p:cNvPr id="25" name="card480"/>
          <p:cNvSpPr/>
          <p:nvPr/>
        </p:nvSpPr>
        <p:spPr>
          <a:xfrm>
            <a:off x="6583680" y="3611880"/>
            <a:ext cx="5056632" cy="960120"/>
          </a:xfrm>
          <a:prstGeom prst="roundRect">
            <a:avLst>
              <a:gd name="adj" fmla="val 7619"/>
            </a:avLst>
          </a:prstGeom>
          <a:solidFill>
            <a:schemeClr val="bg2"/>
          </a:solidFill>
          <a:ln w="9525">
            <a:solidFill>
              <a:schemeClr val="bg2"/>
            </a:solidFill>
            <a:prstDash val="solid"/>
          </a:ln>
        </p:spPr>
      </p:sp>
      <p:sp>
        <p:nvSpPr>
          <p:cNvPr id="26" name="t481"/>
          <p:cNvSpPr txBox="1"/>
          <p:nvPr/>
        </p:nvSpPr>
        <p:spPr>
          <a:xfrm>
            <a:off x="6812280" y="3721608"/>
            <a:ext cx="4663440" cy="365760"/>
          </a:xfrm>
          <a:prstGeom prst="rect">
            <a:avLst/>
          </a:prstGeom>
          <a:noFill/>
          <a:ln/>
        </p:spPr>
        <p:txBody>
          <a:bodyPr wrap="square" lIns="0" tIns="0" rIns="0" bIns="0" rtlCol="0" anchor="t"/>
          <a:lstStyle/>
          <a:p>
            <a:pPr indent="0" marL="0">
              <a:buNone/>
            </a:pPr>
            <a:r>
              <a:rPr lang="en-US" sz="1500" b="1" dirty="0">
                <a:solidFill>
                  <a:schemeClr val="accent2"/>
                </a:solidFill>
              </a:rPr>
              <a:t>Retry rate &gt; 10%</a:t>
            </a:r>
            <a:endParaRPr lang="en-US" sz="1500" dirty="0"/>
          </a:p>
        </p:txBody>
      </p:sp>
      <p:sp>
        <p:nvSpPr>
          <p:cNvPr id="27" name="t482"/>
          <p:cNvSpPr txBox="1"/>
          <p:nvPr/>
        </p:nvSpPr>
        <p:spPr>
          <a:xfrm>
            <a:off x="6812280" y="4087368"/>
            <a:ext cx="4663440" cy="411480"/>
          </a:xfrm>
          <a:prstGeom prst="rect">
            <a:avLst/>
          </a:prstGeom>
          <a:noFill/>
          <a:ln/>
        </p:spPr>
        <p:txBody>
          <a:bodyPr wrap="square" lIns="0" tIns="0" rIns="0" bIns="0" rtlCol="0" anchor="t"/>
          <a:lstStyle/>
          <a:p>
            <a:pPr indent="0" marL="0">
              <a:buNone/>
            </a:pPr>
            <a:r>
              <a:rPr lang="en-US" sz="1350" dirty="0">
                <a:solidFill>
                  <a:schemeClr val="tx2"/>
                </a:solidFill>
              </a:rPr>
              <a:t>harness or protocol trouble: look at the failures</a:t>
            </a:r>
            <a:endParaRPr lang="en-US" sz="1350" dirty="0"/>
          </a:p>
        </p:txBody>
      </p:sp>
      <p:sp>
        <p:nvSpPr>
          <p:cNvPr id="28" name="card483"/>
          <p:cNvSpPr/>
          <p:nvPr/>
        </p:nvSpPr>
        <p:spPr>
          <a:xfrm>
            <a:off x="6583680" y="4754880"/>
            <a:ext cx="5056632" cy="960120"/>
          </a:xfrm>
          <a:prstGeom prst="roundRect">
            <a:avLst>
              <a:gd name="adj" fmla="val 7619"/>
            </a:avLst>
          </a:prstGeom>
          <a:solidFill>
            <a:schemeClr val="bg2"/>
          </a:solidFill>
          <a:ln w="9525">
            <a:solidFill>
              <a:schemeClr val="bg2"/>
            </a:solidFill>
            <a:prstDash val="solid"/>
          </a:ln>
        </p:spPr>
      </p:sp>
      <p:sp>
        <p:nvSpPr>
          <p:cNvPr id="29" name="t484"/>
          <p:cNvSpPr txBox="1"/>
          <p:nvPr/>
        </p:nvSpPr>
        <p:spPr>
          <a:xfrm>
            <a:off x="6812280" y="4864608"/>
            <a:ext cx="4663440" cy="365760"/>
          </a:xfrm>
          <a:prstGeom prst="rect">
            <a:avLst/>
          </a:prstGeom>
          <a:noFill/>
          <a:ln/>
        </p:spPr>
        <p:txBody>
          <a:bodyPr wrap="square" lIns="0" tIns="0" rIns="0" bIns="0" rtlCol="0" anchor="t"/>
          <a:lstStyle/>
          <a:p>
            <a:pPr indent="0" marL="0">
              <a:buNone/>
            </a:pPr>
            <a:r>
              <a:rPr lang="en-US" sz="1500" b="1" dirty="0">
                <a:solidFill>
                  <a:schemeClr val="accent2"/>
                </a:solidFill>
              </a:rPr>
              <a:t>Least-squares fit</a:t>
            </a:r>
            <a:endParaRPr lang="en-US" sz="1500" dirty="0"/>
          </a:p>
        </p:txBody>
      </p:sp>
      <p:sp>
        <p:nvSpPr>
          <p:cNvPr id="30" name="t485"/>
          <p:cNvSpPr txBox="1"/>
          <p:nvPr/>
        </p:nvSpPr>
        <p:spPr>
          <a:xfrm>
            <a:off x="6812280" y="5230368"/>
            <a:ext cx="4663440" cy="411480"/>
          </a:xfrm>
          <a:prstGeom prst="rect">
            <a:avLst/>
          </a:prstGeom>
          <a:noFill/>
          <a:ln/>
        </p:spPr>
        <p:txBody>
          <a:bodyPr wrap="square" lIns="0" tIns="0" rIns="0" bIns="0" rtlCol="0" anchor="t"/>
          <a:lstStyle/>
          <a:p>
            <a:pPr indent="0" marL="0">
              <a:buNone/>
            </a:pPr>
            <a:r>
              <a:rPr lang="en-US" sz="1350" dirty="0">
                <a:solidFill>
                  <a:schemeClr val="tx2"/>
                </a:solidFill>
              </a:rPr>
              <a:t>re-estimates the carry_factor break-even per model</a:t>
            </a:r>
            <a:endParaRPr lang="en-US" sz="13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Results so far</a:t>
            </a:r>
            <a:endParaRPr lang="en-US" sz="3400" dirty="0"/>
          </a:p>
        </p:txBody>
      </p:sp>
      <p:graphicFrame>
        <p:nvGraphicFramePr>
          <p:cNvPr id="3" name="Chart 0" descr=""/>
          <p:cNvGraphicFramePr/>
          <p:nvPr/>
        </p:nvGraphicFramePr>
        <p:xfrm>
          <a:off x="548640" y="1280160"/>
          <a:ext cx="35661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389120" y="1280160"/>
          <a:ext cx="3657600" cy="3931920"/>
        </p:xfrm>
        <a:graphic xmlns:a="http://schemas.openxmlformats.org/drawingml/2006/main">
          <a:graphicData uri="http://schemas.openxmlformats.org/drawingml/2006/chart">
            <c:chart xmlns:c="http://schemas.openxmlformats.org/drawingml/2006/chart" r:id="rId2"/>
          </a:graphicData>
        </a:graphic>
      </p:graphicFrame>
      <p:sp>
        <p:nvSpPr>
          <p:cNvPr id="5" name="card486"/>
          <p:cNvSpPr/>
          <p:nvPr/>
        </p:nvSpPr>
        <p:spPr>
          <a:xfrm>
            <a:off x="8229600" y="1325880"/>
            <a:ext cx="3410712" cy="1188720"/>
          </a:xfrm>
          <a:prstGeom prst="roundRect">
            <a:avLst>
              <a:gd name="adj" fmla="val 6154"/>
            </a:avLst>
          </a:prstGeom>
          <a:solidFill>
            <a:schemeClr val="bg2"/>
          </a:solidFill>
          <a:ln w="9525">
            <a:solidFill>
              <a:schemeClr val="bg2"/>
            </a:solidFill>
            <a:prstDash val="solid"/>
          </a:ln>
        </p:spPr>
      </p:sp>
      <p:sp>
        <p:nvSpPr>
          <p:cNvPr id="6" name="t487"/>
          <p:cNvSpPr txBox="1"/>
          <p:nvPr/>
        </p:nvSpPr>
        <p:spPr>
          <a:xfrm>
            <a:off x="8412480" y="1399032"/>
            <a:ext cx="31089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−31%</a:t>
            </a:r>
            <a:endParaRPr lang="en-US" sz="2600" dirty="0"/>
          </a:p>
        </p:txBody>
      </p:sp>
      <p:sp>
        <p:nvSpPr>
          <p:cNvPr id="7" name="t488"/>
          <p:cNvSpPr txBox="1"/>
          <p:nvPr/>
        </p:nvSpPr>
        <p:spPr>
          <a:xfrm>
            <a:off x="8412480" y="1892808"/>
            <a:ext cx="3108960" cy="594360"/>
          </a:xfrm>
          <a:prstGeom prst="rect">
            <a:avLst/>
          </a:prstGeom>
          <a:noFill/>
          <a:ln/>
        </p:spPr>
        <p:txBody>
          <a:bodyPr wrap="square" lIns="0" tIns="0" rIns="0" bIns="0" rtlCol="0" anchor="t"/>
          <a:lstStyle/>
          <a:p>
            <a:pPr indent="0" marL="0">
              <a:buNone/>
            </a:pPr>
            <a:r>
              <a:rPr lang="en-US" sz="1150" dirty="0">
                <a:solidFill>
                  <a:schemeClr val="tx2"/>
                </a:solidFill>
              </a:rPr>
              <a:t>carry-over vs fresh steps; 75 s vs ~110 s wall time</a:t>
            </a:r>
            <a:endParaRPr lang="en-US" sz="1150" dirty="0"/>
          </a:p>
        </p:txBody>
      </p:sp>
      <p:sp>
        <p:nvSpPr>
          <p:cNvPr id="8" name="card489"/>
          <p:cNvSpPr/>
          <p:nvPr/>
        </p:nvSpPr>
        <p:spPr>
          <a:xfrm>
            <a:off x="8229600" y="2697480"/>
            <a:ext cx="3410712" cy="1188720"/>
          </a:xfrm>
          <a:prstGeom prst="roundRect">
            <a:avLst>
              <a:gd name="adj" fmla="val 6154"/>
            </a:avLst>
          </a:prstGeom>
          <a:solidFill>
            <a:srgbClr val="F6E3C1"/>
          </a:solidFill>
          <a:ln w="9525">
            <a:solidFill>
              <a:srgbClr val="F6E3C1"/>
            </a:solidFill>
            <a:prstDash val="solid"/>
          </a:ln>
        </p:spPr>
      </p:sp>
      <p:sp>
        <p:nvSpPr>
          <p:cNvPr id="9" name="t490"/>
          <p:cNvSpPr txBox="1"/>
          <p:nvPr/>
        </p:nvSpPr>
        <p:spPr>
          <a:xfrm>
            <a:off x="8412480" y="2770632"/>
            <a:ext cx="31089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 smaller</a:t>
            </a:r>
            <a:endParaRPr lang="en-US" sz="2600" dirty="0"/>
          </a:p>
        </p:txBody>
      </p:sp>
      <p:sp>
        <p:nvSpPr>
          <p:cNvPr id="10" name="t491"/>
          <p:cNvSpPr txBox="1"/>
          <p:nvPr/>
        </p:nvSpPr>
        <p:spPr>
          <a:xfrm>
            <a:off x="8412480" y="3264408"/>
            <a:ext cx="3108960" cy="594360"/>
          </a:xfrm>
          <a:prstGeom prst="rect">
            <a:avLst/>
          </a:prstGeom>
          <a:noFill/>
          <a:ln/>
        </p:spPr>
        <p:txBody>
          <a:bodyPr wrap="square" lIns="0" tIns="0" rIns="0" bIns="0" rtlCol="0" anchor="t"/>
          <a:lstStyle/>
          <a:p>
            <a:pPr indent="0" marL="0">
              <a:buNone/>
            </a:pPr>
            <a:r>
              <a:rPr lang="en-US" sz="1150" dirty="0">
                <a:solidFill>
                  <a:schemeClr val="tx2"/>
                </a:solidFill>
              </a:rPr>
              <a:t>context per call when simulated as steps; input −31 to −42%. So: carry within a phase, fresh at boundaries</a:t>
            </a:r>
            <a:endParaRPr lang="en-US" sz="1150" dirty="0"/>
          </a:p>
        </p:txBody>
      </p:sp>
      <p:sp>
        <p:nvSpPr>
          <p:cNvPr id="11" name="card492"/>
          <p:cNvSpPr/>
          <p:nvPr/>
        </p:nvSpPr>
        <p:spPr>
          <a:xfrm>
            <a:off x="8229600" y="4069080"/>
            <a:ext cx="3410712" cy="1188720"/>
          </a:xfrm>
          <a:prstGeom prst="roundRect">
            <a:avLst>
              <a:gd name="adj" fmla="val 6154"/>
            </a:avLst>
          </a:prstGeom>
          <a:solidFill>
            <a:schemeClr val="bg2"/>
          </a:solidFill>
          <a:ln w="9525">
            <a:solidFill>
              <a:schemeClr val="bg2"/>
            </a:solidFill>
            <a:prstDash val="solid"/>
          </a:ln>
        </p:spPr>
      </p:sp>
      <p:sp>
        <p:nvSpPr>
          <p:cNvPr id="12" name="t493"/>
          <p:cNvSpPr txBox="1"/>
          <p:nvPr/>
        </p:nvSpPr>
        <p:spPr>
          <a:xfrm>
            <a:off x="8412480" y="4142232"/>
            <a:ext cx="310896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$0.48</a:t>
            </a:r>
            <a:endParaRPr lang="en-US" sz="2600" dirty="0"/>
          </a:p>
        </p:txBody>
      </p:sp>
      <p:sp>
        <p:nvSpPr>
          <p:cNvPr id="13" name="t494"/>
          <p:cNvSpPr txBox="1"/>
          <p:nvPr/>
        </p:nvSpPr>
        <p:spPr>
          <a:xfrm>
            <a:off x="8412480" y="4636008"/>
            <a:ext cx="3108960" cy="594360"/>
          </a:xfrm>
          <a:prstGeom prst="rect">
            <a:avLst/>
          </a:prstGeom>
          <a:noFill/>
          <a:ln/>
        </p:spPr>
        <p:txBody>
          <a:bodyPr wrap="square" lIns="0" tIns="0" rIns="0" bIns="0" rtlCol="0" anchor="t"/>
          <a:lstStyle/>
          <a:p>
            <a:pPr indent="0" marL="0">
              <a:buNone/>
            </a:pPr>
            <a:r>
              <a:rPr lang="en-US" sz="1150" dirty="0">
                <a:solidFill>
                  <a:schemeClr val="tx2"/>
                </a:solidFill>
              </a:rPr>
              <a:t>three live E7 runs, 27 steps, 0 failed attempts</a:t>
            </a:r>
            <a:endParaRPr lang="en-US" sz="1150" dirty="0"/>
          </a:p>
        </p:txBody>
      </p:sp>
      <p:sp>
        <p:nvSpPr>
          <p:cNvPr id="14" name="t495"/>
          <p:cNvSpPr txBox="1"/>
          <p:nvPr/>
        </p:nvSpPr>
        <p:spPr>
          <a:xfrm>
            <a:off x="548640" y="5486400"/>
            <a:ext cx="11094415" cy="365760"/>
          </a:xfrm>
          <a:prstGeom prst="rect">
            <a:avLst/>
          </a:prstGeom>
          <a:noFill/>
          <a:ln/>
        </p:spPr>
        <p:txBody>
          <a:bodyPr wrap="square" lIns="0" tIns="0" rIns="0" bIns="0" rtlCol="0" anchor="t"/>
          <a:lstStyle/>
          <a:p>
            <a:pPr indent="0" marL="0">
              <a:buNone/>
            </a:pPr>
            <a:r>
              <a:rPr lang="en-US" sz="1300" i="1" dirty="0">
                <a:solidFill>
                  <a:schemeClr val="tx2"/>
                </a:solidFill>
              </a:rPr>
              <a:t>Early numbers on small runs; the fw-proto-chi figures are a paper simulation, not a live run.</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515600" cy="2011680"/>
          </a:xfrm>
          <a:prstGeom prst="rect">
            <a:avLst/>
          </a:prstGeom>
          <a:noFill/>
          <a:ln/>
        </p:spPr>
        <p:txBody>
          <a:bodyPr wrap="square" lIns="0" tIns="0" rIns="0" bIns="0" rtlCol="0" anchor="b"/>
          <a:lstStyle/>
          <a:p>
            <a:pPr algn="l" indent="0" marL="0">
              <a:buNone/>
            </a:pPr>
            <a:r>
              <a:rPr lang="en-US" sz="4400" b="1" dirty="0">
                <a:solidFill>
                  <a:schemeClr val="bg1"/>
                </a:solidFill>
              </a:rPr>
              <a:t>How the industry approaches it</a:t>
            </a:r>
            <a:endParaRPr lang="en-US" sz="4400" dirty="0"/>
          </a:p>
        </p:txBody>
      </p:sp>
      <p:sp>
        <p:nvSpPr>
          <p:cNvPr id="3" name="Text 0"/>
          <p:cNvSpPr/>
          <p:nvPr>
            <p:ph idx="101" type="body" hasCustomPrompt="1"/>
          </p:nvPr>
        </p:nvSpPr>
        <p:spPr>
          <a:xfrm>
            <a:off x="548640" y="3977640"/>
            <a:ext cx="10058400" cy="822960"/>
          </a:xfrm>
          <a:prstGeom prst="rect">
            <a:avLst/>
          </a:prstGeom>
          <a:noFill/>
          <a:ln/>
        </p:spPr>
        <p:txBody>
          <a:bodyPr wrap="square" lIns="0" tIns="0" rIns="0" bIns="0" rtlCol="0" anchor="t"/>
          <a:lstStyle/>
          <a:p>
            <a:pPr indent="0" marL="0">
              <a:buNone/>
            </a:pPr>
            <a:r>
              <a:rPr lang="en-US" sz="1800" dirty="0">
                <a:solidFill>
                  <a:schemeClr val="accent1"/>
                </a:solidFill>
              </a:rPr>
              <a:t>Coding agents, orchestration frameworks, durable execution, observability and EDA</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landscape in six families</a:t>
            </a:r>
            <a:endParaRPr lang="en-US" sz="3400" dirty="0"/>
          </a:p>
        </p:txBody>
      </p:sp>
      <p:sp>
        <p:nvSpPr>
          <p:cNvPr id="3" name="card496"/>
          <p:cNvSpPr/>
          <p:nvPr/>
        </p:nvSpPr>
        <p:spPr>
          <a:xfrm>
            <a:off x="548640" y="1280160"/>
            <a:ext cx="11094415" cy="713232"/>
          </a:xfrm>
          <a:prstGeom prst="roundRect">
            <a:avLst>
              <a:gd name="adj" fmla="val 10256"/>
            </a:avLst>
          </a:prstGeom>
          <a:solidFill>
            <a:srgbClr val="F6E3C1"/>
          </a:solidFill>
          <a:ln w="9525">
            <a:solidFill>
              <a:srgbClr val="DDE2E7"/>
            </a:solidFill>
            <a:prstDash val="solid"/>
          </a:ln>
        </p:spPr>
      </p:sp>
      <p:sp>
        <p:nvSpPr>
          <p:cNvPr id="4" name="t497"/>
          <p:cNvSpPr txBox="1"/>
          <p:nvPr/>
        </p:nvSpPr>
        <p:spPr>
          <a:xfrm>
            <a:off x="777240" y="1280160"/>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Agents as processes</a:t>
            </a:r>
            <a:endParaRPr lang="en-US" sz="1500" dirty="0"/>
          </a:p>
        </p:txBody>
      </p:sp>
      <p:sp>
        <p:nvSpPr>
          <p:cNvPr id="5" name="t498"/>
          <p:cNvSpPr txBox="1"/>
          <p:nvPr/>
        </p:nvSpPr>
        <p:spPr>
          <a:xfrm>
            <a:off x="3931920" y="1280160"/>
            <a:ext cx="3840480" cy="713232"/>
          </a:xfrm>
          <a:prstGeom prst="rect">
            <a:avLst/>
          </a:prstGeom>
          <a:noFill/>
          <a:ln/>
        </p:spPr>
        <p:txBody>
          <a:bodyPr wrap="square" lIns="0" tIns="0" rIns="0" bIns="0" rtlCol="0" anchor="ctr"/>
          <a:lstStyle/>
          <a:p>
            <a:pPr indent="0" marL="0">
              <a:buNone/>
            </a:pPr>
            <a:r>
              <a:rPr lang="en-US" sz="1250" dirty="0">
                <a:solidFill>
                  <a:schemeClr val="tx1"/>
                </a:solidFill>
              </a:rPr>
              <a:t>Quine, Gas Town + Beads, Ralph loop, Anthropic long-running harness</a:t>
            </a:r>
            <a:endParaRPr lang="en-US" sz="1250" dirty="0"/>
          </a:p>
        </p:txBody>
      </p:sp>
      <p:sp>
        <p:nvSpPr>
          <p:cNvPr id="6" name="t499"/>
          <p:cNvSpPr txBox="1"/>
          <p:nvPr/>
        </p:nvSpPr>
        <p:spPr>
          <a:xfrm>
            <a:off x="7909560" y="1280160"/>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A stateless call in a loop, progress in files or git: closest in spirit</a:t>
            </a:r>
            <a:endParaRPr lang="en-US" sz="1250" dirty="0"/>
          </a:p>
        </p:txBody>
      </p:sp>
      <p:sp>
        <p:nvSpPr>
          <p:cNvPr id="7" name="card500"/>
          <p:cNvSpPr/>
          <p:nvPr/>
        </p:nvSpPr>
        <p:spPr>
          <a:xfrm>
            <a:off x="548640" y="2084832"/>
            <a:ext cx="11094415" cy="713232"/>
          </a:xfrm>
          <a:prstGeom prst="roundRect">
            <a:avLst>
              <a:gd name="adj" fmla="val 10256"/>
            </a:avLst>
          </a:prstGeom>
          <a:solidFill>
            <a:schemeClr val="bg2"/>
          </a:solidFill>
          <a:ln w="9525">
            <a:solidFill>
              <a:srgbClr val="DDE2E7"/>
            </a:solidFill>
            <a:prstDash val="solid"/>
          </a:ln>
        </p:spPr>
      </p:sp>
      <p:sp>
        <p:nvSpPr>
          <p:cNvPr id="8" name="t501"/>
          <p:cNvSpPr txBox="1"/>
          <p:nvPr/>
        </p:nvSpPr>
        <p:spPr>
          <a:xfrm>
            <a:off x="777240" y="2084832"/>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Cloud coding agents</a:t>
            </a:r>
            <a:endParaRPr lang="en-US" sz="1500" dirty="0"/>
          </a:p>
        </p:txBody>
      </p:sp>
      <p:sp>
        <p:nvSpPr>
          <p:cNvPr id="9" name="t502"/>
          <p:cNvSpPr txBox="1"/>
          <p:nvPr/>
        </p:nvSpPr>
        <p:spPr>
          <a:xfrm>
            <a:off x="3931920" y="2084832"/>
            <a:ext cx="3840480" cy="713232"/>
          </a:xfrm>
          <a:prstGeom prst="rect">
            <a:avLst/>
          </a:prstGeom>
          <a:noFill/>
          <a:ln/>
        </p:spPr>
        <p:txBody>
          <a:bodyPr wrap="square" lIns="0" tIns="0" rIns="0" bIns="0" rtlCol="0" anchor="ctr"/>
          <a:lstStyle/>
          <a:p>
            <a:pPr indent="0" marL="0">
              <a:buNone/>
            </a:pPr>
            <a:r>
              <a:rPr lang="en-US" sz="1250" dirty="0">
                <a:solidFill>
                  <a:schemeClr val="tx1"/>
                </a:solidFill>
              </a:rPr>
              <a:t>Copilot coding agent, Codex cloud, Cursor Cloud Agents, Jules, Devin, Factory</a:t>
            </a:r>
            <a:endParaRPr lang="en-US" sz="1250" dirty="0"/>
          </a:p>
        </p:txBody>
      </p:sp>
      <p:sp>
        <p:nvSpPr>
          <p:cNvPr id="10" name="t503"/>
          <p:cNvSpPr txBox="1"/>
          <p:nvPr/>
        </p:nvSpPr>
        <p:spPr>
          <a:xfrm>
            <a:off x="7909560" y="2084832"/>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One task, one VM, one PR; the next run re-clones</a:t>
            </a:r>
            <a:endParaRPr lang="en-US" sz="1250" dirty="0"/>
          </a:p>
        </p:txBody>
      </p:sp>
      <p:sp>
        <p:nvSpPr>
          <p:cNvPr id="11" name="card504"/>
          <p:cNvSpPr/>
          <p:nvPr/>
        </p:nvSpPr>
        <p:spPr>
          <a:xfrm>
            <a:off x="548640" y="2889504"/>
            <a:ext cx="11094415" cy="713232"/>
          </a:xfrm>
          <a:prstGeom prst="roundRect">
            <a:avLst>
              <a:gd name="adj" fmla="val 10256"/>
            </a:avLst>
          </a:prstGeom>
          <a:solidFill>
            <a:schemeClr val="bg1"/>
          </a:solidFill>
          <a:ln w="9525">
            <a:solidFill>
              <a:srgbClr val="DDE2E7"/>
            </a:solidFill>
            <a:prstDash val="solid"/>
          </a:ln>
        </p:spPr>
      </p:sp>
      <p:sp>
        <p:nvSpPr>
          <p:cNvPr id="12" name="t505"/>
          <p:cNvSpPr txBox="1"/>
          <p:nvPr/>
        </p:nvSpPr>
        <p:spPr>
          <a:xfrm>
            <a:off x="777240" y="2889504"/>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Local agents and orchestrators</a:t>
            </a:r>
            <a:endParaRPr lang="en-US" sz="1500" dirty="0"/>
          </a:p>
        </p:txBody>
      </p:sp>
      <p:sp>
        <p:nvSpPr>
          <p:cNvPr id="13" name="t506"/>
          <p:cNvSpPr txBox="1"/>
          <p:nvPr/>
        </p:nvSpPr>
        <p:spPr>
          <a:xfrm>
            <a:off x="3931920" y="2889504"/>
            <a:ext cx="3840480" cy="713232"/>
          </a:xfrm>
          <a:prstGeom prst="rect">
            <a:avLst/>
          </a:prstGeom>
          <a:noFill/>
          <a:ln/>
        </p:spPr>
        <p:txBody>
          <a:bodyPr wrap="square" lIns="0" tIns="0" rIns="0" bIns="0" rtlCol="0" anchor="ctr"/>
          <a:lstStyle/>
          <a:p>
            <a:pPr indent="0" marL="0">
              <a:buNone/>
            </a:pPr>
            <a:r>
              <a:rPr lang="en-US" sz="1250" dirty="0">
                <a:solidFill>
                  <a:schemeClr val="tx1"/>
                </a:solidFill>
              </a:rPr>
              <a:t>Claude Code, Aider, Amp, Vibe Kanban, Conductor, Taskmaster</a:t>
            </a:r>
            <a:endParaRPr lang="en-US" sz="1250" dirty="0"/>
          </a:p>
        </p:txBody>
      </p:sp>
      <p:sp>
        <p:nvSpPr>
          <p:cNvPr id="14" name="t507"/>
          <p:cNvSpPr txBox="1"/>
          <p:nvPr/>
        </p:nvSpPr>
        <p:spPr>
          <a:xfrm>
            <a:off x="7909560" y="2889504"/>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The repo or a worktree, plus a chat history</a:t>
            </a:r>
            <a:endParaRPr lang="en-US" sz="1250" dirty="0"/>
          </a:p>
        </p:txBody>
      </p:sp>
      <p:sp>
        <p:nvSpPr>
          <p:cNvPr id="15" name="card508"/>
          <p:cNvSpPr/>
          <p:nvPr/>
        </p:nvSpPr>
        <p:spPr>
          <a:xfrm>
            <a:off x="548640" y="3694176"/>
            <a:ext cx="11094415" cy="713232"/>
          </a:xfrm>
          <a:prstGeom prst="roundRect">
            <a:avLst>
              <a:gd name="adj" fmla="val 10256"/>
            </a:avLst>
          </a:prstGeom>
          <a:solidFill>
            <a:schemeClr val="bg2"/>
          </a:solidFill>
          <a:ln w="9525">
            <a:solidFill>
              <a:srgbClr val="DDE2E7"/>
            </a:solidFill>
            <a:prstDash val="solid"/>
          </a:ln>
        </p:spPr>
      </p:sp>
      <p:sp>
        <p:nvSpPr>
          <p:cNvPr id="16" name="t509"/>
          <p:cNvSpPr txBox="1"/>
          <p:nvPr/>
        </p:nvSpPr>
        <p:spPr>
          <a:xfrm>
            <a:off x="777240" y="3694176"/>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Agent frameworks</a:t>
            </a:r>
            <a:endParaRPr lang="en-US" sz="1500" dirty="0"/>
          </a:p>
        </p:txBody>
      </p:sp>
      <p:sp>
        <p:nvSpPr>
          <p:cNvPr id="17" name="t510"/>
          <p:cNvSpPr txBox="1"/>
          <p:nvPr/>
        </p:nvSpPr>
        <p:spPr>
          <a:xfrm>
            <a:off x="3931920" y="3694176"/>
            <a:ext cx="3840480" cy="713232"/>
          </a:xfrm>
          <a:prstGeom prst="rect">
            <a:avLst/>
          </a:prstGeom>
          <a:noFill/>
          <a:ln/>
        </p:spPr>
        <p:txBody>
          <a:bodyPr wrap="square" lIns="0" tIns="0" rIns="0" bIns="0" rtlCol="0" anchor="ctr"/>
          <a:lstStyle/>
          <a:p>
            <a:pPr indent="0" marL="0">
              <a:buNone/>
            </a:pPr>
            <a:r>
              <a:rPr lang="en-US" sz="1250" dirty="0">
                <a:solidFill>
                  <a:schemeClr val="tx1"/>
                </a:solidFill>
              </a:rPr>
              <a:t>LangGraph, CrewAI, Microsoft Agent Framework, OpenHands SDK</a:t>
            </a:r>
            <a:endParaRPr lang="en-US" sz="1250" dirty="0"/>
          </a:p>
        </p:txBody>
      </p:sp>
      <p:sp>
        <p:nvSpPr>
          <p:cNvPr id="18" name="t511"/>
          <p:cNvSpPr txBox="1"/>
          <p:nvPr/>
        </p:nvSpPr>
        <p:spPr>
          <a:xfrm>
            <a:off x="7909560" y="3694176"/>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Checkpoints of agent state; you build the ops layer</a:t>
            </a:r>
            <a:endParaRPr lang="en-US" sz="1250" dirty="0"/>
          </a:p>
        </p:txBody>
      </p:sp>
      <p:sp>
        <p:nvSpPr>
          <p:cNvPr id="19" name="card512"/>
          <p:cNvSpPr/>
          <p:nvPr/>
        </p:nvSpPr>
        <p:spPr>
          <a:xfrm>
            <a:off x="548640" y="4498848"/>
            <a:ext cx="11094415" cy="713232"/>
          </a:xfrm>
          <a:prstGeom prst="roundRect">
            <a:avLst>
              <a:gd name="adj" fmla="val 10256"/>
            </a:avLst>
          </a:prstGeom>
          <a:solidFill>
            <a:schemeClr val="bg1"/>
          </a:solidFill>
          <a:ln w="9525">
            <a:solidFill>
              <a:srgbClr val="DDE2E7"/>
            </a:solidFill>
            <a:prstDash val="solid"/>
          </a:ln>
        </p:spPr>
      </p:sp>
      <p:sp>
        <p:nvSpPr>
          <p:cNvPr id="20" name="t513"/>
          <p:cNvSpPr txBox="1"/>
          <p:nvPr/>
        </p:nvSpPr>
        <p:spPr>
          <a:xfrm>
            <a:off x="777240" y="4498848"/>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Durable execution, observability</a:t>
            </a:r>
            <a:endParaRPr lang="en-US" sz="1500" dirty="0"/>
          </a:p>
        </p:txBody>
      </p:sp>
      <p:sp>
        <p:nvSpPr>
          <p:cNvPr id="21" name="t514"/>
          <p:cNvSpPr txBox="1"/>
          <p:nvPr/>
        </p:nvSpPr>
        <p:spPr>
          <a:xfrm>
            <a:off x="3931920" y="4498848"/>
            <a:ext cx="3840480" cy="713232"/>
          </a:xfrm>
          <a:prstGeom prst="rect">
            <a:avLst/>
          </a:prstGeom>
          <a:noFill/>
          <a:ln/>
        </p:spPr>
        <p:txBody>
          <a:bodyPr wrap="square" lIns="0" tIns="0" rIns="0" bIns="0" rtlCol="0" anchor="ctr"/>
          <a:lstStyle/>
          <a:p>
            <a:pPr indent="0" marL="0">
              <a:buNone/>
            </a:pPr>
            <a:r>
              <a:rPr lang="en-US" sz="1250" dirty="0">
                <a:solidFill>
                  <a:schemeClr val="tx1"/>
                </a:solidFill>
              </a:rPr>
              <a:t>Temporal, LangSmith, Langfuse, Helicone, AgentOps</a:t>
            </a:r>
            <a:endParaRPr lang="en-US" sz="1250" dirty="0"/>
          </a:p>
        </p:txBody>
      </p:sp>
      <p:sp>
        <p:nvSpPr>
          <p:cNvPr id="22" name="t515"/>
          <p:cNvSpPr txBox="1"/>
          <p:nvPr/>
        </p:nvSpPr>
        <p:spPr>
          <a:xfrm>
            <a:off x="7909560" y="4498848"/>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Retry, replay and traces; cost is observed, not acted on</a:t>
            </a:r>
            <a:endParaRPr lang="en-US" sz="1250" dirty="0"/>
          </a:p>
        </p:txBody>
      </p:sp>
      <p:sp>
        <p:nvSpPr>
          <p:cNvPr id="23" name="card516"/>
          <p:cNvSpPr/>
          <p:nvPr/>
        </p:nvSpPr>
        <p:spPr>
          <a:xfrm>
            <a:off x="548640" y="5303520"/>
            <a:ext cx="11094415" cy="713232"/>
          </a:xfrm>
          <a:prstGeom prst="roundRect">
            <a:avLst>
              <a:gd name="adj" fmla="val 10256"/>
            </a:avLst>
          </a:prstGeom>
          <a:solidFill>
            <a:schemeClr val="bg2"/>
          </a:solidFill>
          <a:ln w="9525">
            <a:solidFill>
              <a:srgbClr val="DDE2E7"/>
            </a:solidFill>
            <a:prstDash val="solid"/>
          </a:ln>
        </p:spPr>
      </p:sp>
      <p:sp>
        <p:nvSpPr>
          <p:cNvPr id="24" name="t517"/>
          <p:cNvSpPr txBox="1"/>
          <p:nvPr/>
        </p:nvSpPr>
        <p:spPr>
          <a:xfrm>
            <a:off x="777240" y="5303520"/>
            <a:ext cx="3063240" cy="713232"/>
          </a:xfrm>
          <a:prstGeom prst="rect">
            <a:avLst/>
          </a:prstGeom>
          <a:noFill/>
          <a:ln/>
        </p:spPr>
        <p:txBody>
          <a:bodyPr wrap="square" lIns="0" tIns="0" rIns="0" bIns="0" rtlCol="0" anchor="ctr"/>
          <a:lstStyle/>
          <a:p>
            <a:pPr indent="0" marL="0">
              <a:buNone/>
            </a:pPr>
            <a:r>
              <a:rPr lang="en-US" sz="1500" b="1" dirty="0">
                <a:solidFill>
                  <a:schemeClr val="accent2"/>
                </a:solidFill>
              </a:rPr>
              <a:t>EDA vendor agents</a:t>
            </a:r>
            <a:endParaRPr lang="en-US" sz="1500" dirty="0"/>
          </a:p>
        </p:txBody>
      </p:sp>
      <p:sp>
        <p:nvSpPr>
          <p:cNvPr id="25" name="t518"/>
          <p:cNvSpPr txBox="1"/>
          <p:nvPr/>
        </p:nvSpPr>
        <p:spPr>
          <a:xfrm>
            <a:off x="3931920" y="5303520"/>
            <a:ext cx="3840480" cy="713232"/>
          </a:xfrm>
          <a:prstGeom prst="rect">
            <a:avLst/>
          </a:prstGeom>
          <a:noFill/>
          <a:ln/>
        </p:spPr>
        <p:txBody>
          <a:bodyPr wrap="square" lIns="0" tIns="0" rIns="0" bIns="0" rtlCol="0" anchor="ctr"/>
          <a:lstStyle/>
          <a:p>
            <a:pPr indent="0" marL="0">
              <a:buNone/>
            </a:pPr>
            <a:r>
              <a:rPr lang="en-US" sz="1250" dirty="0">
                <a:solidFill>
                  <a:schemeClr val="tx1"/>
                </a:solidFill>
              </a:rPr>
              <a:t>Cadence ChipStack, Synopsys AgentEngineer, Siemens Questa One, ChipAgents</a:t>
            </a:r>
            <a:endParaRPr lang="en-US" sz="1250" dirty="0"/>
          </a:p>
        </p:txBody>
      </p:sp>
      <p:sp>
        <p:nvSpPr>
          <p:cNvPr id="26" name="t519"/>
          <p:cNvSpPr txBox="1"/>
          <p:nvPr/>
        </p:nvSpPr>
        <p:spPr>
          <a:xfrm>
            <a:off x="7909560" y="5303520"/>
            <a:ext cx="3611880" cy="713232"/>
          </a:xfrm>
          <a:prstGeom prst="rect">
            <a:avLst/>
          </a:prstGeom>
          <a:noFill/>
          <a:ln/>
        </p:spPr>
        <p:txBody>
          <a:bodyPr wrap="square" lIns="0" tIns="0" rIns="0" bIns="0" rtlCol="0" anchor="ctr"/>
          <a:lstStyle/>
          <a:p>
            <a:pPr indent="0" marL="0">
              <a:buNone/>
            </a:pPr>
            <a:r>
              <a:rPr lang="en-US" sz="1250" i="1" dirty="0">
                <a:solidFill>
                  <a:schemeClr val="tx2"/>
                </a:solidFill>
              </a:rPr>
              <a:t>Inside the vendor's tools; persistence not disclosed</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Where each one keeps its state</a:t>
            </a:r>
            <a:endParaRPr lang="en-US" sz="3400" dirty="0"/>
          </a:p>
        </p:txBody>
      </p:sp>
      <p:sp>
        <p:nvSpPr>
          <p:cNvPr id="3" name="card520"/>
          <p:cNvSpPr/>
          <p:nvPr/>
        </p:nvSpPr>
        <p:spPr>
          <a:xfrm>
            <a:off x="548640" y="1280160"/>
            <a:ext cx="3520440" cy="2148840"/>
          </a:xfrm>
          <a:prstGeom prst="roundRect">
            <a:avLst>
              <a:gd name="adj" fmla="val 3404"/>
            </a:avLst>
          </a:prstGeom>
          <a:solidFill>
            <a:schemeClr val="bg2"/>
          </a:solidFill>
          <a:ln w="9525">
            <a:solidFill>
              <a:schemeClr val="bg2"/>
            </a:solidFill>
            <a:prstDash val="solid"/>
          </a:ln>
        </p:spPr>
      </p:sp>
      <p:sp>
        <p:nvSpPr>
          <p:cNvPr id="4" name="t521"/>
          <p:cNvSpPr txBox="1"/>
          <p:nvPr/>
        </p:nvSpPr>
        <p:spPr>
          <a:xfrm>
            <a:off x="777240" y="1444752"/>
            <a:ext cx="3063240" cy="411480"/>
          </a:xfrm>
          <a:prstGeom prst="rect">
            <a:avLst/>
          </a:prstGeom>
          <a:noFill/>
          <a:ln/>
        </p:spPr>
        <p:txBody>
          <a:bodyPr wrap="square" lIns="0" tIns="0" rIns="0" bIns="0" rtlCol="0" anchor="t"/>
          <a:lstStyle/>
          <a:p>
            <a:pPr indent="0" marL="0">
              <a:buNone/>
            </a:pPr>
            <a:r>
              <a:rPr lang="en-US" sz="1700" b="1" dirty="0">
                <a:solidFill>
                  <a:schemeClr val="tx1"/>
                </a:solidFill>
              </a:rPr>
              <a:t>Git branch / PR</a:t>
            </a:r>
            <a:endParaRPr lang="en-US" sz="1700" dirty="0"/>
          </a:p>
        </p:txBody>
      </p:sp>
      <p:sp>
        <p:nvSpPr>
          <p:cNvPr id="5" name="t522"/>
          <p:cNvSpPr txBox="1"/>
          <p:nvPr/>
        </p:nvSpPr>
        <p:spPr>
          <a:xfrm>
            <a:off x="777240" y="1847088"/>
            <a:ext cx="3063240" cy="365760"/>
          </a:xfrm>
          <a:prstGeom prst="rect">
            <a:avLst/>
          </a:prstGeom>
          <a:noFill/>
          <a:ln/>
        </p:spPr>
        <p:txBody>
          <a:bodyPr wrap="square" lIns="0" tIns="0" rIns="0" bIns="0" rtlCol="0" anchor="t"/>
          <a:lstStyle/>
          <a:p>
            <a:pPr indent="0" marL="0">
              <a:buNone/>
            </a:pPr>
            <a:r>
              <a:rPr lang="en-US" sz="1200" i="1" dirty="0">
                <a:solidFill>
                  <a:schemeClr val="accent2"/>
                </a:solidFill>
              </a:rPr>
              <a:t>Copilot, Aider, Cursor, Jules, Ralph loop</a:t>
            </a:r>
            <a:endParaRPr lang="en-US" sz="1200" dirty="0"/>
          </a:p>
        </p:txBody>
      </p:sp>
      <p:sp>
        <p:nvSpPr>
          <p:cNvPr id="6" name="t523"/>
          <p:cNvSpPr txBox="1"/>
          <p:nvPr/>
        </p:nvSpPr>
        <p:spPr>
          <a:xfrm>
            <a:off x="777240" y="2240280"/>
            <a:ext cx="3063240" cy="1143000"/>
          </a:xfrm>
          <a:prstGeom prst="rect">
            <a:avLst/>
          </a:prstGeom>
          <a:noFill/>
          <a:ln/>
        </p:spPr>
        <p:txBody>
          <a:bodyPr wrap="square" lIns="0" tIns="0" rIns="0" bIns="0" rtlCol="0" anchor="t"/>
          <a:lstStyle/>
          <a:p>
            <a:pPr indent="0" marL="0">
              <a:buNone/>
            </a:pPr>
            <a:r>
              <a:rPr lang="en-US" sz="1300" dirty="0">
                <a:solidFill>
                  <a:schemeClr val="tx2"/>
                </a:solidFill>
              </a:rPr>
              <a:t>Code is durable; plans, notes and builds are not. Every run starts from a fresh clone.</a:t>
            </a:r>
            <a:endParaRPr lang="en-US" sz="1300" dirty="0"/>
          </a:p>
        </p:txBody>
      </p:sp>
      <p:sp>
        <p:nvSpPr>
          <p:cNvPr id="7" name="card524"/>
          <p:cNvSpPr/>
          <p:nvPr/>
        </p:nvSpPr>
        <p:spPr>
          <a:xfrm>
            <a:off x="4320540" y="1280160"/>
            <a:ext cx="3520440" cy="2148840"/>
          </a:xfrm>
          <a:prstGeom prst="roundRect">
            <a:avLst>
              <a:gd name="adj" fmla="val 3404"/>
            </a:avLst>
          </a:prstGeom>
          <a:solidFill>
            <a:schemeClr val="bg2"/>
          </a:solidFill>
          <a:ln w="9525">
            <a:solidFill>
              <a:schemeClr val="bg2"/>
            </a:solidFill>
            <a:prstDash val="solid"/>
          </a:ln>
        </p:spPr>
      </p:sp>
      <p:sp>
        <p:nvSpPr>
          <p:cNvPr id="8" name="t525"/>
          <p:cNvSpPr txBox="1"/>
          <p:nvPr/>
        </p:nvSpPr>
        <p:spPr>
          <a:xfrm>
            <a:off x="4549140" y="1444752"/>
            <a:ext cx="3063240" cy="411480"/>
          </a:xfrm>
          <a:prstGeom prst="rect">
            <a:avLst/>
          </a:prstGeom>
          <a:noFill/>
          <a:ln/>
        </p:spPr>
        <p:txBody>
          <a:bodyPr wrap="square" lIns="0" tIns="0" rIns="0" bIns="0" rtlCol="0" anchor="t"/>
          <a:lstStyle/>
          <a:p>
            <a:pPr indent="0" marL="0">
              <a:buNone/>
            </a:pPr>
            <a:r>
              <a:rPr lang="en-US" sz="1700" b="1" dirty="0">
                <a:solidFill>
                  <a:schemeClr val="tx1"/>
                </a:solidFill>
              </a:rPr>
              <a:t>Hosted VM workspace</a:t>
            </a:r>
            <a:endParaRPr lang="en-US" sz="1700" dirty="0"/>
          </a:p>
        </p:txBody>
      </p:sp>
      <p:sp>
        <p:nvSpPr>
          <p:cNvPr id="9" name="t526"/>
          <p:cNvSpPr txBox="1"/>
          <p:nvPr/>
        </p:nvSpPr>
        <p:spPr>
          <a:xfrm>
            <a:off x="4549140" y="1847088"/>
            <a:ext cx="3063240" cy="365760"/>
          </a:xfrm>
          <a:prstGeom prst="rect">
            <a:avLst/>
          </a:prstGeom>
          <a:noFill/>
          <a:ln/>
        </p:spPr>
        <p:txBody>
          <a:bodyPr wrap="square" lIns="0" tIns="0" rIns="0" bIns="0" rtlCol="0" anchor="t"/>
          <a:lstStyle/>
          <a:p>
            <a:pPr indent="0" marL="0">
              <a:buNone/>
            </a:pPr>
            <a:r>
              <a:rPr lang="en-US" sz="1200" i="1" dirty="0">
                <a:solidFill>
                  <a:schemeClr val="accent2"/>
                </a:solidFill>
              </a:rPr>
              <a:t>Codex cloud, Devin, Factory</a:t>
            </a:r>
            <a:endParaRPr lang="en-US" sz="1200" dirty="0"/>
          </a:p>
        </p:txBody>
      </p:sp>
      <p:sp>
        <p:nvSpPr>
          <p:cNvPr id="10" name="t527"/>
          <p:cNvSpPr txBox="1"/>
          <p:nvPr/>
        </p:nvSpPr>
        <p:spPr>
          <a:xfrm>
            <a:off x="4549140" y="2240280"/>
            <a:ext cx="3063240" cy="1143000"/>
          </a:xfrm>
          <a:prstGeom prst="rect">
            <a:avLst/>
          </a:prstGeom>
          <a:noFill/>
          <a:ln/>
        </p:spPr>
        <p:txBody>
          <a:bodyPr wrap="square" lIns="0" tIns="0" rIns="0" bIns="0" rtlCol="0" anchor="t"/>
          <a:lstStyle/>
          <a:p>
            <a:pPr indent="0" marL="0">
              <a:buNone/>
            </a:pPr>
            <a:r>
              <a:rPr lang="en-US" sz="1300" dirty="0">
                <a:solidFill>
                  <a:schemeClr val="tx2"/>
                </a:solidFill>
              </a:rPr>
              <a:t>Dependency caches survive, but state is tied to one repo and one vendor's cloud.</a:t>
            </a:r>
            <a:endParaRPr lang="en-US" sz="1300" dirty="0"/>
          </a:p>
        </p:txBody>
      </p:sp>
      <p:sp>
        <p:nvSpPr>
          <p:cNvPr id="11" name="card528"/>
          <p:cNvSpPr/>
          <p:nvPr/>
        </p:nvSpPr>
        <p:spPr>
          <a:xfrm>
            <a:off x="8092440" y="1280160"/>
            <a:ext cx="3520440" cy="2148840"/>
          </a:xfrm>
          <a:prstGeom prst="roundRect">
            <a:avLst>
              <a:gd name="adj" fmla="val 3404"/>
            </a:avLst>
          </a:prstGeom>
          <a:solidFill>
            <a:schemeClr val="bg2"/>
          </a:solidFill>
          <a:ln w="9525">
            <a:solidFill>
              <a:schemeClr val="bg2"/>
            </a:solidFill>
            <a:prstDash val="solid"/>
          </a:ln>
        </p:spPr>
      </p:sp>
      <p:sp>
        <p:nvSpPr>
          <p:cNvPr id="12" name="t529"/>
          <p:cNvSpPr txBox="1"/>
          <p:nvPr/>
        </p:nvSpPr>
        <p:spPr>
          <a:xfrm>
            <a:off x="8321040" y="1444752"/>
            <a:ext cx="3063240" cy="411480"/>
          </a:xfrm>
          <a:prstGeom prst="rect">
            <a:avLst/>
          </a:prstGeom>
          <a:noFill/>
          <a:ln/>
        </p:spPr>
        <p:txBody>
          <a:bodyPr wrap="square" lIns="0" tIns="0" rIns="0" bIns="0" rtlCol="0" anchor="t"/>
          <a:lstStyle/>
          <a:p>
            <a:pPr indent="0" marL="0">
              <a:buNone/>
            </a:pPr>
            <a:r>
              <a:rPr lang="en-US" sz="1700" b="1" dirty="0">
                <a:solidFill>
                  <a:schemeClr val="tx1"/>
                </a:solidFill>
              </a:rPr>
              <a:t>Session + memory file</a:t>
            </a:r>
            <a:endParaRPr lang="en-US" sz="1700" dirty="0"/>
          </a:p>
        </p:txBody>
      </p:sp>
      <p:sp>
        <p:nvSpPr>
          <p:cNvPr id="13" name="t530"/>
          <p:cNvSpPr txBox="1"/>
          <p:nvPr/>
        </p:nvSpPr>
        <p:spPr>
          <a:xfrm>
            <a:off x="8321040" y="1847088"/>
            <a:ext cx="3063240" cy="365760"/>
          </a:xfrm>
          <a:prstGeom prst="rect">
            <a:avLst/>
          </a:prstGeom>
          <a:noFill/>
          <a:ln/>
        </p:spPr>
        <p:txBody>
          <a:bodyPr wrap="square" lIns="0" tIns="0" rIns="0" bIns="0" rtlCol="0" anchor="t"/>
          <a:lstStyle/>
          <a:p>
            <a:pPr indent="0" marL="0">
              <a:buNone/>
            </a:pPr>
            <a:r>
              <a:rPr lang="en-US" sz="1200" i="1" dirty="0">
                <a:solidFill>
                  <a:schemeClr val="accent2"/>
                </a:solidFill>
              </a:rPr>
              <a:t>Claude Code Projects, Amp threads</a:t>
            </a:r>
            <a:endParaRPr lang="en-US" sz="1200" dirty="0"/>
          </a:p>
        </p:txBody>
      </p:sp>
      <p:sp>
        <p:nvSpPr>
          <p:cNvPr id="14" name="t531"/>
          <p:cNvSpPr txBox="1"/>
          <p:nvPr/>
        </p:nvSpPr>
        <p:spPr>
          <a:xfrm>
            <a:off x="8321040" y="2240280"/>
            <a:ext cx="3063240" cy="1143000"/>
          </a:xfrm>
          <a:prstGeom prst="rect">
            <a:avLst/>
          </a:prstGeom>
          <a:noFill/>
          <a:ln/>
        </p:spPr>
        <p:txBody>
          <a:bodyPr wrap="square" lIns="0" tIns="0" rIns="0" bIns="0" rtlCol="0" anchor="t"/>
          <a:lstStyle/>
          <a:p>
            <a:pPr indent="0" marL="0">
              <a:buNone/>
            </a:pPr>
            <a:r>
              <a:rPr lang="en-US" sz="1300" dirty="0">
                <a:solidFill>
                  <a:schemeClr val="tx2"/>
                </a:solidFill>
              </a:rPr>
              <a:t>A model-curated MEMORY.md and file library beside repos re-cloned per thread.</a:t>
            </a:r>
            <a:endParaRPr lang="en-US" sz="1300" dirty="0"/>
          </a:p>
        </p:txBody>
      </p:sp>
      <p:sp>
        <p:nvSpPr>
          <p:cNvPr id="15" name="card532"/>
          <p:cNvSpPr/>
          <p:nvPr/>
        </p:nvSpPr>
        <p:spPr>
          <a:xfrm>
            <a:off x="548640" y="3657600"/>
            <a:ext cx="3520440" cy="2148840"/>
          </a:xfrm>
          <a:prstGeom prst="roundRect">
            <a:avLst>
              <a:gd name="adj" fmla="val 3404"/>
            </a:avLst>
          </a:prstGeom>
          <a:solidFill>
            <a:schemeClr val="bg2"/>
          </a:solidFill>
          <a:ln w="9525">
            <a:solidFill>
              <a:schemeClr val="bg2"/>
            </a:solidFill>
            <a:prstDash val="solid"/>
          </a:ln>
        </p:spPr>
      </p:sp>
      <p:sp>
        <p:nvSpPr>
          <p:cNvPr id="16" name="t533"/>
          <p:cNvSpPr txBox="1"/>
          <p:nvPr/>
        </p:nvSpPr>
        <p:spPr>
          <a:xfrm>
            <a:off x="777240" y="3822192"/>
            <a:ext cx="3063240" cy="411480"/>
          </a:xfrm>
          <a:prstGeom prst="rect">
            <a:avLst/>
          </a:prstGeom>
          <a:noFill/>
          <a:ln/>
        </p:spPr>
        <p:txBody>
          <a:bodyPr wrap="square" lIns="0" tIns="0" rIns="0" bIns="0" rtlCol="0" anchor="t"/>
          <a:lstStyle/>
          <a:p>
            <a:pPr indent="0" marL="0">
              <a:buNone/>
            </a:pPr>
            <a:r>
              <a:rPr lang="en-US" sz="1700" b="1" dirty="0">
                <a:solidFill>
                  <a:schemeClr val="tx1"/>
                </a:solidFill>
              </a:rPr>
              <a:t>Checkpoint database</a:t>
            </a:r>
            <a:endParaRPr lang="en-US" sz="1700" dirty="0"/>
          </a:p>
        </p:txBody>
      </p:sp>
      <p:sp>
        <p:nvSpPr>
          <p:cNvPr id="17" name="t534"/>
          <p:cNvSpPr txBox="1"/>
          <p:nvPr/>
        </p:nvSpPr>
        <p:spPr>
          <a:xfrm>
            <a:off x="777240" y="4224528"/>
            <a:ext cx="3063240" cy="365760"/>
          </a:xfrm>
          <a:prstGeom prst="rect">
            <a:avLst/>
          </a:prstGeom>
          <a:noFill/>
          <a:ln/>
        </p:spPr>
        <p:txBody>
          <a:bodyPr wrap="square" lIns="0" tIns="0" rIns="0" bIns="0" rtlCol="0" anchor="t"/>
          <a:lstStyle/>
          <a:p>
            <a:pPr indent="0" marL="0">
              <a:buNone/>
            </a:pPr>
            <a:r>
              <a:rPr lang="en-US" sz="1200" i="1" dirty="0">
                <a:solidFill>
                  <a:schemeClr val="accent2"/>
                </a:solidFill>
              </a:rPr>
              <a:t>LangGraph, CrewAI, Temporal</a:t>
            </a:r>
            <a:endParaRPr lang="en-US" sz="1200" dirty="0"/>
          </a:p>
        </p:txBody>
      </p:sp>
      <p:sp>
        <p:nvSpPr>
          <p:cNvPr id="18" name="t535"/>
          <p:cNvSpPr txBox="1"/>
          <p:nvPr/>
        </p:nvSpPr>
        <p:spPr>
          <a:xfrm>
            <a:off x="777240" y="4617720"/>
            <a:ext cx="3063240" cy="1143000"/>
          </a:xfrm>
          <a:prstGeom prst="rect">
            <a:avLst/>
          </a:prstGeom>
          <a:noFill/>
          <a:ln/>
        </p:spPr>
        <p:txBody>
          <a:bodyPr wrap="square" lIns="0" tIns="0" rIns="0" bIns="0" rtlCol="0" anchor="t"/>
          <a:lstStyle/>
          <a:p>
            <a:pPr indent="0" marL="0">
              <a:buNone/>
            </a:pPr>
            <a:r>
              <a:rPr lang="en-US" sz="1300" dirty="0">
                <a:solidFill>
                  <a:schemeClr val="tx2"/>
                </a:solidFill>
              </a:rPr>
              <a:t>Durable agent state in SQLite, Postgres or an event history. Artifacts are out of scope.</a:t>
            </a:r>
            <a:endParaRPr lang="en-US" sz="1300" dirty="0"/>
          </a:p>
        </p:txBody>
      </p:sp>
      <p:sp>
        <p:nvSpPr>
          <p:cNvPr id="19" name="card536"/>
          <p:cNvSpPr/>
          <p:nvPr/>
        </p:nvSpPr>
        <p:spPr>
          <a:xfrm>
            <a:off x="4320540" y="3657600"/>
            <a:ext cx="3520440" cy="2148840"/>
          </a:xfrm>
          <a:prstGeom prst="roundRect">
            <a:avLst>
              <a:gd name="adj" fmla="val 3404"/>
            </a:avLst>
          </a:prstGeom>
          <a:solidFill>
            <a:schemeClr val="bg2"/>
          </a:solidFill>
          <a:ln w="9525">
            <a:solidFill>
              <a:schemeClr val="bg2"/>
            </a:solidFill>
            <a:prstDash val="solid"/>
          </a:ln>
        </p:spPr>
      </p:sp>
      <p:sp>
        <p:nvSpPr>
          <p:cNvPr id="20" name="t537"/>
          <p:cNvSpPr txBox="1"/>
          <p:nvPr/>
        </p:nvSpPr>
        <p:spPr>
          <a:xfrm>
            <a:off x="4549140" y="3822192"/>
            <a:ext cx="3063240" cy="411480"/>
          </a:xfrm>
          <a:prstGeom prst="rect">
            <a:avLst/>
          </a:prstGeom>
          <a:noFill/>
          <a:ln/>
        </p:spPr>
        <p:txBody>
          <a:bodyPr wrap="square" lIns="0" tIns="0" rIns="0" bIns="0" rtlCol="0" anchor="t"/>
          <a:lstStyle/>
          <a:p>
            <a:pPr indent="0" marL="0">
              <a:buNone/>
            </a:pPr>
            <a:r>
              <a:rPr lang="en-US" sz="1700" b="1" dirty="0">
                <a:solidFill>
                  <a:schemeClr val="tx1"/>
                </a:solidFill>
              </a:rPr>
              <a:t>On-disk event log</a:t>
            </a:r>
            <a:endParaRPr lang="en-US" sz="1700" dirty="0"/>
          </a:p>
        </p:txBody>
      </p:sp>
      <p:sp>
        <p:nvSpPr>
          <p:cNvPr id="21" name="t538"/>
          <p:cNvSpPr txBox="1"/>
          <p:nvPr/>
        </p:nvSpPr>
        <p:spPr>
          <a:xfrm>
            <a:off x="4549140" y="4224528"/>
            <a:ext cx="3063240" cy="365760"/>
          </a:xfrm>
          <a:prstGeom prst="rect">
            <a:avLst/>
          </a:prstGeom>
          <a:noFill/>
          <a:ln/>
        </p:spPr>
        <p:txBody>
          <a:bodyPr wrap="square" lIns="0" tIns="0" rIns="0" bIns="0" rtlCol="0" anchor="t"/>
          <a:lstStyle/>
          <a:p>
            <a:pPr indent="0" marL="0">
              <a:buNone/>
            </a:pPr>
            <a:r>
              <a:rPr lang="en-US" sz="1200" i="1" dirty="0">
                <a:solidFill>
                  <a:schemeClr val="accent2"/>
                </a:solidFill>
              </a:rPr>
              <a:t>OpenHands, SWE-agent</a:t>
            </a:r>
            <a:endParaRPr lang="en-US" sz="1200" dirty="0"/>
          </a:p>
        </p:txBody>
      </p:sp>
      <p:sp>
        <p:nvSpPr>
          <p:cNvPr id="22" name="t539"/>
          <p:cNvSpPr txBox="1"/>
          <p:nvPr/>
        </p:nvSpPr>
        <p:spPr>
          <a:xfrm>
            <a:off x="4549140" y="4617720"/>
            <a:ext cx="3063240" cy="1143000"/>
          </a:xfrm>
          <a:prstGeom prst="rect">
            <a:avLst/>
          </a:prstGeom>
          <a:noFill/>
          <a:ln/>
        </p:spPr>
        <p:txBody>
          <a:bodyPr wrap="square" lIns="0" tIns="0" rIns="0" bIns="0" rtlCol="0" anchor="t"/>
          <a:lstStyle/>
          <a:p>
            <a:pPr indent="0" marL="0">
              <a:buNone/>
            </a:pPr>
            <a:r>
              <a:rPr lang="en-US" sz="1300" dirty="0">
                <a:solidFill>
                  <a:schemeClr val="tx2"/>
                </a:solidFill>
              </a:rPr>
              <a:t>Nearest framework design: append-only JSON per conversation. No task artifacts, no runner.</a:t>
            </a:r>
            <a:endParaRPr lang="en-US" sz="1300" dirty="0"/>
          </a:p>
        </p:txBody>
      </p:sp>
      <p:sp>
        <p:nvSpPr>
          <p:cNvPr id="23" name="card540"/>
          <p:cNvSpPr/>
          <p:nvPr/>
        </p:nvSpPr>
        <p:spPr>
          <a:xfrm>
            <a:off x="8092440" y="3657600"/>
            <a:ext cx="3520440" cy="2148840"/>
          </a:xfrm>
          <a:prstGeom prst="roundRect">
            <a:avLst>
              <a:gd name="adj" fmla="val 3404"/>
            </a:avLst>
          </a:prstGeom>
          <a:solidFill>
            <a:schemeClr val="tx1"/>
          </a:solidFill>
          <a:ln w="9525">
            <a:solidFill>
              <a:schemeClr val="tx1"/>
            </a:solidFill>
            <a:prstDash val="solid"/>
          </a:ln>
        </p:spPr>
      </p:sp>
      <p:sp>
        <p:nvSpPr>
          <p:cNvPr id="24" name="t541"/>
          <p:cNvSpPr txBox="1"/>
          <p:nvPr/>
        </p:nvSpPr>
        <p:spPr>
          <a:xfrm>
            <a:off x="8321040" y="3822192"/>
            <a:ext cx="3063240" cy="411480"/>
          </a:xfrm>
          <a:prstGeom prst="rect">
            <a:avLst/>
          </a:prstGeom>
          <a:noFill/>
          <a:ln/>
        </p:spPr>
        <p:txBody>
          <a:bodyPr wrap="square" lIns="0" tIns="0" rIns="0" bIns="0" rtlCol="0" anchor="t"/>
          <a:lstStyle/>
          <a:p>
            <a:pPr indent="0" marL="0">
              <a:buNone/>
            </a:pPr>
            <a:r>
              <a:rPr lang="en-US" sz="1700" b="1" dirty="0">
                <a:solidFill>
                  <a:srgbClr val="E8A33D"/>
                </a:solidFill>
              </a:rPr>
              <a:t>The task packet</a:t>
            </a:r>
            <a:endParaRPr lang="en-US" sz="1700" dirty="0"/>
          </a:p>
        </p:txBody>
      </p:sp>
      <p:sp>
        <p:nvSpPr>
          <p:cNvPr id="25" name="t542"/>
          <p:cNvSpPr txBox="1"/>
          <p:nvPr/>
        </p:nvSpPr>
        <p:spPr>
          <a:xfrm>
            <a:off x="8321040" y="4224528"/>
            <a:ext cx="3063240" cy="365760"/>
          </a:xfrm>
          <a:prstGeom prst="rect">
            <a:avLst/>
          </a:prstGeom>
          <a:noFill/>
          <a:ln/>
        </p:spPr>
        <p:txBody>
          <a:bodyPr wrap="square" lIns="0" tIns="0" rIns="0" bIns="0" rtlCol="0" anchor="t"/>
          <a:lstStyle/>
          <a:p>
            <a:pPr indent="0" marL="0">
              <a:buNone/>
            </a:pPr>
            <a:r>
              <a:rPr lang="en-US" sz="1200" i="1" dirty="0">
                <a:solidFill>
                  <a:srgbClr val="D5ECE9"/>
                </a:solidFill>
              </a:rPr>
              <a:t>work-packet</a:t>
            </a:r>
            <a:endParaRPr lang="en-US" sz="1200" dirty="0"/>
          </a:p>
        </p:txBody>
      </p:sp>
      <p:sp>
        <p:nvSpPr>
          <p:cNvPr id="26" name="t543"/>
          <p:cNvSpPr txBox="1"/>
          <p:nvPr/>
        </p:nvSpPr>
        <p:spPr>
          <a:xfrm>
            <a:off x="8321040" y="4617720"/>
            <a:ext cx="3063240" cy="1143000"/>
          </a:xfrm>
          <a:prstGeom prst="rect">
            <a:avLst/>
          </a:prstGeom>
          <a:noFill/>
          <a:ln/>
        </p:spPr>
        <p:txBody>
          <a:bodyPr wrap="square" lIns="0" tIns="0" rIns="0" bIns="0" rtlCol="0" anchor="t"/>
          <a:lstStyle/>
          <a:p>
            <a:pPr indent="0" marL="0">
              <a:buNone/>
            </a:pPr>
            <a:r>
              <a:rPr lang="en-US" sz="1300" dirty="0">
                <a:solidFill>
                  <a:srgbClr val="FFFFFF"/>
                </a:solidFill>
              </a:rPr>
              <a:t>Instructions, journal, plans, work/ clones and derived artifacts in one directory per task.</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Side by side</a:t>
            </a:r>
            <a:endParaRPr lang="en-US" sz="3400" dirty="0"/>
          </a:p>
        </p:txBody>
      </p:sp>
      <p:graphicFrame>
        <p:nvGraphicFramePr>
          <p:cNvPr id="32" name="matrix"/>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755087"/>
                <a:gridCol w="1389888"/>
                <a:gridCol w="1389888"/>
                <a:gridCol w="1389888"/>
                <a:gridCol w="1389888"/>
                <a:gridCol w="1389888"/>
                <a:gridCol w="1389888"/>
              </a:tblGrid>
              <a:tr h="274320">
                <a:tc>
                  <a:txBody>
                    <a:bodyPr/>
                    <a:lstStyle/>
                    <a:p>
                      <a:pPr algn="l" indent="0" marL="0">
                        <a:buNone/>
                      </a:pPr>
                      <a:r>
                        <a:rPr lang="en-US" sz="1200" b="1" dirty="0">
                          <a:solidFill>
                            <a:schemeClr val="bg1"/>
                          </a:solidFill>
                        </a:rPr>
                        <a:t>Tool</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Task is the unit</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Keeps artifacts</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Many projects</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Recurring tasks</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Token metrics</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Adapts to metrics</a:t>
                      </a:r>
                      <a:endParaRPr lang="en-US" sz="120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chemeClr val="tx2"/>
                    </a:solidFill>
                  </a:tcPr>
                </a:tc>
              </a:tr>
              <a:tr h="274320">
                <a:tc>
                  <a:txBody>
                    <a:bodyPr/>
                    <a:lstStyle/>
                    <a:p>
                      <a:pPr algn="l" indent="0" marL="0">
                        <a:buNone/>
                      </a:pPr>
                      <a:r>
                        <a:rPr lang="en-US" sz="1150" b="1" dirty="0">
                          <a:solidFill>
                            <a:schemeClr val="tx1"/>
                          </a:solidFill>
                        </a:rPr>
                        <a:t>Claude Code (scheduled, Projects)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OpenAI Codex cloud</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GitHub Copilot coding agent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Devin</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Cursor Cloud Agents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Google Jules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Factory Missions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OpenHands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Gas Town + Beads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Ralph loop / Anthropic harness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Aider</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Vibe Kanban / Conductor</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LangGraph / CrewAI</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Temporal</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274320">
                <a:tc>
                  <a:txBody>
                    <a:bodyPr/>
                    <a:lstStyle/>
                    <a:p>
                      <a:pPr algn="l" indent="0" marL="0">
                        <a:buNone/>
                      </a:pPr>
                      <a:r>
                        <a:rPr lang="en-US" sz="1150" b="1" dirty="0">
                          <a:solidFill>
                            <a:schemeClr val="tx1"/>
                          </a:solidFill>
                        </a:rPr>
                        <a:t>LangSmith / Langfuse / Helicone</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1"/>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algn="ctr" indent="0" marL="0">
                        <a:buNone/>
                      </a:pPr>
                      <a:r>
                        <a:rPr lang="en-US" sz="1150" dirty="0">
                          <a:solidFill>
                            <a:schemeClr val="accent3"/>
                          </a:solidFill>
                        </a:rPr>
                        <a: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274320">
                <a:tc>
                  <a:txBody>
                    <a:bodyPr/>
                    <a:lstStyle/>
                    <a:p>
                      <a:pPr algn="l" indent="0" marL="0">
                        <a:buNone/>
                      </a:pPr>
                      <a:r>
                        <a:rPr lang="en-US" sz="1150" b="1" dirty="0">
                          <a:solidFill>
                            <a:schemeClr val="tx1"/>
                          </a:solidFill>
                        </a:rPr>
                        <a:t>work-packet</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tx2"/>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accent2"/>
                          </a:solidFill>
                        </a:rPr>
                        <a:t>Yes</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c>
                  <a:txBody>
                    <a:bodyPr/>
                    <a:lstStyle/>
                    <a:p>
                      <a:pPr algn="ctr" indent="0" marL="0">
                        <a:buNone/>
                      </a:pPr>
                      <a:r>
                        <a:rPr lang="en-US" sz="1150" b="1" dirty="0">
                          <a:solidFill>
                            <a:schemeClr val="tx2"/>
                          </a:solidFill>
                        </a:rPr>
                        <a:t>Partly</a:t>
                      </a:r>
                      <a:endParaRPr lang="en-US" sz="1150" dirty="0"/>
                    </a:p>
                  </a:txBody>
                  <a:tcPr marL="91440" marR="91440" marT="0" marB="0"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E3C1"/>
                    </a:solidFill>
                  </a:tcPr>
                </a:tc>
              </a:tr>
            </a:tbl>
          </a:graphicData>
        </a:graphic>
      </p:graphicFrame>
      <p:sp>
        <p:nvSpPr>
          <p:cNvPr id="4" name="t544"/>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100" i="1" dirty="0">
                <a:solidFill>
                  <a:schemeClr val="tx2"/>
                </a:solidFill>
              </a:rPr>
              <a:t>Yes / Partly / – (little or none). Judgments from public docs and reviews, October 2026; work-packet rates itself on what is built.</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In EDA, agents come from tool vendors</a:t>
            </a:r>
            <a:endParaRPr lang="en-US" sz="3400" dirty="0"/>
          </a:p>
        </p:txBody>
      </p:sp>
      <p:sp>
        <p:nvSpPr>
          <p:cNvPr id="3" name="card545"/>
          <p:cNvSpPr/>
          <p:nvPr/>
        </p:nvSpPr>
        <p:spPr>
          <a:xfrm>
            <a:off x="548640" y="1280160"/>
            <a:ext cx="3520440" cy="2011680"/>
          </a:xfrm>
          <a:prstGeom prst="roundRect">
            <a:avLst>
              <a:gd name="adj" fmla="val 3636"/>
            </a:avLst>
          </a:prstGeom>
          <a:solidFill>
            <a:schemeClr val="bg2"/>
          </a:solidFill>
          <a:ln w="9525">
            <a:solidFill>
              <a:schemeClr val="bg2"/>
            </a:solidFill>
            <a:prstDash val="solid"/>
          </a:ln>
        </p:spPr>
      </p:sp>
      <p:sp>
        <p:nvSpPr>
          <p:cNvPr id="4" name="ic546"/>
          <p:cNvSpPr/>
          <p:nvPr/>
        </p:nvSpPr>
        <p:spPr>
          <a:xfrm>
            <a:off x="777240" y="1508760"/>
            <a:ext cx="502920" cy="502920"/>
          </a:xfrm>
          <a:prstGeom prst="ellipse">
            <a:avLst/>
          </a:prstGeom>
          <a:solidFill>
            <a:schemeClr val="accent2"/>
          </a:solidFill>
          <a:ln w="12700">
            <a:solidFill>
              <a:schemeClr val="accent2"/>
            </a:solidFill>
            <a:prstDash val="solid"/>
          </a:ln>
        </p:spPr>
      </p:sp>
      <p:pic>
        <p:nvPicPr>
          <p:cNvPr id="5" name="icimg547" descr="preencoded.png">    </p:cNvPr>
          <p:cNvPicPr>
            <a:picLocks noChangeAspect="1"/>
          </p:cNvPicPr>
          <p:nvPr/>
        </p:nvPicPr>
        <p:blipFill>
          <a:blip r:embed="rId1"/>
          <a:stretch>
            <a:fillRect/>
          </a:stretch>
        </p:blipFill>
        <p:spPr>
          <a:xfrm>
            <a:off x="902970" y="1634490"/>
            <a:ext cx="251460" cy="251460"/>
          </a:xfrm>
          <a:prstGeom prst="rect">
            <a:avLst/>
          </a:prstGeom>
        </p:spPr>
      </p:pic>
      <p:sp>
        <p:nvSpPr>
          <p:cNvPr id="6" name="t548"/>
          <p:cNvSpPr txBox="1"/>
          <p:nvPr/>
        </p:nvSpPr>
        <p:spPr>
          <a:xfrm>
            <a:off x="1417320" y="150876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Cadence ChipStack AI Super Agent</a:t>
            </a:r>
            <a:endParaRPr lang="en-US" sz="1500" dirty="0"/>
          </a:p>
        </p:txBody>
      </p:sp>
      <p:sp>
        <p:nvSpPr>
          <p:cNvPr id="7" name="t549"/>
          <p:cNvSpPr txBox="1"/>
          <p:nvPr/>
        </p:nvSpPr>
        <p:spPr>
          <a:xfrm>
            <a:off x="777240" y="2148840"/>
            <a:ext cx="3063240" cy="1097280"/>
          </a:xfrm>
          <a:prstGeom prst="rect">
            <a:avLst/>
          </a:prstGeom>
          <a:noFill/>
          <a:ln/>
        </p:spPr>
        <p:txBody>
          <a:bodyPr wrap="square" lIns="0" tIns="0" rIns="0" bIns="0" rtlCol="0" anchor="t"/>
          <a:lstStyle/>
          <a:p>
            <a:pPr indent="0" marL="0">
              <a:buNone/>
            </a:pPr>
            <a:r>
              <a:rPr lang="en-US" sz="1250" dirty="0">
                <a:solidFill>
                  <a:schemeClr val="tx2"/>
                </a:solidFill>
              </a:rPr>
              <a:t>Spec to RTL, testbenches and test plans; orchestrates regressions, debugs and fixes. Claimed 'Level 5 autonomy' in June 2026.</a:t>
            </a:r>
            <a:endParaRPr lang="en-US" sz="1250" dirty="0"/>
          </a:p>
        </p:txBody>
      </p:sp>
      <p:sp>
        <p:nvSpPr>
          <p:cNvPr id="8" name="card550"/>
          <p:cNvSpPr/>
          <p:nvPr/>
        </p:nvSpPr>
        <p:spPr>
          <a:xfrm>
            <a:off x="4320540" y="1280160"/>
            <a:ext cx="3520440" cy="2011680"/>
          </a:xfrm>
          <a:prstGeom prst="roundRect">
            <a:avLst>
              <a:gd name="adj" fmla="val 3636"/>
            </a:avLst>
          </a:prstGeom>
          <a:solidFill>
            <a:schemeClr val="bg2"/>
          </a:solidFill>
          <a:ln w="9525">
            <a:solidFill>
              <a:schemeClr val="bg2"/>
            </a:solidFill>
            <a:prstDash val="solid"/>
          </a:ln>
        </p:spPr>
      </p:sp>
      <p:sp>
        <p:nvSpPr>
          <p:cNvPr id="9" name="ic551"/>
          <p:cNvSpPr/>
          <p:nvPr/>
        </p:nvSpPr>
        <p:spPr>
          <a:xfrm>
            <a:off x="4549140" y="1508760"/>
            <a:ext cx="502920" cy="502920"/>
          </a:xfrm>
          <a:prstGeom prst="ellipse">
            <a:avLst/>
          </a:prstGeom>
          <a:solidFill>
            <a:schemeClr val="accent2"/>
          </a:solidFill>
          <a:ln w="12700">
            <a:solidFill>
              <a:schemeClr val="accent2"/>
            </a:solidFill>
            <a:prstDash val="solid"/>
          </a:ln>
        </p:spPr>
      </p:sp>
      <p:pic>
        <p:nvPicPr>
          <p:cNvPr id="10" name="icimg552" descr="preencoded.png">    </p:cNvPr>
          <p:cNvPicPr>
            <a:picLocks noChangeAspect="1"/>
          </p:cNvPicPr>
          <p:nvPr/>
        </p:nvPicPr>
        <p:blipFill>
          <a:blip r:embed="rId2"/>
          <a:stretch>
            <a:fillRect/>
          </a:stretch>
        </p:blipFill>
        <p:spPr>
          <a:xfrm>
            <a:off x="4674870" y="1634490"/>
            <a:ext cx="251460" cy="251460"/>
          </a:xfrm>
          <a:prstGeom prst="rect">
            <a:avLst/>
          </a:prstGeom>
        </p:spPr>
      </p:pic>
      <p:sp>
        <p:nvSpPr>
          <p:cNvPr id="11" name="t553"/>
          <p:cNvSpPr txBox="1"/>
          <p:nvPr/>
        </p:nvSpPr>
        <p:spPr>
          <a:xfrm>
            <a:off x="5189220" y="150876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Synopsys AgentEngineer</a:t>
            </a:r>
            <a:endParaRPr lang="en-US" sz="1500" dirty="0"/>
          </a:p>
        </p:txBody>
      </p:sp>
      <p:sp>
        <p:nvSpPr>
          <p:cNvPr id="12" name="t554"/>
          <p:cNvSpPr txBox="1"/>
          <p:nvPr/>
        </p:nvSpPr>
        <p:spPr>
          <a:xfrm>
            <a:off x="4549140" y="2148840"/>
            <a:ext cx="3063240" cy="1097280"/>
          </a:xfrm>
          <a:prstGeom prst="rect">
            <a:avLst/>
          </a:prstGeom>
          <a:noFill/>
          <a:ln/>
        </p:spPr>
        <p:txBody>
          <a:bodyPr wrap="square" lIns="0" tIns="0" rIns="0" bIns="0" rtlCol="0" anchor="t"/>
          <a:lstStyle/>
          <a:p>
            <a:pPr indent="0" marL="0">
              <a:buNone/>
            </a:pPr>
            <a:r>
              <a:rPr lang="en-US" sz="1250" dirty="0">
                <a:solidFill>
                  <a:schemeClr val="tx2"/>
                </a:solidFill>
              </a:rPr>
              <a:t>A platform of specialised agents for RTL and verification (details from secondary sources).</a:t>
            </a:r>
            <a:endParaRPr lang="en-US" sz="1250" dirty="0"/>
          </a:p>
        </p:txBody>
      </p:sp>
      <p:sp>
        <p:nvSpPr>
          <p:cNvPr id="13" name="card555"/>
          <p:cNvSpPr/>
          <p:nvPr/>
        </p:nvSpPr>
        <p:spPr>
          <a:xfrm>
            <a:off x="8092440" y="1280160"/>
            <a:ext cx="3520440" cy="2011680"/>
          </a:xfrm>
          <a:prstGeom prst="roundRect">
            <a:avLst>
              <a:gd name="adj" fmla="val 3636"/>
            </a:avLst>
          </a:prstGeom>
          <a:solidFill>
            <a:schemeClr val="bg2"/>
          </a:solidFill>
          <a:ln w="9525">
            <a:solidFill>
              <a:schemeClr val="bg2"/>
            </a:solidFill>
            <a:prstDash val="solid"/>
          </a:ln>
        </p:spPr>
      </p:sp>
      <p:sp>
        <p:nvSpPr>
          <p:cNvPr id="14" name="ic556"/>
          <p:cNvSpPr/>
          <p:nvPr/>
        </p:nvSpPr>
        <p:spPr>
          <a:xfrm>
            <a:off x="8321040" y="1508760"/>
            <a:ext cx="502920" cy="502920"/>
          </a:xfrm>
          <a:prstGeom prst="ellipse">
            <a:avLst/>
          </a:prstGeom>
          <a:solidFill>
            <a:schemeClr val="accent2"/>
          </a:solidFill>
          <a:ln w="12700">
            <a:solidFill>
              <a:schemeClr val="accent2"/>
            </a:solidFill>
            <a:prstDash val="solid"/>
          </a:ln>
        </p:spPr>
      </p:sp>
      <p:pic>
        <p:nvPicPr>
          <p:cNvPr id="15" name="icimg557" descr="preencoded.png">    </p:cNvPr>
          <p:cNvPicPr>
            <a:picLocks noChangeAspect="1"/>
          </p:cNvPicPr>
          <p:nvPr/>
        </p:nvPicPr>
        <p:blipFill>
          <a:blip r:embed="rId3"/>
          <a:stretch>
            <a:fillRect/>
          </a:stretch>
        </p:blipFill>
        <p:spPr>
          <a:xfrm>
            <a:off x="8446770" y="1634490"/>
            <a:ext cx="251460" cy="251460"/>
          </a:xfrm>
          <a:prstGeom prst="rect">
            <a:avLst/>
          </a:prstGeom>
        </p:spPr>
      </p:pic>
      <p:sp>
        <p:nvSpPr>
          <p:cNvPr id="16" name="t558"/>
          <p:cNvSpPr txBox="1"/>
          <p:nvPr/>
        </p:nvSpPr>
        <p:spPr>
          <a:xfrm>
            <a:off x="8961120" y="150876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Siemens Questa One Agentic Toolkit</a:t>
            </a:r>
            <a:endParaRPr lang="en-US" sz="1500" dirty="0"/>
          </a:p>
        </p:txBody>
      </p:sp>
      <p:sp>
        <p:nvSpPr>
          <p:cNvPr id="17" name="t559"/>
          <p:cNvSpPr txBox="1"/>
          <p:nvPr/>
        </p:nvSpPr>
        <p:spPr>
          <a:xfrm>
            <a:off x="8321040" y="2148840"/>
            <a:ext cx="3063240" cy="1097280"/>
          </a:xfrm>
          <a:prstGeom prst="rect">
            <a:avLst/>
          </a:prstGeom>
          <a:noFill/>
          <a:ln/>
        </p:spPr>
        <p:txBody>
          <a:bodyPr wrap="square" lIns="0" tIns="0" rIns="0" bIns="0" rtlCol="0" anchor="t"/>
          <a:lstStyle/>
          <a:p>
            <a:pPr indent="0" marL="0">
              <a:buNone/>
            </a:pPr>
            <a:r>
              <a:rPr lang="en-US" sz="1250" dirty="0">
                <a:solidFill>
                  <a:schemeClr val="tx2"/>
                </a:solidFill>
              </a:rPr>
              <a:t>Five agents (RTL code, lint, CDC, verification planning, debug) that plug into Claude Code and Cursor.</a:t>
            </a:r>
            <a:endParaRPr lang="en-US" sz="1250" dirty="0"/>
          </a:p>
        </p:txBody>
      </p:sp>
      <p:sp>
        <p:nvSpPr>
          <p:cNvPr id="18" name="card560"/>
          <p:cNvSpPr/>
          <p:nvPr/>
        </p:nvSpPr>
        <p:spPr>
          <a:xfrm>
            <a:off x="548640" y="3520440"/>
            <a:ext cx="3520440" cy="2011680"/>
          </a:xfrm>
          <a:prstGeom prst="roundRect">
            <a:avLst>
              <a:gd name="adj" fmla="val 3636"/>
            </a:avLst>
          </a:prstGeom>
          <a:solidFill>
            <a:schemeClr val="bg2"/>
          </a:solidFill>
          <a:ln w="9525">
            <a:solidFill>
              <a:schemeClr val="bg2"/>
            </a:solidFill>
            <a:prstDash val="solid"/>
          </a:ln>
        </p:spPr>
      </p:sp>
      <p:sp>
        <p:nvSpPr>
          <p:cNvPr id="19" name="ic561"/>
          <p:cNvSpPr/>
          <p:nvPr/>
        </p:nvSpPr>
        <p:spPr>
          <a:xfrm>
            <a:off x="777240" y="3749040"/>
            <a:ext cx="502920" cy="502920"/>
          </a:xfrm>
          <a:prstGeom prst="ellipse">
            <a:avLst/>
          </a:prstGeom>
          <a:solidFill>
            <a:schemeClr val="accent2"/>
          </a:solidFill>
          <a:ln w="12700">
            <a:solidFill>
              <a:schemeClr val="accent2"/>
            </a:solidFill>
            <a:prstDash val="solid"/>
          </a:ln>
        </p:spPr>
      </p:sp>
      <p:pic>
        <p:nvPicPr>
          <p:cNvPr id="20" name="icimg562" descr="preencoded.png">    </p:cNvPr>
          <p:cNvPicPr>
            <a:picLocks noChangeAspect="1"/>
          </p:cNvPicPr>
          <p:nvPr/>
        </p:nvPicPr>
        <p:blipFill>
          <a:blip r:embed="rId4"/>
          <a:stretch>
            <a:fillRect/>
          </a:stretch>
        </p:blipFill>
        <p:spPr>
          <a:xfrm>
            <a:off x="902970" y="3874770"/>
            <a:ext cx="251460" cy="251460"/>
          </a:xfrm>
          <a:prstGeom prst="rect">
            <a:avLst/>
          </a:prstGeom>
        </p:spPr>
      </p:pic>
      <p:sp>
        <p:nvSpPr>
          <p:cNvPr id="21" name="t563"/>
          <p:cNvSpPr txBox="1"/>
          <p:nvPr/>
        </p:nvSpPr>
        <p:spPr>
          <a:xfrm>
            <a:off x="1417320" y="374904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ChipAgents</a:t>
            </a:r>
            <a:endParaRPr lang="en-US" sz="1500" dirty="0"/>
          </a:p>
        </p:txBody>
      </p:sp>
      <p:sp>
        <p:nvSpPr>
          <p:cNvPr id="22" name="t564"/>
          <p:cNvSpPr txBox="1"/>
          <p:nvPr/>
        </p:nvSpPr>
        <p:spPr>
          <a:xfrm>
            <a:off x="777240" y="4389120"/>
            <a:ext cx="3063240" cy="1097280"/>
          </a:xfrm>
          <a:prstGeom prst="rect">
            <a:avLst/>
          </a:prstGeom>
          <a:noFill/>
          <a:ln/>
        </p:spPr>
        <p:txBody>
          <a:bodyPr wrap="square" lIns="0" tIns="0" rIns="0" bIns="0" rtlCol="0" anchor="t"/>
          <a:lstStyle/>
          <a:p>
            <a:pPr indent="0" marL="0">
              <a:buNone/>
            </a:pPr>
            <a:r>
              <a:rPr lang="en-US" sz="1250" dirty="0">
                <a:solidFill>
                  <a:schemeClr val="tx2"/>
                </a:solidFill>
              </a:rPr>
              <a:t>Multi-agent RTL design, verification and debug. Series A extended to $134M in July 2026; 120+ deployments.</a:t>
            </a:r>
            <a:endParaRPr lang="en-US" sz="1250" dirty="0"/>
          </a:p>
        </p:txBody>
      </p:sp>
      <p:sp>
        <p:nvSpPr>
          <p:cNvPr id="23" name="card565"/>
          <p:cNvSpPr/>
          <p:nvPr/>
        </p:nvSpPr>
        <p:spPr>
          <a:xfrm>
            <a:off x="4320540" y="3520440"/>
            <a:ext cx="3520440" cy="2011680"/>
          </a:xfrm>
          <a:prstGeom prst="roundRect">
            <a:avLst>
              <a:gd name="adj" fmla="val 3636"/>
            </a:avLst>
          </a:prstGeom>
          <a:solidFill>
            <a:schemeClr val="bg2"/>
          </a:solidFill>
          <a:ln w="9525">
            <a:solidFill>
              <a:schemeClr val="bg2"/>
            </a:solidFill>
            <a:prstDash val="solid"/>
          </a:ln>
        </p:spPr>
      </p:sp>
      <p:sp>
        <p:nvSpPr>
          <p:cNvPr id="24" name="ic566"/>
          <p:cNvSpPr/>
          <p:nvPr/>
        </p:nvSpPr>
        <p:spPr>
          <a:xfrm>
            <a:off x="4549140" y="3749040"/>
            <a:ext cx="502920" cy="502920"/>
          </a:xfrm>
          <a:prstGeom prst="ellipse">
            <a:avLst/>
          </a:prstGeom>
          <a:solidFill>
            <a:schemeClr val="accent2"/>
          </a:solidFill>
          <a:ln w="12700">
            <a:solidFill>
              <a:schemeClr val="accent2"/>
            </a:solidFill>
            <a:prstDash val="solid"/>
          </a:ln>
        </p:spPr>
      </p:sp>
      <p:pic>
        <p:nvPicPr>
          <p:cNvPr id="25" name="icimg567" descr="preencoded.png">    </p:cNvPr>
          <p:cNvPicPr>
            <a:picLocks noChangeAspect="1"/>
          </p:cNvPicPr>
          <p:nvPr/>
        </p:nvPicPr>
        <p:blipFill>
          <a:blip r:embed="rId5"/>
          <a:stretch>
            <a:fillRect/>
          </a:stretch>
        </p:blipFill>
        <p:spPr>
          <a:xfrm>
            <a:off x="4674870" y="3874770"/>
            <a:ext cx="251460" cy="251460"/>
          </a:xfrm>
          <a:prstGeom prst="rect">
            <a:avLst/>
          </a:prstGeom>
        </p:spPr>
      </p:pic>
      <p:sp>
        <p:nvSpPr>
          <p:cNvPr id="26" name="t568"/>
          <p:cNvSpPr txBox="1"/>
          <p:nvPr/>
        </p:nvSpPr>
        <p:spPr>
          <a:xfrm>
            <a:off x="5189220" y="374904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CovAgent (ASU, research)</a:t>
            </a:r>
            <a:endParaRPr lang="en-US" sz="1500" dirty="0"/>
          </a:p>
        </p:txBody>
      </p:sp>
      <p:sp>
        <p:nvSpPr>
          <p:cNvPr id="27" name="t569"/>
          <p:cNvSpPr txBox="1"/>
          <p:nvPr/>
        </p:nvSpPr>
        <p:spPr>
          <a:xfrm>
            <a:off x="4549140" y="4389120"/>
            <a:ext cx="3063240" cy="1097280"/>
          </a:xfrm>
          <a:prstGeom prst="rect">
            <a:avLst/>
          </a:prstGeom>
          <a:noFill/>
          <a:ln/>
        </p:spPr>
        <p:txBody>
          <a:bodyPr wrap="square" lIns="0" tIns="0" rIns="0" bIns="0" rtlCol="0" anchor="t"/>
          <a:lstStyle/>
          <a:p>
            <a:pPr indent="0" marL="0">
              <a:buNone/>
            </a:pPr>
            <a:r>
              <a:rPr lang="en-US" sz="1250" dirty="0">
                <a:solidFill>
                  <a:schemeClr val="tx2"/>
                </a:solidFill>
              </a:rPr>
              <a:t>Only 12–18% of tokens went to testbench code. Structure and curated coverage feedback cut tokens 4–13×.</a:t>
            </a:r>
            <a:endParaRPr lang="en-US" sz="1250" dirty="0"/>
          </a:p>
        </p:txBody>
      </p:sp>
      <p:sp>
        <p:nvSpPr>
          <p:cNvPr id="28" name="card570"/>
          <p:cNvSpPr/>
          <p:nvPr/>
        </p:nvSpPr>
        <p:spPr>
          <a:xfrm>
            <a:off x="8092440" y="3520440"/>
            <a:ext cx="3520440" cy="2011680"/>
          </a:xfrm>
          <a:prstGeom prst="roundRect">
            <a:avLst>
              <a:gd name="adj" fmla="val 3636"/>
            </a:avLst>
          </a:prstGeom>
          <a:solidFill>
            <a:schemeClr val="bg2"/>
          </a:solidFill>
          <a:ln w="9525">
            <a:solidFill>
              <a:schemeClr val="bg2"/>
            </a:solidFill>
            <a:prstDash val="solid"/>
          </a:ln>
        </p:spPr>
      </p:sp>
      <p:sp>
        <p:nvSpPr>
          <p:cNvPr id="29" name="ic571"/>
          <p:cNvSpPr/>
          <p:nvPr/>
        </p:nvSpPr>
        <p:spPr>
          <a:xfrm>
            <a:off x="8321040" y="3749040"/>
            <a:ext cx="502920" cy="502920"/>
          </a:xfrm>
          <a:prstGeom prst="ellipse">
            <a:avLst/>
          </a:prstGeom>
          <a:solidFill>
            <a:schemeClr val="accent2"/>
          </a:solidFill>
          <a:ln w="12700">
            <a:solidFill>
              <a:schemeClr val="accent2"/>
            </a:solidFill>
            <a:prstDash val="solid"/>
          </a:ln>
        </p:spPr>
      </p:sp>
      <p:pic>
        <p:nvPicPr>
          <p:cNvPr id="30" name="icimg572" descr="preencoded.png">    </p:cNvPr>
          <p:cNvPicPr>
            <a:picLocks noChangeAspect="1"/>
          </p:cNvPicPr>
          <p:nvPr/>
        </p:nvPicPr>
        <p:blipFill>
          <a:blip r:embed="rId6"/>
          <a:stretch>
            <a:fillRect/>
          </a:stretch>
        </p:blipFill>
        <p:spPr>
          <a:xfrm>
            <a:off x="8446770" y="3874770"/>
            <a:ext cx="251460" cy="251460"/>
          </a:xfrm>
          <a:prstGeom prst="rect">
            <a:avLst/>
          </a:prstGeom>
        </p:spPr>
      </p:pic>
      <p:sp>
        <p:nvSpPr>
          <p:cNvPr id="31" name="t573"/>
          <p:cNvSpPr txBox="1"/>
          <p:nvPr/>
        </p:nvSpPr>
        <p:spPr>
          <a:xfrm>
            <a:off x="8961120" y="3749040"/>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EDATracer (research)</a:t>
            </a:r>
            <a:endParaRPr lang="en-US" sz="1500" dirty="0"/>
          </a:p>
        </p:txBody>
      </p:sp>
      <p:sp>
        <p:nvSpPr>
          <p:cNvPr id="32" name="t574"/>
          <p:cNvSpPr txBox="1"/>
          <p:nvPr/>
        </p:nvSpPr>
        <p:spPr>
          <a:xfrm>
            <a:off x="8321040" y="4389120"/>
            <a:ext cx="3063240" cy="1097280"/>
          </a:xfrm>
          <a:prstGeom prst="rect">
            <a:avLst/>
          </a:prstGeom>
          <a:noFill/>
          <a:ln/>
        </p:spPr>
        <p:txBody>
          <a:bodyPr wrap="square" lIns="0" tIns="0" rIns="0" bIns="0" rtlCol="0" anchor="t"/>
          <a:lstStyle/>
          <a:p>
            <a:pPr indent="0" marL="0">
              <a:buNone/>
            </a:pPr>
            <a:r>
              <a:rPr lang="en-US" sz="1250" dirty="0">
                <a:solidFill>
                  <a:schemeClr val="tx2"/>
                </a:solidFill>
              </a:rPr>
              <a:t>2–3× fewer tokens than Cursor when analysing large EDA artifacts (from the abstract).</a:t>
            </a:r>
            <a:endParaRPr lang="en-US" sz="1250" dirty="0"/>
          </a:p>
        </p:txBody>
      </p:sp>
      <p:sp>
        <p:nvSpPr>
          <p:cNvPr id="33" name="t57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450" b="1" i="1" dirty="0">
                <a:solidFill>
                  <a:schemeClr val="accent2"/>
                </a:solidFill>
              </a:rPr>
              <a:t>Vendors build the agents. Siemens shipping its agents for Claude Code and Cursor leaves the orchestration and persistence layer open.</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gaps work-packet fills</a:t>
            </a:r>
            <a:endParaRPr lang="en-US" sz="3400" dirty="0"/>
          </a:p>
        </p:txBody>
      </p:sp>
      <p:sp>
        <p:nvSpPr>
          <p:cNvPr id="3" name="ic576"/>
          <p:cNvSpPr/>
          <p:nvPr/>
        </p:nvSpPr>
        <p:spPr>
          <a:xfrm>
            <a:off x="548640" y="1371600"/>
            <a:ext cx="502920" cy="502920"/>
          </a:xfrm>
          <a:prstGeom prst="ellipse">
            <a:avLst/>
          </a:prstGeom>
          <a:solidFill>
            <a:schemeClr val="accent1"/>
          </a:solidFill>
          <a:ln w="12700">
            <a:solidFill>
              <a:schemeClr val="accent1"/>
            </a:solidFill>
            <a:prstDash val="solid"/>
          </a:ln>
        </p:spPr>
      </p:sp>
      <p:pic>
        <p:nvPicPr>
          <p:cNvPr id="4" name="icimg577" descr="preencoded.png">    </p:cNvPr>
          <p:cNvPicPr>
            <a:picLocks noChangeAspect="1"/>
          </p:cNvPicPr>
          <p:nvPr/>
        </p:nvPicPr>
        <p:blipFill>
          <a:blip r:embed="rId1"/>
          <a:stretch>
            <a:fillRect/>
          </a:stretch>
        </p:blipFill>
        <p:spPr>
          <a:xfrm>
            <a:off x="674370" y="1497330"/>
            <a:ext cx="251460" cy="251460"/>
          </a:xfrm>
          <a:prstGeom prst="rect">
            <a:avLst/>
          </a:prstGeom>
        </p:spPr>
      </p:pic>
      <p:sp>
        <p:nvSpPr>
          <p:cNvPr id="5" name="t578"/>
          <p:cNvSpPr txBox="1"/>
          <p:nvPr/>
        </p:nvSpPr>
        <p:spPr>
          <a:xfrm>
            <a:off x="1280160" y="1280160"/>
            <a:ext cx="4645152" cy="365760"/>
          </a:xfrm>
          <a:prstGeom prst="rect">
            <a:avLst/>
          </a:prstGeom>
          <a:noFill/>
          <a:ln/>
        </p:spPr>
        <p:txBody>
          <a:bodyPr wrap="square" lIns="0" tIns="0" rIns="0" bIns="0" rtlCol="0" anchor="t"/>
          <a:lstStyle/>
          <a:p>
            <a:pPr indent="0" marL="0">
              <a:buNone/>
            </a:pPr>
            <a:r>
              <a:rPr lang="en-US" sz="1600" b="1" dirty="0">
                <a:solidFill>
                  <a:schemeClr val="tx1"/>
                </a:solidFill>
              </a:rPr>
              <a:t>Persist the task, not the repo</a:t>
            </a:r>
            <a:endParaRPr lang="en-US" sz="1600" dirty="0"/>
          </a:p>
        </p:txBody>
      </p:sp>
      <p:sp>
        <p:nvSpPr>
          <p:cNvPr id="6" name="t579"/>
          <p:cNvSpPr txBox="1"/>
          <p:nvPr/>
        </p:nvSpPr>
        <p:spPr>
          <a:xfrm>
            <a:off x="1280160" y="1645920"/>
            <a:ext cx="4645152" cy="731520"/>
          </a:xfrm>
          <a:prstGeom prst="rect">
            <a:avLst/>
          </a:prstGeom>
          <a:noFill/>
          <a:ln/>
        </p:spPr>
        <p:txBody>
          <a:bodyPr wrap="square" lIns="0" tIns="0" rIns="0" bIns="0" rtlCol="0" anchor="t"/>
          <a:lstStyle/>
          <a:p>
            <a:pPr indent="0" marL="0">
              <a:buNone/>
            </a:pPr>
            <a:r>
              <a:rPr lang="en-US" sz="1300" dirty="0">
                <a:solidFill>
                  <a:schemeClr val="tx2"/>
                </a:solidFill>
              </a:rPr>
              <a:t>Every mainstream agent ends a run as a branch or PR and re-clones next time. None makes the task the durable unit.</a:t>
            </a:r>
            <a:endParaRPr lang="en-US" sz="1300" dirty="0"/>
          </a:p>
        </p:txBody>
      </p:sp>
      <p:sp>
        <p:nvSpPr>
          <p:cNvPr id="7" name="ic580"/>
          <p:cNvSpPr/>
          <p:nvPr/>
        </p:nvSpPr>
        <p:spPr>
          <a:xfrm>
            <a:off x="6222492" y="1371600"/>
            <a:ext cx="502920" cy="502920"/>
          </a:xfrm>
          <a:prstGeom prst="ellipse">
            <a:avLst/>
          </a:prstGeom>
          <a:solidFill>
            <a:schemeClr val="accent1"/>
          </a:solidFill>
          <a:ln w="12700">
            <a:solidFill>
              <a:schemeClr val="accent1"/>
            </a:solidFill>
            <a:prstDash val="solid"/>
          </a:ln>
        </p:spPr>
      </p:sp>
      <p:pic>
        <p:nvPicPr>
          <p:cNvPr id="8" name="icimg581" descr="preencoded.png">    </p:cNvPr>
          <p:cNvPicPr>
            <a:picLocks noChangeAspect="1"/>
          </p:cNvPicPr>
          <p:nvPr/>
        </p:nvPicPr>
        <p:blipFill>
          <a:blip r:embed="rId2"/>
          <a:stretch>
            <a:fillRect/>
          </a:stretch>
        </p:blipFill>
        <p:spPr>
          <a:xfrm>
            <a:off x="6348222" y="1497330"/>
            <a:ext cx="251460" cy="251460"/>
          </a:xfrm>
          <a:prstGeom prst="rect">
            <a:avLst/>
          </a:prstGeom>
        </p:spPr>
      </p:pic>
      <p:sp>
        <p:nvSpPr>
          <p:cNvPr id="9" name="t582"/>
          <p:cNvSpPr txBox="1"/>
          <p:nvPr/>
        </p:nvSpPr>
        <p:spPr>
          <a:xfrm>
            <a:off x="6954012" y="1280160"/>
            <a:ext cx="4645152" cy="365760"/>
          </a:xfrm>
          <a:prstGeom prst="rect">
            <a:avLst/>
          </a:prstGeom>
          <a:noFill/>
          <a:ln/>
        </p:spPr>
        <p:txBody>
          <a:bodyPr wrap="square" lIns="0" tIns="0" rIns="0" bIns="0" rtlCol="0" anchor="t"/>
          <a:lstStyle/>
          <a:p>
            <a:pPr indent="0" marL="0">
              <a:buNone/>
            </a:pPr>
            <a:r>
              <a:rPr lang="en-US" sz="1600" b="1" dirty="0">
                <a:solidFill>
                  <a:schemeClr val="tx1"/>
                </a:solidFill>
              </a:rPr>
              <a:t>Keep the expensive artifacts</a:t>
            </a:r>
            <a:endParaRPr lang="en-US" sz="1600" dirty="0"/>
          </a:p>
        </p:txBody>
      </p:sp>
      <p:sp>
        <p:nvSpPr>
          <p:cNvPr id="10" name="t583"/>
          <p:cNvSpPr txBox="1"/>
          <p:nvPr/>
        </p:nvSpPr>
        <p:spPr>
          <a:xfrm>
            <a:off x="6954012" y="1645920"/>
            <a:ext cx="4645152" cy="731520"/>
          </a:xfrm>
          <a:prstGeom prst="rect">
            <a:avLst/>
          </a:prstGeom>
          <a:noFill/>
          <a:ln/>
        </p:spPr>
        <p:txBody>
          <a:bodyPr wrap="square" lIns="0" tIns="0" rIns="0" bIns="0" rtlCol="0" anchor="t"/>
          <a:lstStyle/>
          <a:p>
            <a:pPr indent="0" marL="0">
              <a:buNone/>
            </a:pPr>
            <a:r>
              <a:rPr lang="en-US" sz="1300" dirty="0">
                <a:solidFill>
                  <a:schemeClr val="tx2"/>
                </a:solidFill>
              </a:rPr>
              <a:t>Builds, sim snapshots, coverage and run dirs outlive the step. Elsewhere only dependency caches survive.</a:t>
            </a:r>
            <a:endParaRPr lang="en-US" sz="1300" dirty="0"/>
          </a:p>
        </p:txBody>
      </p:sp>
      <p:sp>
        <p:nvSpPr>
          <p:cNvPr id="11" name="ic584"/>
          <p:cNvSpPr/>
          <p:nvPr/>
        </p:nvSpPr>
        <p:spPr>
          <a:xfrm>
            <a:off x="548640" y="2560320"/>
            <a:ext cx="502920" cy="502920"/>
          </a:xfrm>
          <a:prstGeom prst="ellipse">
            <a:avLst/>
          </a:prstGeom>
          <a:solidFill>
            <a:schemeClr val="accent1"/>
          </a:solidFill>
          <a:ln w="12700">
            <a:solidFill>
              <a:schemeClr val="accent1"/>
            </a:solidFill>
            <a:prstDash val="solid"/>
          </a:ln>
        </p:spPr>
      </p:sp>
      <p:pic>
        <p:nvPicPr>
          <p:cNvPr id="12" name="icimg585" descr="preencoded.png">    </p:cNvPr>
          <p:cNvPicPr>
            <a:picLocks noChangeAspect="1"/>
          </p:cNvPicPr>
          <p:nvPr/>
        </p:nvPicPr>
        <p:blipFill>
          <a:blip r:embed="rId3"/>
          <a:stretch>
            <a:fillRect/>
          </a:stretch>
        </p:blipFill>
        <p:spPr>
          <a:xfrm>
            <a:off x="674370" y="2686050"/>
            <a:ext cx="251460" cy="251460"/>
          </a:xfrm>
          <a:prstGeom prst="rect">
            <a:avLst/>
          </a:prstGeom>
        </p:spPr>
      </p:pic>
      <p:sp>
        <p:nvSpPr>
          <p:cNvPr id="13" name="t586"/>
          <p:cNvSpPr txBox="1"/>
          <p:nvPr/>
        </p:nvSpPr>
        <p:spPr>
          <a:xfrm>
            <a:off x="1280160" y="2468880"/>
            <a:ext cx="4645152" cy="365760"/>
          </a:xfrm>
          <a:prstGeom prst="rect">
            <a:avLst/>
          </a:prstGeom>
          <a:noFill/>
          <a:ln/>
        </p:spPr>
        <p:txBody>
          <a:bodyPr wrap="square" lIns="0" tIns="0" rIns="0" bIns="0" rtlCol="0" anchor="t"/>
          <a:lstStyle/>
          <a:p>
            <a:pPr indent="0" marL="0">
              <a:buNone/>
            </a:pPr>
            <a:r>
              <a:rPr lang="en-US" sz="1600" b="1" dirty="0">
                <a:solidFill>
                  <a:schemeClr val="tx1"/>
                </a:solidFill>
              </a:rPr>
              <a:t>Close the cost loop</a:t>
            </a:r>
            <a:endParaRPr lang="en-US" sz="1600" dirty="0"/>
          </a:p>
        </p:txBody>
      </p:sp>
      <p:sp>
        <p:nvSpPr>
          <p:cNvPr id="14" name="t587"/>
          <p:cNvSpPr txBox="1"/>
          <p:nvPr/>
        </p:nvSpPr>
        <p:spPr>
          <a:xfrm>
            <a:off x="1280160" y="2834640"/>
            <a:ext cx="4645152" cy="731520"/>
          </a:xfrm>
          <a:prstGeom prst="rect">
            <a:avLst/>
          </a:prstGeom>
          <a:noFill/>
          <a:ln/>
        </p:spPr>
        <p:txBody>
          <a:bodyPr wrap="square" lIns="0" tIns="0" rIns="0" bIns="0" rtlCol="0" anchor="t"/>
          <a:lstStyle/>
          <a:p>
            <a:pPr indent="0" marL="0">
              <a:buNone/>
            </a:pPr>
            <a:r>
              <a:rPr lang="en-US" sz="1300" dirty="0">
                <a:solidFill>
                  <a:schemeClr val="tx2"/>
                </a:solidFill>
              </a:rPr>
              <a:t>Observability tools watch cost and budget caps cut runs off. None sizes the next step from the last one.</a:t>
            </a:r>
            <a:endParaRPr lang="en-US" sz="1300" dirty="0"/>
          </a:p>
        </p:txBody>
      </p:sp>
      <p:sp>
        <p:nvSpPr>
          <p:cNvPr id="15" name="ic588"/>
          <p:cNvSpPr/>
          <p:nvPr/>
        </p:nvSpPr>
        <p:spPr>
          <a:xfrm>
            <a:off x="6222492" y="2560320"/>
            <a:ext cx="502920" cy="502920"/>
          </a:xfrm>
          <a:prstGeom prst="ellipse">
            <a:avLst/>
          </a:prstGeom>
          <a:solidFill>
            <a:schemeClr val="accent1"/>
          </a:solidFill>
          <a:ln w="12700">
            <a:solidFill>
              <a:schemeClr val="accent1"/>
            </a:solidFill>
            <a:prstDash val="solid"/>
          </a:ln>
        </p:spPr>
      </p:sp>
      <p:pic>
        <p:nvPicPr>
          <p:cNvPr id="16" name="icimg589" descr="preencoded.png">    </p:cNvPr>
          <p:cNvPicPr>
            <a:picLocks noChangeAspect="1"/>
          </p:cNvPicPr>
          <p:nvPr/>
        </p:nvPicPr>
        <p:blipFill>
          <a:blip r:embed="rId4"/>
          <a:stretch>
            <a:fillRect/>
          </a:stretch>
        </p:blipFill>
        <p:spPr>
          <a:xfrm>
            <a:off x="6348222" y="2686050"/>
            <a:ext cx="251460" cy="251460"/>
          </a:xfrm>
          <a:prstGeom prst="rect">
            <a:avLst/>
          </a:prstGeom>
        </p:spPr>
      </p:pic>
      <p:sp>
        <p:nvSpPr>
          <p:cNvPr id="17" name="t590"/>
          <p:cNvSpPr txBox="1"/>
          <p:nvPr/>
        </p:nvSpPr>
        <p:spPr>
          <a:xfrm>
            <a:off x="6954012" y="2468880"/>
            <a:ext cx="4645152" cy="365760"/>
          </a:xfrm>
          <a:prstGeom prst="rect">
            <a:avLst/>
          </a:prstGeom>
          <a:noFill/>
          <a:ln/>
        </p:spPr>
        <p:txBody>
          <a:bodyPr wrap="square" lIns="0" tIns="0" rIns="0" bIns="0" rtlCol="0" anchor="t"/>
          <a:lstStyle/>
          <a:p>
            <a:pPr indent="0" marL="0">
              <a:buNone/>
            </a:pPr>
            <a:r>
              <a:rPr lang="en-US" sz="1600" b="1" dirty="0">
                <a:solidFill>
                  <a:schemeClr val="tx1"/>
                </a:solidFill>
              </a:rPr>
              <a:t>Local, recurring management work</a:t>
            </a:r>
            <a:endParaRPr lang="en-US" sz="1600" dirty="0"/>
          </a:p>
        </p:txBody>
      </p:sp>
      <p:sp>
        <p:nvSpPr>
          <p:cNvPr id="18" name="t591"/>
          <p:cNvSpPr txBox="1"/>
          <p:nvPr/>
        </p:nvSpPr>
        <p:spPr>
          <a:xfrm>
            <a:off x="6954012" y="2834640"/>
            <a:ext cx="4645152" cy="731520"/>
          </a:xfrm>
          <a:prstGeom prst="rect">
            <a:avLst/>
          </a:prstGeom>
          <a:noFill/>
          <a:ln/>
        </p:spPr>
        <p:txBody>
          <a:bodyPr wrap="square" lIns="0" tIns="0" rIns="0" bIns="0" rtlCol="0" anchor="t"/>
          <a:lstStyle/>
          <a:p>
            <a:pPr indent="0" marL="0">
              <a:buNone/>
            </a:pPr>
            <a:r>
              <a:rPr lang="en-US" sz="1300" dirty="0">
                <a:solidFill>
                  <a:schemeClr val="tx2"/>
                </a:solidFill>
              </a:rPr>
              <a:t>Scheduled agents are cloud- and GitHub-bound. EDA licences, simulators and IP are often on-prem.</a:t>
            </a:r>
            <a:endParaRPr lang="en-US" sz="1300" dirty="0"/>
          </a:p>
        </p:txBody>
      </p:sp>
      <p:sp>
        <p:nvSpPr>
          <p:cNvPr id="19" name="ic592"/>
          <p:cNvSpPr/>
          <p:nvPr/>
        </p:nvSpPr>
        <p:spPr>
          <a:xfrm>
            <a:off x="548640" y="3749040"/>
            <a:ext cx="502920" cy="502920"/>
          </a:xfrm>
          <a:prstGeom prst="ellipse">
            <a:avLst/>
          </a:prstGeom>
          <a:solidFill>
            <a:schemeClr val="accent1"/>
          </a:solidFill>
          <a:ln w="12700">
            <a:solidFill>
              <a:schemeClr val="accent1"/>
            </a:solidFill>
            <a:prstDash val="solid"/>
          </a:ln>
        </p:spPr>
      </p:sp>
      <p:pic>
        <p:nvPicPr>
          <p:cNvPr id="20" name="icimg593" descr="preencoded.png">    </p:cNvPr>
          <p:cNvPicPr>
            <a:picLocks noChangeAspect="1"/>
          </p:cNvPicPr>
          <p:nvPr/>
        </p:nvPicPr>
        <p:blipFill>
          <a:blip r:embed="rId5"/>
          <a:stretch>
            <a:fillRect/>
          </a:stretch>
        </p:blipFill>
        <p:spPr>
          <a:xfrm>
            <a:off x="674370" y="3874770"/>
            <a:ext cx="251460" cy="251460"/>
          </a:xfrm>
          <a:prstGeom prst="rect">
            <a:avLst/>
          </a:prstGeom>
        </p:spPr>
      </p:pic>
      <p:sp>
        <p:nvSpPr>
          <p:cNvPr id="21" name="t594"/>
          <p:cNvSpPr txBox="1"/>
          <p:nvPr/>
        </p:nvSpPr>
        <p:spPr>
          <a:xfrm>
            <a:off x="1280160" y="3657600"/>
            <a:ext cx="4645152" cy="365760"/>
          </a:xfrm>
          <a:prstGeom prst="rect">
            <a:avLst/>
          </a:prstGeom>
          <a:noFill/>
          <a:ln/>
        </p:spPr>
        <p:txBody>
          <a:bodyPr wrap="square" lIns="0" tIns="0" rIns="0" bIns="0" rtlCol="0" anchor="t"/>
          <a:lstStyle/>
          <a:p>
            <a:pPr indent="0" marL="0">
              <a:buNone/>
            </a:pPr>
            <a:r>
              <a:rPr lang="en-US" sz="1600" b="1" dirty="0">
                <a:solidFill>
                  <a:schemeClr val="tx1"/>
                </a:solidFill>
              </a:rPr>
              <a:t>Board and statistics together</a:t>
            </a:r>
            <a:endParaRPr lang="en-US" sz="1600" dirty="0"/>
          </a:p>
        </p:txBody>
      </p:sp>
      <p:sp>
        <p:nvSpPr>
          <p:cNvPr id="22" name="t595"/>
          <p:cNvSpPr txBox="1"/>
          <p:nvPr/>
        </p:nvSpPr>
        <p:spPr>
          <a:xfrm>
            <a:off x="1280160" y="4023360"/>
            <a:ext cx="4645152" cy="731520"/>
          </a:xfrm>
          <a:prstGeom prst="rect">
            <a:avLst/>
          </a:prstGeom>
          <a:noFill/>
          <a:ln/>
        </p:spPr>
        <p:txBody>
          <a:bodyPr wrap="square" lIns="0" tIns="0" rIns="0" bIns="0" rtlCol="0" anchor="t"/>
          <a:lstStyle/>
          <a:p>
            <a:pPr indent="0" marL="0">
              <a:buNone/>
            </a:pPr>
            <a:r>
              <a:rPr lang="en-US" sz="1300" dirty="0">
                <a:solidFill>
                  <a:schemeClr val="tx2"/>
                </a:solidFill>
              </a:rPr>
              <a:t>Kanban tools lack cost data; observability tools lack projects; task trackers run nothing.</a:t>
            </a:r>
            <a:endParaRPr lang="en-US" sz="1300" dirty="0"/>
          </a:p>
        </p:txBody>
      </p:sp>
      <p:sp>
        <p:nvSpPr>
          <p:cNvPr id="23" name="ic596"/>
          <p:cNvSpPr/>
          <p:nvPr/>
        </p:nvSpPr>
        <p:spPr>
          <a:xfrm>
            <a:off x="6222492" y="3749040"/>
            <a:ext cx="502920" cy="502920"/>
          </a:xfrm>
          <a:prstGeom prst="ellipse">
            <a:avLst/>
          </a:prstGeom>
          <a:solidFill>
            <a:schemeClr val="accent1"/>
          </a:solidFill>
          <a:ln w="12700">
            <a:solidFill>
              <a:schemeClr val="accent1"/>
            </a:solidFill>
            <a:prstDash val="solid"/>
          </a:ln>
        </p:spPr>
      </p:sp>
      <p:pic>
        <p:nvPicPr>
          <p:cNvPr id="24" name="icimg597" descr="preencoded.png">    </p:cNvPr>
          <p:cNvPicPr>
            <a:picLocks noChangeAspect="1"/>
          </p:cNvPicPr>
          <p:nvPr/>
        </p:nvPicPr>
        <p:blipFill>
          <a:blip r:embed="rId6"/>
          <a:stretch>
            <a:fillRect/>
          </a:stretch>
        </p:blipFill>
        <p:spPr>
          <a:xfrm>
            <a:off x="6348222" y="3874770"/>
            <a:ext cx="251460" cy="251460"/>
          </a:xfrm>
          <a:prstGeom prst="rect">
            <a:avLst/>
          </a:prstGeom>
        </p:spPr>
      </p:pic>
      <p:sp>
        <p:nvSpPr>
          <p:cNvPr id="25" name="t598"/>
          <p:cNvSpPr txBox="1"/>
          <p:nvPr/>
        </p:nvSpPr>
        <p:spPr>
          <a:xfrm>
            <a:off x="6954012" y="3657600"/>
            <a:ext cx="4645152" cy="365760"/>
          </a:xfrm>
          <a:prstGeom prst="rect">
            <a:avLst/>
          </a:prstGeom>
          <a:noFill/>
          <a:ln/>
        </p:spPr>
        <p:txBody>
          <a:bodyPr wrap="square" lIns="0" tIns="0" rIns="0" bIns="0" rtlCol="0" anchor="t"/>
          <a:lstStyle/>
          <a:p>
            <a:pPr indent="0" marL="0">
              <a:buNone/>
            </a:pPr>
            <a:r>
              <a:rPr lang="en-US" sz="1600" b="1" dirty="0">
                <a:solidFill>
                  <a:schemeClr val="tx1"/>
                </a:solidFill>
              </a:rPr>
              <a:t>Context engineering as structure</a:t>
            </a:r>
            <a:endParaRPr lang="en-US" sz="1600" dirty="0"/>
          </a:p>
        </p:txBody>
      </p:sp>
      <p:sp>
        <p:nvSpPr>
          <p:cNvPr id="26" name="t599"/>
          <p:cNvSpPr txBox="1"/>
          <p:nvPr/>
        </p:nvSpPr>
        <p:spPr>
          <a:xfrm>
            <a:off x="6954012" y="4023360"/>
            <a:ext cx="4645152" cy="731520"/>
          </a:xfrm>
          <a:prstGeom prst="rect">
            <a:avLst/>
          </a:prstGeom>
          <a:noFill/>
          <a:ln/>
        </p:spPr>
        <p:txBody>
          <a:bodyPr wrap="square" lIns="0" tIns="0" rIns="0" bIns="0" rtlCol="0" anchor="t"/>
          <a:lstStyle/>
          <a:p>
            <a:pPr indent="0" marL="0">
              <a:buNone/>
            </a:pPr>
            <a:r>
              <a:rPr lang="en-US" sz="1300" dirty="0">
                <a:solidFill>
                  <a:schemeClr val="tx2"/>
                </a:solidFill>
              </a:rPr>
              <a:t>Stable prompt prefix, file-backed memory and an append-only journal are built into the layout, not left as advice.</a:t>
            </a:r>
            <a:endParaRPr lang="en-US" sz="1300" dirty="0"/>
          </a:p>
        </p:txBody>
      </p:sp>
      <p:sp>
        <p:nvSpPr>
          <p:cNvPr id="27" name="t600"/>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1500" b="1" i="1" dirty="0">
                <a:solidFill>
                  <a:schemeClr val="accent2"/>
                </a:solidFill>
              </a:rPr>
              <a:t>And a packet is a plain directory: harness-neutral, inspectable, and fine for IP that cannot leave the building.</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Where it stands</a:t>
            </a:r>
            <a:endParaRPr lang="en-US" sz="3400" dirty="0"/>
          </a:p>
        </p:txBody>
      </p:sp>
      <p:sp>
        <p:nvSpPr>
          <p:cNvPr id="3" name="card601"/>
          <p:cNvSpPr/>
          <p:nvPr/>
        </p:nvSpPr>
        <p:spPr>
          <a:xfrm>
            <a:off x="548640" y="1325880"/>
            <a:ext cx="3520440" cy="548640"/>
          </a:xfrm>
          <a:prstGeom prst="roundRect">
            <a:avLst>
              <a:gd name="adj" fmla="val 13333"/>
            </a:avLst>
          </a:prstGeom>
          <a:solidFill>
            <a:schemeClr val="accent2"/>
          </a:solidFill>
          <a:ln w="9525">
            <a:solidFill>
              <a:schemeClr val="accent2"/>
            </a:solidFill>
            <a:prstDash val="solid"/>
          </a:ln>
        </p:spPr>
      </p:sp>
      <p:sp>
        <p:nvSpPr>
          <p:cNvPr id="4" name="t602"/>
          <p:cNvSpPr txBox="1"/>
          <p:nvPr/>
        </p:nvSpPr>
        <p:spPr>
          <a:xfrm>
            <a:off x="822960" y="1325880"/>
            <a:ext cx="2971800" cy="548640"/>
          </a:xfrm>
          <a:prstGeom prst="rect">
            <a:avLst/>
          </a:prstGeom>
          <a:noFill/>
          <a:ln/>
        </p:spPr>
        <p:txBody>
          <a:bodyPr wrap="square" lIns="0" tIns="0" rIns="0" bIns="0" rtlCol="0" anchor="ctr"/>
          <a:lstStyle/>
          <a:p>
            <a:pPr indent="0" marL="0">
              <a:buNone/>
            </a:pPr>
            <a:r>
              <a:rPr lang="en-US" sz="1800" b="1" dirty="0">
                <a:solidFill>
                  <a:schemeClr val="bg1"/>
                </a:solidFill>
              </a:rPr>
              <a:t>Built</a:t>
            </a:r>
            <a:endParaRPr lang="en-US" sz="1800" dirty="0"/>
          </a:p>
        </p:txBody>
      </p:sp>
      <p:sp>
        <p:nvSpPr>
          <p:cNvPr id="5" name="card603"/>
          <p:cNvSpPr/>
          <p:nvPr/>
        </p:nvSpPr>
        <p:spPr>
          <a:xfrm>
            <a:off x="548640" y="1965960"/>
            <a:ext cx="3520440" cy="4023360"/>
          </a:xfrm>
          <a:prstGeom prst="roundRect">
            <a:avLst>
              <a:gd name="adj" fmla="val 2078"/>
            </a:avLst>
          </a:prstGeom>
          <a:solidFill>
            <a:schemeClr val="bg2"/>
          </a:solidFill>
          <a:ln w="9525">
            <a:solidFill>
              <a:schemeClr val="bg2"/>
            </a:solidFill>
            <a:prstDash val="solid"/>
          </a:ln>
        </p:spPr>
      </p:sp>
      <p:sp>
        <p:nvSpPr>
          <p:cNvPr id="6" name="t604"/>
          <p:cNvSpPr txBox="1"/>
          <p:nvPr/>
        </p:nvSpPr>
        <p:spPr>
          <a:xfrm>
            <a:off x="777240" y="2148840"/>
            <a:ext cx="310896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Executor, commit protocol, recovery</a:t>
            </a:r>
            <a:endParaRPr lang="en-US" sz="1400" dirty="0"/>
          </a:p>
          <a:p>
            <a:pPr marL="342900" indent="-342900">
              <a:spcAft>
                <a:spcPts val="600"/>
              </a:spcAft>
              <a:buSzPct val="100000"/>
              <a:buChar char="•"/>
            </a:pPr>
            <a:r>
              <a:rPr lang="en-US" sz="1400" dirty="0">
                <a:solidFill>
                  <a:schemeClr val="tx1"/>
                </a:solidFill>
              </a:rPr>
              <a:t>wpk tick scheduler, clock</a:t>
            </a:r>
            <a:endParaRPr lang="en-US" sz="1400" dirty="0"/>
          </a:p>
          <a:p>
            <a:pPr marL="342900" indent="-342900">
              <a:spcAft>
                <a:spcPts val="600"/>
              </a:spcAft>
              <a:buSzPct val="100000"/>
              <a:buChar char="•"/>
            </a:pPr>
            <a:r>
              <a:rPr lang="en-US" sz="1400" dirty="0">
                <a:solidFill>
                  <a:schemeClr val="tx1"/>
                </a:solidFill>
              </a:rPr>
              <a:t>ask:, answer, handoff, note</a:t>
            </a:r>
            <a:endParaRPr lang="en-US" sz="1400" dirty="0"/>
          </a:p>
          <a:p>
            <a:pPr marL="342900" indent="-342900">
              <a:spcAft>
                <a:spcPts val="600"/>
              </a:spcAft>
              <a:buSzPct val="100000"/>
              <a:buChar char="•"/>
            </a:pPr>
            <a:r>
              <a:rPr lang="en-US" sz="1400" dirty="0">
                <a:solidFill>
                  <a:schemeClr val="tx1"/>
                </a:solidFill>
              </a:rPr>
              <a:t>Board, live view, Tailscale sharing</a:t>
            </a:r>
            <a:endParaRPr lang="en-US" sz="1400" dirty="0"/>
          </a:p>
          <a:p>
            <a:pPr marL="342900" indent="-342900">
              <a:spcAft>
                <a:spcPts val="600"/>
              </a:spcAft>
              <a:buSzPct val="100000"/>
              <a:buChar char="•"/>
            </a:pPr>
            <a:r>
              <a:rPr lang="en-US" sz="1400" dirty="0">
                <a:solidFill>
                  <a:schemeClr val="tx1"/>
                </a:solidFill>
              </a:rPr>
              <a:t>Context controls C1–C4, wpk stats</a:t>
            </a:r>
            <a:endParaRPr lang="en-US" sz="1400" dirty="0"/>
          </a:p>
          <a:p>
            <a:pPr marL="342900" indent="-342900">
              <a:spcAft>
                <a:spcPts val="600"/>
              </a:spcAft>
              <a:buSzPct val="100000"/>
              <a:buChar char="•"/>
            </a:pPr>
            <a:r>
              <a:rPr lang="en-US" sz="1400" dirty="0">
                <a:solidFill>
                  <a:schemeClr val="tx1"/>
                </a:solidFill>
              </a:rPr>
              <a:t>Claude Code harness, profiles</a:t>
            </a:r>
            <a:endParaRPr lang="en-US" sz="1400" dirty="0"/>
          </a:p>
        </p:txBody>
      </p:sp>
      <p:sp>
        <p:nvSpPr>
          <p:cNvPr id="7" name="card605"/>
          <p:cNvSpPr/>
          <p:nvPr/>
        </p:nvSpPr>
        <p:spPr>
          <a:xfrm>
            <a:off x="4320540" y="1325880"/>
            <a:ext cx="3520440" cy="548640"/>
          </a:xfrm>
          <a:prstGeom prst="roundRect">
            <a:avLst>
              <a:gd name="adj" fmla="val 13333"/>
            </a:avLst>
          </a:prstGeom>
          <a:solidFill>
            <a:schemeClr val="accent1"/>
          </a:solidFill>
          <a:ln w="9525">
            <a:solidFill>
              <a:schemeClr val="accent1"/>
            </a:solidFill>
            <a:prstDash val="solid"/>
          </a:ln>
        </p:spPr>
      </p:sp>
      <p:sp>
        <p:nvSpPr>
          <p:cNvPr id="8" name="t606"/>
          <p:cNvSpPr txBox="1"/>
          <p:nvPr/>
        </p:nvSpPr>
        <p:spPr>
          <a:xfrm>
            <a:off x="4594860" y="1325880"/>
            <a:ext cx="2971800" cy="548640"/>
          </a:xfrm>
          <a:prstGeom prst="rect">
            <a:avLst/>
          </a:prstGeom>
          <a:noFill/>
          <a:ln/>
        </p:spPr>
        <p:txBody>
          <a:bodyPr wrap="square" lIns="0" tIns="0" rIns="0" bIns="0" rtlCol="0" anchor="ctr"/>
          <a:lstStyle/>
          <a:p>
            <a:pPr indent="0" marL="0">
              <a:buNone/>
            </a:pPr>
            <a:r>
              <a:rPr lang="en-US" sz="1800" b="1" dirty="0">
                <a:solidFill>
                  <a:schemeClr val="bg1"/>
                </a:solidFill>
              </a:rPr>
              <a:t>Next</a:t>
            </a:r>
            <a:endParaRPr lang="en-US" sz="1800" dirty="0"/>
          </a:p>
        </p:txBody>
      </p:sp>
      <p:sp>
        <p:nvSpPr>
          <p:cNvPr id="9" name="card607"/>
          <p:cNvSpPr/>
          <p:nvPr/>
        </p:nvSpPr>
        <p:spPr>
          <a:xfrm>
            <a:off x="4320540" y="1965960"/>
            <a:ext cx="3520440" cy="4023360"/>
          </a:xfrm>
          <a:prstGeom prst="roundRect">
            <a:avLst>
              <a:gd name="adj" fmla="val 2078"/>
            </a:avLst>
          </a:prstGeom>
          <a:solidFill>
            <a:schemeClr val="bg2"/>
          </a:solidFill>
          <a:ln w="9525">
            <a:solidFill>
              <a:schemeClr val="bg2"/>
            </a:solidFill>
            <a:prstDash val="solid"/>
          </a:ln>
        </p:spPr>
      </p:sp>
      <p:sp>
        <p:nvSpPr>
          <p:cNvPr id="10" name="t608"/>
          <p:cNvSpPr txBox="1"/>
          <p:nvPr/>
        </p:nvSpPr>
        <p:spPr>
          <a:xfrm>
            <a:off x="4549140" y="2148840"/>
            <a:ext cx="310896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L2: executor-owned work/ commits</a:t>
            </a:r>
            <a:endParaRPr lang="en-US" sz="1400" dirty="0"/>
          </a:p>
          <a:p>
            <a:pPr marL="342900" indent="-342900">
              <a:spcAft>
                <a:spcPts val="600"/>
              </a:spcAft>
              <a:buSzPct val="100000"/>
              <a:buChar char="•"/>
            </a:pPr>
            <a:r>
              <a:rPr lang="en-US" sz="1400" dirty="0">
                <a:solidFill>
                  <a:schemeClr val="tx1"/>
                </a:solidFill>
              </a:rPr>
              <a:t>L3: runner daemon (systemd user unit)</a:t>
            </a:r>
            <a:endParaRPr lang="en-US" sz="1400" dirty="0"/>
          </a:p>
          <a:p>
            <a:pPr marL="342900" indent="-342900">
              <a:spcAft>
                <a:spcPts val="600"/>
              </a:spcAft>
              <a:buSzPct val="100000"/>
              <a:buChar char="•"/>
            </a:pPr>
            <a:r>
              <a:rPr lang="en-US" sz="1400" dirty="0">
                <a:solidFill>
                  <a:schemeClr val="tx1"/>
                </a:solidFill>
              </a:rPr>
              <a:t>Spec v0.3: HELD state, every:</a:t>
            </a:r>
            <a:endParaRPr lang="en-US" sz="1400" dirty="0"/>
          </a:p>
          <a:p>
            <a:pPr marL="342900" indent="-342900">
              <a:spcAft>
                <a:spcPts val="600"/>
              </a:spcAft>
              <a:buSzPct val="100000"/>
              <a:buChar char="•"/>
            </a:pPr>
            <a:r>
              <a:rPr lang="en-US" sz="1400" dirty="0">
                <a:solidFill>
                  <a:schemeClr val="tx1"/>
                </a:solidFill>
              </a:rPr>
              <a:t>Outline, items and gates</a:t>
            </a:r>
            <a:endParaRPr lang="en-US" sz="1400" dirty="0"/>
          </a:p>
          <a:p>
            <a:pPr marL="342900" indent="-342900">
              <a:spcAft>
                <a:spcPts val="600"/>
              </a:spcAft>
              <a:buSzPct val="100000"/>
              <a:buChar char="•"/>
            </a:pPr>
            <a:r>
              <a:rPr lang="en-US" sz="1400" dirty="0">
                <a:solidFill>
                  <a:schemeClr val="tx1"/>
                </a:solidFill>
              </a:rPr>
              <a:t>C5: work/ digest</a:t>
            </a:r>
            <a:endParaRPr lang="en-US" sz="1400" dirty="0"/>
          </a:p>
        </p:txBody>
      </p:sp>
      <p:sp>
        <p:nvSpPr>
          <p:cNvPr id="11" name="card609"/>
          <p:cNvSpPr/>
          <p:nvPr/>
        </p:nvSpPr>
        <p:spPr>
          <a:xfrm>
            <a:off x="8092440" y="1325880"/>
            <a:ext cx="3520440" cy="548640"/>
          </a:xfrm>
          <a:prstGeom prst="roundRect">
            <a:avLst>
              <a:gd name="adj" fmla="val 13333"/>
            </a:avLst>
          </a:prstGeom>
          <a:solidFill>
            <a:schemeClr val="accent3"/>
          </a:solidFill>
          <a:ln w="9525">
            <a:solidFill>
              <a:schemeClr val="accent3"/>
            </a:solidFill>
            <a:prstDash val="solid"/>
          </a:ln>
        </p:spPr>
      </p:sp>
      <p:sp>
        <p:nvSpPr>
          <p:cNvPr id="12" name="t610"/>
          <p:cNvSpPr txBox="1"/>
          <p:nvPr/>
        </p:nvSpPr>
        <p:spPr>
          <a:xfrm>
            <a:off x="8366760" y="1325880"/>
            <a:ext cx="2971800" cy="548640"/>
          </a:xfrm>
          <a:prstGeom prst="rect">
            <a:avLst/>
          </a:prstGeom>
          <a:noFill/>
          <a:ln/>
        </p:spPr>
        <p:txBody>
          <a:bodyPr wrap="square" lIns="0" tIns="0" rIns="0" bIns="0" rtlCol="0" anchor="ctr"/>
          <a:lstStyle/>
          <a:p>
            <a:pPr indent="0" marL="0">
              <a:buNone/>
            </a:pPr>
            <a:r>
              <a:rPr lang="en-US" sz="1800" b="1" dirty="0">
                <a:solidFill>
                  <a:schemeClr val="bg1"/>
                </a:solidFill>
              </a:rPr>
              <a:t>Later</a:t>
            </a:r>
            <a:endParaRPr lang="en-US" sz="1800" dirty="0"/>
          </a:p>
        </p:txBody>
      </p:sp>
      <p:sp>
        <p:nvSpPr>
          <p:cNvPr id="13" name="card611"/>
          <p:cNvSpPr/>
          <p:nvPr/>
        </p:nvSpPr>
        <p:spPr>
          <a:xfrm>
            <a:off x="8092440" y="1965960"/>
            <a:ext cx="3520440" cy="4023360"/>
          </a:xfrm>
          <a:prstGeom prst="roundRect">
            <a:avLst>
              <a:gd name="adj" fmla="val 2078"/>
            </a:avLst>
          </a:prstGeom>
          <a:solidFill>
            <a:schemeClr val="bg2"/>
          </a:solidFill>
          <a:ln w="9525">
            <a:solidFill>
              <a:schemeClr val="bg2"/>
            </a:solidFill>
            <a:prstDash val="solid"/>
          </a:ln>
        </p:spPr>
      </p:sp>
      <p:sp>
        <p:nvSpPr>
          <p:cNvPr id="14" name="t612"/>
          <p:cNvSpPr txBox="1"/>
          <p:nvPr/>
        </p:nvSpPr>
        <p:spPr>
          <a:xfrm>
            <a:off x="8321040" y="2148840"/>
            <a:ext cx="3108960" cy="3749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Codex and OpenCode harnesses</a:t>
            </a:r>
            <a:endParaRPr lang="en-US" sz="1400" dirty="0"/>
          </a:p>
          <a:p>
            <a:pPr marL="342900" indent="-342900">
              <a:spcAft>
                <a:spcPts val="600"/>
              </a:spcAft>
              <a:buSzPct val="100000"/>
              <a:buChar char="•"/>
            </a:pPr>
            <a:r>
              <a:rPr lang="en-US" sz="1400" dirty="0">
                <a:solidFill>
                  <a:schemeClr val="tx1"/>
                </a:solidFill>
              </a:rPr>
              <a:t>job: and wait for long runs</a:t>
            </a:r>
            <a:endParaRPr lang="en-US" sz="1400" dirty="0"/>
          </a:p>
          <a:p>
            <a:pPr marL="342900" indent="-342900">
              <a:spcAft>
                <a:spcPts val="600"/>
              </a:spcAft>
              <a:buSzPct val="100000"/>
              <a:buChar char="•"/>
            </a:pPr>
            <a:r>
              <a:rPr lang="en-US" sz="1400" dirty="0">
                <a:solidFill>
                  <a:schemeClr val="tx1"/>
                </a:solidFill>
              </a:rPr>
              <a:t>Daily budgets, rate limits</a:t>
            </a:r>
            <a:endParaRPr lang="en-US" sz="1400" dirty="0"/>
          </a:p>
          <a:p>
            <a:pPr marL="342900" indent="-342900">
              <a:spcAft>
                <a:spcPts val="600"/>
              </a:spcAft>
              <a:buSzPct val="100000"/>
              <a:buChar char="•"/>
            </a:pPr>
            <a:r>
              <a:rPr lang="en-US" sz="1400" dirty="0">
                <a:solidFill>
                  <a:schemeClr val="tx1"/>
                </a:solidFill>
              </a:rPr>
              <a:t>Benchmark: dv-flow regression triage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lIns="0" tIns="0" rIns="0" bIns="0" rtlCol="0" anchor="ctr"/>
          <a:lstStyle/>
          <a:p>
            <a:pPr algn="l" indent="0" marL="0">
              <a:buNone/>
            </a:pPr>
            <a:r>
              <a:rPr lang="en-US" sz="4000" b="1" dirty="0">
                <a:solidFill>
                  <a:schemeClr val="bg1"/>
                </a:solidFill>
              </a:rPr>
              <a:t>Takeaways</a:t>
            </a:r>
            <a:endParaRPr lang="en-US" sz="4000" dirty="0"/>
          </a:p>
        </p:txBody>
      </p:sp>
      <p:sp>
        <p:nvSpPr>
          <p:cNvPr id="3" name="ic613"/>
          <p:cNvSpPr/>
          <p:nvPr/>
        </p:nvSpPr>
        <p:spPr>
          <a:xfrm>
            <a:off x="548640" y="1600200"/>
            <a:ext cx="731520" cy="731520"/>
          </a:xfrm>
          <a:prstGeom prst="ellipse">
            <a:avLst/>
          </a:prstGeom>
          <a:solidFill>
            <a:schemeClr val="accent2"/>
          </a:solidFill>
          <a:ln w="12700">
            <a:solidFill>
              <a:schemeClr val="accent2"/>
            </a:solidFill>
            <a:prstDash val="solid"/>
          </a:ln>
        </p:spPr>
      </p:sp>
      <p:pic>
        <p:nvPicPr>
          <p:cNvPr id="4" name="icimg614" descr="preencoded.png">    </p:cNvPr>
          <p:cNvPicPr>
            <a:picLocks noChangeAspect="1"/>
          </p:cNvPicPr>
          <p:nvPr/>
        </p:nvPicPr>
        <p:blipFill>
          <a:blip r:embed="rId1"/>
          <a:stretch>
            <a:fillRect/>
          </a:stretch>
        </p:blipFill>
        <p:spPr>
          <a:xfrm>
            <a:off x="731520" y="1783080"/>
            <a:ext cx="365760" cy="365760"/>
          </a:xfrm>
          <a:prstGeom prst="rect">
            <a:avLst/>
          </a:prstGeom>
        </p:spPr>
      </p:pic>
      <p:sp>
        <p:nvSpPr>
          <p:cNvPr id="5" name="t615"/>
          <p:cNvSpPr txBox="1"/>
          <p:nvPr/>
        </p:nvSpPr>
        <p:spPr>
          <a:xfrm>
            <a:off x="1554480" y="1618488"/>
            <a:ext cx="10058400" cy="365760"/>
          </a:xfrm>
          <a:prstGeom prst="rect">
            <a:avLst/>
          </a:prstGeom>
          <a:noFill/>
          <a:ln/>
        </p:spPr>
        <p:txBody>
          <a:bodyPr wrap="square" lIns="0" tIns="0" rIns="0" bIns="0" rtlCol="0" anchor="t"/>
          <a:lstStyle/>
          <a:p>
            <a:pPr indent="0" marL="0">
              <a:buNone/>
            </a:pPr>
            <a:r>
              <a:rPr lang="en-US" sz="1900" b="1" dirty="0">
                <a:solidFill>
                  <a:schemeClr val="bg1"/>
                </a:solidFill>
              </a:rPr>
              <a:t>Persist the task, not just the code</a:t>
            </a:r>
            <a:endParaRPr lang="en-US" sz="1900" dirty="0"/>
          </a:p>
        </p:txBody>
      </p:sp>
      <p:sp>
        <p:nvSpPr>
          <p:cNvPr id="6" name="t616"/>
          <p:cNvSpPr txBox="1"/>
          <p:nvPr/>
        </p:nvSpPr>
        <p:spPr>
          <a:xfrm>
            <a:off x="1554480" y="2011680"/>
            <a:ext cx="10058400" cy="411480"/>
          </a:xfrm>
          <a:prstGeom prst="rect">
            <a:avLst/>
          </a:prstGeom>
          <a:noFill/>
          <a:ln/>
        </p:spPr>
        <p:txBody>
          <a:bodyPr wrap="square" lIns="0" tIns="0" rIns="0" bIns="0" rtlCol="0" anchor="t"/>
          <a:lstStyle/>
          <a:p>
            <a:pPr indent="0" marL="0">
              <a:buNone/>
            </a:pPr>
            <a:r>
              <a:rPr lang="en-US" sz="1500" dirty="0">
                <a:solidFill>
                  <a:srgbClr val="B8C2CC"/>
                </a:solidFill>
              </a:rPr>
              <a:t>A packet carries subject data, instructions, tracking and the expensive artifacts together.</a:t>
            </a:r>
            <a:endParaRPr lang="en-US" sz="1500" dirty="0"/>
          </a:p>
        </p:txBody>
      </p:sp>
      <p:sp>
        <p:nvSpPr>
          <p:cNvPr id="7" name="ic617"/>
          <p:cNvSpPr/>
          <p:nvPr/>
        </p:nvSpPr>
        <p:spPr>
          <a:xfrm>
            <a:off x="548640" y="2697480"/>
            <a:ext cx="731520" cy="731520"/>
          </a:xfrm>
          <a:prstGeom prst="ellipse">
            <a:avLst/>
          </a:prstGeom>
          <a:solidFill>
            <a:schemeClr val="accent2"/>
          </a:solidFill>
          <a:ln w="12700">
            <a:solidFill>
              <a:schemeClr val="accent2"/>
            </a:solidFill>
            <a:prstDash val="solid"/>
          </a:ln>
        </p:spPr>
      </p:sp>
      <p:pic>
        <p:nvPicPr>
          <p:cNvPr id="8" name="icimg618" descr="preencoded.png">    </p:cNvPr>
          <p:cNvPicPr>
            <a:picLocks noChangeAspect="1"/>
          </p:cNvPicPr>
          <p:nvPr/>
        </p:nvPicPr>
        <p:blipFill>
          <a:blip r:embed="rId2"/>
          <a:stretch>
            <a:fillRect/>
          </a:stretch>
        </p:blipFill>
        <p:spPr>
          <a:xfrm>
            <a:off x="731520" y="2880360"/>
            <a:ext cx="365760" cy="365760"/>
          </a:xfrm>
          <a:prstGeom prst="rect">
            <a:avLst/>
          </a:prstGeom>
        </p:spPr>
      </p:pic>
      <p:sp>
        <p:nvSpPr>
          <p:cNvPr id="9" name="t619"/>
          <p:cNvSpPr txBox="1"/>
          <p:nvPr/>
        </p:nvSpPr>
        <p:spPr>
          <a:xfrm>
            <a:off x="1554480" y="2715768"/>
            <a:ext cx="10058400" cy="365760"/>
          </a:xfrm>
          <a:prstGeom prst="rect">
            <a:avLst/>
          </a:prstGeom>
          <a:noFill/>
          <a:ln/>
        </p:spPr>
        <p:txBody>
          <a:bodyPr wrap="square" lIns="0" tIns="0" rIns="0" bIns="0" rtlCol="0" anchor="t"/>
          <a:lstStyle/>
          <a:p>
            <a:pPr indent="0" marL="0">
              <a:buNone/>
            </a:pPr>
            <a:r>
              <a:rPr lang="en-US" sz="1900" b="1" dirty="0">
                <a:solidFill>
                  <a:schemeClr val="bg1"/>
                </a:solidFill>
              </a:rPr>
              <a:t>Run many projects as one fleet</a:t>
            </a:r>
            <a:endParaRPr lang="en-US" sz="1900" dirty="0"/>
          </a:p>
        </p:txBody>
      </p:sp>
      <p:sp>
        <p:nvSpPr>
          <p:cNvPr id="10" name="t620"/>
          <p:cNvSpPr txBox="1"/>
          <p:nvPr/>
        </p:nvSpPr>
        <p:spPr>
          <a:xfrm>
            <a:off x="1554480" y="3108960"/>
            <a:ext cx="10058400" cy="411480"/>
          </a:xfrm>
          <a:prstGeom prst="rect">
            <a:avLst/>
          </a:prstGeom>
          <a:noFill/>
          <a:ln/>
        </p:spPr>
        <p:txBody>
          <a:bodyPr wrap="square" lIns="0" tIns="0" rIns="0" bIns="0" rtlCol="0" anchor="t"/>
          <a:lstStyle/>
          <a:p>
            <a:pPr indent="0" marL="0">
              <a:buNone/>
            </a:pPr>
            <a:r>
              <a:rPr lang="en-US" sz="1500" dirty="0">
                <a:solidFill>
                  <a:srgbClr val="B8C2CC"/>
                </a:solidFill>
              </a:rPr>
              <a:t>Feature work and periodic management tasks share one scheduler, one board and one record.</a:t>
            </a:r>
            <a:endParaRPr lang="en-US" sz="1500" dirty="0"/>
          </a:p>
        </p:txBody>
      </p:sp>
      <p:sp>
        <p:nvSpPr>
          <p:cNvPr id="11" name="ic621"/>
          <p:cNvSpPr/>
          <p:nvPr/>
        </p:nvSpPr>
        <p:spPr>
          <a:xfrm>
            <a:off x="548640" y="3794760"/>
            <a:ext cx="731520" cy="731520"/>
          </a:xfrm>
          <a:prstGeom prst="ellipse">
            <a:avLst/>
          </a:prstGeom>
          <a:solidFill>
            <a:schemeClr val="accent2"/>
          </a:solidFill>
          <a:ln w="12700">
            <a:solidFill>
              <a:schemeClr val="accent2"/>
            </a:solidFill>
            <a:prstDash val="solid"/>
          </a:ln>
        </p:spPr>
      </p:sp>
      <p:pic>
        <p:nvPicPr>
          <p:cNvPr id="12" name="icimg622" descr="preencoded.png">    </p:cNvPr>
          <p:cNvPicPr>
            <a:picLocks noChangeAspect="1"/>
          </p:cNvPicPr>
          <p:nvPr/>
        </p:nvPicPr>
        <p:blipFill>
          <a:blip r:embed="rId3"/>
          <a:stretch>
            <a:fillRect/>
          </a:stretch>
        </p:blipFill>
        <p:spPr>
          <a:xfrm>
            <a:off x="731520" y="3977640"/>
            <a:ext cx="365760" cy="365760"/>
          </a:xfrm>
          <a:prstGeom prst="rect">
            <a:avLst/>
          </a:prstGeom>
        </p:spPr>
      </p:pic>
      <p:sp>
        <p:nvSpPr>
          <p:cNvPr id="13" name="t623"/>
          <p:cNvSpPr txBox="1"/>
          <p:nvPr/>
        </p:nvSpPr>
        <p:spPr>
          <a:xfrm>
            <a:off x="1554480" y="3813048"/>
            <a:ext cx="10058400" cy="365760"/>
          </a:xfrm>
          <a:prstGeom prst="rect">
            <a:avLst/>
          </a:prstGeom>
          <a:noFill/>
          <a:ln/>
        </p:spPr>
        <p:txBody>
          <a:bodyPr wrap="square" lIns="0" tIns="0" rIns="0" bIns="0" rtlCol="0" anchor="t"/>
          <a:lstStyle/>
          <a:p>
            <a:pPr indent="0" marL="0">
              <a:buNone/>
            </a:pPr>
            <a:r>
              <a:rPr lang="en-US" sz="1900" b="1" dirty="0">
                <a:solidFill>
                  <a:schemeClr val="bg1"/>
                </a:solidFill>
              </a:rPr>
              <a:t>Let the numbers size the steps</a:t>
            </a:r>
            <a:endParaRPr lang="en-US" sz="1900" dirty="0"/>
          </a:p>
        </p:txBody>
      </p:sp>
      <p:sp>
        <p:nvSpPr>
          <p:cNvPr id="14" name="t624"/>
          <p:cNvSpPr txBox="1"/>
          <p:nvPr/>
        </p:nvSpPr>
        <p:spPr>
          <a:xfrm>
            <a:off x="1554480" y="4206240"/>
            <a:ext cx="10058400" cy="411480"/>
          </a:xfrm>
          <a:prstGeom prst="rect">
            <a:avLst/>
          </a:prstGeom>
          <a:noFill/>
          <a:ln/>
        </p:spPr>
        <p:txBody>
          <a:bodyPr wrap="square" lIns="0" tIns="0" rIns="0" bIns="0" rtlCol="0" anchor="t"/>
          <a:lstStyle/>
          <a:p>
            <a:pPr indent="0" marL="0">
              <a:buNone/>
            </a:pPr>
            <a:r>
              <a:rPr lang="en-US" sz="1500" dirty="0">
                <a:solidFill>
                  <a:srgbClr val="B8C2CC"/>
                </a:solidFill>
              </a:rPr>
              <a:t>Every step is measured; the stats say how to size and chain steps for each model.</a:t>
            </a:r>
            <a:endParaRPr lang="en-US" sz="1500" dirty="0"/>
          </a:p>
        </p:txBody>
      </p:sp>
      <p:sp>
        <p:nvSpPr>
          <p:cNvPr id="15" name="ic625"/>
          <p:cNvSpPr/>
          <p:nvPr/>
        </p:nvSpPr>
        <p:spPr>
          <a:xfrm>
            <a:off x="548640" y="4892040"/>
            <a:ext cx="731520" cy="731520"/>
          </a:xfrm>
          <a:prstGeom prst="ellipse">
            <a:avLst/>
          </a:prstGeom>
          <a:solidFill>
            <a:schemeClr val="accent1"/>
          </a:solidFill>
          <a:ln w="12700">
            <a:solidFill>
              <a:schemeClr val="accent1"/>
            </a:solidFill>
            <a:prstDash val="solid"/>
          </a:ln>
        </p:spPr>
      </p:sp>
      <p:pic>
        <p:nvPicPr>
          <p:cNvPr id="16" name="icimg626" descr="preencoded.png">    </p:cNvPr>
          <p:cNvPicPr>
            <a:picLocks noChangeAspect="1"/>
          </p:cNvPicPr>
          <p:nvPr/>
        </p:nvPicPr>
        <p:blipFill>
          <a:blip r:embed="rId4"/>
          <a:stretch>
            <a:fillRect/>
          </a:stretch>
        </p:blipFill>
        <p:spPr>
          <a:xfrm>
            <a:off x="731520" y="5074920"/>
            <a:ext cx="365760" cy="365760"/>
          </a:xfrm>
          <a:prstGeom prst="rect">
            <a:avLst/>
          </a:prstGeom>
        </p:spPr>
      </p:pic>
      <p:sp>
        <p:nvSpPr>
          <p:cNvPr id="17" name="t627"/>
          <p:cNvSpPr txBox="1"/>
          <p:nvPr/>
        </p:nvSpPr>
        <p:spPr>
          <a:xfrm>
            <a:off x="1554480" y="4910328"/>
            <a:ext cx="10058400" cy="365760"/>
          </a:xfrm>
          <a:prstGeom prst="rect">
            <a:avLst/>
          </a:prstGeom>
          <a:noFill/>
          <a:ln/>
        </p:spPr>
        <p:txBody>
          <a:bodyPr wrap="square" lIns="0" tIns="0" rIns="0" bIns="0" rtlCol="0" anchor="t"/>
          <a:lstStyle/>
          <a:p>
            <a:pPr indent="0" marL="0">
              <a:buNone/>
            </a:pPr>
            <a:r>
              <a:rPr lang="en-US" sz="1900" b="1" dirty="0">
                <a:solidFill>
                  <a:schemeClr val="bg1"/>
                </a:solidFill>
              </a:rPr>
              <a:t>Built for silicon-scale work</a:t>
            </a:r>
            <a:endParaRPr lang="en-US" sz="1900" dirty="0"/>
          </a:p>
        </p:txBody>
      </p:sp>
      <p:sp>
        <p:nvSpPr>
          <p:cNvPr id="18" name="t628"/>
          <p:cNvSpPr txBox="1"/>
          <p:nvPr/>
        </p:nvSpPr>
        <p:spPr>
          <a:xfrm>
            <a:off x="1554480" y="5303520"/>
            <a:ext cx="10058400" cy="411480"/>
          </a:xfrm>
          <a:prstGeom prst="rect">
            <a:avLst/>
          </a:prstGeom>
          <a:noFill/>
          <a:ln/>
        </p:spPr>
        <p:txBody>
          <a:bodyPr wrap="square" lIns="0" tIns="0" rIns="0" bIns="0" rtlCol="0" anchor="t"/>
          <a:lstStyle/>
          <a:p>
            <a:pPr indent="0" marL="0">
              <a:buNone/>
            </a:pPr>
            <a:r>
              <a:rPr lang="en-US" sz="1500" dirty="0">
                <a:solidFill>
                  <a:srgbClr val="B8C2CC"/>
                </a:solidFill>
              </a:rPr>
              <a:t>Long runs, big environments and many concurrent tasks are the design point, not an edge case.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References</a:t>
            </a:r>
            <a:endParaRPr lang="en-US" sz="3400" dirty="0"/>
          </a:p>
        </p:txBody>
      </p:sp>
      <p:sp>
        <p:nvSpPr>
          <p:cNvPr id="3" name="t629"/>
          <p:cNvSpPr txBox="1"/>
          <p:nvPr/>
        </p:nvSpPr>
        <p:spPr>
          <a:xfrm>
            <a:off x="548640" y="1234440"/>
            <a:ext cx="5394960" cy="5029200"/>
          </a:xfrm>
          <a:prstGeom prst="rect">
            <a:avLst/>
          </a:prstGeom>
          <a:noFill/>
          <a:ln/>
        </p:spPr>
        <p:txBody>
          <a:bodyPr wrap="square" lIns="0" tIns="0" rIns="0" bIns="0" rtlCol="0" anchor="t"/>
          <a:lstStyle/>
          <a:p>
            <a:pPr indent="0" marL="0">
              <a:buNone/>
            </a:pPr>
            <a:r>
              <a:rPr lang="en-US" sz="1200" b="1" dirty="0">
                <a:solidFill>
                  <a:schemeClr val="tx1"/>
                </a:solidFill>
              </a:rPr>
              <a:t>Quine: LLM agents as POSIX processes</a:t>
            </a:r>
            <a:endParaRPr lang="en-US" sz="1200" dirty="0"/>
          </a:p>
          <a:p>
            <a:pPr indent="0" marL="0">
              <a:spcAft>
                <a:spcPts val="400"/>
              </a:spcAft>
              <a:buNone/>
            </a:pPr>
            <a:r>
              <a:rPr lang="en-US" sz="10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arxiv.org</a:t>
            </a:r>
            <a:endParaRPr lang="en-US" sz="1200" dirty="0"/>
          </a:p>
          <a:p>
            <a:pPr indent="0" marL="0">
              <a:buNone/>
            </a:pPr>
            <a:r>
              <a:rPr lang="en-US" sz="1200" b="1" dirty="0">
                <a:solidFill>
                  <a:schemeClr val="tx1"/>
                </a:solidFill>
              </a:rPr>
              <a:t>Gas Town</a:t>
            </a:r>
            <a:endParaRPr lang="en-US" sz="1200" dirty="0"/>
          </a:p>
          <a:p>
            <a:pPr indent="0" marL="0">
              <a:spcAft>
                <a:spcPts val="400"/>
              </a:spcAft>
              <a:buNone/>
            </a:pPr>
            <a:r>
              <a:rPr lang="en-US" sz="10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github.com</a:t>
            </a:r>
            <a:endParaRPr lang="en-US" sz="1200" dirty="0"/>
          </a:p>
          <a:p>
            <a:pPr indent="0" marL="0">
              <a:buNone/>
            </a:pPr>
            <a:r>
              <a:rPr lang="en-US" sz="1200" b="1" dirty="0">
                <a:solidFill>
                  <a:schemeClr val="tx1"/>
                </a:solidFill>
              </a:rPr>
              <a:t>Ralph Wiggum loop</a:t>
            </a:r>
            <a:endParaRPr lang="en-US" sz="1200" dirty="0"/>
          </a:p>
          <a:p>
            <a:pPr indent="0" marL="0">
              <a:spcAft>
                <a:spcPts val="400"/>
              </a:spcAft>
              <a:buNone/>
            </a:pPr>
            <a:r>
              <a:rPr lang="en-US" sz="10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ghuntley.com</a:t>
            </a:r>
            <a:endParaRPr lang="en-US" sz="1200" dirty="0"/>
          </a:p>
          <a:p>
            <a:pPr indent="0" marL="0">
              <a:buNone/>
            </a:pPr>
            <a:r>
              <a:rPr lang="en-US" sz="1200" b="1" dirty="0">
                <a:solidFill>
                  <a:schemeClr val="tx1"/>
                </a:solidFill>
              </a:rPr>
              <a:t>Anthropic: harnesses for long-running agents</a:t>
            </a:r>
            <a:endParaRPr lang="en-US" sz="1200" dirty="0"/>
          </a:p>
          <a:p>
            <a:pPr indent="0" marL="0">
              <a:spcAft>
                <a:spcPts val="400"/>
              </a:spcAft>
              <a:buNone/>
            </a:pPr>
            <a:r>
              <a:rPr lang="en-US" sz="10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anthropic.com</a:t>
            </a:r>
            <a:endParaRPr lang="en-US" sz="1200" dirty="0"/>
          </a:p>
          <a:p>
            <a:pPr indent="0" marL="0">
              <a:buNone/>
            </a:pPr>
            <a:r>
              <a:rPr lang="en-US" sz="1200" b="1" dirty="0">
                <a:solidFill>
                  <a:schemeClr val="tx1"/>
                </a:solidFill>
              </a:rPr>
              <a:t>Claude Code scheduled tasks</a:t>
            </a:r>
            <a:endParaRPr lang="en-US" sz="1200" dirty="0"/>
          </a:p>
          <a:p>
            <a:pPr indent="0" marL="0">
              <a:spcAft>
                <a:spcPts val="400"/>
              </a:spcAft>
              <a:buNone/>
            </a:pPr>
            <a:r>
              <a:rPr lang="en-US" sz="1000" u="sng" dirty="0">
                <a:solidFill>
                  <a:schemeClr val="accent2"/>
                </a:solidFill>
                <a:hlinkClick r:id="rId5" invalidUrl="" action="" tgtFrame="" tooltip="" history="1" highlightClick="0" endSnd="0">
                  <a:extLst>
                    <a:ext uri="{A12FA001-AC4F-418D-AE19-62706E023703}">
                      <ahyp:hlinkClr xmlns:ahyp="http://schemas.microsoft.com/office/drawing/2018/hyperlinkcolor" val="tx"/>
                    </a:ext>
                  </a:extLst>
                </a:hlinkClick>
              </a:rPr>
              <a:t>code.claude.com</a:t>
            </a:r>
            <a:endParaRPr lang="en-US" sz="1200" dirty="0"/>
          </a:p>
          <a:p>
            <a:pPr indent="0" marL="0">
              <a:buNone/>
            </a:pPr>
            <a:r>
              <a:rPr lang="en-US" sz="1200" b="1" dirty="0">
                <a:solidFill>
                  <a:schemeClr val="tx1"/>
                </a:solidFill>
              </a:rPr>
              <a:t>Claude Code Projects</a:t>
            </a:r>
            <a:endParaRPr lang="en-US" sz="1200" dirty="0"/>
          </a:p>
          <a:p>
            <a:pPr indent="0" marL="0">
              <a:spcAft>
                <a:spcPts val="400"/>
              </a:spcAft>
              <a:buNone/>
            </a:pPr>
            <a:r>
              <a:rPr lang="en-US" sz="1000" u="sng" dirty="0">
                <a:solidFill>
                  <a:schemeClr val="accent2"/>
                </a:solidFill>
                <a:hlinkClick r:id="rId6" invalidUrl="" action="" tgtFrame="" tooltip="" history="1" highlightClick="0" endSnd="0">
                  <a:extLst>
                    <a:ext uri="{A12FA001-AC4F-418D-AE19-62706E023703}">
                      <ahyp:hlinkClr xmlns:ahyp="http://schemas.microsoft.com/office/drawing/2018/hyperlinkcolor" val="tx"/>
                    </a:ext>
                  </a:extLst>
                </a:hlinkClick>
              </a:rPr>
              <a:t>code.claude.com</a:t>
            </a:r>
            <a:endParaRPr lang="en-US" sz="1200" dirty="0"/>
          </a:p>
          <a:p>
            <a:pPr indent="0" marL="0">
              <a:buNone/>
            </a:pPr>
            <a:r>
              <a:rPr lang="en-US" sz="1200" b="1" dirty="0">
                <a:solidFill>
                  <a:schemeClr val="tx1"/>
                </a:solidFill>
              </a:rPr>
              <a:t>Codex reusable cloud environments</a:t>
            </a:r>
            <a:endParaRPr lang="en-US" sz="1200" dirty="0"/>
          </a:p>
          <a:p>
            <a:pPr indent="0" marL="0">
              <a:spcAft>
                <a:spcPts val="400"/>
              </a:spcAft>
              <a:buNone/>
            </a:pPr>
            <a:r>
              <a:rPr lang="en-US" sz="1000" u="sng" dirty="0">
                <a:solidFill>
                  <a:schemeClr val="accent2"/>
                </a:solidFill>
                <a:hlinkClick r:id="rId7" invalidUrl="" action="" tgtFrame="" tooltip="" history="1" highlightClick="0" endSnd="0">
                  <a:extLst>
                    <a:ext uri="{A12FA001-AC4F-418D-AE19-62706E023703}">
                      <ahyp:hlinkClr xmlns:ahyp="http://schemas.microsoft.com/office/drawing/2018/hyperlinkcolor" val="tx"/>
                    </a:ext>
                  </a:extLst>
                </a:hlinkClick>
              </a:rPr>
              <a:t>techcrunch.com</a:t>
            </a:r>
            <a:endParaRPr lang="en-US" sz="1200" dirty="0"/>
          </a:p>
          <a:p>
            <a:pPr indent="0" marL="0">
              <a:buNone/>
            </a:pPr>
            <a:r>
              <a:rPr lang="en-US" sz="1200" b="1" dirty="0">
                <a:solidFill>
                  <a:schemeClr val="tx1"/>
                </a:solidFill>
              </a:rPr>
              <a:t>GitHub Copilot coding agent</a:t>
            </a:r>
            <a:endParaRPr lang="en-US" sz="1200" dirty="0"/>
          </a:p>
          <a:p>
            <a:pPr indent="0" marL="0">
              <a:spcAft>
                <a:spcPts val="400"/>
              </a:spcAft>
              <a:buNone/>
            </a:pPr>
            <a:r>
              <a:rPr lang="en-US" sz="1000" u="sng" dirty="0">
                <a:solidFill>
                  <a:schemeClr val="accent2"/>
                </a:solidFill>
                <a:hlinkClick r:id="rId8" invalidUrl="" action="" tgtFrame="" tooltip="" history="1" highlightClick="0" endSnd="0">
                  <a:extLst>
                    <a:ext uri="{A12FA001-AC4F-418D-AE19-62706E023703}">
                      <ahyp:hlinkClr xmlns:ahyp="http://schemas.microsoft.com/office/drawing/2018/hyperlinkcolor" val="tx"/>
                    </a:ext>
                  </a:extLst>
                </a:hlinkClick>
              </a:rPr>
              <a:t>github.blog</a:t>
            </a:r>
            <a:endParaRPr lang="en-US" sz="1200" dirty="0"/>
          </a:p>
          <a:p>
            <a:pPr indent="0" marL="0">
              <a:buNone/>
            </a:pPr>
            <a:r>
              <a:rPr lang="en-US" sz="1200" b="1" dirty="0">
                <a:solidFill>
                  <a:schemeClr val="tx1"/>
                </a:solidFill>
              </a:rPr>
              <a:t>Devin scheduled sessions</a:t>
            </a:r>
            <a:endParaRPr lang="en-US" sz="1200" dirty="0"/>
          </a:p>
          <a:p>
            <a:pPr indent="0" marL="0">
              <a:spcAft>
                <a:spcPts val="400"/>
              </a:spcAft>
              <a:buNone/>
            </a:pPr>
            <a:r>
              <a:rPr lang="en-US" sz="1000" u="sng" dirty="0">
                <a:solidFill>
                  <a:schemeClr val="accent2"/>
                </a:solidFill>
                <a:hlinkClick r:id="rId9" invalidUrl="" action="" tgtFrame="" tooltip="" history="1" highlightClick="0" endSnd="0">
                  <a:extLst>
                    <a:ext uri="{A12FA001-AC4F-418D-AE19-62706E023703}">
                      <ahyp:hlinkClr xmlns:ahyp="http://schemas.microsoft.com/office/drawing/2018/hyperlinkcolor" val="tx"/>
                    </a:ext>
                  </a:extLst>
                </a:hlinkClick>
              </a:rPr>
              <a:t>docs.devin.ai</a:t>
            </a:r>
            <a:endParaRPr lang="en-US" sz="1200" dirty="0"/>
          </a:p>
        </p:txBody>
      </p:sp>
      <p:sp>
        <p:nvSpPr>
          <p:cNvPr id="4" name="t630"/>
          <p:cNvSpPr txBox="1"/>
          <p:nvPr/>
        </p:nvSpPr>
        <p:spPr>
          <a:xfrm>
            <a:off x="6217920" y="1234440"/>
            <a:ext cx="5394960" cy="5029200"/>
          </a:xfrm>
          <a:prstGeom prst="rect">
            <a:avLst/>
          </a:prstGeom>
          <a:noFill/>
          <a:ln/>
        </p:spPr>
        <p:txBody>
          <a:bodyPr wrap="square" lIns="0" tIns="0" rIns="0" bIns="0" rtlCol="0" anchor="t"/>
          <a:lstStyle/>
          <a:p>
            <a:pPr indent="0" marL="0">
              <a:buNone/>
            </a:pPr>
            <a:r>
              <a:rPr lang="en-US" sz="1200" b="1" dirty="0">
                <a:solidFill>
                  <a:schemeClr val="tx1"/>
                </a:solidFill>
              </a:rPr>
              <a:t>Google Jules</a:t>
            </a:r>
            <a:endParaRPr lang="en-US" sz="1200" dirty="0"/>
          </a:p>
          <a:p>
            <a:pPr indent="0" marL="0">
              <a:spcAft>
                <a:spcPts val="400"/>
              </a:spcAft>
              <a:buNone/>
            </a:pPr>
            <a:r>
              <a:rPr lang="en-US" sz="1000" u="sng" dirty="0">
                <a:solidFill>
                  <a:schemeClr val="accent2"/>
                </a:solidFill>
                <a:hlinkClick r:id="rId10" invalidUrl="" action="" tgtFrame="" tooltip="" history="1" highlightClick="0" endSnd="0">
                  <a:extLst>
                    <a:ext uri="{A12FA001-AC4F-418D-AE19-62706E023703}">
                      <ahyp:hlinkClr xmlns:ahyp="http://schemas.microsoft.com/office/drawing/2018/hyperlinkcolor" val="tx"/>
                    </a:ext>
                  </a:extLst>
                </a:hlinkClick>
              </a:rPr>
              <a:t>blog.google</a:t>
            </a:r>
            <a:endParaRPr lang="en-US" sz="1200" dirty="0"/>
          </a:p>
          <a:p>
            <a:pPr indent="0" marL="0">
              <a:buNone/>
            </a:pPr>
            <a:r>
              <a:rPr lang="en-US" sz="1200" b="1" dirty="0">
                <a:solidFill>
                  <a:schemeClr val="tx1"/>
                </a:solidFill>
              </a:rPr>
              <a:t>Factory 2.0</a:t>
            </a:r>
            <a:endParaRPr lang="en-US" sz="1200" dirty="0"/>
          </a:p>
          <a:p>
            <a:pPr indent="0" marL="0">
              <a:spcAft>
                <a:spcPts val="400"/>
              </a:spcAft>
              <a:buNone/>
            </a:pPr>
            <a:r>
              <a:rPr lang="en-US" sz="1000" u="sng" dirty="0">
                <a:solidFill>
                  <a:schemeClr val="accent2"/>
                </a:solidFill>
                <a:hlinkClick r:id="rId11" invalidUrl="" action="" tgtFrame="" tooltip="" history="1" highlightClick="0" endSnd="0">
                  <a:extLst>
                    <a:ext uri="{A12FA001-AC4F-418D-AE19-62706E023703}">
                      <ahyp:hlinkClr xmlns:ahyp="http://schemas.microsoft.com/office/drawing/2018/hyperlinkcolor" val="tx"/>
                    </a:ext>
                  </a:extLst>
                </a:hlinkClick>
              </a:rPr>
              <a:t>factory.com</a:t>
            </a:r>
            <a:endParaRPr lang="en-US" sz="1200" dirty="0"/>
          </a:p>
          <a:p>
            <a:pPr indent="0" marL="0">
              <a:buNone/>
            </a:pPr>
            <a:r>
              <a:rPr lang="en-US" sz="1200" b="1" dirty="0">
                <a:solidFill>
                  <a:schemeClr val="tx1"/>
                </a:solidFill>
              </a:rPr>
              <a:t>OpenHands persistence</a:t>
            </a:r>
            <a:endParaRPr lang="en-US" sz="1200" dirty="0"/>
          </a:p>
          <a:p>
            <a:pPr indent="0" marL="0">
              <a:spcAft>
                <a:spcPts val="400"/>
              </a:spcAft>
              <a:buNone/>
            </a:pPr>
            <a:r>
              <a:rPr lang="en-US" sz="1000" u="sng" dirty="0">
                <a:solidFill>
                  <a:schemeClr val="accent2"/>
                </a:solidFill>
                <a:hlinkClick r:id="rId12" invalidUrl="" action="" tgtFrame="" tooltip="" history="1" highlightClick="0" endSnd="0">
                  <a:extLst>
                    <a:ext uri="{A12FA001-AC4F-418D-AE19-62706E023703}">
                      <ahyp:hlinkClr xmlns:ahyp="http://schemas.microsoft.com/office/drawing/2018/hyperlinkcolor" val="tx"/>
                    </a:ext>
                  </a:extLst>
                </a:hlinkClick>
              </a:rPr>
              <a:t>docs.openhands.dev</a:t>
            </a:r>
            <a:endParaRPr lang="en-US" sz="1200" dirty="0"/>
          </a:p>
          <a:p>
            <a:pPr indent="0" marL="0">
              <a:buNone/>
            </a:pPr>
            <a:r>
              <a:rPr lang="en-US" sz="1200" b="1" dirty="0">
                <a:solidFill>
                  <a:schemeClr val="tx1"/>
                </a:solidFill>
              </a:rPr>
              <a:t>Temporal + OpenAI Agents SDK</a:t>
            </a:r>
            <a:endParaRPr lang="en-US" sz="1200" dirty="0"/>
          </a:p>
          <a:p>
            <a:pPr indent="0" marL="0">
              <a:spcAft>
                <a:spcPts val="400"/>
              </a:spcAft>
              <a:buNone/>
            </a:pPr>
            <a:r>
              <a:rPr lang="en-US" sz="1000" u="sng" dirty="0">
                <a:solidFill>
                  <a:schemeClr val="accent2"/>
                </a:solidFill>
                <a:hlinkClick r:id="rId13" invalidUrl="" action="" tgtFrame="" tooltip="" history="1" highlightClick="0" endSnd="0">
                  <a:extLst>
                    <a:ext uri="{A12FA001-AC4F-418D-AE19-62706E023703}">
                      <ahyp:hlinkClr xmlns:ahyp="http://schemas.microsoft.com/office/drawing/2018/hyperlinkcolor" val="tx"/>
                    </a:ext>
                  </a:extLst>
                </a:hlinkClick>
              </a:rPr>
              <a:t>temporal.io</a:t>
            </a:r>
            <a:endParaRPr lang="en-US" sz="1200" dirty="0"/>
          </a:p>
          <a:p>
            <a:pPr indent="0" marL="0">
              <a:buNone/>
            </a:pPr>
            <a:r>
              <a:rPr lang="en-US" sz="1200" b="1" dirty="0">
                <a:solidFill>
                  <a:schemeClr val="tx1"/>
                </a:solidFill>
              </a:rPr>
              <a:t>Agentic AI in chip design tools, 2026</a:t>
            </a:r>
            <a:endParaRPr lang="en-US" sz="1200" dirty="0"/>
          </a:p>
          <a:p>
            <a:pPr indent="0" marL="0">
              <a:spcAft>
                <a:spcPts val="400"/>
              </a:spcAft>
              <a:buNone/>
            </a:pPr>
            <a:r>
              <a:rPr lang="en-US" sz="1000" u="sng" dirty="0">
                <a:solidFill>
                  <a:schemeClr val="accent2"/>
                </a:solidFill>
                <a:hlinkClick r:id="rId14" invalidUrl="" action="" tgtFrame="" tooltip="" history="1" highlightClick="0" endSnd="0">
                  <a:extLst>
                    <a:ext uri="{A12FA001-AC4F-418D-AE19-62706E023703}">
                      <ahyp:hlinkClr xmlns:ahyp="http://schemas.microsoft.com/office/drawing/2018/hyperlinkcolor" val="tx"/>
                    </a:ext>
                  </a:extLst>
                </a:hlinkClick>
              </a:rPr>
              <a:t>tomshardware.com</a:t>
            </a:r>
            <a:endParaRPr lang="en-US" sz="1200" dirty="0"/>
          </a:p>
          <a:p>
            <a:pPr indent="0" marL="0">
              <a:buNone/>
            </a:pPr>
            <a:r>
              <a:rPr lang="en-US" sz="1200" b="1" dirty="0">
                <a:solidFill>
                  <a:schemeClr val="tx1"/>
                </a:solidFill>
              </a:rPr>
              <a:t>CovAgent (arXiv 2604.15657)</a:t>
            </a:r>
            <a:endParaRPr lang="en-US" sz="1200" dirty="0"/>
          </a:p>
          <a:p>
            <a:pPr indent="0" marL="0">
              <a:spcAft>
                <a:spcPts val="400"/>
              </a:spcAft>
              <a:buNone/>
            </a:pPr>
            <a:r>
              <a:rPr lang="en-US" sz="1000" u="sng" dirty="0">
                <a:solidFill>
                  <a:schemeClr val="accent2"/>
                </a:solidFill>
                <a:hlinkClick r:id="rId15" invalidUrl="" action="" tgtFrame="" tooltip="" history="1" highlightClick="0" endSnd="0">
                  <a:extLst>
                    <a:ext uri="{A12FA001-AC4F-418D-AE19-62706E023703}">
                      <ahyp:hlinkClr xmlns:ahyp="http://schemas.microsoft.com/office/drawing/2018/hyperlinkcolor" val="tx"/>
                    </a:ext>
                  </a:extLst>
                </a:hlinkClick>
              </a:rPr>
              <a:t>arxiv.org</a:t>
            </a:r>
            <a:endParaRPr lang="en-US" sz="1200" dirty="0"/>
          </a:p>
          <a:p>
            <a:pPr indent="0" marL="0">
              <a:buNone/>
            </a:pPr>
            <a:r>
              <a:rPr lang="en-US" sz="1200" b="1" dirty="0">
                <a:solidFill>
                  <a:schemeClr val="tx1"/>
                </a:solidFill>
              </a:rPr>
              <a:t>Anthropic: effective context engineering</a:t>
            </a:r>
            <a:endParaRPr lang="en-US" sz="1200" dirty="0"/>
          </a:p>
          <a:p>
            <a:pPr indent="0" marL="0">
              <a:spcAft>
                <a:spcPts val="400"/>
              </a:spcAft>
              <a:buNone/>
            </a:pPr>
            <a:r>
              <a:rPr lang="en-US" sz="1000" u="sng" dirty="0">
                <a:solidFill>
                  <a:schemeClr val="accent2"/>
                </a:solidFill>
                <a:hlinkClick r:id="rId16" invalidUrl="" action="" tgtFrame="" tooltip="" history="1" highlightClick="0" endSnd="0">
                  <a:extLst>
                    <a:ext uri="{A12FA001-AC4F-418D-AE19-62706E023703}">
                      <ahyp:hlinkClr xmlns:ahyp="http://schemas.microsoft.com/office/drawing/2018/hyperlinkcolor" val="tx"/>
                    </a:ext>
                  </a:extLst>
                </a:hlinkClick>
              </a:rPr>
              <a:t>anthropic.com</a:t>
            </a:r>
            <a:endParaRPr lang="en-US" sz="1200" dirty="0"/>
          </a:p>
          <a:p>
            <a:pPr indent="0" marL="0">
              <a:buNone/>
            </a:pPr>
            <a:r>
              <a:rPr lang="en-US" sz="1200" b="1" dirty="0">
                <a:solidFill>
                  <a:schemeClr val="tx1"/>
                </a:solidFill>
              </a:rPr>
              <a:t>Manus: context engineering lessons</a:t>
            </a:r>
            <a:endParaRPr lang="en-US" sz="1200" dirty="0"/>
          </a:p>
          <a:p>
            <a:pPr indent="0" marL="0">
              <a:spcAft>
                <a:spcPts val="400"/>
              </a:spcAft>
              <a:buNone/>
            </a:pPr>
            <a:r>
              <a:rPr lang="en-US" sz="1000" u="sng" dirty="0">
                <a:solidFill>
                  <a:schemeClr val="accent2"/>
                </a:solidFill>
                <a:hlinkClick r:id="rId17" invalidUrl="" action="" tgtFrame="" tooltip="" history="1" highlightClick="0" endSnd="0">
                  <a:extLst>
                    <a:ext uri="{A12FA001-AC4F-418D-AE19-62706E023703}">
                      <ahyp:hlinkClr xmlns:ahyp="http://schemas.microsoft.com/office/drawing/2018/hyperlinkcolor" val="tx"/>
                    </a:ext>
                  </a:extLst>
                </a:hlinkClick>
              </a:rPr>
              <a:t>manus.im</a:t>
            </a:r>
            <a:endParaRPr lang="en-US" sz="1200" dirty="0"/>
          </a:p>
          <a:p>
            <a:pPr indent="0" marL="0">
              <a:buNone/>
            </a:pPr>
            <a:r>
              <a:rPr lang="en-US" sz="1200" b="1" dirty="0">
                <a:solidFill>
                  <a:schemeClr val="tx1"/>
                </a:solidFill>
              </a:rPr>
              <a:t>How do AI agents spend your money? (arXiv 2604.22750)</a:t>
            </a:r>
            <a:endParaRPr lang="en-US" sz="1200" dirty="0"/>
          </a:p>
          <a:p>
            <a:pPr indent="0" marL="0">
              <a:spcAft>
                <a:spcPts val="400"/>
              </a:spcAft>
              <a:buNone/>
            </a:pPr>
            <a:r>
              <a:rPr lang="en-US" sz="1000" u="sng" dirty="0">
                <a:solidFill>
                  <a:schemeClr val="accent2"/>
                </a:solidFill>
                <a:hlinkClick r:id="rId18" invalidUrl="" action="" tgtFrame="" tooltip="" history="1" highlightClick="0" endSnd="0">
                  <a:extLst>
                    <a:ext uri="{A12FA001-AC4F-418D-AE19-62706E023703}">
                      <ahyp:hlinkClr xmlns:ahyp="http://schemas.microsoft.com/office/drawing/2018/hyperlinkcolor" val="tx"/>
                    </a:ext>
                  </a:extLst>
                </a:hlinkClick>
              </a:rPr>
              <a:t>arxiv.org</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Phosphor">
  <a:themeElements>
    <a:clrScheme name="Phosphor">
      <a:dk1>
        <a:srgbClr val="1C2128"/>
      </a:dk1>
      <a:lt1>
        <a:srgbClr val="FFFFFF"/>
      </a:lt1>
      <a:dk2>
        <a:srgbClr val="33414F"/>
      </a:dk2>
      <a:lt2>
        <a:srgbClr val="EEF1F4"/>
      </a:lt2>
      <a:accent1>
        <a:srgbClr val="E8A33D"/>
      </a:accent1>
      <a:accent2>
        <a:srgbClr val="2A9D8F"/>
      </a:accent2>
      <a:accent3>
        <a:srgbClr val="6B7B8C"/>
      </a:accent3>
      <a:accent4>
        <a:srgbClr val="C8553D"/>
      </a:accent4>
      <a:accent5>
        <a:srgbClr val="F6E3C1"/>
      </a:accent5>
      <a:accent6>
        <a:srgbClr val="D5ECE9"/>
      </a:accent6>
      <a:hlink>
        <a:srgbClr val="2A9D8F"/>
      </a:hlink>
      <a:folHlink>
        <a:srgbClr val="6B7B8C"/>
      </a:folHlink>
    </a:clrScheme>
    <a:fontScheme name="Phosph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work-packet: task-centric AI automation</dc:title>
  <dc:subject>PptxGenJS Presentation</dc:subject>
  <dc:creator>Matthew Ballance</dc:creator>
  <cp:lastModifiedBy>Matthew Ballance</cp:lastModifiedBy>
  <cp:revision>1</cp:revision>
  <dcterms:created xsi:type="dcterms:W3CDTF">2026-10-24T14:37:15Z</dcterms:created>
  <dcterms:modified xsi:type="dcterms:W3CDTF">2026-10-24T14:37:15Z</dcterms:modified>
</cp:coreProperties>
</file>
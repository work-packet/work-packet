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709cce-06ca-1d01-3498-da5b19da28cb}">
          <p14:sldIdLst>
            <p14:sldId id="256"/>
            <p14:sldId id="257"/>
            <p14:sldId id="258"/>
          </p14:sldIdLst>
        </p14:section>
        <p14:section name="Individual" id="{e660128b-62e2-f7cf-61fa-203d0ff78244}">
          <p14:sldIdLst>
            <p14:sldId id="259"/>
            <p14:sldId id="260"/>
            <p14:sldId id="261"/>
            <p14:sldId id="262"/>
            <p14:sldId id="263"/>
            <p14:sldId id="264"/>
            <p14:sldId id="265"/>
          </p14:sldIdLst>
        </p14:section>
        <p14:section name="Team" id="{51771efa-383d-dc4b-769a-e6ba667c0067}">
          <p14:sldIdLst>
            <p14:sldId id="266"/>
            <p14:sldId id="267"/>
            <p14:sldId id="268"/>
            <p14:sldId id="269"/>
            <p14:sldId id="270"/>
            <p14:sldId id="271"/>
          </p14:sldIdLst>
        </p14:section>
        <p14:section name="Growing" id="{1f0d36f4-d107-b4d6-2f82-21b2c1f29b61}">
          <p14:sldIdLst>
            <p14:sldId id="272"/>
            <p14:sldId id="273"/>
            <p14:sldId id="274"/>
            <p14:sldId id="275"/>
          </p14:sldIdLst>
        </p14:section>
        <p14:section name="Plan" id="{4afb3270-df95-5cc9-4508-4fb7ce83b9d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product in docs/product.md from the user's side: a day as an individual developer, a week on a team, then how it grows from one user to many organizations. Nothing past today's board, runner, Compose and web shell is built yet; the release plan 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packet replaces the repo, branch, chat and terminal as the unit of work. Everything about a piece of work is in it or reachable from it: the next instruction, the plan, the code as git worktrees, the jobs it started, a journal of everything, and the recipe to rebuild it elsewhere. It has one owner at a time, you or the runner, and an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pain is not the agent itself, it is everything around it: where the work is, whether it is still running, and how to pass it on. The right column is what the rest of the deck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illustrative day. The point: you spend the day in VS Code and a terminal as you do now. The board is the one place you look to see everything else, and notifications mean you do not have to keep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today's board plus jobs, sessions and IDE buttons. Two lanes: on the left what is yours, with Needs you first; on the right what the runner owns. With several hosts, the hub or a peer list joins them into one board. Card contents here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follows from the state: HELD and COMPLETED are yours, RUNNABLE and SLEEPING are the runner's. A step is never cut short; take during a step lands at its end. A failed step resets every work repo, so you never inherit half a change. Notes are the exception: they reach a running packet at its next tool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 terminal hopping' part. The session belongs to the packet, not to a window. The default holder is a small dtach-style process per session with a socket; tmux is an optional backend for people who live in it. Idle detection: the foreground process is the shell and nothing has been written for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 close the biggest gap: sims and regressions are a DV engineer's longest-running work. A job belongs to the packet, not to its owner, so hand-off does not kill it. The graph and states come from dv-flow-mgr's existing outputs; the percentage is approximate because runtime expansion adds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is the IDE; we do not build one. The workspace file is generated: the packet's worktrees labelled as the packet's, never your own clone. While the runner owns the packet the workspace turns off save, autofetch and format-on-save, as a guard against mistakes. A browser IDE under the board comes later, for the iPad.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flow for a DV team. The bundle is written by the repo's own CI script, so the Forgejo and GitHub workflows of each pair both get it with no forge-specific action. Import uses the from-ci-failure template: the recipe rebuilds the workspace at the failing commit and runs the failing command as its smoke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is the person-to-person transfer. The core tier always travels; transcripts and derived data stay unless you choose. The colleague's board shows it under Assigned to you; Open imports it on their own server and materializes it from the recipe. The transcript default (out, request and approve) is open decision 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team needs no server: daemons link by mutual agreement, a full mesh that works up to about ten people. Past that, a hub pays for itself: one connection per daemon, a directory, a bundle store so the recipient need not be online, CI intake, sign-in, policy and audit. Joining the hub is the same command as linking a teammate. Either way, a link holds the peer scope: read what you share, deliver to your inbox, request a file. Never a step, a shell or an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DV host the scarce resources are simulator and formal licences, CPU and memory, not agent sessions. Named pools are a simple model that SLURM licences and GRES can back later. Pool sizes here are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illustrative week, not measured results. Every packet carries its cost, duration, step count and outcome, so the measures on the right come from the journal, per template, with no extra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has to spread the way developer tools spread. One person installs it and gets value from wpk dash alone. A few colleagues link their daemons. An organization stands up a hub. Work then crosses organizations as reports. The packet format, the project layout and the journal are the same at every scale; with the hub down, links and local work carry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scales are only one protocol if there is one protocol. Everything a daemon or hub does is a resource in one versioned REST API, and every client uses it: the extension, scripts, CI, your other hosts, teammates, hubs, and the CLI with wpk --at. Hand-off and take are a PUT of the packet's owner. POSTs take idempotency keys because links retry from an outbox; packets carry ETags so an edit against a stale view is refused. Scopes are checked before any handler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organizations the unit is the report: a stripped packet. It is not a description of how to reproduce a bug; it is the reproduction. It can travel as a file on an issue (nothing needed on either side), through a project's public intake, or between linked hubs. On arrival it is untrusted data: nothing runs, its permissions do not apply, and its text reaches an agent only as the reporter's words, which is the defence against prompt injection by bug report. The maintainer's questions come back to the reporter's Needs you. First target: pyvsc or pyhdl-if.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follows the scales. R1 first because everything after it makes a half-finished step visible to more people, and because wpk dash alone has to be worth installing. R4 brings export, which links and the hub build on, and reports as files, which need nothing on either side. R5 makes a team possible without a server; R6 adds only what a mesh of links cannot do well; R7 adds what needs a public endpoint. Built today: the board with actions, the runner in the server, Compose, the web shell, questions and notes (466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decision has the default the design assumes. D4 (matching dv-flow-mgr's log), D6 (session holder) and D7 (notification push channel) are in the document but not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4630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74720"/>
            <a:ext cx="9601200" cy="128016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work-packet · product design (docs/product.md)</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5.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5.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5.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5.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5.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5.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463040"/>
          </a:xfrm>
          <a:prstGeom prst="rect">
            <a:avLst/>
          </a:prstGeom>
          <a:noFill/>
          <a:ln/>
        </p:spPr>
        <p:txBody>
          <a:bodyPr wrap="square" lIns="0" tIns="0" rIns="0" bIns="0" rtlCol="0" anchor="b"/>
          <a:lstStyle/>
          <a:p>
            <a:pPr algn="l" indent="0" marL="0">
              <a:buNone/>
            </a:pPr>
            <a:r>
              <a:rPr lang="en-US" sz="5400" b="1" dirty="0">
                <a:solidFill>
                  <a:schemeClr val="bg1"/>
                </a:solidFill>
              </a:rPr>
              <a:t>Working in packets</a:t>
            </a:r>
            <a:endParaRPr lang="en-US" sz="5400" dirty="0"/>
          </a:p>
        </p:txBody>
      </p:sp>
      <p:sp>
        <p:nvSpPr>
          <p:cNvPr id="3" name="Text 0"/>
          <p:cNvSpPr/>
          <p:nvPr>
            <p:ph idx="101" type="body" hasCustomPrompt="1"/>
          </p:nvPr>
        </p:nvSpPr>
        <p:spPr>
          <a:xfrm>
            <a:off x="548640" y="3474720"/>
            <a:ext cx="9601200" cy="1280160"/>
          </a:xfrm>
          <a:prstGeom prst="rect">
            <a:avLst/>
          </a:prstGeom>
          <a:noFill/>
          <a:ln/>
        </p:spPr>
        <p:txBody>
          <a:bodyPr wrap="square" lIns="0" tIns="0" rIns="0" bIns="0" rtlCol="0" anchor="t"/>
          <a:lstStyle/>
          <a:p>
            <a:pPr indent="0" marL="0">
              <a:buNone/>
            </a:pPr>
            <a:r>
              <a:rPr lang="en-US" sz="2200" dirty="0">
                <a:solidFill>
                  <a:schemeClr val="accent1"/>
                </a:solidFill>
              </a:rPr>
              <a:t>What your work looks like with work-packet: on your own, on a team, and across organizations</a:t>
            </a:r>
            <a:endParaRPr lang="en-US" sz="2200" dirty="0"/>
          </a:p>
        </p:txBody>
      </p:sp>
      <p:sp>
        <p:nvSpPr>
          <p:cNvPr id="4" name="t1"/>
          <p:cNvSpPr txBox="1"/>
          <p:nvPr/>
        </p:nvSpPr>
        <p:spPr>
          <a:xfrm>
            <a:off x="548640" y="1280160"/>
            <a:ext cx="7315200" cy="365760"/>
          </a:xfrm>
          <a:prstGeom prst="rect">
            <a:avLst/>
          </a:prstGeom>
          <a:noFill/>
          <a:ln/>
        </p:spPr>
        <p:txBody>
          <a:bodyPr wrap="square" lIns="0" tIns="0" rIns="0" bIns="0" rtlCol="0" anchor="t"/>
          <a:lstStyle/>
          <a:p>
            <a:pPr indent="0" marL="0">
              <a:buNone/>
            </a:pPr>
            <a:r>
              <a:rPr lang="en-US" sz="1600" dirty="0">
                <a:solidFill>
                  <a:schemeClr val="accent2"/>
                </a:solidFill>
                <a:latin typeface="Courier New" pitchFamily="34" charset="0"/>
                <a:ea typeface="Courier New" pitchFamily="34" charset="-122"/>
                <a:cs typeface="Courier New" pitchFamily="34" charset="-120"/>
              </a:rPr>
              <a:t>work-packet · wpkd · the board</a:t>
            </a:r>
            <a:endParaRPr lang="en-US" sz="1600" dirty="0"/>
          </a:p>
        </p:txBody>
      </p:sp>
      <p:sp>
        <p:nvSpPr>
          <p:cNvPr id="5" name="t2"/>
          <p:cNvSpPr txBox="1"/>
          <p:nvPr/>
        </p:nvSpPr>
        <p:spPr>
          <a:xfrm>
            <a:off x="548640" y="6035040"/>
            <a:ext cx="5486400" cy="320040"/>
          </a:xfrm>
          <a:prstGeom prst="rect">
            <a:avLst/>
          </a:prstGeom>
          <a:noFill/>
          <a:ln/>
        </p:spPr>
        <p:txBody>
          <a:bodyPr wrap="square" lIns="0" tIns="0" rIns="0" bIns="0" rtlCol="0" anchor="t"/>
          <a:lstStyle/>
          <a:p>
            <a:pPr indent="0" marL="0">
              <a:buNone/>
            </a:pPr>
            <a:r>
              <a:rPr lang="en-US" sz="1200" dirty="0">
                <a:solidFill>
                  <a:schemeClr val="accent3"/>
                </a:solidFill>
              </a:rPr>
              <a:t>October 2026 · product design for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Work you can leave, resume, hand over and watch</a:t>
            </a:r>
            <a:endParaRPr lang="en-US" sz="3400" dirty="0"/>
          </a:p>
        </p:txBody>
      </p:sp>
      <p:sp>
        <p:nvSpPr>
          <p:cNvPr id="3" name="card3"/>
          <p:cNvSpPr/>
          <p:nvPr/>
        </p:nvSpPr>
        <p:spPr>
          <a:xfrm>
            <a:off x="4251960" y="2148840"/>
            <a:ext cx="3657600" cy="2377440"/>
          </a:xfrm>
          <a:prstGeom prst="roundRect">
            <a:avLst>
              <a:gd name="adj" fmla="val 3077"/>
            </a:avLst>
          </a:prstGeom>
          <a:solidFill>
            <a:schemeClr val="tx1"/>
          </a:solidFill>
          <a:ln w="9525">
            <a:solidFill>
              <a:schemeClr val="tx1"/>
            </a:solidFill>
            <a:prstDash val="solid"/>
          </a:ln>
        </p:spPr>
      </p:sp>
      <p:sp>
        <p:nvSpPr>
          <p:cNvPr id="4" name="ic4"/>
          <p:cNvSpPr/>
          <p:nvPr/>
        </p:nvSpPr>
        <p:spPr>
          <a:xfrm>
            <a:off x="5715000" y="2377440"/>
            <a:ext cx="731520" cy="731520"/>
          </a:xfrm>
          <a:prstGeom prst="ellipse">
            <a:avLst/>
          </a:prstGeom>
          <a:solidFill>
            <a:schemeClr val="accent1"/>
          </a:solidFill>
          <a:ln w="12700">
            <a:solidFill>
              <a:schemeClr val="accent1"/>
            </a:solidFill>
            <a:prstDash val="solid"/>
          </a:ln>
        </p:spPr>
      </p:sp>
      <p:pic>
        <p:nvPicPr>
          <p:cNvPr id="5" name="icimg5" descr="preencoded.png">    </p:cNvPr>
          <p:cNvPicPr>
            <a:picLocks noChangeAspect="1"/>
          </p:cNvPicPr>
          <p:nvPr/>
        </p:nvPicPr>
        <p:blipFill>
          <a:blip r:embed="rId1"/>
          <a:stretch>
            <a:fillRect/>
          </a:stretch>
        </p:blipFill>
        <p:spPr>
          <a:xfrm>
            <a:off x="5897880" y="2560320"/>
            <a:ext cx="365760" cy="365760"/>
          </a:xfrm>
          <a:prstGeom prst="rect">
            <a:avLst/>
          </a:prstGeom>
        </p:spPr>
      </p:pic>
      <p:sp>
        <p:nvSpPr>
          <p:cNvPr id="6" name="t6"/>
          <p:cNvSpPr txBox="1"/>
          <p:nvPr/>
        </p:nvSpPr>
        <p:spPr>
          <a:xfrm>
            <a:off x="4251960" y="3200400"/>
            <a:ext cx="3657600" cy="457200"/>
          </a:xfrm>
          <a:prstGeom prst="rect">
            <a:avLst/>
          </a:prstGeom>
          <a:noFill/>
          <a:ln/>
        </p:spPr>
        <p:txBody>
          <a:bodyPr wrap="square" lIns="0" tIns="0" rIns="0" bIns="0" rtlCol="0" anchor="t"/>
          <a:lstStyle/>
          <a:p>
            <a:pPr algn="ctr" indent="0" marL="0">
              <a:buNone/>
            </a:pPr>
            <a:r>
              <a:rPr lang="en-US" sz="2400" b="1" dirty="0">
                <a:solidFill>
                  <a:schemeClr val="bg1"/>
                </a:solidFill>
                <a:latin typeface="Cambria" pitchFamily="34" charset="0"/>
                <a:ea typeface="Cambria" pitchFamily="34" charset="-122"/>
                <a:cs typeface="Cambria" pitchFamily="34" charset="-120"/>
              </a:rPr>
              <a:t>packet</a:t>
            </a:r>
            <a:endParaRPr lang="en-US" sz="2400" dirty="0"/>
          </a:p>
        </p:txBody>
      </p:sp>
      <p:sp>
        <p:nvSpPr>
          <p:cNvPr id="7" name="t7"/>
          <p:cNvSpPr txBox="1"/>
          <p:nvPr/>
        </p:nvSpPr>
        <p:spPr>
          <a:xfrm>
            <a:off x="4251960" y="3703320"/>
            <a:ext cx="3657600" cy="365760"/>
          </a:xfrm>
          <a:prstGeom prst="rect">
            <a:avLst/>
          </a:prstGeom>
          <a:noFill/>
          <a:ln/>
        </p:spPr>
        <p:txBody>
          <a:bodyPr wrap="square" lIns="0" tIns="0" rIns="0" bIns="0" rtlCol="0" anchor="t"/>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wpk:7f3c…  ·  one owner at a time</a:t>
            </a:r>
            <a:endParaRPr lang="en-US" sz="1300" dirty="0"/>
          </a:p>
        </p:txBody>
      </p:sp>
      <p:sp>
        <p:nvSpPr>
          <p:cNvPr id="8" name="card8"/>
          <p:cNvSpPr/>
          <p:nvPr/>
        </p:nvSpPr>
        <p:spPr>
          <a:xfrm>
            <a:off x="548640" y="1325880"/>
            <a:ext cx="3383280" cy="1143000"/>
          </a:xfrm>
          <a:prstGeom prst="roundRect">
            <a:avLst>
              <a:gd name="adj" fmla="val 6400"/>
            </a:avLst>
          </a:prstGeom>
          <a:solidFill>
            <a:schemeClr val="bg2"/>
          </a:solidFill>
          <a:ln w="9525">
            <a:solidFill>
              <a:schemeClr val="bg2"/>
            </a:solidFill>
            <a:prstDash val="solid"/>
          </a:ln>
        </p:spPr>
      </p:sp>
      <p:sp>
        <p:nvSpPr>
          <p:cNvPr id="9" name="ic9"/>
          <p:cNvSpPr/>
          <p:nvPr/>
        </p:nvSpPr>
        <p:spPr>
          <a:xfrm>
            <a:off x="731520" y="1554480"/>
            <a:ext cx="685800" cy="685800"/>
          </a:xfrm>
          <a:prstGeom prst="ellipse">
            <a:avLst/>
          </a:prstGeom>
          <a:solidFill>
            <a:schemeClr val="accent2"/>
          </a:solidFill>
          <a:ln w="12700">
            <a:solidFill>
              <a:schemeClr val="accent2"/>
            </a:solidFill>
            <a:prstDash val="solid"/>
          </a:ln>
        </p:spPr>
      </p:sp>
      <p:pic>
        <p:nvPicPr>
          <p:cNvPr id="10" name="icimg10" descr="preencoded.png">    </p:cNvPr>
          <p:cNvPicPr>
            <a:picLocks noChangeAspect="1"/>
          </p:cNvPicPr>
          <p:nvPr/>
        </p:nvPicPr>
        <p:blipFill>
          <a:blip r:embed="rId2"/>
          <a:stretch>
            <a:fillRect/>
          </a:stretch>
        </p:blipFill>
        <p:spPr>
          <a:xfrm>
            <a:off x="902970" y="1725930"/>
            <a:ext cx="342900" cy="342900"/>
          </a:xfrm>
          <a:prstGeom prst="rect">
            <a:avLst/>
          </a:prstGeom>
        </p:spPr>
      </p:pic>
      <p:sp>
        <p:nvSpPr>
          <p:cNvPr id="11" name="t11"/>
          <p:cNvSpPr txBox="1"/>
          <p:nvPr/>
        </p:nvSpPr>
        <p:spPr>
          <a:xfrm>
            <a:off x="1554480" y="1490472"/>
            <a:ext cx="224028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Instruction</a:t>
            </a:r>
            <a:endParaRPr lang="en-US" sz="1600" dirty="0"/>
          </a:p>
        </p:txBody>
      </p:sp>
      <p:sp>
        <p:nvSpPr>
          <p:cNvPr id="12" name="t12"/>
          <p:cNvSpPr txBox="1"/>
          <p:nvPr/>
        </p:nvSpPr>
        <p:spPr>
          <a:xfrm>
            <a:off x="1554480" y="1856232"/>
            <a:ext cx="2240280" cy="548640"/>
          </a:xfrm>
          <a:prstGeom prst="rect">
            <a:avLst/>
          </a:prstGeom>
          <a:noFill/>
          <a:ln/>
        </p:spPr>
        <p:txBody>
          <a:bodyPr wrap="square" lIns="0" tIns="0" rIns="0" bIns="0" rtlCol="0" anchor="t"/>
          <a:lstStyle/>
          <a:p>
            <a:pPr indent="0" marL="0">
              <a:buNone/>
            </a:pPr>
            <a:r>
              <a:rPr lang="en-US" sz="1200" dirty="0">
                <a:solidFill>
                  <a:schemeClr val="tx2"/>
                </a:solidFill>
              </a:rPr>
              <a:t>the next thing to do (memento.md)</a:t>
            </a:r>
            <a:endParaRPr lang="en-US" sz="1200" dirty="0"/>
          </a:p>
        </p:txBody>
      </p:sp>
      <p:sp>
        <p:nvSpPr>
          <p:cNvPr id="13" name="card13"/>
          <p:cNvSpPr/>
          <p:nvPr/>
        </p:nvSpPr>
        <p:spPr>
          <a:xfrm>
            <a:off x="548640" y="2971800"/>
            <a:ext cx="3383280" cy="1143000"/>
          </a:xfrm>
          <a:prstGeom prst="roundRect">
            <a:avLst>
              <a:gd name="adj" fmla="val 6400"/>
            </a:avLst>
          </a:prstGeom>
          <a:solidFill>
            <a:schemeClr val="bg2"/>
          </a:solidFill>
          <a:ln w="9525">
            <a:solidFill>
              <a:schemeClr val="bg2"/>
            </a:solidFill>
            <a:prstDash val="solid"/>
          </a:ln>
        </p:spPr>
      </p:sp>
      <p:sp>
        <p:nvSpPr>
          <p:cNvPr id="14" name="ic14"/>
          <p:cNvSpPr/>
          <p:nvPr/>
        </p:nvSpPr>
        <p:spPr>
          <a:xfrm>
            <a:off x="731520" y="3200400"/>
            <a:ext cx="685800" cy="685800"/>
          </a:xfrm>
          <a:prstGeom prst="ellipse">
            <a:avLst/>
          </a:prstGeom>
          <a:solidFill>
            <a:schemeClr val="accent2"/>
          </a:solidFill>
          <a:ln w="12700">
            <a:solidFill>
              <a:schemeClr val="accent2"/>
            </a:solidFill>
            <a:prstDash val="solid"/>
          </a:ln>
        </p:spPr>
      </p:sp>
      <p:pic>
        <p:nvPicPr>
          <p:cNvPr id="15" name="icimg15" descr="preencoded.png">    </p:cNvPr>
          <p:cNvPicPr>
            <a:picLocks noChangeAspect="1"/>
          </p:cNvPicPr>
          <p:nvPr/>
        </p:nvPicPr>
        <p:blipFill>
          <a:blip r:embed="rId3"/>
          <a:stretch>
            <a:fillRect/>
          </a:stretch>
        </p:blipFill>
        <p:spPr>
          <a:xfrm>
            <a:off x="902970" y="3371850"/>
            <a:ext cx="342900" cy="342900"/>
          </a:xfrm>
          <a:prstGeom prst="rect">
            <a:avLst/>
          </a:prstGeom>
        </p:spPr>
      </p:pic>
      <p:sp>
        <p:nvSpPr>
          <p:cNvPr id="16" name="t16"/>
          <p:cNvSpPr txBox="1"/>
          <p:nvPr/>
        </p:nvSpPr>
        <p:spPr>
          <a:xfrm>
            <a:off x="1554480" y="3136392"/>
            <a:ext cx="224028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Plan and notes</a:t>
            </a:r>
            <a:endParaRPr lang="en-US" sz="1600" dirty="0"/>
          </a:p>
        </p:txBody>
      </p:sp>
      <p:sp>
        <p:nvSpPr>
          <p:cNvPr id="17" name="t17"/>
          <p:cNvSpPr txBox="1"/>
          <p:nvPr/>
        </p:nvSpPr>
        <p:spPr>
          <a:xfrm>
            <a:off x="1554480" y="3502152"/>
            <a:ext cx="2240280" cy="548640"/>
          </a:xfrm>
          <a:prstGeom prst="rect">
            <a:avLst/>
          </a:prstGeom>
          <a:noFill/>
          <a:ln/>
        </p:spPr>
        <p:txBody>
          <a:bodyPr wrap="square" lIns="0" tIns="0" rIns="0" bIns="0" rtlCol="0" anchor="t"/>
          <a:lstStyle/>
          <a:p>
            <a:pPr indent="0" marL="0">
              <a:buNone/>
            </a:pPr>
            <a:r>
              <a:rPr lang="en-US" sz="1200" dirty="0">
                <a:solidFill>
                  <a:schemeClr val="tx2"/>
                </a:solidFill>
              </a:rPr>
              <a:t>state/: the outline, questions, decisions</a:t>
            </a:r>
            <a:endParaRPr lang="en-US" sz="1200" dirty="0"/>
          </a:p>
        </p:txBody>
      </p:sp>
      <p:sp>
        <p:nvSpPr>
          <p:cNvPr id="18" name="card18"/>
          <p:cNvSpPr/>
          <p:nvPr/>
        </p:nvSpPr>
        <p:spPr>
          <a:xfrm>
            <a:off x="548640" y="4617720"/>
            <a:ext cx="3383280" cy="1143000"/>
          </a:xfrm>
          <a:prstGeom prst="roundRect">
            <a:avLst>
              <a:gd name="adj" fmla="val 6400"/>
            </a:avLst>
          </a:prstGeom>
          <a:solidFill>
            <a:schemeClr val="bg2"/>
          </a:solidFill>
          <a:ln w="9525">
            <a:solidFill>
              <a:schemeClr val="bg2"/>
            </a:solidFill>
            <a:prstDash val="solid"/>
          </a:ln>
        </p:spPr>
      </p:sp>
      <p:sp>
        <p:nvSpPr>
          <p:cNvPr id="19" name="ic19"/>
          <p:cNvSpPr/>
          <p:nvPr/>
        </p:nvSpPr>
        <p:spPr>
          <a:xfrm>
            <a:off x="731520" y="4846320"/>
            <a:ext cx="685800" cy="685800"/>
          </a:xfrm>
          <a:prstGeom prst="ellipse">
            <a:avLst/>
          </a:prstGeom>
          <a:solidFill>
            <a:schemeClr val="accent2"/>
          </a:solidFill>
          <a:ln w="12700">
            <a:solidFill>
              <a:schemeClr val="accent2"/>
            </a:solidFill>
            <a:prstDash val="solid"/>
          </a:ln>
        </p:spPr>
      </p:sp>
      <p:pic>
        <p:nvPicPr>
          <p:cNvPr id="20" name="icimg20" descr="preencoded.png">    </p:cNvPr>
          <p:cNvPicPr>
            <a:picLocks noChangeAspect="1"/>
          </p:cNvPicPr>
          <p:nvPr/>
        </p:nvPicPr>
        <p:blipFill>
          <a:blip r:embed="rId4"/>
          <a:stretch>
            <a:fillRect/>
          </a:stretch>
        </p:blipFill>
        <p:spPr>
          <a:xfrm>
            <a:off x="902970" y="5017770"/>
            <a:ext cx="342900" cy="342900"/>
          </a:xfrm>
          <a:prstGeom prst="rect">
            <a:avLst/>
          </a:prstGeom>
        </p:spPr>
      </p:pic>
      <p:sp>
        <p:nvSpPr>
          <p:cNvPr id="21" name="t21"/>
          <p:cNvSpPr txBox="1"/>
          <p:nvPr/>
        </p:nvSpPr>
        <p:spPr>
          <a:xfrm>
            <a:off x="1554480" y="4782312"/>
            <a:ext cx="224028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Code</a:t>
            </a:r>
            <a:endParaRPr lang="en-US" sz="1600" dirty="0"/>
          </a:p>
        </p:txBody>
      </p:sp>
      <p:sp>
        <p:nvSpPr>
          <p:cNvPr id="22" name="t22"/>
          <p:cNvSpPr txBox="1"/>
          <p:nvPr/>
        </p:nvSpPr>
        <p:spPr>
          <a:xfrm>
            <a:off x="1554480" y="5148072"/>
            <a:ext cx="2240280" cy="548640"/>
          </a:xfrm>
          <a:prstGeom prst="rect">
            <a:avLst/>
          </a:prstGeom>
          <a:noFill/>
          <a:ln/>
        </p:spPr>
        <p:txBody>
          <a:bodyPr wrap="square" lIns="0" tIns="0" rIns="0" bIns="0" rtlCol="0" anchor="t"/>
          <a:lstStyle/>
          <a:p>
            <a:pPr indent="0" marL="0">
              <a:buNone/>
            </a:pPr>
            <a:r>
              <a:rPr lang="en-US" sz="1200" dirty="0">
                <a:solidFill>
                  <a:schemeClr val="tx2"/>
                </a:solidFill>
              </a:rPr>
              <a:t>worktrees of your repos, one commit per step</a:t>
            </a:r>
            <a:endParaRPr lang="en-US" sz="1200" dirty="0"/>
          </a:p>
        </p:txBody>
      </p:sp>
      <p:sp>
        <p:nvSpPr>
          <p:cNvPr id="23" name="card23"/>
          <p:cNvSpPr/>
          <p:nvPr/>
        </p:nvSpPr>
        <p:spPr>
          <a:xfrm>
            <a:off x="8275320" y="1325880"/>
            <a:ext cx="3383280" cy="1143000"/>
          </a:xfrm>
          <a:prstGeom prst="roundRect">
            <a:avLst>
              <a:gd name="adj" fmla="val 6400"/>
            </a:avLst>
          </a:prstGeom>
          <a:solidFill>
            <a:schemeClr val="bg2"/>
          </a:solidFill>
          <a:ln w="9525">
            <a:solidFill>
              <a:schemeClr val="bg2"/>
            </a:solidFill>
            <a:prstDash val="solid"/>
          </a:ln>
        </p:spPr>
      </p:sp>
      <p:sp>
        <p:nvSpPr>
          <p:cNvPr id="24" name="ic24"/>
          <p:cNvSpPr/>
          <p:nvPr/>
        </p:nvSpPr>
        <p:spPr>
          <a:xfrm>
            <a:off x="8458200" y="1554480"/>
            <a:ext cx="685800" cy="685800"/>
          </a:xfrm>
          <a:prstGeom prst="ellipse">
            <a:avLst/>
          </a:prstGeom>
          <a:solidFill>
            <a:schemeClr val="accent2"/>
          </a:solidFill>
          <a:ln w="12700">
            <a:solidFill>
              <a:schemeClr val="accent2"/>
            </a:solidFill>
            <a:prstDash val="solid"/>
          </a:ln>
        </p:spPr>
      </p:sp>
      <p:pic>
        <p:nvPicPr>
          <p:cNvPr id="25" name="icimg25" descr="preencoded.png">    </p:cNvPr>
          <p:cNvPicPr>
            <a:picLocks noChangeAspect="1"/>
          </p:cNvPicPr>
          <p:nvPr/>
        </p:nvPicPr>
        <p:blipFill>
          <a:blip r:embed="rId5"/>
          <a:stretch>
            <a:fillRect/>
          </a:stretch>
        </p:blipFill>
        <p:spPr>
          <a:xfrm>
            <a:off x="8629650" y="1725930"/>
            <a:ext cx="342900" cy="342900"/>
          </a:xfrm>
          <a:prstGeom prst="rect">
            <a:avLst/>
          </a:prstGeom>
        </p:spPr>
      </p:pic>
      <p:sp>
        <p:nvSpPr>
          <p:cNvPr id="26" name="t26"/>
          <p:cNvSpPr txBox="1"/>
          <p:nvPr/>
        </p:nvSpPr>
        <p:spPr>
          <a:xfrm>
            <a:off x="9281160" y="1490472"/>
            <a:ext cx="224028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Jobs</a:t>
            </a:r>
            <a:endParaRPr lang="en-US" sz="1600" dirty="0"/>
          </a:p>
        </p:txBody>
      </p:sp>
      <p:sp>
        <p:nvSpPr>
          <p:cNvPr id="27" name="t27"/>
          <p:cNvSpPr txBox="1"/>
          <p:nvPr/>
        </p:nvSpPr>
        <p:spPr>
          <a:xfrm>
            <a:off x="9281160" y="1856232"/>
            <a:ext cx="2240280" cy="548640"/>
          </a:xfrm>
          <a:prstGeom prst="rect">
            <a:avLst/>
          </a:prstGeom>
          <a:noFill/>
          <a:ln/>
        </p:spPr>
        <p:txBody>
          <a:bodyPr wrap="square" lIns="0" tIns="0" rIns="0" bIns="0" rtlCol="0" anchor="t"/>
          <a:lstStyle/>
          <a:p>
            <a:pPr indent="0" marL="0">
              <a:buNone/>
            </a:pPr>
            <a:r>
              <a:rPr lang="en-US" sz="1200" dirty="0">
                <a:solidFill>
                  <a:schemeClr val="tx2"/>
                </a:solidFill>
              </a:rPr>
              <a:t>sims, regressions, builds, with progress</a:t>
            </a:r>
            <a:endParaRPr lang="en-US" sz="1200" dirty="0"/>
          </a:p>
        </p:txBody>
      </p:sp>
      <p:sp>
        <p:nvSpPr>
          <p:cNvPr id="28" name="card28"/>
          <p:cNvSpPr/>
          <p:nvPr/>
        </p:nvSpPr>
        <p:spPr>
          <a:xfrm>
            <a:off x="8275320" y="2971800"/>
            <a:ext cx="3383280" cy="1143000"/>
          </a:xfrm>
          <a:prstGeom prst="roundRect">
            <a:avLst>
              <a:gd name="adj" fmla="val 6400"/>
            </a:avLst>
          </a:prstGeom>
          <a:solidFill>
            <a:schemeClr val="bg2"/>
          </a:solidFill>
          <a:ln w="9525">
            <a:solidFill>
              <a:schemeClr val="bg2"/>
            </a:solidFill>
            <a:prstDash val="solid"/>
          </a:ln>
        </p:spPr>
      </p:sp>
      <p:sp>
        <p:nvSpPr>
          <p:cNvPr id="29" name="ic29"/>
          <p:cNvSpPr/>
          <p:nvPr/>
        </p:nvSpPr>
        <p:spPr>
          <a:xfrm>
            <a:off x="8458200" y="3200400"/>
            <a:ext cx="685800" cy="685800"/>
          </a:xfrm>
          <a:prstGeom prst="ellipse">
            <a:avLst/>
          </a:prstGeom>
          <a:solidFill>
            <a:schemeClr val="accent2"/>
          </a:solidFill>
          <a:ln w="12700">
            <a:solidFill>
              <a:schemeClr val="accent2"/>
            </a:solidFill>
            <a:prstDash val="solid"/>
          </a:ln>
        </p:spPr>
      </p:sp>
      <p:pic>
        <p:nvPicPr>
          <p:cNvPr id="30" name="icimg30" descr="preencoded.png">    </p:cNvPr>
          <p:cNvPicPr>
            <a:picLocks noChangeAspect="1"/>
          </p:cNvPicPr>
          <p:nvPr/>
        </p:nvPicPr>
        <p:blipFill>
          <a:blip r:embed="rId6"/>
          <a:stretch>
            <a:fillRect/>
          </a:stretch>
        </p:blipFill>
        <p:spPr>
          <a:xfrm>
            <a:off x="8629650" y="3371850"/>
            <a:ext cx="342900" cy="342900"/>
          </a:xfrm>
          <a:prstGeom prst="rect">
            <a:avLst/>
          </a:prstGeom>
        </p:spPr>
      </p:pic>
      <p:sp>
        <p:nvSpPr>
          <p:cNvPr id="31" name="t31"/>
          <p:cNvSpPr txBox="1"/>
          <p:nvPr/>
        </p:nvSpPr>
        <p:spPr>
          <a:xfrm>
            <a:off x="9281160" y="3136392"/>
            <a:ext cx="224028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Journal</a:t>
            </a:r>
            <a:endParaRPr lang="en-US" sz="1600" dirty="0"/>
          </a:p>
        </p:txBody>
      </p:sp>
      <p:sp>
        <p:nvSpPr>
          <p:cNvPr id="32" name="t32"/>
          <p:cNvSpPr txBox="1"/>
          <p:nvPr/>
        </p:nvSpPr>
        <p:spPr>
          <a:xfrm>
            <a:off x="9281160" y="3502152"/>
            <a:ext cx="2240280" cy="548640"/>
          </a:xfrm>
          <a:prstGeom prst="rect">
            <a:avLst/>
          </a:prstGeom>
          <a:noFill/>
          <a:ln/>
        </p:spPr>
        <p:txBody>
          <a:bodyPr wrap="square" lIns="0" tIns="0" rIns="0" bIns="0" rtlCol="0" anchor="t"/>
          <a:lstStyle/>
          <a:p>
            <a:pPr indent="0" marL="0">
              <a:buNone/>
            </a:pPr>
            <a:r>
              <a:rPr lang="en-US" sz="1200" dirty="0">
                <a:solidFill>
                  <a:schemeClr val="tx2"/>
                </a:solidFill>
              </a:rPr>
              <a:t>every step, hand-off, answer and cost</a:t>
            </a:r>
            <a:endParaRPr lang="en-US" sz="1200" dirty="0"/>
          </a:p>
        </p:txBody>
      </p:sp>
      <p:sp>
        <p:nvSpPr>
          <p:cNvPr id="33" name="card33"/>
          <p:cNvSpPr/>
          <p:nvPr/>
        </p:nvSpPr>
        <p:spPr>
          <a:xfrm>
            <a:off x="8275320" y="4617720"/>
            <a:ext cx="3383280" cy="1143000"/>
          </a:xfrm>
          <a:prstGeom prst="roundRect">
            <a:avLst>
              <a:gd name="adj" fmla="val 6400"/>
            </a:avLst>
          </a:prstGeom>
          <a:solidFill>
            <a:schemeClr val="bg2"/>
          </a:solidFill>
          <a:ln w="9525">
            <a:solidFill>
              <a:schemeClr val="bg2"/>
            </a:solidFill>
            <a:prstDash val="solid"/>
          </a:ln>
        </p:spPr>
      </p:sp>
      <p:sp>
        <p:nvSpPr>
          <p:cNvPr id="34" name="ic34"/>
          <p:cNvSpPr/>
          <p:nvPr/>
        </p:nvSpPr>
        <p:spPr>
          <a:xfrm>
            <a:off x="8458200" y="4846320"/>
            <a:ext cx="685800" cy="685800"/>
          </a:xfrm>
          <a:prstGeom prst="ellipse">
            <a:avLst/>
          </a:prstGeom>
          <a:solidFill>
            <a:schemeClr val="accent2"/>
          </a:solidFill>
          <a:ln w="12700">
            <a:solidFill>
              <a:schemeClr val="accent2"/>
            </a:solidFill>
            <a:prstDash val="solid"/>
          </a:ln>
        </p:spPr>
      </p:sp>
      <p:pic>
        <p:nvPicPr>
          <p:cNvPr id="35" name="icimg35" descr="preencoded.png">    </p:cNvPr>
          <p:cNvPicPr>
            <a:picLocks noChangeAspect="1"/>
          </p:cNvPicPr>
          <p:nvPr/>
        </p:nvPicPr>
        <p:blipFill>
          <a:blip r:embed="rId7"/>
          <a:stretch>
            <a:fillRect/>
          </a:stretch>
        </p:blipFill>
        <p:spPr>
          <a:xfrm>
            <a:off x="8629650" y="5017770"/>
            <a:ext cx="342900" cy="342900"/>
          </a:xfrm>
          <a:prstGeom prst="rect">
            <a:avLst/>
          </a:prstGeom>
        </p:spPr>
      </p:pic>
      <p:sp>
        <p:nvSpPr>
          <p:cNvPr id="36" name="t36"/>
          <p:cNvSpPr txBox="1"/>
          <p:nvPr/>
        </p:nvSpPr>
        <p:spPr>
          <a:xfrm>
            <a:off x="9281160" y="4782312"/>
            <a:ext cx="224028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Recipe and address</a:t>
            </a:r>
            <a:endParaRPr lang="en-US" sz="1600" dirty="0"/>
          </a:p>
        </p:txBody>
      </p:sp>
      <p:sp>
        <p:nvSpPr>
          <p:cNvPr id="37" name="t37"/>
          <p:cNvSpPr txBox="1"/>
          <p:nvPr/>
        </p:nvSpPr>
        <p:spPr>
          <a:xfrm>
            <a:off x="9281160" y="5148072"/>
            <a:ext cx="2240280" cy="548640"/>
          </a:xfrm>
          <a:prstGeom prst="rect">
            <a:avLst/>
          </a:prstGeom>
          <a:noFill/>
          <a:ln/>
        </p:spPr>
        <p:txBody>
          <a:bodyPr wrap="square" lIns="0" tIns="0" rIns="0" bIns="0" rtlCol="0" anchor="t"/>
          <a:lstStyle/>
          <a:p>
            <a:pPr indent="0" marL="0">
              <a:buNone/>
            </a:pPr>
            <a:r>
              <a:rPr lang="en-US" sz="1200" dirty="0">
                <a:solidFill>
                  <a:schemeClr val="tx2"/>
                </a:solidFill>
              </a:rPr>
              <a:t>rebuilds its workspace anywhere; one URL</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Today the work is scattered; packets give it a home</a:t>
            </a:r>
            <a:endParaRPr lang="en-US" sz="3400" dirty="0"/>
          </a:p>
        </p:txBody>
      </p:sp>
      <p:sp>
        <p:nvSpPr>
          <p:cNvPr id="3" name="card38"/>
          <p:cNvSpPr/>
          <p:nvPr/>
        </p:nvSpPr>
        <p:spPr>
          <a:xfrm>
            <a:off x="548640" y="1325880"/>
            <a:ext cx="5422392" cy="3657600"/>
          </a:xfrm>
          <a:prstGeom prst="roundRect">
            <a:avLst>
              <a:gd name="adj" fmla="val 2000"/>
            </a:avLst>
          </a:prstGeom>
          <a:solidFill>
            <a:schemeClr val="bg2"/>
          </a:solidFill>
          <a:ln w="9525">
            <a:solidFill>
              <a:schemeClr val="bg2"/>
            </a:solidFill>
            <a:prstDash val="solid"/>
          </a:ln>
        </p:spPr>
      </p:sp>
      <p:sp>
        <p:nvSpPr>
          <p:cNvPr id="4" name="pill39"/>
          <p:cNvSpPr/>
          <p:nvPr/>
        </p:nvSpPr>
        <p:spPr>
          <a:xfrm>
            <a:off x="868680" y="1554480"/>
            <a:ext cx="1737360" cy="292608"/>
          </a:xfrm>
          <a:prstGeom prst="roundRect">
            <a:avLst>
              <a:gd name="adj" fmla="val 50000"/>
            </a:avLst>
          </a:prstGeom>
          <a:solidFill>
            <a:schemeClr val="accent4"/>
          </a:solidFill>
          <a:ln w="12700">
            <a:solidFill>
              <a:schemeClr val="accent4"/>
            </a:solidFill>
            <a:prstDash val="solid"/>
          </a:ln>
        </p:spPr>
      </p:sp>
      <p:sp>
        <p:nvSpPr>
          <p:cNvPr id="5" name="t40"/>
          <p:cNvSpPr txBox="1"/>
          <p:nvPr/>
        </p:nvSpPr>
        <p:spPr>
          <a:xfrm>
            <a:off x="868680" y="1554480"/>
            <a:ext cx="1737360" cy="292608"/>
          </a:xfrm>
          <a:prstGeom prst="rect">
            <a:avLst/>
          </a:prstGeom>
          <a:noFill/>
          <a:ln/>
        </p:spPr>
        <p:txBody>
          <a:bodyPr wrap="square" lIns="0" tIns="0" rIns="0" bIns="0" rtlCol="0" anchor="ctr"/>
          <a:lstStyle/>
          <a:p>
            <a:pPr algn="ctr" indent="0" marL="0">
              <a:buNone/>
            </a:pPr>
            <a:r>
              <a:rPr lang="en-US" sz="1100" b="1" dirty="0">
                <a:solidFill>
                  <a:schemeClr val="bg1"/>
                </a:solidFill>
              </a:rPr>
              <a:t>Today</a:t>
            </a:r>
            <a:endParaRPr lang="en-US" sz="1100" dirty="0"/>
          </a:p>
        </p:txBody>
      </p:sp>
      <p:sp>
        <p:nvSpPr>
          <p:cNvPr id="6" name="t41"/>
          <p:cNvSpPr txBox="1"/>
          <p:nvPr/>
        </p:nvSpPr>
        <p:spPr>
          <a:xfrm>
            <a:off x="868680" y="2057400"/>
            <a:ext cx="4782312" cy="2834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Four terminals, three tmux sessions, two machines</a:t>
            </a:r>
            <a:endParaRPr lang="en-US" sz="1600" dirty="0"/>
          </a:p>
          <a:p>
            <a:pPr marL="342900" indent="-342900">
              <a:spcAft>
                <a:spcPts val="1000"/>
              </a:spcAft>
              <a:buSzPct val="100000"/>
              <a:buChar char="•"/>
            </a:pPr>
            <a:r>
              <a:rPr lang="en-US" sz="1600" dirty="0">
                <a:solidFill>
                  <a:schemeClr val="tx1"/>
                </a:solidFill>
              </a:rPr>
              <a:t>Agent sessions die while the sim runs</a:t>
            </a:r>
            <a:endParaRPr lang="en-US" sz="1600" dirty="0"/>
          </a:p>
          <a:p>
            <a:pPr marL="342900" indent="-342900">
              <a:spcAft>
                <a:spcPts val="1000"/>
              </a:spcAft>
              <a:buSzPct val="100000"/>
              <a:buChar char="•"/>
            </a:pPr>
            <a:r>
              <a:rPr lang="en-US" sz="1600" dirty="0">
                <a:solidFill>
                  <a:schemeClr val="tx1"/>
                </a:solidFill>
              </a:rPr>
              <a:t>The plan lives in a chat that is gone tomorrow</a:t>
            </a:r>
            <a:endParaRPr lang="en-US" sz="1600" dirty="0"/>
          </a:p>
          <a:p>
            <a:pPr marL="342900" indent="-342900">
              <a:spcAft>
                <a:spcPts val="1000"/>
              </a:spcAft>
              <a:buSzPct val="100000"/>
              <a:buChar char="•"/>
            </a:pPr>
            <a:r>
              <a:rPr lang="en-US" sz="1600" dirty="0">
                <a:solidFill>
                  <a:schemeClr val="tx1"/>
                </a:solidFill>
              </a:rPr>
              <a:t>Checking on background work means attaching to each one</a:t>
            </a:r>
            <a:endParaRPr lang="en-US" sz="1600" dirty="0"/>
          </a:p>
          <a:p>
            <a:pPr marL="342900" indent="-342900">
              <a:spcAft>
                <a:spcPts val="1000"/>
              </a:spcAft>
              <a:buSzPct val="100000"/>
              <a:buChar char="•"/>
            </a:pPr>
            <a:r>
              <a:rPr lang="en-US" sz="1600" dirty="0">
                <a:solidFill>
                  <a:schemeClr val="tx1"/>
                </a:solidFill>
              </a:rPr>
              <a:t>Handing over a bug is a wall of text and a revision number</a:t>
            </a:r>
            <a:endParaRPr lang="en-US" sz="1600" dirty="0"/>
          </a:p>
        </p:txBody>
      </p:sp>
      <p:sp>
        <p:nvSpPr>
          <p:cNvPr id="7" name="card42"/>
          <p:cNvSpPr/>
          <p:nvPr/>
        </p:nvSpPr>
        <p:spPr>
          <a:xfrm>
            <a:off x="6217920" y="1325880"/>
            <a:ext cx="5422392" cy="3657600"/>
          </a:xfrm>
          <a:prstGeom prst="roundRect">
            <a:avLst>
              <a:gd name="adj" fmla="val 2000"/>
            </a:avLst>
          </a:prstGeom>
          <a:solidFill>
            <a:schemeClr val="accent6"/>
          </a:solidFill>
          <a:ln w="9525">
            <a:solidFill>
              <a:schemeClr val="accent6"/>
            </a:solidFill>
            <a:prstDash val="solid"/>
          </a:ln>
        </p:spPr>
      </p:sp>
      <p:sp>
        <p:nvSpPr>
          <p:cNvPr id="8" name="pill43"/>
          <p:cNvSpPr/>
          <p:nvPr/>
        </p:nvSpPr>
        <p:spPr>
          <a:xfrm>
            <a:off x="6537960" y="1554480"/>
            <a:ext cx="1737360" cy="292608"/>
          </a:xfrm>
          <a:prstGeom prst="roundRect">
            <a:avLst>
              <a:gd name="adj" fmla="val 50000"/>
            </a:avLst>
          </a:prstGeom>
          <a:solidFill>
            <a:schemeClr val="accent2"/>
          </a:solidFill>
          <a:ln w="12700">
            <a:solidFill>
              <a:schemeClr val="accent2"/>
            </a:solidFill>
            <a:prstDash val="solid"/>
          </a:ln>
        </p:spPr>
      </p:sp>
      <p:sp>
        <p:nvSpPr>
          <p:cNvPr id="9" name="t44"/>
          <p:cNvSpPr txBox="1"/>
          <p:nvPr/>
        </p:nvSpPr>
        <p:spPr>
          <a:xfrm>
            <a:off x="6537960" y="1554480"/>
            <a:ext cx="1737360" cy="292608"/>
          </a:xfrm>
          <a:prstGeom prst="rect">
            <a:avLst/>
          </a:prstGeom>
          <a:noFill/>
          <a:ln/>
        </p:spPr>
        <p:txBody>
          <a:bodyPr wrap="square" lIns="0" tIns="0" rIns="0" bIns="0" rtlCol="0" anchor="ctr"/>
          <a:lstStyle/>
          <a:p>
            <a:pPr algn="ctr" indent="0" marL="0">
              <a:buNone/>
            </a:pPr>
            <a:r>
              <a:rPr lang="en-US" sz="1100" b="1" dirty="0">
                <a:solidFill>
                  <a:schemeClr val="bg1"/>
                </a:solidFill>
              </a:rPr>
              <a:t>With packets</a:t>
            </a:r>
            <a:endParaRPr lang="en-US" sz="1100" dirty="0"/>
          </a:p>
        </p:txBody>
      </p:sp>
      <p:sp>
        <p:nvSpPr>
          <p:cNvPr id="10" name="t45"/>
          <p:cNvSpPr txBox="1"/>
          <p:nvPr/>
        </p:nvSpPr>
        <p:spPr>
          <a:xfrm>
            <a:off x="6537960" y="2057400"/>
            <a:ext cx="4782312" cy="2834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One board: what runs, what sleeps, what needs you</a:t>
            </a:r>
            <a:endParaRPr lang="en-US" sz="1600" dirty="0"/>
          </a:p>
          <a:p>
            <a:pPr marL="342900" indent="-342900">
              <a:spcAft>
                <a:spcPts val="1000"/>
              </a:spcAft>
              <a:buSzPct val="100000"/>
              <a:buChar char="•"/>
            </a:pPr>
            <a:r>
              <a:rPr lang="en-US" sz="1600" dirty="0">
                <a:solidFill>
                  <a:schemeClr val="tx1"/>
                </a:solidFill>
              </a:rPr>
              <a:t>Long jobs run in the packet and wake the agent when done</a:t>
            </a:r>
            <a:endParaRPr lang="en-US" sz="1600" dirty="0"/>
          </a:p>
          <a:p>
            <a:pPr marL="342900" indent="-342900">
              <a:spcAft>
                <a:spcPts val="1000"/>
              </a:spcAft>
              <a:buSzPct val="100000"/>
              <a:buChar char="•"/>
            </a:pPr>
            <a:r>
              <a:rPr lang="en-US" sz="1600" dirty="0">
                <a:solidFill>
                  <a:schemeClr val="tx1"/>
                </a:solidFill>
              </a:rPr>
              <a:t>Plan, notes and history survive a week away</a:t>
            </a:r>
            <a:endParaRPr lang="en-US" sz="1600" dirty="0"/>
          </a:p>
          <a:p>
            <a:pPr marL="342900" indent="-342900">
              <a:spcAft>
                <a:spcPts val="1000"/>
              </a:spcAft>
              <a:buSzPct val="100000"/>
              <a:buChar char="•"/>
            </a:pPr>
            <a:r>
              <a:rPr lang="en-US" sz="1600" dirty="0">
                <a:solidFill>
                  <a:schemeClr val="tx1"/>
                </a:solidFill>
              </a:rPr>
              <a:t>Notifications on the phone and in VS Code</a:t>
            </a:r>
            <a:endParaRPr lang="en-US" sz="1600" dirty="0"/>
          </a:p>
          <a:p>
            <a:pPr marL="342900" indent="-342900">
              <a:spcAft>
                <a:spcPts val="1000"/>
              </a:spcAft>
              <a:buSzPct val="100000"/>
              <a:buChar char="•"/>
            </a:pPr>
            <a:r>
              <a:rPr lang="en-US" sz="1600" dirty="0">
                <a:solidFill>
                  <a:schemeClr val="tx1"/>
                </a:solidFill>
              </a:rPr>
              <a:t>Assign the packet: they open it at the right revision, with its history</a:t>
            </a:r>
            <a:endParaRPr lang="en-US" sz="1600" dirty="0"/>
          </a:p>
        </p:txBody>
      </p:sp>
      <p:sp>
        <p:nvSpPr>
          <p:cNvPr id="11" name="card46"/>
          <p:cNvSpPr/>
          <p:nvPr/>
        </p:nvSpPr>
        <p:spPr>
          <a:xfrm>
            <a:off x="548640" y="5257800"/>
            <a:ext cx="11094415" cy="822960"/>
          </a:xfrm>
          <a:prstGeom prst="roundRect">
            <a:avLst>
              <a:gd name="adj" fmla="val 8889"/>
            </a:avLst>
          </a:prstGeom>
          <a:solidFill>
            <a:schemeClr val="tx1"/>
          </a:solidFill>
          <a:ln w="9525">
            <a:solidFill>
              <a:schemeClr val="tx1"/>
            </a:solidFill>
            <a:prstDash val="solid"/>
          </a:ln>
        </p:spPr>
      </p:sp>
      <p:sp>
        <p:nvSpPr>
          <p:cNvPr id="12" name="t47"/>
          <p:cNvSpPr txBox="1"/>
          <p:nvPr/>
        </p:nvSpPr>
        <p:spPr>
          <a:xfrm>
            <a:off x="868680" y="5257800"/>
            <a:ext cx="10454335" cy="822960"/>
          </a:xfrm>
          <a:prstGeom prst="rect">
            <a:avLst/>
          </a:prstGeom>
          <a:noFill/>
          <a:ln/>
        </p:spPr>
        <p:txBody>
          <a:bodyPr wrap="square" lIns="0" tIns="0" rIns="0" bIns="0" rtlCol="0" anchor="ctr"/>
          <a:lstStyle/>
          <a:p>
            <a:pPr indent="0" marL="0">
              <a:buNone/>
            </a:pPr>
            <a:r>
              <a:rPr lang="en-US" sz="1700" b="1" dirty="0">
                <a:solidFill>
                  <a:srgbClr val="E8A33D"/>
                </a:solidFill>
              </a:rPr>
              <a:t>The difference: </a:t>
            </a:r>
            <a:pPr indent="0" marL="0">
              <a:buNone/>
            </a:pPr>
            <a:r>
              <a:rPr lang="en-US" sz="1700" dirty="0">
                <a:solidFill>
                  <a:srgbClr val="FFFFFF"/>
                </a:solidFill>
              </a:rPr>
              <a:t>the work has an address, one owner at a time, and a history, wherever you look at it from.</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Your day, as an individual developer</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The board is where you look. The terminal and VS Code are where you work.</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 day with packets</a:t>
            </a:r>
            <a:endParaRPr lang="en-US" sz="3400" dirty="0"/>
          </a:p>
        </p:txBody>
      </p:sp>
      <p:sp>
        <p:nvSpPr>
          <p:cNvPr id="3" name="tl"/>
          <p:cNvSpPr/>
          <p:nvPr/>
        </p:nvSpPr>
        <p:spPr>
          <a:xfrm>
            <a:off x="1737360" y="1463040"/>
            <a:ext cx="0" cy="4572000"/>
          </a:xfrm>
          <a:prstGeom prst="line">
            <a:avLst/>
          </a:prstGeom>
          <a:noFill/>
          <a:ln w="19050">
            <a:solidFill>
              <a:schemeClr val="accent3"/>
            </a:solidFill>
            <a:prstDash val="solid"/>
          </a:ln>
        </p:spPr>
      </p:sp>
      <p:sp>
        <p:nvSpPr>
          <p:cNvPr id="4" name="t48"/>
          <p:cNvSpPr txBox="1"/>
          <p:nvPr/>
        </p:nvSpPr>
        <p:spPr>
          <a:xfrm>
            <a:off x="548640" y="1463040"/>
            <a:ext cx="7772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08:30</a:t>
            </a:r>
            <a:endParaRPr lang="en-US" sz="1500" dirty="0"/>
          </a:p>
        </p:txBody>
      </p:sp>
      <p:sp>
        <p:nvSpPr>
          <p:cNvPr id="5" name="ic49"/>
          <p:cNvSpPr/>
          <p:nvPr/>
        </p:nvSpPr>
        <p:spPr>
          <a:xfrm>
            <a:off x="1417320" y="1344168"/>
            <a:ext cx="640080" cy="640080"/>
          </a:xfrm>
          <a:prstGeom prst="ellipse">
            <a:avLst/>
          </a:prstGeom>
          <a:solidFill>
            <a:schemeClr val="tx2"/>
          </a:solidFill>
          <a:ln w="12700">
            <a:solidFill>
              <a:schemeClr val="tx2"/>
            </a:solidFill>
            <a:prstDash val="solid"/>
          </a:ln>
        </p:spPr>
      </p:sp>
      <p:pic>
        <p:nvPicPr>
          <p:cNvPr id="6" name="icimg50" descr="preencoded.png">    </p:cNvPr>
          <p:cNvPicPr>
            <a:picLocks noChangeAspect="1"/>
          </p:cNvPicPr>
          <p:nvPr/>
        </p:nvPicPr>
        <p:blipFill>
          <a:blip r:embed="rId1"/>
          <a:stretch>
            <a:fillRect/>
          </a:stretch>
        </p:blipFill>
        <p:spPr>
          <a:xfrm>
            <a:off x="1577340" y="1504188"/>
            <a:ext cx="320040" cy="320040"/>
          </a:xfrm>
          <a:prstGeom prst="rect">
            <a:avLst/>
          </a:prstGeom>
        </p:spPr>
      </p:pic>
      <p:sp>
        <p:nvSpPr>
          <p:cNvPr id="7" name="card51"/>
          <p:cNvSpPr/>
          <p:nvPr/>
        </p:nvSpPr>
        <p:spPr>
          <a:xfrm>
            <a:off x="2286000" y="1344168"/>
            <a:ext cx="8778240" cy="640080"/>
          </a:xfrm>
          <a:prstGeom prst="roundRect">
            <a:avLst>
              <a:gd name="adj" fmla="val 11429"/>
            </a:avLst>
          </a:prstGeom>
          <a:solidFill>
            <a:schemeClr val="bg2"/>
          </a:solidFill>
          <a:ln w="9525">
            <a:solidFill>
              <a:schemeClr val="bg2"/>
            </a:solidFill>
            <a:prstDash val="solid"/>
          </a:ln>
        </p:spPr>
      </p:sp>
      <p:sp>
        <p:nvSpPr>
          <p:cNvPr id="8" name="t52"/>
          <p:cNvSpPr txBox="1"/>
          <p:nvPr/>
        </p:nvSpPr>
        <p:spPr>
          <a:xfrm>
            <a:off x="2514600" y="1344168"/>
            <a:ext cx="8412480" cy="640080"/>
          </a:xfrm>
          <a:prstGeom prst="rect">
            <a:avLst/>
          </a:prstGeom>
          <a:noFill/>
          <a:ln/>
        </p:spPr>
        <p:txBody>
          <a:bodyPr wrap="square" lIns="0" tIns="0" rIns="0" bIns="0" rtlCol="0" anchor="ctr"/>
          <a:lstStyle/>
          <a:p>
            <a:pPr indent="0" marL="0">
              <a:buNone/>
            </a:pPr>
            <a:r>
              <a:rPr lang="en-US" sz="1500" dirty="0">
                <a:solidFill>
                  <a:schemeClr val="tx1"/>
                </a:solidFill>
              </a:rPr>
              <a:t>Phone buzzes overnight: one packet needs you. Answer its question on the board over coffee</a:t>
            </a:r>
            <a:endParaRPr lang="en-US" sz="1500" dirty="0"/>
          </a:p>
        </p:txBody>
      </p:sp>
      <p:sp>
        <p:nvSpPr>
          <p:cNvPr id="9" name="t53"/>
          <p:cNvSpPr txBox="1"/>
          <p:nvPr/>
        </p:nvSpPr>
        <p:spPr>
          <a:xfrm>
            <a:off x="548640" y="2249424"/>
            <a:ext cx="7772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09:00</a:t>
            </a:r>
            <a:endParaRPr lang="en-US" sz="1500" dirty="0"/>
          </a:p>
        </p:txBody>
      </p:sp>
      <p:sp>
        <p:nvSpPr>
          <p:cNvPr id="10" name="ic54"/>
          <p:cNvSpPr/>
          <p:nvPr/>
        </p:nvSpPr>
        <p:spPr>
          <a:xfrm>
            <a:off x="1417320" y="2130552"/>
            <a:ext cx="640080" cy="640080"/>
          </a:xfrm>
          <a:prstGeom prst="ellipse">
            <a:avLst/>
          </a:prstGeom>
          <a:solidFill>
            <a:schemeClr val="accent2"/>
          </a:solidFill>
          <a:ln w="12700">
            <a:solidFill>
              <a:schemeClr val="accent2"/>
            </a:solidFill>
            <a:prstDash val="solid"/>
          </a:ln>
        </p:spPr>
      </p:sp>
      <p:pic>
        <p:nvPicPr>
          <p:cNvPr id="11" name="icimg55" descr="preencoded.png">    </p:cNvPr>
          <p:cNvPicPr>
            <a:picLocks noChangeAspect="1"/>
          </p:cNvPicPr>
          <p:nvPr/>
        </p:nvPicPr>
        <p:blipFill>
          <a:blip r:embed="rId2"/>
          <a:stretch>
            <a:fillRect/>
          </a:stretch>
        </p:blipFill>
        <p:spPr>
          <a:xfrm>
            <a:off x="1577340" y="2290572"/>
            <a:ext cx="320040" cy="320040"/>
          </a:xfrm>
          <a:prstGeom prst="rect">
            <a:avLst/>
          </a:prstGeom>
        </p:spPr>
      </p:pic>
      <p:sp>
        <p:nvSpPr>
          <p:cNvPr id="12" name="card56"/>
          <p:cNvSpPr/>
          <p:nvPr/>
        </p:nvSpPr>
        <p:spPr>
          <a:xfrm>
            <a:off x="2286000" y="2130552"/>
            <a:ext cx="8778240" cy="640080"/>
          </a:xfrm>
          <a:prstGeom prst="roundRect">
            <a:avLst>
              <a:gd name="adj" fmla="val 11429"/>
            </a:avLst>
          </a:prstGeom>
          <a:solidFill>
            <a:schemeClr val="bg2"/>
          </a:solidFill>
          <a:ln w="9525">
            <a:solidFill>
              <a:schemeClr val="bg2"/>
            </a:solidFill>
            <a:prstDash val="solid"/>
          </a:ln>
        </p:spPr>
      </p:sp>
      <p:sp>
        <p:nvSpPr>
          <p:cNvPr id="13" name="t57"/>
          <p:cNvSpPr txBox="1"/>
          <p:nvPr/>
        </p:nvSpPr>
        <p:spPr>
          <a:xfrm>
            <a:off x="2514600" y="2130552"/>
            <a:ext cx="8412480" cy="640080"/>
          </a:xfrm>
          <a:prstGeom prst="rect">
            <a:avLst/>
          </a:prstGeom>
          <a:noFill/>
          <a:ln/>
        </p:spPr>
        <p:txBody>
          <a:bodyPr wrap="square" lIns="0" tIns="0" rIns="0" bIns="0" rtlCol="0" anchor="ctr"/>
          <a:lstStyle/>
          <a:p>
            <a:pPr indent="0" marL="0">
              <a:buNone/>
            </a:pPr>
            <a:r>
              <a:rPr lang="en-US" sz="1500" dirty="0">
                <a:solidFill>
                  <a:schemeClr val="tx1"/>
                </a:solidFill>
              </a:rPr>
              <a:t>New from template: "from issue". Compose shows the checks; clone in the browser shell; hand off</a:t>
            </a:r>
            <a:endParaRPr lang="en-US" sz="1500" dirty="0"/>
          </a:p>
        </p:txBody>
      </p:sp>
      <p:sp>
        <p:nvSpPr>
          <p:cNvPr id="14" name="t58"/>
          <p:cNvSpPr txBox="1"/>
          <p:nvPr/>
        </p:nvSpPr>
        <p:spPr>
          <a:xfrm>
            <a:off x="548640" y="3035808"/>
            <a:ext cx="7772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10:00</a:t>
            </a:r>
            <a:endParaRPr lang="en-US" sz="1500" dirty="0"/>
          </a:p>
        </p:txBody>
      </p:sp>
      <p:sp>
        <p:nvSpPr>
          <p:cNvPr id="15" name="ic59"/>
          <p:cNvSpPr/>
          <p:nvPr/>
        </p:nvSpPr>
        <p:spPr>
          <a:xfrm>
            <a:off x="1417320" y="2916936"/>
            <a:ext cx="640080" cy="640080"/>
          </a:xfrm>
          <a:prstGeom prst="ellipse">
            <a:avLst/>
          </a:prstGeom>
          <a:solidFill>
            <a:schemeClr val="tx2"/>
          </a:solidFill>
          <a:ln w="12700">
            <a:solidFill>
              <a:schemeClr val="tx2"/>
            </a:solidFill>
            <a:prstDash val="solid"/>
          </a:ln>
        </p:spPr>
      </p:sp>
      <p:pic>
        <p:nvPicPr>
          <p:cNvPr id="16" name="icimg60" descr="preencoded.png">    </p:cNvPr>
          <p:cNvPicPr>
            <a:picLocks noChangeAspect="1"/>
          </p:cNvPicPr>
          <p:nvPr/>
        </p:nvPicPr>
        <p:blipFill>
          <a:blip r:embed="rId3"/>
          <a:stretch>
            <a:fillRect/>
          </a:stretch>
        </p:blipFill>
        <p:spPr>
          <a:xfrm>
            <a:off x="1577340" y="3076956"/>
            <a:ext cx="320040" cy="320040"/>
          </a:xfrm>
          <a:prstGeom prst="rect">
            <a:avLst/>
          </a:prstGeom>
        </p:spPr>
      </p:pic>
      <p:sp>
        <p:nvSpPr>
          <p:cNvPr id="17" name="card61"/>
          <p:cNvSpPr/>
          <p:nvPr/>
        </p:nvSpPr>
        <p:spPr>
          <a:xfrm>
            <a:off x="2286000" y="2916936"/>
            <a:ext cx="8778240" cy="640080"/>
          </a:xfrm>
          <a:prstGeom prst="roundRect">
            <a:avLst>
              <a:gd name="adj" fmla="val 11429"/>
            </a:avLst>
          </a:prstGeom>
          <a:solidFill>
            <a:schemeClr val="bg2"/>
          </a:solidFill>
          <a:ln w="9525">
            <a:solidFill>
              <a:schemeClr val="bg2"/>
            </a:solidFill>
            <a:prstDash val="solid"/>
          </a:ln>
        </p:spPr>
      </p:sp>
      <p:sp>
        <p:nvSpPr>
          <p:cNvPr id="18" name="t62"/>
          <p:cNvSpPr txBox="1"/>
          <p:nvPr/>
        </p:nvSpPr>
        <p:spPr>
          <a:xfrm>
            <a:off x="2514600" y="2916936"/>
            <a:ext cx="8412480" cy="640080"/>
          </a:xfrm>
          <a:prstGeom prst="rect">
            <a:avLst/>
          </a:prstGeom>
          <a:noFill/>
          <a:ln/>
        </p:spPr>
        <p:txBody>
          <a:bodyPr wrap="square" lIns="0" tIns="0" rIns="0" bIns="0" rtlCol="0" anchor="ctr"/>
          <a:lstStyle/>
          <a:p>
            <a:pPr indent="0" marL="0">
              <a:buNone/>
            </a:pPr>
            <a:r>
              <a:rPr lang="en-US" sz="1500" dirty="0">
                <a:solidFill>
                  <a:schemeClr val="tx1"/>
                </a:solidFill>
              </a:rPr>
              <a:t>Open your own packet in VS Code. The runner works three others meanwhile</a:t>
            </a:r>
            <a:endParaRPr lang="en-US" sz="1500" dirty="0"/>
          </a:p>
        </p:txBody>
      </p:sp>
      <p:sp>
        <p:nvSpPr>
          <p:cNvPr id="19" name="t63"/>
          <p:cNvSpPr txBox="1"/>
          <p:nvPr/>
        </p:nvSpPr>
        <p:spPr>
          <a:xfrm>
            <a:off x="548640" y="3822192"/>
            <a:ext cx="7772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13:00</a:t>
            </a:r>
            <a:endParaRPr lang="en-US" sz="1500" dirty="0"/>
          </a:p>
        </p:txBody>
      </p:sp>
      <p:sp>
        <p:nvSpPr>
          <p:cNvPr id="20" name="ic64"/>
          <p:cNvSpPr/>
          <p:nvPr/>
        </p:nvSpPr>
        <p:spPr>
          <a:xfrm>
            <a:off x="1417320" y="3703320"/>
            <a:ext cx="640080" cy="640080"/>
          </a:xfrm>
          <a:prstGeom prst="ellipse">
            <a:avLst/>
          </a:prstGeom>
          <a:solidFill>
            <a:schemeClr val="accent2"/>
          </a:solidFill>
          <a:ln w="12700">
            <a:solidFill>
              <a:schemeClr val="accent2"/>
            </a:solidFill>
            <a:prstDash val="solid"/>
          </a:ln>
        </p:spPr>
      </p:sp>
      <p:pic>
        <p:nvPicPr>
          <p:cNvPr id="21" name="icimg65" descr="preencoded.png">    </p:cNvPr>
          <p:cNvPicPr>
            <a:picLocks noChangeAspect="1"/>
          </p:cNvPicPr>
          <p:nvPr/>
        </p:nvPicPr>
        <p:blipFill>
          <a:blip r:embed="rId4"/>
          <a:stretch>
            <a:fillRect/>
          </a:stretch>
        </p:blipFill>
        <p:spPr>
          <a:xfrm>
            <a:off x="1577340" y="3863340"/>
            <a:ext cx="320040" cy="320040"/>
          </a:xfrm>
          <a:prstGeom prst="rect">
            <a:avLst/>
          </a:prstGeom>
        </p:spPr>
      </p:pic>
      <p:sp>
        <p:nvSpPr>
          <p:cNvPr id="22" name="card66"/>
          <p:cNvSpPr/>
          <p:nvPr/>
        </p:nvSpPr>
        <p:spPr>
          <a:xfrm>
            <a:off x="2286000" y="3703320"/>
            <a:ext cx="8778240" cy="640080"/>
          </a:xfrm>
          <a:prstGeom prst="roundRect">
            <a:avLst>
              <a:gd name="adj" fmla="val 11429"/>
            </a:avLst>
          </a:prstGeom>
          <a:solidFill>
            <a:schemeClr val="bg2"/>
          </a:solidFill>
          <a:ln w="9525">
            <a:solidFill>
              <a:schemeClr val="bg2"/>
            </a:solidFill>
            <a:prstDash val="solid"/>
          </a:ln>
        </p:spPr>
      </p:sp>
      <p:sp>
        <p:nvSpPr>
          <p:cNvPr id="23" name="t67"/>
          <p:cNvSpPr txBox="1"/>
          <p:nvPr/>
        </p:nvSpPr>
        <p:spPr>
          <a:xfrm>
            <a:off x="2514600" y="3703320"/>
            <a:ext cx="8412480" cy="640080"/>
          </a:xfrm>
          <a:prstGeom prst="rect">
            <a:avLst/>
          </a:prstGeom>
          <a:noFill/>
          <a:ln/>
        </p:spPr>
        <p:txBody>
          <a:bodyPr wrap="square" lIns="0" tIns="0" rIns="0" bIns="0" rtlCol="0" anchor="ctr"/>
          <a:lstStyle/>
          <a:p>
            <a:pPr indent="0" marL="0">
              <a:buNone/>
            </a:pPr>
            <a:r>
              <a:rPr lang="en-US" sz="1500" dirty="0">
                <a:solidFill>
                  <a:schemeClr val="tx1"/>
                </a:solidFill>
              </a:rPr>
              <a:t>A regression job runs in a packet; the board shows its graph filling in</a:t>
            </a:r>
            <a:endParaRPr lang="en-US" sz="1500" dirty="0"/>
          </a:p>
        </p:txBody>
      </p:sp>
      <p:sp>
        <p:nvSpPr>
          <p:cNvPr id="24" name="t68"/>
          <p:cNvSpPr txBox="1"/>
          <p:nvPr/>
        </p:nvSpPr>
        <p:spPr>
          <a:xfrm>
            <a:off x="548640" y="4608576"/>
            <a:ext cx="7772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16:00</a:t>
            </a:r>
            <a:endParaRPr lang="en-US" sz="1500" dirty="0"/>
          </a:p>
        </p:txBody>
      </p:sp>
      <p:sp>
        <p:nvSpPr>
          <p:cNvPr id="25" name="ic69"/>
          <p:cNvSpPr/>
          <p:nvPr/>
        </p:nvSpPr>
        <p:spPr>
          <a:xfrm>
            <a:off x="1417320" y="4489704"/>
            <a:ext cx="640080" cy="640080"/>
          </a:xfrm>
          <a:prstGeom prst="ellipse">
            <a:avLst/>
          </a:prstGeom>
          <a:solidFill>
            <a:schemeClr val="tx2"/>
          </a:solidFill>
          <a:ln w="12700">
            <a:solidFill>
              <a:schemeClr val="tx2"/>
            </a:solidFill>
            <a:prstDash val="solid"/>
          </a:ln>
        </p:spPr>
      </p:sp>
      <p:pic>
        <p:nvPicPr>
          <p:cNvPr id="26" name="icimg70" descr="preencoded.png">    </p:cNvPr>
          <p:cNvPicPr>
            <a:picLocks noChangeAspect="1"/>
          </p:cNvPicPr>
          <p:nvPr/>
        </p:nvPicPr>
        <p:blipFill>
          <a:blip r:embed="rId5"/>
          <a:stretch>
            <a:fillRect/>
          </a:stretch>
        </p:blipFill>
        <p:spPr>
          <a:xfrm>
            <a:off x="1577340" y="4649724"/>
            <a:ext cx="320040" cy="320040"/>
          </a:xfrm>
          <a:prstGeom prst="rect">
            <a:avLst/>
          </a:prstGeom>
        </p:spPr>
      </p:pic>
      <p:sp>
        <p:nvSpPr>
          <p:cNvPr id="27" name="card71"/>
          <p:cNvSpPr/>
          <p:nvPr/>
        </p:nvSpPr>
        <p:spPr>
          <a:xfrm>
            <a:off x="2286000" y="4489704"/>
            <a:ext cx="8778240" cy="640080"/>
          </a:xfrm>
          <a:prstGeom prst="roundRect">
            <a:avLst>
              <a:gd name="adj" fmla="val 11429"/>
            </a:avLst>
          </a:prstGeom>
          <a:solidFill>
            <a:schemeClr val="bg2"/>
          </a:solidFill>
          <a:ln w="9525">
            <a:solidFill>
              <a:schemeClr val="bg2"/>
            </a:solidFill>
            <a:prstDash val="solid"/>
          </a:ln>
        </p:spPr>
      </p:sp>
      <p:sp>
        <p:nvSpPr>
          <p:cNvPr id="28" name="t72"/>
          <p:cNvSpPr txBox="1"/>
          <p:nvPr/>
        </p:nvSpPr>
        <p:spPr>
          <a:xfrm>
            <a:off x="2514600" y="4489704"/>
            <a:ext cx="8412480" cy="640080"/>
          </a:xfrm>
          <a:prstGeom prst="rect">
            <a:avLst/>
          </a:prstGeom>
          <a:noFill/>
          <a:ln/>
        </p:spPr>
        <p:txBody>
          <a:bodyPr wrap="square" lIns="0" tIns="0" rIns="0" bIns="0" rtlCol="0" anchor="ctr"/>
          <a:lstStyle/>
          <a:p>
            <a:pPr indent="0" marL="0">
              <a:buNone/>
            </a:pPr>
            <a:r>
              <a:rPr lang="en-US" sz="1500" dirty="0">
                <a:solidFill>
                  <a:schemeClr val="tx1"/>
                </a:solidFill>
              </a:rPr>
              <a:t>Review in VS Code: the runner's commits since your hand-off. Give it the next batch</a:t>
            </a:r>
            <a:endParaRPr lang="en-US" sz="1500" dirty="0"/>
          </a:p>
        </p:txBody>
      </p:sp>
      <p:sp>
        <p:nvSpPr>
          <p:cNvPr id="29" name="t73"/>
          <p:cNvSpPr txBox="1"/>
          <p:nvPr/>
        </p:nvSpPr>
        <p:spPr>
          <a:xfrm>
            <a:off x="548640" y="5394960"/>
            <a:ext cx="7772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18:00</a:t>
            </a:r>
            <a:endParaRPr lang="en-US" sz="1500" dirty="0"/>
          </a:p>
        </p:txBody>
      </p:sp>
      <p:sp>
        <p:nvSpPr>
          <p:cNvPr id="30" name="ic74"/>
          <p:cNvSpPr/>
          <p:nvPr/>
        </p:nvSpPr>
        <p:spPr>
          <a:xfrm>
            <a:off x="1417320" y="5276088"/>
            <a:ext cx="640080" cy="640080"/>
          </a:xfrm>
          <a:prstGeom prst="ellipse">
            <a:avLst/>
          </a:prstGeom>
          <a:solidFill>
            <a:schemeClr val="accent2"/>
          </a:solidFill>
          <a:ln w="12700">
            <a:solidFill>
              <a:schemeClr val="accent2"/>
            </a:solidFill>
            <a:prstDash val="solid"/>
          </a:ln>
        </p:spPr>
      </p:sp>
      <p:pic>
        <p:nvPicPr>
          <p:cNvPr id="31" name="icimg75" descr="preencoded.png">    </p:cNvPr>
          <p:cNvPicPr>
            <a:picLocks noChangeAspect="1"/>
          </p:cNvPicPr>
          <p:nvPr/>
        </p:nvPicPr>
        <p:blipFill>
          <a:blip r:embed="rId6"/>
          <a:stretch>
            <a:fillRect/>
          </a:stretch>
        </p:blipFill>
        <p:spPr>
          <a:xfrm>
            <a:off x="1577340" y="5436108"/>
            <a:ext cx="320040" cy="320040"/>
          </a:xfrm>
          <a:prstGeom prst="rect">
            <a:avLst/>
          </a:prstGeom>
        </p:spPr>
      </p:pic>
      <p:sp>
        <p:nvSpPr>
          <p:cNvPr id="32" name="card76"/>
          <p:cNvSpPr/>
          <p:nvPr/>
        </p:nvSpPr>
        <p:spPr>
          <a:xfrm>
            <a:off x="2286000" y="5276088"/>
            <a:ext cx="8778240" cy="640080"/>
          </a:xfrm>
          <a:prstGeom prst="roundRect">
            <a:avLst>
              <a:gd name="adj" fmla="val 11429"/>
            </a:avLst>
          </a:prstGeom>
          <a:solidFill>
            <a:schemeClr val="bg2"/>
          </a:solidFill>
          <a:ln w="9525">
            <a:solidFill>
              <a:schemeClr val="bg2"/>
            </a:solidFill>
            <a:prstDash val="solid"/>
          </a:ln>
        </p:spPr>
      </p:sp>
      <p:sp>
        <p:nvSpPr>
          <p:cNvPr id="33" name="t77"/>
          <p:cNvSpPr txBox="1"/>
          <p:nvPr/>
        </p:nvSpPr>
        <p:spPr>
          <a:xfrm>
            <a:off x="2514600" y="5276088"/>
            <a:ext cx="8412480" cy="640080"/>
          </a:xfrm>
          <a:prstGeom prst="rect">
            <a:avLst/>
          </a:prstGeom>
          <a:noFill/>
          <a:ln/>
        </p:spPr>
        <p:txBody>
          <a:bodyPr wrap="square" lIns="0" tIns="0" rIns="0" bIns="0" rtlCol="0" anchor="ctr"/>
          <a:lstStyle/>
          <a:p>
            <a:pPr indent="0" marL="0">
              <a:buNone/>
            </a:pPr>
            <a:r>
              <a:rPr lang="en-US" sz="1500" dirty="0">
                <a:solidFill>
                  <a:schemeClr val="tx1"/>
                </a:solidFill>
              </a:rPr>
              <a:t>Go home. Packets run, sleep and wait; nothing is lost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board: every packet, and what is waiting for you</a:t>
            </a:r>
            <a:endParaRPr lang="en-US" sz="3400" dirty="0"/>
          </a:p>
        </p:txBody>
      </p:sp>
      <p:sp>
        <p:nvSpPr>
          <p:cNvPr id="3" name="t78"/>
          <p:cNvSpPr txBox="1"/>
          <p:nvPr/>
        </p:nvSpPr>
        <p:spPr>
          <a:xfrm>
            <a:off x="548640" y="1234440"/>
            <a:ext cx="6281928" cy="320040"/>
          </a:xfrm>
          <a:prstGeom prst="rect">
            <a:avLst/>
          </a:prstGeom>
          <a:noFill/>
          <a:ln/>
        </p:spPr>
        <p:txBody>
          <a:bodyPr wrap="square" lIns="0" tIns="0" rIns="0" bIns="0" rtlCol="0" anchor="t"/>
          <a:lstStyle/>
          <a:p>
            <a:pPr indent="0" marL="0">
              <a:buNone/>
            </a:pPr>
            <a:r>
              <a:rPr lang="en-US" sz="1400" b="1" dirty="0">
                <a:solidFill>
                  <a:schemeClr val="tx2"/>
                </a:solidFill>
              </a:rPr>
              <a:t>Yours</a:t>
            </a:r>
            <a:endParaRPr lang="en-US" sz="1400" dirty="0"/>
          </a:p>
        </p:txBody>
      </p:sp>
      <p:sp>
        <p:nvSpPr>
          <p:cNvPr id="4" name="t79"/>
          <p:cNvSpPr txBox="1"/>
          <p:nvPr/>
        </p:nvSpPr>
        <p:spPr>
          <a:xfrm>
            <a:off x="6949440" y="1234440"/>
            <a:ext cx="4681728" cy="320040"/>
          </a:xfrm>
          <a:prstGeom prst="rect">
            <a:avLst/>
          </a:prstGeom>
          <a:noFill/>
          <a:ln/>
        </p:spPr>
        <p:txBody>
          <a:bodyPr wrap="square" lIns="0" tIns="0" rIns="0" bIns="0" rtlCol="0" anchor="t"/>
          <a:lstStyle/>
          <a:p>
            <a:pPr indent="0" marL="0">
              <a:buNone/>
            </a:pPr>
            <a:r>
              <a:rPr lang="en-US" sz="1400" b="1" dirty="0">
                <a:solidFill>
                  <a:schemeClr val="tx2"/>
                </a:solidFill>
              </a:rPr>
              <a:t>The runner's</a:t>
            </a:r>
            <a:endParaRPr lang="en-US" sz="1400" dirty="0"/>
          </a:p>
        </p:txBody>
      </p:sp>
      <p:sp>
        <p:nvSpPr>
          <p:cNvPr id="5" name="card80"/>
          <p:cNvSpPr/>
          <p:nvPr/>
        </p:nvSpPr>
        <p:spPr>
          <a:xfrm>
            <a:off x="548640" y="1600200"/>
            <a:ext cx="1481328" cy="3703320"/>
          </a:xfrm>
          <a:prstGeom prst="roundRect">
            <a:avLst>
              <a:gd name="adj" fmla="val 4938"/>
            </a:avLst>
          </a:prstGeom>
          <a:solidFill>
            <a:schemeClr val="bg2"/>
          </a:solidFill>
          <a:ln w="9525">
            <a:solidFill>
              <a:schemeClr val="bg2"/>
            </a:solidFill>
            <a:prstDash val="solid"/>
          </a:ln>
        </p:spPr>
      </p:sp>
      <p:sp>
        <p:nvSpPr>
          <p:cNvPr id="6" name="t81"/>
          <p:cNvSpPr txBox="1"/>
          <p:nvPr/>
        </p:nvSpPr>
        <p:spPr>
          <a:xfrm>
            <a:off x="658368" y="1691640"/>
            <a:ext cx="1261872" cy="320040"/>
          </a:xfrm>
          <a:prstGeom prst="rect">
            <a:avLst/>
          </a:prstGeom>
          <a:noFill/>
          <a:ln/>
        </p:spPr>
        <p:txBody>
          <a:bodyPr wrap="square" lIns="0" tIns="0" rIns="0" bIns="0" rtlCol="0" anchor="t"/>
          <a:lstStyle/>
          <a:p>
            <a:pPr indent="0" marL="0">
              <a:buNone/>
            </a:pPr>
            <a:r>
              <a:rPr lang="en-US" sz="1300" b="1" dirty="0">
                <a:solidFill>
                  <a:schemeClr val="accent4"/>
                </a:solidFill>
              </a:rPr>
              <a:t>Needs you</a:t>
            </a:r>
            <a:endParaRPr lang="en-US" sz="1300" dirty="0"/>
          </a:p>
        </p:txBody>
      </p:sp>
      <p:sp>
        <p:nvSpPr>
          <p:cNvPr id="7" name="card82"/>
          <p:cNvSpPr/>
          <p:nvPr/>
        </p:nvSpPr>
        <p:spPr>
          <a:xfrm>
            <a:off x="640080" y="2103120"/>
            <a:ext cx="1298448" cy="914400"/>
          </a:xfrm>
          <a:prstGeom prst="roundRect">
            <a:avLst>
              <a:gd name="adj" fmla="val 8000"/>
            </a:avLst>
          </a:prstGeom>
          <a:solidFill>
            <a:schemeClr val="bg1"/>
          </a:solidFill>
          <a:ln w="9525">
            <a:solidFill>
              <a:srgbClr val="C8553D"/>
            </a:solidFill>
            <a:prstDash val="solid"/>
          </a:ln>
        </p:spPr>
      </p:sp>
      <p:sp>
        <p:nvSpPr>
          <p:cNvPr id="8" name="t83"/>
          <p:cNvSpPr txBox="1"/>
          <p:nvPr/>
        </p:nvSpPr>
        <p:spPr>
          <a:xfrm>
            <a:off x="7315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dvs-enh</a:t>
            </a:r>
            <a:endParaRPr lang="en-US" sz="1200" dirty="0"/>
          </a:p>
        </p:txBody>
      </p:sp>
      <p:sp>
        <p:nvSpPr>
          <p:cNvPr id="9" name="t84"/>
          <p:cNvSpPr txBox="1"/>
          <p:nvPr/>
        </p:nvSpPr>
        <p:spPr>
          <a:xfrm>
            <a:off x="7315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Allow Bash for builds?</a:t>
            </a:r>
            <a:endParaRPr lang="en-US" sz="1100" dirty="0"/>
          </a:p>
        </p:txBody>
      </p:sp>
      <p:sp>
        <p:nvSpPr>
          <p:cNvPr id="10" name="card85"/>
          <p:cNvSpPr/>
          <p:nvPr/>
        </p:nvSpPr>
        <p:spPr>
          <a:xfrm>
            <a:off x="640080" y="3154680"/>
            <a:ext cx="1298448" cy="914400"/>
          </a:xfrm>
          <a:prstGeom prst="roundRect">
            <a:avLst>
              <a:gd name="adj" fmla="val 8000"/>
            </a:avLst>
          </a:prstGeom>
          <a:solidFill>
            <a:schemeClr val="bg1"/>
          </a:solidFill>
          <a:ln w="9525">
            <a:solidFill>
              <a:srgbClr val="C8553D"/>
            </a:solidFill>
            <a:prstDash val="solid"/>
          </a:ln>
        </p:spPr>
      </p:sp>
      <p:sp>
        <p:nvSpPr>
          <p:cNvPr id="11" name="t86"/>
          <p:cNvSpPr txBox="1"/>
          <p:nvPr/>
        </p:nvSpPr>
        <p:spPr>
          <a:xfrm>
            <a:off x="731520" y="322783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uart-rx</a:t>
            </a:r>
            <a:endParaRPr lang="en-US" sz="1200" dirty="0"/>
          </a:p>
        </p:txBody>
      </p:sp>
      <p:sp>
        <p:nvSpPr>
          <p:cNvPr id="12" name="t87"/>
          <p:cNvSpPr txBox="1"/>
          <p:nvPr/>
        </p:nvSpPr>
        <p:spPr>
          <a:xfrm>
            <a:off x="731520" y="3520440"/>
            <a:ext cx="1115568" cy="502920"/>
          </a:xfrm>
          <a:prstGeom prst="rect">
            <a:avLst/>
          </a:prstGeom>
          <a:noFill/>
          <a:ln/>
        </p:spPr>
        <p:txBody>
          <a:bodyPr wrap="square" lIns="0" tIns="0" rIns="0" bIns="0" rtlCol="0" anchor="t"/>
          <a:lstStyle/>
          <a:p>
            <a:pPr indent="0" marL="0">
              <a:buNone/>
            </a:pPr>
            <a:r>
              <a:rPr lang="en-US" sz="1100" dirty="0">
                <a:solidFill>
                  <a:schemeClr val="tx2"/>
                </a:solidFill>
              </a:rPr>
              <a:t>failed 3×: timeout</a:t>
            </a:r>
            <a:endParaRPr lang="en-US" sz="1100" dirty="0"/>
          </a:p>
        </p:txBody>
      </p:sp>
      <p:sp>
        <p:nvSpPr>
          <p:cNvPr id="13" name="card88"/>
          <p:cNvSpPr/>
          <p:nvPr/>
        </p:nvSpPr>
        <p:spPr>
          <a:xfrm>
            <a:off x="2148840" y="1600200"/>
            <a:ext cx="1481328" cy="3703320"/>
          </a:xfrm>
          <a:prstGeom prst="roundRect">
            <a:avLst>
              <a:gd name="adj" fmla="val 4938"/>
            </a:avLst>
          </a:prstGeom>
          <a:solidFill>
            <a:schemeClr val="bg2"/>
          </a:solidFill>
          <a:ln w="9525">
            <a:solidFill>
              <a:schemeClr val="bg2"/>
            </a:solidFill>
            <a:prstDash val="solid"/>
          </a:ln>
        </p:spPr>
      </p:sp>
      <p:sp>
        <p:nvSpPr>
          <p:cNvPr id="14" name="t89"/>
          <p:cNvSpPr txBox="1"/>
          <p:nvPr/>
        </p:nvSpPr>
        <p:spPr>
          <a:xfrm>
            <a:off x="2258568" y="1691640"/>
            <a:ext cx="1261872" cy="320040"/>
          </a:xfrm>
          <a:prstGeom prst="rect">
            <a:avLst/>
          </a:prstGeom>
          <a:noFill/>
          <a:ln/>
        </p:spPr>
        <p:txBody>
          <a:bodyPr wrap="square" lIns="0" tIns="0" rIns="0" bIns="0" rtlCol="0" anchor="t"/>
          <a:lstStyle/>
          <a:p>
            <a:pPr indent="0" marL="0">
              <a:buNone/>
            </a:pPr>
            <a:r>
              <a:rPr lang="en-US" sz="1300" b="1" dirty="0">
                <a:solidFill>
                  <a:schemeClr val="accent3"/>
                </a:solidFill>
              </a:rPr>
              <a:t>Setup</a:t>
            </a:r>
            <a:endParaRPr lang="en-US" sz="1300" dirty="0"/>
          </a:p>
        </p:txBody>
      </p:sp>
      <p:sp>
        <p:nvSpPr>
          <p:cNvPr id="15" name="card90"/>
          <p:cNvSpPr/>
          <p:nvPr/>
        </p:nvSpPr>
        <p:spPr>
          <a:xfrm>
            <a:off x="2240280" y="2103120"/>
            <a:ext cx="1298448" cy="914400"/>
          </a:xfrm>
          <a:prstGeom prst="roundRect">
            <a:avLst>
              <a:gd name="adj" fmla="val 8000"/>
            </a:avLst>
          </a:prstGeom>
          <a:solidFill>
            <a:schemeClr val="bg1"/>
          </a:solidFill>
          <a:ln w="9525">
            <a:solidFill>
              <a:srgbClr val="D5DBE1"/>
            </a:solidFill>
            <a:prstDash val="solid"/>
          </a:ln>
        </p:spPr>
      </p:sp>
      <p:sp>
        <p:nvSpPr>
          <p:cNvPr id="16" name="t91"/>
          <p:cNvSpPr txBox="1"/>
          <p:nvPr/>
        </p:nvSpPr>
        <p:spPr>
          <a:xfrm>
            <a:off x="23317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i2c-plan</a:t>
            </a:r>
            <a:endParaRPr lang="en-US" sz="1200" dirty="0"/>
          </a:p>
        </p:txBody>
      </p:sp>
      <p:sp>
        <p:nvSpPr>
          <p:cNvPr id="17" name="t92"/>
          <p:cNvSpPr txBox="1"/>
          <p:nvPr/>
        </p:nvSpPr>
        <p:spPr>
          <a:xfrm>
            <a:off x="23317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2 checks missing</a:t>
            </a:r>
            <a:endParaRPr lang="en-US" sz="1100" dirty="0"/>
          </a:p>
        </p:txBody>
      </p:sp>
      <p:sp>
        <p:nvSpPr>
          <p:cNvPr id="18" name="card93"/>
          <p:cNvSpPr/>
          <p:nvPr/>
        </p:nvSpPr>
        <p:spPr>
          <a:xfrm>
            <a:off x="3749040" y="1600200"/>
            <a:ext cx="1481328" cy="3703320"/>
          </a:xfrm>
          <a:prstGeom prst="roundRect">
            <a:avLst>
              <a:gd name="adj" fmla="val 4938"/>
            </a:avLst>
          </a:prstGeom>
          <a:solidFill>
            <a:schemeClr val="bg2"/>
          </a:solidFill>
          <a:ln w="9525">
            <a:solidFill>
              <a:schemeClr val="bg2"/>
            </a:solidFill>
            <a:prstDash val="solid"/>
          </a:ln>
        </p:spPr>
      </p:sp>
      <p:sp>
        <p:nvSpPr>
          <p:cNvPr id="19" name="t94"/>
          <p:cNvSpPr txBox="1"/>
          <p:nvPr/>
        </p:nvSpPr>
        <p:spPr>
          <a:xfrm>
            <a:off x="3858768" y="1691640"/>
            <a:ext cx="1261872" cy="320040"/>
          </a:xfrm>
          <a:prstGeom prst="rect">
            <a:avLst/>
          </a:prstGeom>
          <a:noFill/>
          <a:ln/>
        </p:spPr>
        <p:txBody>
          <a:bodyPr wrap="square" lIns="0" tIns="0" rIns="0" bIns="0" rtlCol="0" anchor="t"/>
          <a:lstStyle/>
          <a:p>
            <a:pPr indent="0" marL="0">
              <a:buNone/>
            </a:pPr>
            <a:r>
              <a:rPr lang="en-US" sz="1300" b="1" dirty="0">
                <a:solidFill>
                  <a:schemeClr val="accent3"/>
                </a:solidFill>
              </a:rPr>
              <a:t>Held</a:t>
            </a:r>
            <a:endParaRPr lang="en-US" sz="1300" dirty="0"/>
          </a:p>
        </p:txBody>
      </p:sp>
      <p:sp>
        <p:nvSpPr>
          <p:cNvPr id="20" name="card95"/>
          <p:cNvSpPr/>
          <p:nvPr/>
        </p:nvSpPr>
        <p:spPr>
          <a:xfrm>
            <a:off x="3840480" y="2103120"/>
            <a:ext cx="1298448" cy="914400"/>
          </a:xfrm>
          <a:prstGeom prst="roundRect">
            <a:avLst>
              <a:gd name="adj" fmla="val 8000"/>
            </a:avLst>
          </a:prstGeom>
          <a:solidFill>
            <a:schemeClr val="bg1"/>
          </a:solidFill>
          <a:ln w="9525">
            <a:solidFill>
              <a:srgbClr val="D5DBE1"/>
            </a:solidFill>
            <a:prstDash val="solid"/>
          </a:ln>
        </p:spPr>
      </p:sp>
      <p:sp>
        <p:nvSpPr>
          <p:cNvPr id="21" name="t96"/>
          <p:cNvSpPr txBox="1"/>
          <p:nvPr/>
        </p:nvSpPr>
        <p:spPr>
          <a:xfrm>
            <a:off x="39319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fw-dma</a:t>
            </a:r>
            <a:endParaRPr lang="en-US" sz="1200" dirty="0"/>
          </a:p>
        </p:txBody>
      </p:sp>
      <p:sp>
        <p:nvSpPr>
          <p:cNvPr id="22" name="t97"/>
          <p:cNvSpPr txBox="1"/>
          <p:nvPr/>
        </p:nvSpPr>
        <p:spPr>
          <a:xfrm>
            <a:off x="39319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taken: reviewing</a:t>
            </a:r>
            <a:endParaRPr lang="en-US" sz="1100" dirty="0"/>
          </a:p>
        </p:txBody>
      </p:sp>
      <p:sp>
        <p:nvSpPr>
          <p:cNvPr id="23" name="card98"/>
          <p:cNvSpPr/>
          <p:nvPr/>
        </p:nvSpPr>
        <p:spPr>
          <a:xfrm>
            <a:off x="5349240" y="1600200"/>
            <a:ext cx="1481328" cy="3703320"/>
          </a:xfrm>
          <a:prstGeom prst="roundRect">
            <a:avLst>
              <a:gd name="adj" fmla="val 4938"/>
            </a:avLst>
          </a:prstGeom>
          <a:solidFill>
            <a:schemeClr val="bg2"/>
          </a:solidFill>
          <a:ln w="9525">
            <a:solidFill>
              <a:schemeClr val="bg2"/>
            </a:solidFill>
            <a:prstDash val="solid"/>
          </a:ln>
        </p:spPr>
      </p:sp>
      <p:sp>
        <p:nvSpPr>
          <p:cNvPr id="24" name="t99"/>
          <p:cNvSpPr txBox="1"/>
          <p:nvPr/>
        </p:nvSpPr>
        <p:spPr>
          <a:xfrm>
            <a:off x="5458968" y="1691640"/>
            <a:ext cx="1261872" cy="320040"/>
          </a:xfrm>
          <a:prstGeom prst="rect">
            <a:avLst/>
          </a:prstGeom>
          <a:noFill/>
          <a:ln/>
        </p:spPr>
        <p:txBody>
          <a:bodyPr wrap="square" lIns="0" tIns="0" rIns="0" bIns="0" rtlCol="0" anchor="t"/>
          <a:lstStyle/>
          <a:p>
            <a:pPr indent="0" marL="0">
              <a:buNone/>
            </a:pPr>
            <a:r>
              <a:rPr lang="en-US" sz="1300" b="1" dirty="0">
                <a:solidFill>
                  <a:schemeClr val="accent3"/>
                </a:solidFill>
              </a:rPr>
              <a:t>Done</a:t>
            </a:r>
            <a:endParaRPr lang="en-US" sz="1300" dirty="0"/>
          </a:p>
        </p:txBody>
      </p:sp>
      <p:sp>
        <p:nvSpPr>
          <p:cNvPr id="25" name="card100"/>
          <p:cNvSpPr/>
          <p:nvPr/>
        </p:nvSpPr>
        <p:spPr>
          <a:xfrm>
            <a:off x="5440680" y="2103120"/>
            <a:ext cx="1298448" cy="914400"/>
          </a:xfrm>
          <a:prstGeom prst="roundRect">
            <a:avLst>
              <a:gd name="adj" fmla="val 8000"/>
            </a:avLst>
          </a:prstGeom>
          <a:solidFill>
            <a:schemeClr val="bg1"/>
          </a:solidFill>
          <a:ln w="9525">
            <a:solidFill>
              <a:srgbClr val="D5DBE1"/>
            </a:solidFill>
            <a:prstDash val="solid"/>
          </a:ln>
        </p:spPr>
      </p:sp>
      <p:sp>
        <p:nvSpPr>
          <p:cNvPr id="26" name="t101"/>
          <p:cNvSpPr txBox="1"/>
          <p:nvPr/>
        </p:nvSpPr>
        <p:spPr>
          <a:xfrm>
            <a:off x="55321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proto-chi</a:t>
            </a:r>
            <a:endParaRPr lang="en-US" sz="1200" dirty="0"/>
          </a:p>
        </p:txBody>
      </p:sp>
      <p:sp>
        <p:nvSpPr>
          <p:cNvPr id="27" name="t102"/>
          <p:cNvSpPr txBox="1"/>
          <p:nvPr/>
        </p:nvSpPr>
        <p:spPr>
          <a:xfrm>
            <a:off x="55321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batch 2 done · Next batch</a:t>
            </a:r>
            <a:endParaRPr lang="en-US" sz="1100" dirty="0"/>
          </a:p>
        </p:txBody>
      </p:sp>
      <p:sp>
        <p:nvSpPr>
          <p:cNvPr id="28" name="card103"/>
          <p:cNvSpPr/>
          <p:nvPr/>
        </p:nvSpPr>
        <p:spPr>
          <a:xfrm>
            <a:off x="6949440" y="1600200"/>
            <a:ext cx="1481328" cy="3703320"/>
          </a:xfrm>
          <a:prstGeom prst="roundRect">
            <a:avLst>
              <a:gd name="adj" fmla="val 4938"/>
            </a:avLst>
          </a:prstGeom>
          <a:solidFill>
            <a:schemeClr val="bg2"/>
          </a:solidFill>
          <a:ln w="9525">
            <a:solidFill>
              <a:schemeClr val="bg2"/>
            </a:solidFill>
            <a:prstDash val="solid"/>
          </a:ln>
        </p:spPr>
      </p:sp>
      <p:sp>
        <p:nvSpPr>
          <p:cNvPr id="29" name="t104"/>
          <p:cNvSpPr txBox="1"/>
          <p:nvPr/>
        </p:nvSpPr>
        <p:spPr>
          <a:xfrm>
            <a:off x="7059168" y="1691640"/>
            <a:ext cx="1261872" cy="320040"/>
          </a:xfrm>
          <a:prstGeom prst="rect">
            <a:avLst/>
          </a:prstGeom>
          <a:noFill/>
          <a:ln/>
        </p:spPr>
        <p:txBody>
          <a:bodyPr wrap="square" lIns="0" tIns="0" rIns="0" bIns="0" rtlCol="0" anchor="t"/>
          <a:lstStyle/>
          <a:p>
            <a:pPr indent="0" marL="0">
              <a:buNone/>
            </a:pPr>
            <a:r>
              <a:rPr lang="en-US" sz="1300" b="1" dirty="0">
                <a:solidFill>
                  <a:schemeClr val="accent2"/>
                </a:solidFill>
              </a:rPr>
              <a:t>Running</a:t>
            </a:r>
            <a:endParaRPr lang="en-US" sz="1300" dirty="0"/>
          </a:p>
        </p:txBody>
      </p:sp>
      <p:sp>
        <p:nvSpPr>
          <p:cNvPr id="30" name="card105"/>
          <p:cNvSpPr/>
          <p:nvPr/>
        </p:nvSpPr>
        <p:spPr>
          <a:xfrm>
            <a:off x="7040880" y="2103120"/>
            <a:ext cx="1298448" cy="914400"/>
          </a:xfrm>
          <a:prstGeom prst="roundRect">
            <a:avLst>
              <a:gd name="adj" fmla="val 8000"/>
            </a:avLst>
          </a:prstGeom>
          <a:solidFill>
            <a:schemeClr val="bg1"/>
          </a:solidFill>
          <a:ln w="9525">
            <a:solidFill>
              <a:srgbClr val="D5DBE1"/>
            </a:solidFill>
            <a:prstDash val="solid"/>
          </a:ln>
        </p:spPr>
      </p:sp>
      <p:sp>
        <p:nvSpPr>
          <p:cNvPr id="31" name="t106"/>
          <p:cNvSpPr txBox="1"/>
          <p:nvPr/>
        </p:nvSpPr>
        <p:spPr>
          <a:xfrm>
            <a:off x="71323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fw-uart16550</a:t>
            </a:r>
            <a:endParaRPr lang="en-US" sz="1200" dirty="0"/>
          </a:p>
        </p:txBody>
      </p:sp>
      <p:sp>
        <p:nvSpPr>
          <p:cNvPr id="32" name="t107"/>
          <p:cNvSpPr txBox="1"/>
          <p:nvPr/>
        </p:nvSpPr>
        <p:spPr>
          <a:xfrm>
            <a:off x="71323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step 14 · pytest -q · 4 min</a:t>
            </a:r>
            <a:endParaRPr lang="en-US" sz="1100" dirty="0"/>
          </a:p>
        </p:txBody>
      </p:sp>
      <p:sp>
        <p:nvSpPr>
          <p:cNvPr id="33" name="card108"/>
          <p:cNvSpPr/>
          <p:nvPr/>
        </p:nvSpPr>
        <p:spPr>
          <a:xfrm>
            <a:off x="7040880" y="3154680"/>
            <a:ext cx="1298448" cy="914400"/>
          </a:xfrm>
          <a:prstGeom prst="roundRect">
            <a:avLst>
              <a:gd name="adj" fmla="val 8000"/>
            </a:avLst>
          </a:prstGeom>
          <a:solidFill>
            <a:schemeClr val="bg1"/>
          </a:solidFill>
          <a:ln w="9525">
            <a:solidFill>
              <a:srgbClr val="D5DBE1"/>
            </a:solidFill>
            <a:prstDash val="solid"/>
          </a:ln>
        </p:spPr>
      </p:sp>
      <p:sp>
        <p:nvSpPr>
          <p:cNvPr id="34" name="t109"/>
          <p:cNvSpPr txBox="1"/>
          <p:nvPr/>
        </p:nvSpPr>
        <p:spPr>
          <a:xfrm>
            <a:off x="7132320" y="322783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dv-solve</a:t>
            </a:r>
            <a:endParaRPr lang="en-US" sz="1200" dirty="0"/>
          </a:p>
        </p:txBody>
      </p:sp>
      <p:sp>
        <p:nvSpPr>
          <p:cNvPr id="35" name="t110"/>
          <p:cNvSpPr txBox="1"/>
          <p:nvPr/>
        </p:nvSpPr>
        <p:spPr>
          <a:xfrm>
            <a:off x="7132320" y="3520440"/>
            <a:ext cx="1115568" cy="502920"/>
          </a:xfrm>
          <a:prstGeom prst="rect">
            <a:avLst/>
          </a:prstGeom>
          <a:noFill/>
          <a:ln/>
        </p:spPr>
        <p:txBody>
          <a:bodyPr wrap="square" lIns="0" tIns="0" rIns="0" bIns="0" rtlCol="0" anchor="t"/>
          <a:lstStyle/>
          <a:p>
            <a:pPr indent="0" marL="0">
              <a:buNone/>
            </a:pPr>
            <a:r>
              <a:rPr lang="en-US" sz="1100" dirty="0">
                <a:solidFill>
                  <a:schemeClr val="tx2"/>
                </a:solidFill>
              </a:rPr>
              <a:t>regress 61% · 1 job</a:t>
            </a:r>
            <a:endParaRPr lang="en-US" sz="1100" dirty="0"/>
          </a:p>
        </p:txBody>
      </p:sp>
      <p:sp>
        <p:nvSpPr>
          <p:cNvPr id="36" name="card111"/>
          <p:cNvSpPr/>
          <p:nvPr/>
        </p:nvSpPr>
        <p:spPr>
          <a:xfrm>
            <a:off x="8549640" y="1600200"/>
            <a:ext cx="1481328" cy="3703320"/>
          </a:xfrm>
          <a:prstGeom prst="roundRect">
            <a:avLst>
              <a:gd name="adj" fmla="val 4938"/>
            </a:avLst>
          </a:prstGeom>
          <a:solidFill>
            <a:schemeClr val="bg2"/>
          </a:solidFill>
          <a:ln w="9525">
            <a:solidFill>
              <a:schemeClr val="bg2"/>
            </a:solidFill>
            <a:prstDash val="solid"/>
          </a:ln>
        </p:spPr>
      </p:sp>
      <p:sp>
        <p:nvSpPr>
          <p:cNvPr id="37" name="t112"/>
          <p:cNvSpPr txBox="1"/>
          <p:nvPr/>
        </p:nvSpPr>
        <p:spPr>
          <a:xfrm>
            <a:off x="8659368" y="1691640"/>
            <a:ext cx="1261872" cy="320040"/>
          </a:xfrm>
          <a:prstGeom prst="rect">
            <a:avLst/>
          </a:prstGeom>
          <a:noFill/>
          <a:ln/>
        </p:spPr>
        <p:txBody>
          <a:bodyPr wrap="square" lIns="0" tIns="0" rIns="0" bIns="0" rtlCol="0" anchor="t"/>
          <a:lstStyle/>
          <a:p>
            <a:pPr indent="0" marL="0">
              <a:buNone/>
            </a:pPr>
            <a:r>
              <a:rPr lang="en-US" sz="1300" b="1" dirty="0">
                <a:solidFill>
                  <a:schemeClr val="accent2"/>
                </a:solidFill>
              </a:rPr>
              <a:t>Ready</a:t>
            </a:r>
            <a:endParaRPr lang="en-US" sz="1300" dirty="0"/>
          </a:p>
        </p:txBody>
      </p:sp>
      <p:sp>
        <p:nvSpPr>
          <p:cNvPr id="38" name="card113"/>
          <p:cNvSpPr/>
          <p:nvPr/>
        </p:nvSpPr>
        <p:spPr>
          <a:xfrm>
            <a:off x="8641080" y="2103120"/>
            <a:ext cx="1298448" cy="914400"/>
          </a:xfrm>
          <a:prstGeom prst="roundRect">
            <a:avLst>
              <a:gd name="adj" fmla="val 8000"/>
            </a:avLst>
          </a:prstGeom>
          <a:solidFill>
            <a:schemeClr val="bg1"/>
          </a:solidFill>
          <a:ln w="9525">
            <a:solidFill>
              <a:srgbClr val="D5DBE1"/>
            </a:solidFill>
            <a:prstDash val="solid"/>
          </a:ln>
        </p:spPr>
      </p:sp>
      <p:sp>
        <p:nvSpPr>
          <p:cNvPr id="39" name="t114"/>
          <p:cNvSpPr txBox="1"/>
          <p:nvPr/>
        </p:nvSpPr>
        <p:spPr>
          <a:xfrm>
            <a:off x="87325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pyhdl-if</a:t>
            </a:r>
            <a:endParaRPr lang="en-US" sz="1200" dirty="0"/>
          </a:p>
        </p:txBody>
      </p:sp>
      <p:sp>
        <p:nvSpPr>
          <p:cNvPr id="40" name="t115"/>
          <p:cNvSpPr txBox="1"/>
          <p:nvPr/>
        </p:nvSpPr>
        <p:spPr>
          <a:xfrm>
            <a:off x="87325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next in 1 slot</a:t>
            </a:r>
            <a:endParaRPr lang="en-US" sz="1100" dirty="0"/>
          </a:p>
        </p:txBody>
      </p:sp>
      <p:sp>
        <p:nvSpPr>
          <p:cNvPr id="41" name="card116"/>
          <p:cNvSpPr/>
          <p:nvPr/>
        </p:nvSpPr>
        <p:spPr>
          <a:xfrm>
            <a:off x="10149840" y="1600200"/>
            <a:ext cx="1481328" cy="3703320"/>
          </a:xfrm>
          <a:prstGeom prst="roundRect">
            <a:avLst>
              <a:gd name="adj" fmla="val 4938"/>
            </a:avLst>
          </a:prstGeom>
          <a:solidFill>
            <a:schemeClr val="bg2"/>
          </a:solidFill>
          <a:ln w="9525">
            <a:solidFill>
              <a:schemeClr val="bg2"/>
            </a:solidFill>
            <a:prstDash val="solid"/>
          </a:ln>
        </p:spPr>
      </p:sp>
      <p:sp>
        <p:nvSpPr>
          <p:cNvPr id="42" name="t117"/>
          <p:cNvSpPr txBox="1"/>
          <p:nvPr/>
        </p:nvSpPr>
        <p:spPr>
          <a:xfrm>
            <a:off x="10259568" y="1691640"/>
            <a:ext cx="1261872" cy="320040"/>
          </a:xfrm>
          <a:prstGeom prst="rect">
            <a:avLst/>
          </a:prstGeom>
          <a:noFill/>
          <a:ln/>
        </p:spPr>
        <p:txBody>
          <a:bodyPr wrap="square" lIns="0" tIns="0" rIns="0" bIns="0" rtlCol="0" anchor="t"/>
          <a:lstStyle/>
          <a:p>
            <a:pPr indent="0" marL="0">
              <a:buNone/>
            </a:pPr>
            <a:r>
              <a:rPr lang="en-US" sz="1300" b="1" dirty="0">
                <a:solidFill>
                  <a:schemeClr val="accent2"/>
                </a:solidFill>
              </a:rPr>
              <a:t>Sleeping</a:t>
            </a:r>
            <a:endParaRPr lang="en-US" sz="1300" dirty="0"/>
          </a:p>
        </p:txBody>
      </p:sp>
      <p:sp>
        <p:nvSpPr>
          <p:cNvPr id="43" name="card118"/>
          <p:cNvSpPr/>
          <p:nvPr/>
        </p:nvSpPr>
        <p:spPr>
          <a:xfrm>
            <a:off x="10241280" y="2103120"/>
            <a:ext cx="1298448" cy="914400"/>
          </a:xfrm>
          <a:prstGeom prst="roundRect">
            <a:avLst>
              <a:gd name="adj" fmla="val 8000"/>
            </a:avLst>
          </a:prstGeom>
          <a:solidFill>
            <a:schemeClr val="bg1"/>
          </a:solidFill>
          <a:ln w="9525">
            <a:solidFill>
              <a:srgbClr val="D5DBE1"/>
            </a:solidFill>
            <a:prstDash val="solid"/>
          </a:ln>
        </p:spPr>
      </p:sp>
      <p:sp>
        <p:nvSpPr>
          <p:cNvPr id="44" name="t119"/>
          <p:cNvSpPr txBox="1"/>
          <p:nvPr/>
        </p:nvSpPr>
        <p:spPr>
          <a:xfrm>
            <a:off x="10332720" y="217627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nightly</a:t>
            </a:r>
            <a:endParaRPr lang="en-US" sz="1200" dirty="0"/>
          </a:p>
        </p:txBody>
      </p:sp>
      <p:sp>
        <p:nvSpPr>
          <p:cNvPr id="45" name="t120"/>
          <p:cNvSpPr txBox="1"/>
          <p:nvPr/>
        </p:nvSpPr>
        <p:spPr>
          <a:xfrm>
            <a:off x="10332720" y="2468880"/>
            <a:ext cx="1115568" cy="502920"/>
          </a:xfrm>
          <a:prstGeom prst="rect">
            <a:avLst/>
          </a:prstGeom>
          <a:noFill/>
          <a:ln/>
        </p:spPr>
        <p:txBody>
          <a:bodyPr wrap="square" lIns="0" tIns="0" rIns="0" bIns="0" rtlCol="0" anchor="t"/>
          <a:lstStyle/>
          <a:p>
            <a:pPr indent="0" marL="0">
              <a:buNone/>
            </a:pPr>
            <a:r>
              <a:rPr lang="en-US" sz="1100" dirty="0">
                <a:solidFill>
                  <a:schemeClr val="tx2"/>
                </a:solidFill>
              </a:rPr>
              <a:t>wakes 02:00</a:t>
            </a:r>
            <a:endParaRPr lang="en-US" sz="1100" dirty="0"/>
          </a:p>
        </p:txBody>
      </p:sp>
      <p:sp>
        <p:nvSpPr>
          <p:cNvPr id="46" name="card121"/>
          <p:cNvSpPr/>
          <p:nvPr/>
        </p:nvSpPr>
        <p:spPr>
          <a:xfrm>
            <a:off x="10241280" y="3154680"/>
            <a:ext cx="1298448" cy="914400"/>
          </a:xfrm>
          <a:prstGeom prst="roundRect">
            <a:avLst>
              <a:gd name="adj" fmla="val 8000"/>
            </a:avLst>
          </a:prstGeom>
          <a:solidFill>
            <a:schemeClr val="bg1"/>
          </a:solidFill>
          <a:ln w="9525">
            <a:solidFill>
              <a:srgbClr val="D5DBE1"/>
            </a:solidFill>
            <a:prstDash val="solid"/>
          </a:ln>
        </p:spPr>
      </p:sp>
      <p:sp>
        <p:nvSpPr>
          <p:cNvPr id="47" name="t122"/>
          <p:cNvSpPr txBox="1"/>
          <p:nvPr/>
        </p:nvSpPr>
        <p:spPr>
          <a:xfrm>
            <a:off x="10332720" y="3227832"/>
            <a:ext cx="1115568"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chi-sim</a:t>
            </a:r>
            <a:endParaRPr lang="en-US" sz="1200" dirty="0"/>
          </a:p>
        </p:txBody>
      </p:sp>
      <p:sp>
        <p:nvSpPr>
          <p:cNvPr id="48" name="t123"/>
          <p:cNvSpPr txBox="1"/>
          <p:nvPr/>
        </p:nvSpPr>
        <p:spPr>
          <a:xfrm>
            <a:off x="10332720" y="3520440"/>
            <a:ext cx="1115568" cy="502920"/>
          </a:xfrm>
          <a:prstGeom prst="rect">
            <a:avLst/>
          </a:prstGeom>
          <a:noFill/>
          <a:ln/>
        </p:spPr>
        <p:txBody>
          <a:bodyPr wrap="square" lIns="0" tIns="0" rIns="0" bIns="0" rtlCol="0" anchor="t"/>
          <a:lstStyle/>
          <a:p>
            <a:pPr indent="0" marL="0">
              <a:buNone/>
            </a:pPr>
            <a:r>
              <a:rPr lang="en-US" sz="1100" dirty="0">
                <a:solidFill>
                  <a:schemeClr val="tx2"/>
                </a:solidFill>
              </a:rPr>
              <a:t>wait job: formal</a:t>
            </a:r>
            <a:endParaRPr lang="en-US" sz="1100" dirty="0"/>
          </a:p>
        </p:txBody>
      </p:sp>
      <p:sp>
        <p:nvSpPr>
          <p:cNvPr id="49" name="card124"/>
          <p:cNvSpPr/>
          <p:nvPr/>
        </p:nvSpPr>
        <p:spPr>
          <a:xfrm>
            <a:off x="548640" y="5486400"/>
            <a:ext cx="11094415" cy="685800"/>
          </a:xfrm>
          <a:prstGeom prst="roundRect">
            <a:avLst>
              <a:gd name="adj" fmla="val 10667"/>
            </a:avLst>
          </a:prstGeom>
          <a:solidFill>
            <a:schemeClr val="tx1"/>
          </a:solidFill>
          <a:ln w="9525">
            <a:solidFill>
              <a:schemeClr val="tx1"/>
            </a:solidFill>
            <a:prstDash val="solid"/>
          </a:ln>
        </p:spPr>
      </p:sp>
      <p:sp>
        <p:nvSpPr>
          <p:cNvPr id="50" name="t125"/>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500" b="1" dirty="0">
                <a:solidFill>
                  <a:srgbClr val="E8A33D"/>
                </a:solidFill>
              </a:rPr>
              <a:t>On every card: </a:t>
            </a:r>
            <a:pPr indent="0" marL="0">
              <a:buNone/>
            </a:pPr>
            <a:r>
              <a:rPr lang="en-US" sz="1500" dirty="0">
                <a:solidFill>
                  <a:srgbClr val="FFFFFF"/>
                </a:solidFill>
              </a:rPr>
              <a:t>state, owner, how long it has waited, current activity, jobs and open shells. Across all your hosts, on one board.</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Clear turns: you or the runner, never both</a:t>
            </a:r>
            <a:endParaRPr lang="en-US" sz="3400" dirty="0"/>
          </a:p>
        </p:txBody>
      </p:sp>
      <p:sp>
        <p:nvSpPr>
          <p:cNvPr id="3" name="card126"/>
          <p:cNvSpPr/>
          <p:nvPr/>
        </p:nvSpPr>
        <p:spPr>
          <a:xfrm>
            <a:off x="548640" y="1920240"/>
            <a:ext cx="3044952" cy="1371600"/>
          </a:xfrm>
          <a:prstGeom prst="roundRect">
            <a:avLst>
              <a:gd name="adj" fmla="val 5333"/>
            </a:avLst>
          </a:prstGeom>
          <a:solidFill>
            <a:schemeClr val="bg2"/>
          </a:solidFill>
          <a:ln w="9525">
            <a:solidFill>
              <a:schemeClr val="bg2"/>
            </a:solidFill>
            <a:prstDash val="solid"/>
          </a:ln>
        </p:spPr>
      </p:sp>
      <p:sp>
        <p:nvSpPr>
          <p:cNvPr id="4" name="ic127"/>
          <p:cNvSpPr/>
          <p:nvPr/>
        </p:nvSpPr>
        <p:spPr>
          <a:xfrm>
            <a:off x="777240" y="2240280"/>
            <a:ext cx="731520" cy="731520"/>
          </a:xfrm>
          <a:prstGeom prst="ellipse">
            <a:avLst/>
          </a:prstGeom>
          <a:solidFill>
            <a:schemeClr val="tx2"/>
          </a:solidFill>
          <a:ln w="12700">
            <a:solidFill>
              <a:schemeClr val="tx2"/>
            </a:solidFill>
            <a:prstDash val="solid"/>
          </a:ln>
        </p:spPr>
      </p:sp>
      <p:pic>
        <p:nvPicPr>
          <p:cNvPr id="5" name="icimg128" descr="preencoded.png">    </p:cNvPr>
          <p:cNvPicPr>
            <a:picLocks noChangeAspect="1"/>
          </p:cNvPicPr>
          <p:nvPr/>
        </p:nvPicPr>
        <p:blipFill>
          <a:blip r:embed="rId1"/>
          <a:stretch>
            <a:fillRect/>
          </a:stretch>
        </p:blipFill>
        <p:spPr>
          <a:xfrm>
            <a:off x="960120" y="2423160"/>
            <a:ext cx="365760" cy="365760"/>
          </a:xfrm>
          <a:prstGeom prst="rect">
            <a:avLst/>
          </a:prstGeom>
        </p:spPr>
      </p:pic>
      <p:sp>
        <p:nvSpPr>
          <p:cNvPr id="6" name="t129"/>
          <p:cNvSpPr txBox="1"/>
          <p:nvPr/>
        </p:nvSpPr>
        <p:spPr>
          <a:xfrm>
            <a:off x="1691640" y="2148840"/>
            <a:ext cx="17830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You</a:t>
            </a:r>
            <a:endParaRPr lang="en-US" sz="1800" dirty="0"/>
          </a:p>
        </p:txBody>
      </p:sp>
      <p:sp>
        <p:nvSpPr>
          <p:cNvPr id="7" name="t130"/>
          <p:cNvSpPr txBox="1"/>
          <p:nvPr/>
        </p:nvSpPr>
        <p:spPr>
          <a:xfrm>
            <a:off x="1691640" y="2578608"/>
            <a:ext cx="1783080" cy="640080"/>
          </a:xfrm>
          <a:prstGeom prst="rect">
            <a:avLst/>
          </a:prstGeom>
          <a:noFill/>
          <a:ln/>
        </p:spPr>
        <p:txBody>
          <a:bodyPr wrap="square" lIns="0" tIns="0" rIns="0" bIns="0" rtlCol="0" anchor="t"/>
          <a:lstStyle/>
          <a:p>
            <a:pPr indent="0" marL="0">
              <a:buNone/>
            </a:pPr>
            <a:r>
              <a:rPr lang="en-US" sz="1300" dirty="0">
                <a:solidFill>
                  <a:schemeClr val="tx2"/>
                </a:solidFill>
              </a:rPr>
              <a:t>set up, write the instruction</a:t>
            </a:r>
            <a:endParaRPr lang="en-US" sz="1300" dirty="0"/>
          </a:p>
        </p:txBody>
      </p:sp>
      <p:sp>
        <p:nvSpPr>
          <p:cNvPr id="8" name="card131"/>
          <p:cNvSpPr/>
          <p:nvPr/>
        </p:nvSpPr>
        <p:spPr>
          <a:xfrm>
            <a:off x="4572000" y="1920240"/>
            <a:ext cx="3044952" cy="1371600"/>
          </a:xfrm>
          <a:prstGeom prst="roundRect">
            <a:avLst>
              <a:gd name="adj" fmla="val 5333"/>
            </a:avLst>
          </a:prstGeom>
          <a:solidFill>
            <a:schemeClr val="bg2"/>
          </a:solidFill>
          <a:ln w="9525">
            <a:solidFill>
              <a:schemeClr val="bg2"/>
            </a:solidFill>
            <a:prstDash val="solid"/>
          </a:ln>
        </p:spPr>
      </p:sp>
      <p:sp>
        <p:nvSpPr>
          <p:cNvPr id="9" name="ic132"/>
          <p:cNvSpPr/>
          <p:nvPr/>
        </p:nvSpPr>
        <p:spPr>
          <a:xfrm>
            <a:off x="4800600" y="2240280"/>
            <a:ext cx="731520" cy="731520"/>
          </a:xfrm>
          <a:prstGeom prst="ellipse">
            <a:avLst/>
          </a:prstGeom>
          <a:solidFill>
            <a:schemeClr val="accent1"/>
          </a:solidFill>
          <a:ln w="12700">
            <a:solidFill>
              <a:schemeClr val="accent1"/>
            </a:solidFill>
            <a:prstDash val="solid"/>
          </a:ln>
        </p:spPr>
      </p:sp>
      <p:pic>
        <p:nvPicPr>
          <p:cNvPr id="10" name="icimg133" descr="preencoded.png">    </p:cNvPr>
          <p:cNvPicPr>
            <a:picLocks noChangeAspect="1"/>
          </p:cNvPicPr>
          <p:nvPr/>
        </p:nvPicPr>
        <p:blipFill>
          <a:blip r:embed="rId2"/>
          <a:stretch>
            <a:fillRect/>
          </a:stretch>
        </p:blipFill>
        <p:spPr>
          <a:xfrm>
            <a:off x="4983480" y="2423160"/>
            <a:ext cx="365760" cy="365760"/>
          </a:xfrm>
          <a:prstGeom prst="rect">
            <a:avLst/>
          </a:prstGeom>
        </p:spPr>
      </p:pic>
      <p:sp>
        <p:nvSpPr>
          <p:cNvPr id="11" name="t134"/>
          <p:cNvSpPr txBox="1"/>
          <p:nvPr/>
        </p:nvSpPr>
        <p:spPr>
          <a:xfrm>
            <a:off x="5715000" y="2148840"/>
            <a:ext cx="17830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Hand off</a:t>
            </a:r>
            <a:endParaRPr lang="en-US" sz="1800" dirty="0"/>
          </a:p>
        </p:txBody>
      </p:sp>
      <p:sp>
        <p:nvSpPr>
          <p:cNvPr id="12" name="t135"/>
          <p:cNvSpPr txBox="1"/>
          <p:nvPr/>
        </p:nvSpPr>
        <p:spPr>
          <a:xfrm>
            <a:off x="5715000" y="2578608"/>
            <a:ext cx="1783080" cy="640080"/>
          </a:xfrm>
          <a:prstGeom prst="rect">
            <a:avLst/>
          </a:prstGeom>
          <a:noFill/>
          <a:ln/>
        </p:spPr>
        <p:txBody>
          <a:bodyPr wrap="square" lIns="0" tIns="0" rIns="0" bIns="0" rtlCol="0" anchor="t"/>
          <a:lstStyle/>
          <a:p>
            <a:pPr indent="0" marL="0">
              <a:buNone/>
            </a:pPr>
            <a:r>
              <a:rPr lang="en-US" sz="1300" dirty="0">
                <a:solidFill>
                  <a:schemeClr val="tx2"/>
                </a:solidFill>
              </a:rPr>
              <a:t>checks pass; work repos committed</a:t>
            </a:r>
            <a:endParaRPr lang="en-US" sz="1300" dirty="0"/>
          </a:p>
        </p:txBody>
      </p:sp>
      <p:sp>
        <p:nvSpPr>
          <p:cNvPr id="13" name="card136"/>
          <p:cNvSpPr/>
          <p:nvPr/>
        </p:nvSpPr>
        <p:spPr>
          <a:xfrm>
            <a:off x="8595360" y="1920240"/>
            <a:ext cx="3044952" cy="1371600"/>
          </a:xfrm>
          <a:prstGeom prst="roundRect">
            <a:avLst>
              <a:gd name="adj" fmla="val 5333"/>
            </a:avLst>
          </a:prstGeom>
          <a:solidFill>
            <a:schemeClr val="bg2"/>
          </a:solidFill>
          <a:ln w="9525">
            <a:solidFill>
              <a:schemeClr val="bg2"/>
            </a:solidFill>
            <a:prstDash val="solid"/>
          </a:ln>
        </p:spPr>
      </p:sp>
      <p:sp>
        <p:nvSpPr>
          <p:cNvPr id="14" name="ic137"/>
          <p:cNvSpPr/>
          <p:nvPr/>
        </p:nvSpPr>
        <p:spPr>
          <a:xfrm>
            <a:off x="8823960" y="2240280"/>
            <a:ext cx="731520" cy="731520"/>
          </a:xfrm>
          <a:prstGeom prst="ellipse">
            <a:avLst/>
          </a:prstGeom>
          <a:solidFill>
            <a:schemeClr val="accent2"/>
          </a:solidFill>
          <a:ln w="12700">
            <a:solidFill>
              <a:schemeClr val="accent2"/>
            </a:solidFill>
            <a:prstDash val="solid"/>
          </a:ln>
        </p:spPr>
      </p:sp>
      <p:pic>
        <p:nvPicPr>
          <p:cNvPr id="15" name="icimg138" descr="preencoded.png">    </p:cNvPr>
          <p:cNvPicPr>
            <a:picLocks noChangeAspect="1"/>
          </p:cNvPicPr>
          <p:nvPr/>
        </p:nvPicPr>
        <p:blipFill>
          <a:blip r:embed="rId3"/>
          <a:stretch>
            <a:fillRect/>
          </a:stretch>
        </p:blipFill>
        <p:spPr>
          <a:xfrm>
            <a:off x="9006840" y="2423160"/>
            <a:ext cx="365760" cy="365760"/>
          </a:xfrm>
          <a:prstGeom prst="rect">
            <a:avLst/>
          </a:prstGeom>
        </p:spPr>
      </p:pic>
      <p:sp>
        <p:nvSpPr>
          <p:cNvPr id="16" name="t139"/>
          <p:cNvSpPr txBox="1"/>
          <p:nvPr/>
        </p:nvSpPr>
        <p:spPr>
          <a:xfrm>
            <a:off x="9738360" y="2148840"/>
            <a:ext cx="17830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runner</a:t>
            </a:r>
            <a:endParaRPr lang="en-US" sz="1800" dirty="0"/>
          </a:p>
        </p:txBody>
      </p:sp>
      <p:sp>
        <p:nvSpPr>
          <p:cNvPr id="17" name="t140"/>
          <p:cNvSpPr txBox="1"/>
          <p:nvPr/>
        </p:nvSpPr>
        <p:spPr>
          <a:xfrm>
            <a:off x="9738360" y="2578608"/>
            <a:ext cx="1783080" cy="640080"/>
          </a:xfrm>
          <a:prstGeom prst="rect">
            <a:avLst/>
          </a:prstGeom>
          <a:noFill/>
          <a:ln/>
        </p:spPr>
        <p:txBody>
          <a:bodyPr wrap="square" lIns="0" tIns="0" rIns="0" bIns="0" rtlCol="0" anchor="t"/>
          <a:lstStyle/>
          <a:p>
            <a:pPr indent="0" marL="0">
              <a:buNone/>
            </a:pPr>
            <a:r>
              <a:rPr lang="en-US" sz="1300" dirty="0">
                <a:solidFill>
                  <a:schemeClr val="tx2"/>
                </a:solidFill>
              </a:rPr>
              <a:t>one atomic step at a time</a:t>
            </a:r>
            <a:endParaRPr lang="en-US" sz="1300" dirty="0"/>
          </a:p>
        </p:txBody>
      </p:sp>
      <p:sp>
        <p:nvSpPr>
          <p:cNvPr id="18" name="arr141"/>
          <p:cNvSpPr/>
          <p:nvPr/>
        </p:nvSpPr>
        <p:spPr>
          <a:xfrm>
            <a:off x="3749040" y="2423160"/>
            <a:ext cx="685800" cy="365760"/>
          </a:xfrm>
          <a:prstGeom prst="rightArrow">
            <a:avLst/>
          </a:prstGeom>
          <a:solidFill>
            <a:schemeClr val="accent3"/>
          </a:solidFill>
          <a:ln w="12700">
            <a:solidFill>
              <a:schemeClr val="accent3"/>
            </a:solidFill>
            <a:prstDash val="solid"/>
          </a:ln>
        </p:spPr>
      </p:sp>
      <p:sp>
        <p:nvSpPr>
          <p:cNvPr id="19" name="arr142"/>
          <p:cNvSpPr/>
          <p:nvPr/>
        </p:nvSpPr>
        <p:spPr>
          <a:xfrm>
            <a:off x="7772400" y="2423160"/>
            <a:ext cx="685800" cy="365760"/>
          </a:xfrm>
          <a:prstGeom prst="rightArrow">
            <a:avLst/>
          </a:prstGeom>
          <a:solidFill>
            <a:schemeClr val="accent3"/>
          </a:solidFill>
          <a:ln w="12700">
            <a:solidFill>
              <a:schemeClr val="accent3"/>
            </a:solidFill>
            <a:prstDash val="solid"/>
          </a:ln>
        </p:spPr>
      </p:sp>
      <p:sp>
        <p:nvSpPr>
          <p:cNvPr id="20" name="arr143"/>
          <p:cNvSpPr/>
          <p:nvPr/>
        </p:nvSpPr>
        <p:spPr>
          <a:xfrm>
            <a:off x="9921240" y="3429000"/>
            <a:ext cx="365760" cy="502920"/>
          </a:xfrm>
          <a:prstGeom prst="downArrow">
            <a:avLst/>
          </a:prstGeom>
          <a:solidFill>
            <a:schemeClr val="accent3"/>
          </a:solidFill>
          <a:ln w="12700">
            <a:solidFill>
              <a:schemeClr val="accent3"/>
            </a:solidFill>
            <a:prstDash val="solid"/>
          </a:ln>
        </p:spPr>
      </p:sp>
      <p:sp>
        <p:nvSpPr>
          <p:cNvPr id="21" name="card144"/>
          <p:cNvSpPr/>
          <p:nvPr/>
        </p:nvSpPr>
        <p:spPr>
          <a:xfrm>
            <a:off x="548640" y="4069080"/>
            <a:ext cx="2651760" cy="1143000"/>
          </a:xfrm>
          <a:prstGeom prst="roundRect">
            <a:avLst>
              <a:gd name="adj" fmla="val 6400"/>
            </a:avLst>
          </a:prstGeom>
          <a:solidFill>
            <a:schemeClr val="accent6"/>
          </a:solidFill>
          <a:ln w="9525">
            <a:solidFill>
              <a:schemeClr val="accent6"/>
            </a:solidFill>
            <a:prstDash val="solid"/>
          </a:ln>
        </p:spPr>
      </p:sp>
      <p:sp>
        <p:nvSpPr>
          <p:cNvPr id="22" name="t145"/>
          <p:cNvSpPr txBox="1"/>
          <p:nvPr/>
        </p:nvSpPr>
        <p:spPr>
          <a:xfrm>
            <a:off x="731520" y="4160520"/>
            <a:ext cx="2286000" cy="365760"/>
          </a:xfrm>
          <a:prstGeom prst="rect">
            <a:avLst/>
          </a:prstGeom>
          <a:noFill/>
          <a:ln/>
        </p:spPr>
        <p:txBody>
          <a:bodyPr wrap="square" lIns="0" tIns="0" rIns="0" bIns="0" rtlCol="0" anchor="t"/>
          <a:lstStyle/>
          <a:p>
            <a:pPr indent="0" marL="0">
              <a:buNone/>
            </a:pPr>
            <a:r>
              <a:rPr lang="en-US" sz="1500" b="1" dirty="0">
                <a:solidFill>
                  <a:schemeClr val="tx1"/>
                </a:solidFill>
              </a:rPr>
              <a:t>Question</a:t>
            </a:r>
            <a:endParaRPr lang="en-US" sz="1500" dirty="0"/>
          </a:p>
        </p:txBody>
      </p:sp>
      <p:sp>
        <p:nvSpPr>
          <p:cNvPr id="23" name="t146"/>
          <p:cNvSpPr txBox="1"/>
          <p:nvPr/>
        </p:nvSpPr>
        <p:spPr>
          <a:xfrm>
            <a:off x="731520" y="4526280"/>
            <a:ext cx="2286000" cy="640080"/>
          </a:xfrm>
          <a:prstGeom prst="rect">
            <a:avLst/>
          </a:prstGeom>
          <a:noFill/>
          <a:ln/>
        </p:spPr>
        <p:txBody>
          <a:bodyPr wrap="square" lIns="0" tIns="0" rIns="0" bIns="0" rtlCol="0" anchor="t"/>
          <a:lstStyle/>
          <a:p>
            <a:pPr indent="0" marL="0">
              <a:buNone/>
            </a:pPr>
            <a:r>
              <a:rPr lang="en-US" sz="1300" dirty="0">
                <a:solidFill>
                  <a:schemeClr val="tx2"/>
                </a:solidFill>
              </a:rPr>
              <a:t>answer on the board; grants in one click</a:t>
            </a:r>
            <a:endParaRPr lang="en-US" sz="1300" dirty="0"/>
          </a:p>
        </p:txBody>
      </p:sp>
      <p:sp>
        <p:nvSpPr>
          <p:cNvPr id="24" name="card147"/>
          <p:cNvSpPr/>
          <p:nvPr/>
        </p:nvSpPr>
        <p:spPr>
          <a:xfrm>
            <a:off x="3364992" y="4069080"/>
            <a:ext cx="2651760" cy="1143000"/>
          </a:xfrm>
          <a:prstGeom prst="roundRect">
            <a:avLst>
              <a:gd name="adj" fmla="val 6400"/>
            </a:avLst>
          </a:prstGeom>
          <a:solidFill>
            <a:schemeClr val="accent6"/>
          </a:solidFill>
          <a:ln w="9525">
            <a:solidFill>
              <a:schemeClr val="accent6"/>
            </a:solidFill>
            <a:prstDash val="solid"/>
          </a:ln>
        </p:spPr>
      </p:sp>
      <p:sp>
        <p:nvSpPr>
          <p:cNvPr id="25" name="t148"/>
          <p:cNvSpPr txBox="1"/>
          <p:nvPr/>
        </p:nvSpPr>
        <p:spPr>
          <a:xfrm>
            <a:off x="3547872" y="4160520"/>
            <a:ext cx="2286000" cy="365760"/>
          </a:xfrm>
          <a:prstGeom prst="rect">
            <a:avLst/>
          </a:prstGeom>
          <a:noFill/>
          <a:ln/>
        </p:spPr>
        <p:txBody>
          <a:bodyPr wrap="square" lIns="0" tIns="0" rIns="0" bIns="0" rtlCol="0" anchor="t"/>
          <a:lstStyle/>
          <a:p>
            <a:pPr indent="0" marL="0">
              <a:buNone/>
            </a:pPr>
            <a:r>
              <a:rPr lang="en-US" sz="1500" b="1" dirty="0">
                <a:solidFill>
                  <a:schemeClr val="tx1"/>
                </a:solidFill>
              </a:rPr>
              <a:t>Failed or limit</a:t>
            </a:r>
            <a:endParaRPr lang="en-US" sz="1500" dirty="0"/>
          </a:p>
        </p:txBody>
      </p:sp>
      <p:sp>
        <p:nvSpPr>
          <p:cNvPr id="26" name="t149"/>
          <p:cNvSpPr txBox="1"/>
          <p:nvPr/>
        </p:nvSpPr>
        <p:spPr>
          <a:xfrm>
            <a:off x="3547872" y="4526280"/>
            <a:ext cx="2286000" cy="640080"/>
          </a:xfrm>
          <a:prstGeom prst="rect">
            <a:avLst/>
          </a:prstGeom>
          <a:noFill/>
          <a:ln/>
        </p:spPr>
        <p:txBody>
          <a:bodyPr wrap="square" lIns="0" tIns="0" rIns="0" bIns="0" rtlCol="0" anchor="t"/>
          <a:lstStyle/>
          <a:p>
            <a:pPr indent="0" marL="0">
              <a:buNone/>
            </a:pPr>
            <a:r>
              <a:rPr lang="en-US" sz="1300" dirty="0">
                <a:solidFill>
                  <a:schemeClr val="tx2"/>
                </a:solidFill>
              </a:rPr>
              <a:t>see why; fix; hand off again</a:t>
            </a:r>
            <a:endParaRPr lang="en-US" sz="1300" dirty="0"/>
          </a:p>
        </p:txBody>
      </p:sp>
      <p:sp>
        <p:nvSpPr>
          <p:cNvPr id="27" name="card150"/>
          <p:cNvSpPr/>
          <p:nvPr/>
        </p:nvSpPr>
        <p:spPr>
          <a:xfrm>
            <a:off x="6181344" y="4069080"/>
            <a:ext cx="2651760" cy="1143000"/>
          </a:xfrm>
          <a:prstGeom prst="roundRect">
            <a:avLst>
              <a:gd name="adj" fmla="val 6400"/>
            </a:avLst>
          </a:prstGeom>
          <a:solidFill>
            <a:schemeClr val="accent6"/>
          </a:solidFill>
          <a:ln w="9525">
            <a:solidFill>
              <a:schemeClr val="accent6"/>
            </a:solidFill>
            <a:prstDash val="solid"/>
          </a:ln>
        </p:spPr>
      </p:sp>
      <p:sp>
        <p:nvSpPr>
          <p:cNvPr id="28" name="t151"/>
          <p:cNvSpPr txBox="1"/>
          <p:nvPr/>
        </p:nvSpPr>
        <p:spPr>
          <a:xfrm>
            <a:off x="6364224" y="4160520"/>
            <a:ext cx="2286000" cy="365760"/>
          </a:xfrm>
          <a:prstGeom prst="rect">
            <a:avLst/>
          </a:prstGeom>
          <a:noFill/>
          <a:ln/>
        </p:spPr>
        <p:txBody>
          <a:bodyPr wrap="square" lIns="0" tIns="0" rIns="0" bIns="0" rtlCol="0" anchor="t"/>
          <a:lstStyle/>
          <a:p>
            <a:pPr indent="0" marL="0">
              <a:buNone/>
            </a:pPr>
            <a:r>
              <a:rPr lang="en-US" sz="1500" b="1" dirty="0">
                <a:solidFill>
                  <a:schemeClr val="tx1"/>
                </a:solidFill>
              </a:rPr>
              <a:t>Done</a:t>
            </a:r>
            <a:endParaRPr lang="en-US" sz="1500" dirty="0"/>
          </a:p>
        </p:txBody>
      </p:sp>
      <p:sp>
        <p:nvSpPr>
          <p:cNvPr id="29" name="t152"/>
          <p:cNvSpPr txBox="1"/>
          <p:nvPr/>
        </p:nvSpPr>
        <p:spPr>
          <a:xfrm>
            <a:off x="6364224" y="4526280"/>
            <a:ext cx="2286000" cy="640080"/>
          </a:xfrm>
          <a:prstGeom prst="rect">
            <a:avLst/>
          </a:prstGeom>
          <a:noFill/>
          <a:ln/>
        </p:spPr>
        <p:txBody>
          <a:bodyPr wrap="square" lIns="0" tIns="0" rIns="0" bIns="0" rtlCol="0" anchor="t"/>
          <a:lstStyle/>
          <a:p>
            <a:pPr indent="0" marL="0">
              <a:buNone/>
            </a:pPr>
            <a:r>
              <a:rPr lang="en-US" sz="1300" dirty="0">
                <a:solidFill>
                  <a:schemeClr val="tx2"/>
                </a:solidFill>
              </a:rPr>
              <a:t>review, then give it the next batch</a:t>
            </a:r>
            <a:endParaRPr lang="en-US" sz="1300" dirty="0"/>
          </a:p>
        </p:txBody>
      </p:sp>
      <p:sp>
        <p:nvSpPr>
          <p:cNvPr id="30" name="card153"/>
          <p:cNvSpPr/>
          <p:nvPr/>
        </p:nvSpPr>
        <p:spPr>
          <a:xfrm>
            <a:off x="8997696" y="4069080"/>
            <a:ext cx="2651760" cy="1143000"/>
          </a:xfrm>
          <a:prstGeom prst="roundRect">
            <a:avLst>
              <a:gd name="adj" fmla="val 6400"/>
            </a:avLst>
          </a:prstGeom>
          <a:solidFill>
            <a:schemeClr val="accent5"/>
          </a:solidFill>
          <a:ln w="9525">
            <a:solidFill>
              <a:schemeClr val="accent5"/>
            </a:solidFill>
            <a:prstDash val="solid"/>
          </a:ln>
        </p:spPr>
      </p:sp>
      <p:sp>
        <p:nvSpPr>
          <p:cNvPr id="31" name="t154"/>
          <p:cNvSpPr txBox="1"/>
          <p:nvPr/>
        </p:nvSpPr>
        <p:spPr>
          <a:xfrm>
            <a:off x="9180576" y="4160520"/>
            <a:ext cx="2286000" cy="365760"/>
          </a:xfrm>
          <a:prstGeom prst="rect">
            <a:avLst/>
          </a:prstGeom>
          <a:noFill/>
          <a:ln/>
        </p:spPr>
        <p:txBody>
          <a:bodyPr wrap="square" lIns="0" tIns="0" rIns="0" bIns="0" rtlCol="0" anchor="t"/>
          <a:lstStyle/>
          <a:p>
            <a:pPr indent="0" marL="0">
              <a:buNone/>
            </a:pPr>
            <a:r>
              <a:rPr lang="en-US" sz="1500" b="1" dirty="0">
                <a:solidFill>
                  <a:schemeClr val="tx1"/>
                </a:solidFill>
              </a:rPr>
              <a:t>You take over</a:t>
            </a:r>
            <a:endParaRPr lang="en-US" sz="1500" dirty="0"/>
          </a:p>
        </p:txBody>
      </p:sp>
      <p:sp>
        <p:nvSpPr>
          <p:cNvPr id="32" name="t155"/>
          <p:cNvSpPr txBox="1"/>
          <p:nvPr/>
        </p:nvSpPr>
        <p:spPr>
          <a:xfrm>
            <a:off x="9180576" y="4526280"/>
            <a:ext cx="2286000" cy="640080"/>
          </a:xfrm>
          <a:prstGeom prst="rect">
            <a:avLst/>
          </a:prstGeom>
          <a:noFill/>
          <a:ln/>
        </p:spPr>
        <p:txBody>
          <a:bodyPr wrap="square" lIns="0" tIns="0" rIns="0" bIns="0" rtlCol="0" anchor="t"/>
          <a:lstStyle/>
          <a:p>
            <a:pPr indent="0" marL="0">
              <a:buNone/>
            </a:pPr>
            <a:r>
              <a:rPr lang="en-US" sz="1300" dirty="0">
                <a:solidFill>
                  <a:schemeClr val="tx2"/>
                </a:solidFill>
              </a:rPr>
              <a:t>now, or at the end of the running step</a:t>
            </a:r>
            <a:endParaRPr lang="en-US" sz="1300" dirty="0"/>
          </a:p>
        </p:txBody>
      </p:sp>
      <p:sp>
        <p:nvSpPr>
          <p:cNvPr id="33" name="t156"/>
          <p:cNvSpPr txBox="1"/>
          <p:nvPr/>
        </p:nvSpPr>
        <p:spPr>
          <a:xfrm>
            <a:off x="548640" y="5440680"/>
            <a:ext cx="11094415" cy="365760"/>
          </a:xfrm>
          <a:prstGeom prst="rect">
            <a:avLst/>
          </a:prstGeom>
          <a:noFill/>
          <a:ln/>
        </p:spPr>
        <p:txBody>
          <a:bodyPr wrap="square" lIns="0" tIns="0" rIns="0" bIns="0" rtlCol="0" anchor="t"/>
          <a:lstStyle/>
          <a:p>
            <a:pPr indent="0" marL="0">
              <a:buNone/>
            </a:pPr>
            <a:r>
              <a:rPr lang="en-US" sz="1500" i="1" dirty="0">
                <a:solidFill>
                  <a:schemeClr val="accent3"/>
                </a:solidFill>
              </a:rPr>
              <a:t>… and the packet comes back to you, with the reason recorded</a:t>
            </a:r>
            <a:endParaRPr lang="en-US" sz="1500" dirty="0"/>
          </a:p>
        </p:txBody>
      </p:sp>
      <p:sp>
        <p:nvSpPr>
          <p:cNvPr id="34" name="t157"/>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500" i="1" dirty="0">
                <a:solidFill>
                  <a:schemeClr val="accent3"/>
                </a:solidFill>
              </a:rPr>
              <a:t>Notes reach the agent at any time, without taking the packet back</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One shell per packet, reachable from every surface</a:t>
            </a:r>
            <a:endParaRPr lang="en-US" sz="3400" dirty="0"/>
          </a:p>
        </p:txBody>
      </p:sp>
      <p:sp>
        <p:nvSpPr>
          <p:cNvPr id="3" name="card158"/>
          <p:cNvSpPr/>
          <p:nvPr/>
        </p:nvSpPr>
        <p:spPr>
          <a:xfrm>
            <a:off x="4480560" y="2377440"/>
            <a:ext cx="3246120" cy="1737360"/>
          </a:xfrm>
          <a:prstGeom prst="roundRect">
            <a:avLst>
              <a:gd name="adj" fmla="val 4211"/>
            </a:avLst>
          </a:prstGeom>
          <a:solidFill>
            <a:schemeClr val="tx1"/>
          </a:solidFill>
          <a:ln w="9525">
            <a:solidFill>
              <a:schemeClr val="tx1"/>
            </a:solidFill>
            <a:prstDash val="solid"/>
          </a:ln>
        </p:spPr>
      </p:sp>
      <p:sp>
        <p:nvSpPr>
          <p:cNvPr id="4" name="ic159"/>
          <p:cNvSpPr/>
          <p:nvPr/>
        </p:nvSpPr>
        <p:spPr>
          <a:xfrm>
            <a:off x="4709160" y="2606040"/>
            <a:ext cx="685800" cy="685800"/>
          </a:xfrm>
          <a:prstGeom prst="ellipse">
            <a:avLst/>
          </a:prstGeom>
          <a:solidFill>
            <a:schemeClr val="accent1"/>
          </a:solidFill>
          <a:ln w="12700">
            <a:solidFill>
              <a:schemeClr val="accent1"/>
            </a:solidFill>
            <a:prstDash val="solid"/>
          </a:ln>
        </p:spPr>
      </p:sp>
      <p:pic>
        <p:nvPicPr>
          <p:cNvPr id="5" name="icimg160" descr="preencoded.png">    </p:cNvPr>
          <p:cNvPicPr>
            <a:picLocks noChangeAspect="1"/>
          </p:cNvPicPr>
          <p:nvPr/>
        </p:nvPicPr>
        <p:blipFill>
          <a:blip r:embed="rId1"/>
          <a:stretch>
            <a:fillRect/>
          </a:stretch>
        </p:blipFill>
        <p:spPr>
          <a:xfrm>
            <a:off x="4880610" y="2777490"/>
            <a:ext cx="342900" cy="342900"/>
          </a:xfrm>
          <a:prstGeom prst="rect">
            <a:avLst/>
          </a:prstGeom>
        </p:spPr>
      </p:pic>
      <p:sp>
        <p:nvSpPr>
          <p:cNvPr id="6" name="t161"/>
          <p:cNvSpPr txBox="1"/>
          <p:nvPr/>
        </p:nvSpPr>
        <p:spPr>
          <a:xfrm>
            <a:off x="5532120" y="2606040"/>
            <a:ext cx="2103120"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packet session</a:t>
            </a:r>
            <a:endParaRPr lang="en-US" sz="1700" dirty="0"/>
          </a:p>
        </p:txBody>
      </p:sp>
      <p:sp>
        <p:nvSpPr>
          <p:cNvPr id="7" name="t162"/>
          <p:cNvSpPr txBox="1"/>
          <p:nvPr/>
        </p:nvSpPr>
        <p:spPr>
          <a:xfrm>
            <a:off x="5532120" y="3017520"/>
            <a:ext cx="2103120" cy="914400"/>
          </a:xfrm>
          <a:prstGeom prst="rect">
            <a:avLst/>
          </a:prstGeom>
          <a:noFill/>
          <a:ln/>
        </p:spPr>
        <p:txBody>
          <a:bodyPr wrap="square" lIns="0" tIns="0" rIns="0" bIns="0" rtlCol="0" anchor="t"/>
          <a:lstStyle/>
          <a:p>
            <a:pPr indent="0" marL="0">
              <a:buNone/>
            </a:pPr>
            <a:r>
              <a:rPr lang="en-US" sz="1200" dirty="0">
                <a:solidFill>
                  <a:srgbClr val="B8C2CC"/>
                </a:solidFill>
              </a:rPr>
              <a:t>held by wpk (or tmux); survives a server restart</a:t>
            </a:r>
            <a:endParaRPr lang="en-US" sz="1200" dirty="0"/>
          </a:p>
        </p:txBody>
      </p:sp>
      <p:sp>
        <p:nvSpPr>
          <p:cNvPr id="8" name="card163"/>
          <p:cNvSpPr/>
          <p:nvPr/>
        </p:nvSpPr>
        <p:spPr>
          <a:xfrm>
            <a:off x="548640" y="1371600"/>
            <a:ext cx="3291840" cy="1463040"/>
          </a:xfrm>
          <a:prstGeom prst="roundRect">
            <a:avLst>
              <a:gd name="adj" fmla="val 5000"/>
            </a:avLst>
          </a:prstGeom>
          <a:solidFill>
            <a:schemeClr val="bg2"/>
          </a:solidFill>
          <a:ln w="9525">
            <a:solidFill>
              <a:schemeClr val="bg2"/>
            </a:solidFill>
            <a:prstDash val="solid"/>
          </a:ln>
        </p:spPr>
      </p:sp>
      <p:sp>
        <p:nvSpPr>
          <p:cNvPr id="9" name="ic164"/>
          <p:cNvSpPr/>
          <p:nvPr/>
        </p:nvSpPr>
        <p:spPr>
          <a:xfrm>
            <a:off x="777240" y="1737360"/>
            <a:ext cx="685800" cy="685800"/>
          </a:xfrm>
          <a:prstGeom prst="ellipse">
            <a:avLst/>
          </a:prstGeom>
          <a:solidFill>
            <a:schemeClr val="accent2"/>
          </a:solidFill>
          <a:ln w="12700">
            <a:solidFill>
              <a:schemeClr val="accent2"/>
            </a:solidFill>
            <a:prstDash val="solid"/>
          </a:ln>
        </p:spPr>
      </p:sp>
      <p:pic>
        <p:nvPicPr>
          <p:cNvPr id="10" name="icimg165" descr="preencoded.png">    </p:cNvPr>
          <p:cNvPicPr>
            <a:picLocks noChangeAspect="1"/>
          </p:cNvPicPr>
          <p:nvPr/>
        </p:nvPicPr>
        <p:blipFill>
          <a:blip r:embed="rId2"/>
          <a:stretch>
            <a:fillRect/>
          </a:stretch>
        </p:blipFill>
        <p:spPr>
          <a:xfrm>
            <a:off x="948690" y="1908810"/>
            <a:ext cx="342900" cy="342900"/>
          </a:xfrm>
          <a:prstGeom prst="rect">
            <a:avLst/>
          </a:prstGeom>
        </p:spPr>
      </p:pic>
      <p:sp>
        <p:nvSpPr>
          <p:cNvPr id="11" name="t166"/>
          <p:cNvSpPr txBox="1"/>
          <p:nvPr/>
        </p:nvSpPr>
        <p:spPr>
          <a:xfrm>
            <a:off x="1600200" y="1645920"/>
            <a:ext cx="2103120" cy="365760"/>
          </a:xfrm>
          <a:prstGeom prst="rect">
            <a:avLst/>
          </a:prstGeom>
          <a:noFill/>
          <a:ln/>
        </p:spPr>
        <p:txBody>
          <a:bodyPr wrap="square" lIns="0" tIns="0" rIns="0" bIns="0" rtlCol="0" anchor="t"/>
          <a:lstStyle/>
          <a:p>
            <a:pPr indent="0" marL="0">
              <a:buNone/>
            </a:pPr>
            <a:r>
              <a:rPr lang="en-US" sz="1600" b="1" dirty="0">
                <a:solidFill>
                  <a:schemeClr val="tx1"/>
                </a:solidFill>
              </a:rPr>
              <a:t>Board</a:t>
            </a:r>
            <a:endParaRPr lang="en-US" sz="1600" dirty="0"/>
          </a:p>
        </p:txBody>
      </p:sp>
      <p:sp>
        <p:nvSpPr>
          <p:cNvPr id="12" name="t167"/>
          <p:cNvSpPr txBox="1"/>
          <p:nvPr/>
        </p:nvSpPr>
        <p:spPr>
          <a:xfrm>
            <a:off x="1600200" y="2029968"/>
            <a:ext cx="2103120" cy="731520"/>
          </a:xfrm>
          <a:prstGeom prst="rect">
            <a:avLst/>
          </a:prstGeom>
          <a:noFill/>
          <a:ln/>
        </p:spPr>
        <p:txBody>
          <a:bodyPr wrap="square" lIns="0" tIns="0" rIns="0" bIns="0" rtlCol="0" anchor="t"/>
          <a:lstStyle/>
          <a:p>
            <a:pPr indent="0" marL="0">
              <a:buNone/>
            </a:pPr>
            <a:r>
              <a:rPr lang="en-US" sz="1300" dirty="0">
                <a:solidFill>
                  <a:schemeClr val="tx2"/>
                </a:solidFill>
              </a:rPr>
              <a:t>xterm.js in the browser, on the phone too</a:t>
            </a:r>
            <a:endParaRPr lang="en-US" sz="1300" dirty="0"/>
          </a:p>
        </p:txBody>
      </p:sp>
      <p:sp>
        <p:nvSpPr>
          <p:cNvPr id="13" name="card168"/>
          <p:cNvSpPr/>
          <p:nvPr/>
        </p:nvSpPr>
        <p:spPr>
          <a:xfrm>
            <a:off x="548640" y="3977640"/>
            <a:ext cx="3291840" cy="1463040"/>
          </a:xfrm>
          <a:prstGeom prst="roundRect">
            <a:avLst>
              <a:gd name="adj" fmla="val 5000"/>
            </a:avLst>
          </a:prstGeom>
          <a:solidFill>
            <a:schemeClr val="bg2"/>
          </a:solidFill>
          <a:ln w="9525">
            <a:solidFill>
              <a:schemeClr val="bg2"/>
            </a:solidFill>
            <a:prstDash val="solid"/>
          </a:ln>
        </p:spPr>
      </p:sp>
      <p:sp>
        <p:nvSpPr>
          <p:cNvPr id="14" name="ic169"/>
          <p:cNvSpPr/>
          <p:nvPr/>
        </p:nvSpPr>
        <p:spPr>
          <a:xfrm>
            <a:off x="777240" y="4343400"/>
            <a:ext cx="685800" cy="685800"/>
          </a:xfrm>
          <a:prstGeom prst="ellipse">
            <a:avLst/>
          </a:prstGeom>
          <a:solidFill>
            <a:schemeClr val="accent2"/>
          </a:solidFill>
          <a:ln w="12700">
            <a:solidFill>
              <a:schemeClr val="accent2"/>
            </a:solidFill>
            <a:prstDash val="solid"/>
          </a:ln>
        </p:spPr>
      </p:sp>
      <p:pic>
        <p:nvPicPr>
          <p:cNvPr id="15" name="icimg170" descr="preencoded.png">    </p:cNvPr>
          <p:cNvPicPr>
            <a:picLocks noChangeAspect="1"/>
          </p:cNvPicPr>
          <p:nvPr/>
        </p:nvPicPr>
        <p:blipFill>
          <a:blip r:embed="rId3"/>
          <a:stretch>
            <a:fillRect/>
          </a:stretch>
        </p:blipFill>
        <p:spPr>
          <a:xfrm>
            <a:off x="948690" y="4514850"/>
            <a:ext cx="342900" cy="342900"/>
          </a:xfrm>
          <a:prstGeom prst="rect">
            <a:avLst/>
          </a:prstGeom>
        </p:spPr>
      </p:pic>
      <p:sp>
        <p:nvSpPr>
          <p:cNvPr id="16" name="t171"/>
          <p:cNvSpPr txBox="1"/>
          <p:nvPr/>
        </p:nvSpPr>
        <p:spPr>
          <a:xfrm>
            <a:off x="1600200" y="42519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VS Code</a:t>
            </a:r>
            <a:endParaRPr lang="en-US" sz="1600" dirty="0"/>
          </a:p>
        </p:txBody>
      </p:sp>
      <p:sp>
        <p:nvSpPr>
          <p:cNvPr id="17" name="t172"/>
          <p:cNvSpPr txBox="1"/>
          <p:nvPr/>
        </p:nvSpPr>
        <p:spPr>
          <a:xfrm>
            <a:off x="1600200" y="4636008"/>
            <a:ext cx="2103120" cy="731520"/>
          </a:xfrm>
          <a:prstGeom prst="rect">
            <a:avLst/>
          </a:prstGeom>
          <a:noFill/>
          <a:ln/>
        </p:spPr>
        <p:txBody>
          <a:bodyPr wrap="square" lIns="0" tIns="0" rIns="0" bIns="0" rtlCol="0" anchor="t"/>
          <a:lstStyle/>
          <a:p>
            <a:pPr indent="0" marL="0">
              <a:buNone/>
            </a:pPr>
            <a:r>
              <a:rPr lang="en-US" sz="1300" dirty="0">
                <a:solidFill>
                  <a:schemeClr val="tx2"/>
                </a:solidFill>
              </a:rPr>
              <a:t>terminal profile "packet shell"</a:t>
            </a:r>
            <a:endParaRPr lang="en-US" sz="1300" dirty="0"/>
          </a:p>
        </p:txBody>
      </p:sp>
      <p:sp>
        <p:nvSpPr>
          <p:cNvPr id="18" name="card173"/>
          <p:cNvSpPr/>
          <p:nvPr/>
        </p:nvSpPr>
        <p:spPr>
          <a:xfrm>
            <a:off x="8366760" y="1371600"/>
            <a:ext cx="3291840" cy="1463040"/>
          </a:xfrm>
          <a:prstGeom prst="roundRect">
            <a:avLst>
              <a:gd name="adj" fmla="val 5000"/>
            </a:avLst>
          </a:prstGeom>
          <a:solidFill>
            <a:schemeClr val="bg2"/>
          </a:solidFill>
          <a:ln w="9525">
            <a:solidFill>
              <a:schemeClr val="bg2"/>
            </a:solidFill>
            <a:prstDash val="solid"/>
          </a:ln>
        </p:spPr>
      </p:sp>
      <p:sp>
        <p:nvSpPr>
          <p:cNvPr id="19" name="ic174"/>
          <p:cNvSpPr/>
          <p:nvPr/>
        </p:nvSpPr>
        <p:spPr>
          <a:xfrm>
            <a:off x="8595360" y="1737360"/>
            <a:ext cx="685800" cy="685800"/>
          </a:xfrm>
          <a:prstGeom prst="ellipse">
            <a:avLst/>
          </a:prstGeom>
          <a:solidFill>
            <a:schemeClr val="accent2"/>
          </a:solidFill>
          <a:ln w="12700">
            <a:solidFill>
              <a:schemeClr val="accent2"/>
            </a:solidFill>
            <a:prstDash val="solid"/>
          </a:ln>
        </p:spPr>
      </p:sp>
      <p:pic>
        <p:nvPicPr>
          <p:cNvPr id="20" name="icimg175" descr="preencoded.png">    </p:cNvPr>
          <p:cNvPicPr>
            <a:picLocks noChangeAspect="1"/>
          </p:cNvPicPr>
          <p:nvPr/>
        </p:nvPicPr>
        <p:blipFill>
          <a:blip r:embed="rId4"/>
          <a:stretch>
            <a:fillRect/>
          </a:stretch>
        </p:blipFill>
        <p:spPr>
          <a:xfrm>
            <a:off x="8766810" y="1908810"/>
            <a:ext cx="342900" cy="342900"/>
          </a:xfrm>
          <a:prstGeom prst="rect">
            <a:avLst/>
          </a:prstGeom>
        </p:spPr>
      </p:pic>
      <p:sp>
        <p:nvSpPr>
          <p:cNvPr id="21" name="t176"/>
          <p:cNvSpPr txBox="1"/>
          <p:nvPr/>
        </p:nvSpPr>
        <p:spPr>
          <a:xfrm>
            <a:off x="9418320" y="1645920"/>
            <a:ext cx="2103120" cy="365760"/>
          </a:xfrm>
          <a:prstGeom prst="rect">
            <a:avLst/>
          </a:prstGeom>
          <a:noFill/>
          <a:ln/>
        </p:spPr>
        <p:txBody>
          <a:bodyPr wrap="square" lIns="0" tIns="0" rIns="0" bIns="0" rtlCol="0" anchor="t"/>
          <a:lstStyle/>
          <a:p>
            <a:pPr indent="0" marL="0">
              <a:buNone/>
            </a:pPr>
            <a:r>
              <a:rPr lang="en-US" sz="1600" b="1" dirty="0">
                <a:solidFill>
                  <a:schemeClr val="tx1"/>
                </a:solidFill>
              </a:rPr>
              <a:t>SSH</a:t>
            </a:r>
            <a:endParaRPr lang="en-US" sz="1600" dirty="0"/>
          </a:p>
        </p:txBody>
      </p:sp>
      <p:sp>
        <p:nvSpPr>
          <p:cNvPr id="22" name="t177"/>
          <p:cNvSpPr txBox="1"/>
          <p:nvPr/>
        </p:nvSpPr>
        <p:spPr>
          <a:xfrm>
            <a:off x="9418320" y="2029968"/>
            <a:ext cx="2103120" cy="731520"/>
          </a:xfrm>
          <a:prstGeom prst="rect">
            <a:avLst/>
          </a:prstGeom>
          <a:noFill/>
          <a:ln/>
        </p:spPr>
        <p:txBody>
          <a:bodyPr wrap="square" lIns="0" tIns="0" rIns="0" bIns="0" rtlCol="0" anchor="t"/>
          <a:lstStyle/>
          <a:p>
            <a:pPr indent="0" marL="0">
              <a:buNone/>
            </a:pPr>
            <a:r>
              <a:rPr lang="en-US" sz="1300" dirty="0">
                <a:solidFill>
                  <a:schemeClr val="tx2"/>
                </a:solidFill>
              </a:rPr>
              <a:t>wpk attach dvs-enh</a:t>
            </a:r>
            <a:endParaRPr lang="en-US" sz="1300" dirty="0"/>
          </a:p>
        </p:txBody>
      </p:sp>
      <p:sp>
        <p:nvSpPr>
          <p:cNvPr id="23" name="card178"/>
          <p:cNvSpPr/>
          <p:nvPr/>
        </p:nvSpPr>
        <p:spPr>
          <a:xfrm>
            <a:off x="8366760" y="3977640"/>
            <a:ext cx="3291840" cy="1463040"/>
          </a:xfrm>
          <a:prstGeom prst="roundRect">
            <a:avLst>
              <a:gd name="adj" fmla="val 5000"/>
            </a:avLst>
          </a:prstGeom>
          <a:solidFill>
            <a:schemeClr val="bg2"/>
          </a:solidFill>
          <a:ln w="9525">
            <a:solidFill>
              <a:schemeClr val="bg2"/>
            </a:solidFill>
            <a:prstDash val="solid"/>
          </a:ln>
        </p:spPr>
      </p:sp>
      <p:sp>
        <p:nvSpPr>
          <p:cNvPr id="24" name="ic179"/>
          <p:cNvSpPr/>
          <p:nvPr/>
        </p:nvSpPr>
        <p:spPr>
          <a:xfrm>
            <a:off x="8595360" y="4343400"/>
            <a:ext cx="685800" cy="685800"/>
          </a:xfrm>
          <a:prstGeom prst="ellipse">
            <a:avLst/>
          </a:prstGeom>
          <a:solidFill>
            <a:schemeClr val="accent2"/>
          </a:solidFill>
          <a:ln w="12700">
            <a:solidFill>
              <a:schemeClr val="accent2"/>
            </a:solidFill>
            <a:prstDash val="solid"/>
          </a:ln>
        </p:spPr>
      </p:sp>
      <p:pic>
        <p:nvPicPr>
          <p:cNvPr id="25" name="icimg180" descr="preencoded.png">    </p:cNvPr>
          <p:cNvPicPr>
            <a:picLocks noChangeAspect="1"/>
          </p:cNvPicPr>
          <p:nvPr/>
        </p:nvPicPr>
        <p:blipFill>
          <a:blip r:embed="rId5"/>
          <a:stretch>
            <a:fillRect/>
          </a:stretch>
        </p:blipFill>
        <p:spPr>
          <a:xfrm>
            <a:off x="8766810" y="4514850"/>
            <a:ext cx="342900" cy="342900"/>
          </a:xfrm>
          <a:prstGeom prst="rect">
            <a:avLst/>
          </a:prstGeom>
        </p:spPr>
      </p:pic>
      <p:sp>
        <p:nvSpPr>
          <p:cNvPr id="26" name="t181"/>
          <p:cNvSpPr txBox="1"/>
          <p:nvPr/>
        </p:nvSpPr>
        <p:spPr>
          <a:xfrm>
            <a:off x="9418320" y="42519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Idle or active?</a:t>
            </a:r>
            <a:endParaRPr lang="en-US" sz="1600" dirty="0"/>
          </a:p>
        </p:txBody>
      </p:sp>
      <p:sp>
        <p:nvSpPr>
          <p:cNvPr id="27" name="t182"/>
          <p:cNvSpPr txBox="1"/>
          <p:nvPr/>
        </p:nvSpPr>
        <p:spPr>
          <a:xfrm>
            <a:off x="9418320" y="4636008"/>
            <a:ext cx="2103120" cy="731520"/>
          </a:xfrm>
          <a:prstGeom prst="rect">
            <a:avLst/>
          </a:prstGeom>
          <a:noFill/>
          <a:ln/>
        </p:spPr>
        <p:txBody>
          <a:bodyPr wrap="square" lIns="0" tIns="0" rIns="0" bIns="0" rtlCol="0" anchor="t"/>
          <a:lstStyle/>
          <a:p>
            <a:pPr indent="0" marL="0">
              <a:buNone/>
            </a:pPr>
            <a:r>
              <a:rPr lang="en-US" sz="1300" dirty="0">
                <a:solidFill>
                  <a:schemeClr val="tx2"/>
                </a:solidFill>
              </a:rPr>
              <a:t>idle shells dim, then are reaped; running ones never</a:t>
            </a:r>
            <a:endParaRPr lang="en-US" sz="1300" dirty="0"/>
          </a:p>
        </p:txBody>
      </p:sp>
      <p:sp>
        <p:nvSpPr>
          <p:cNvPr id="28" name="arr183"/>
          <p:cNvSpPr/>
          <p:nvPr/>
        </p:nvSpPr>
        <p:spPr>
          <a:xfrm>
            <a:off x="3931920" y="2514600"/>
            <a:ext cx="457200" cy="320040"/>
          </a:xfrm>
          <a:prstGeom prst="rightArrow">
            <a:avLst/>
          </a:prstGeom>
          <a:solidFill>
            <a:schemeClr val="accent3"/>
          </a:solidFill>
          <a:ln w="12700">
            <a:solidFill>
              <a:schemeClr val="accent3"/>
            </a:solidFill>
            <a:prstDash val="solid"/>
          </a:ln>
        </p:spPr>
      </p:sp>
      <p:sp>
        <p:nvSpPr>
          <p:cNvPr id="29" name="arr184"/>
          <p:cNvSpPr/>
          <p:nvPr/>
        </p:nvSpPr>
        <p:spPr>
          <a:xfrm>
            <a:off x="3931920" y="3657600"/>
            <a:ext cx="457200" cy="320040"/>
          </a:xfrm>
          <a:prstGeom prst="rightArrow">
            <a:avLst/>
          </a:prstGeom>
          <a:solidFill>
            <a:schemeClr val="accent3"/>
          </a:solidFill>
          <a:ln w="12700">
            <a:solidFill>
              <a:schemeClr val="accent3"/>
            </a:solidFill>
            <a:prstDash val="solid"/>
          </a:ln>
        </p:spPr>
      </p:sp>
      <p:sp>
        <p:nvSpPr>
          <p:cNvPr id="30" name="la1"/>
          <p:cNvSpPr/>
          <p:nvPr/>
        </p:nvSpPr>
        <p:spPr>
          <a:xfrm>
            <a:off x="7818120" y="2514600"/>
            <a:ext cx="457200" cy="320040"/>
          </a:xfrm>
          <a:prstGeom prst="leftArrow">
            <a:avLst/>
          </a:prstGeom>
          <a:solidFill>
            <a:schemeClr val="accent3"/>
          </a:solidFill>
          <a:ln w="12700">
            <a:solidFill>
              <a:schemeClr val="accent3"/>
            </a:solidFill>
            <a:prstDash val="solid"/>
          </a:ln>
        </p:spPr>
      </p:sp>
      <p:sp>
        <p:nvSpPr>
          <p:cNvPr id="31" name="la2"/>
          <p:cNvSpPr/>
          <p:nvPr/>
        </p:nvSpPr>
        <p:spPr>
          <a:xfrm>
            <a:off x="7818120" y="3657600"/>
            <a:ext cx="457200" cy="320040"/>
          </a:xfrm>
          <a:prstGeom prst="leftArrow">
            <a:avLst/>
          </a:prstGeom>
          <a:solidFill>
            <a:schemeClr val="accent3"/>
          </a:solidFill>
          <a:ln w="12700">
            <a:solidFill>
              <a:schemeClr val="accent3"/>
            </a:solidFill>
            <a:prstDash val="solid"/>
          </a:ln>
        </p:spPr>
      </p:sp>
      <p:sp>
        <p:nvSpPr>
          <p:cNvPr id="32" name="t185"/>
          <p:cNvSpPr txBox="1"/>
          <p:nvPr/>
        </p:nvSpPr>
        <p:spPr>
          <a:xfrm>
            <a:off x="548640" y="5669280"/>
            <a:ext cx="11094415" cy="411480"/>
          </a:xfrm>
          <a:prstGeom prst="rect">
            <a:avLst/>
          </a:prstGeom>
          <a:noFill/>
          <a:ln/>
        </p:spPr>
        <p:txBody>
          <a:bodyPr wrap="square" lIns="0" tIns="0" rIns="0" bIns="0" rtlCol="0" anchor="t"/>
          <a:lstStyle/>
          <a:p>
            <a:pPr indent="0" marL="0">
              <a:buNone/>
            </a:pPr>
            <a:r>
              <a:rPr lang="en-US" sz="1600" i="1" dirty="0">
                <a:solidFill>
                  <a:schemeClr val="tx2"/>
                </a:solidFill>
              </a:rPr>
              <a:t>Start a clone in the browser, finish it in VS Code, check it from SSH. Same shell, same history.</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Long jobs run in the packet, and you can see them</a:t>
            </a:r>
            <a:endParaRPr lang="en-US" sz="3400" dirty="0"/>
          </a:p>
        </p:txBody>
      </p:sp>
      <p:sp>
        <p:nvSpPr>
          <p:cNvPr id="3" name="card186"/>
          <p:cNvSpPr/>
          <p:nvPr/>
        </p:nvSpPr>
        <p:spPr>
          <a:xfrm>
            <a:off x="548640" y="1325880"/>
            <a:ext cx="6309360" cy="4206240"/>
          </a:xfrm>
          <a:prstGeom prst="roundRect">
            <a:avLst>
              <a:gd name="adj" fmla="val 1739"/>
            </a:avLst>
          </a:prstGeom>
          <a:solidFill>
            <a:schemeClr val="bg2"/>
          </a:solidFill>
          <a:ln w="9525">
            <a:solidFill>
              <a:schemeClr val="bg2"/>
            </a:solidFill>
            <a:prstDash val="solid"/>
          </a:ln>
        </p:spPr>
      </p:sp>
      <p:sp>
        <p:nvSpPr>
          <p:cNvPr id="4" name="t187"/>
          <p:cNvSpPr txBox="1"/>
          <p:nvPr/>
        </p:nvSpPr>
        <p:spPr>
          <a:xfrm>
            <a:off x="822960" y="1463040"/>
            <a:ext cx="576072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dfm run regress  ·  job 3</a:t>
            </a:r>
            <a:endParaRPr lang="en-US" sz="1400" dirty="0"/>
          </a:p>
        </p:txBody>
      </p:sp>
      <p:sp>
        <p:nvSpPr>
          <p:cNvPr id="5" name="nd188"/>
          <p:cNvSpPr/>
          <p:nvPr/>
        </p:nvSpPr>
        <p:spPr>
          <a:xfrm>
            <a:off x="822960" y="2103120"/>
            <a:ext cx="1691640" cy="502920"/>
          </a:xfrm>
          <a:prstGeom prst="roundRect">
            <a:avLst>
              <a:gd name="adj" fmla="val 18182"/>
            </a:avLst>
          </a:prstGeom>
          <a:solidFill>
            <a:srgbClr val="2A9D8F"/>
          </a:solidFill>
          <a:ln w="12700">
            <a:solidFill>
              <a:srgbClr val="2A9D8F"/>
            </a:solidFill>
            <a:prstDash val="solid"/>
          </a:ln>
        </p:spPr>
      </p:sp>
      <p:sp>
        <p:nvSpPr>
          <p:cNvPr id="6" name="t189"/>
          <p:cNvSpPr txBox="1"/>
          <p:nvPr/>
        </p:nvSpPr>
        <p:spPr>
          <a:xfrm>
            <a:off x="822960" y="2103120"/>
            <a:ext cx="1691640" cy="5029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fetch</a:t>
            </a:r>
            <a:endParaRPr lang="en-US" sz="1200" dirty="0"/>
          </a:p>
        </p:txBody>
      </p:sp>
      <p:sp>
        <p:nvSpPr>
          <p:cNvPr id="7" name="nd190"/>
          <p:cNvSpPr/>
          <p:nvPr/>
        </p:nvSpPr>
        <p:spPr>
          <a:xfrm>
            <a:off x="2788920" y="2103120"/>
            <a:ext cx="1691640" cy="502920"/>
          </a:xfrm>
          <a:prstGeom prst="roundRect">
            <a:avLst>
              <a:gd name="adj" fmla="val 18182"/>
            </a:avLst>
          </a:prstGeom>
          <a:solidFill>
            <a:srgbClr val="2A9D8F"/>
          </a:solidFill>
          <a:ln w="12700">
            <a:solidFill>
              <a:srgbClr val="2A9D8F"/>
            </a:solidFill>
            <a:prstDash val="solid"/>
          </a:ln>
        </p:spPr>
      </p:sp>
      <p:sp>
        <p:nvSpPr>
          <p:cNvPr id="8" name="t191"/>
          <p:cNvSpPr txBox="1"/>
          <p:nvPr/>
        </p:nvSpPr>
        <p:spPr>
          <a:xfrm>
            <a:off x="2788920" y="2103120"/>
            <a:ext cx="1691640" cy="5029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build.rtl</a:t>
            </a:r>
            <a:endParaRPr lang="en-US" sz="1200" dirty="0"/>
          </a:p>
        </p:txBody>
      </p:sp>
      <p:sp>
        <p:nvSpPr>
          <p:cNvPr id="9" name="nd192"/>
          <p:cNvSpPr/>
          <p:nvPr/>
        </p:nvSpPr>
        <p:spPr>
          <a:xfrm>
            <a:off x="2788920" y="3017520"/>
            <a:ext cx="1691640" cy="502920"/>
          </a:xfrm>
          <a:prstGeom prst="roundRect">
            <a:avLst>
              <a:gd name="adj" fmla="val 18182"/>
            </a:avLst>
          </a:prstGeom>
          <a:solidFill>
            <a:srgbClr val="6B7B8C"/>
          </a:solidFill>
          <a:ln w="12700">
            <a:solidFill>
              <a:srgbClr val="6B7B8C"/>
            </a:solidFill>
            <a:prstDash val="solid"/>
          </a:ln>
        </p:spPr>
      </p:sp>
      <p:sp>
        <p:nvSpPr>
          <p:cNvPr id="10" name="t193"/>
          <p:cNvSpPr txBox="1"/>
          <p:nvPr/>
        </p:nvSpPr>
        <p:spPr>
          <a:xfrm>
            <a:off x="2788920" y="3017520"/>
            <a:ext cx="1691640" cy="5029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build.tb</a:t>
            </a:r>
            <a:endParaRPr lang="en-US" sz="1200" dirty="0"/>
          </a:p>
        </p:txBody>
      </p:sp>
      <p:sp>
        <p:nvSpPr>
          <p:cNvPr id="11" name="nd194"/>
          <p:cNvSpPr/>
          <p:nvPr/>
        </p:nvSpPr>
        <p:spPr>
          <a:xfrm>
            <a:off x="4754880" y="1874520"/>
            <a:ext cx="1691640" cy="502920"/>
          </a:xfrm>
          <a:prstGeom prst="roundRect">
            <a:avLst>
              <a:gd name="adj" fmla="val 18182"/>
            </a:avLst>
          </a:prstGeom>
          <a:solidFill>
            <a:srgbClr val="2A9D8F"/>
          </a:solidFill>
          <a:ln w="12700">
            <a:solidFill>
              <a:srgbClr val="2A9D8F"/>
            </a:solidFill>
            <a:prstDash val="solid"/>
          </a:ln>
        </p:spPr>
      </p:sp>
      <p:sp>
        <p:nvSpPr>
          <p:cNvPr id="12" name="t195"/>
          <p:cNvSpPr txBox="1"/>
          <p:nvPr/>
        </p:nvSpPr>
        <p:spPr>
          <a:xfrm>
            <a:off x="4754880" y="1874520"/>
            <a:ext cx="1691640" cy="5029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sim.rx</a:t>
            </a:r>
            <a:endParaRPr lang="en-US" sz="1200" dirty="0"/>
          </a:p>
        </p:txBody>
      </p:sp>
      <p:sp>
        <p:nvSpPr>
          <p:cNvPr id="13" name="nd196"/>
          <p:cNvSpPr/>
          <p:nvPr/>
        </p:nvSpPr>
        <p:spPr>
          <a:xfrm>
            <a:off x="4754880" y="2651760"/>
            <a:ext cx="1691640" cy="502920"/>
          </a:xfrm>
          <a:prstGeom prst="roundRect">
            <a:avLst>
              <a:gd name="adj" fmla="val 18182"/>
            </a:avLst>
          </a:prstGeom>
          <a:solidFill>
            <a:srgbClr val="E8A33D"/>
          </a:solidFill>
          <a:ln w="12700">
            <a:solidFill>
              <a:srgbClr val="E8A33D"/>
            </a:solidFill>
            <a:prstDash val="solid"/>
          </a:ln>
        </p:spPr>
      </p:sp>
      <p:sp>
        <p:nvSpPr>
          <p:cNvPr id="14" name="t197"/>
          <p:cNvSpPr txBox="1"/>
          <p:nvPr/>
        </p:nvSpPr>
        <p:spPr>
          <a:xfrm>
            <a:off x="4754880" y="2651760"/>
            <a:ext cx="1691640" cy="5029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sim.tx</a:t>
            </a:r>
            <a:endParaRPr lang="en-US" sz="1200" dirty="0"/>
          </a:p>
        </p:txBody>
      </p:sp>
      <p:sp>
        <p:nvSpPr>
          <p:cNvPr id="15" name="nd198"/>
          <p:cNvSpPr/>
          <p:nvPr/>
        </p:nvSpPr>
        <p:spPr>
          <a:xfrm>
            <a:off x="4754880" y="3429000"/>
            <a:ext cx="1691640" cy="502920"/>
          </a:xfrm>
          <a:prstGeom prst="roundRect">
            <a:avLst>
              <a:gd name="adj" fmla="val 18182"/>
            </a:avLst>
          </a:prstGeom>
          <a:solidFill>
            <a:srgbClr val="C8553D"/>
          </a:solidFill>
          <a:ln w="12700">
            <a:solidFill>
              <a:srgbClr val="C8553D"/>
            </a:solidFill>
            <a:prstDash val="solid"/>
          </a:ln>
        </p:spPr>
      </p:sp>
      <p:sp>
        <p:nvSpPr>
          <p:cNvPr id="16" name="t199"/>
          <p:cNvSpPr txBox="1"/>
          <p:nvPr/>
        </p:nvSpPr>
        <p:spPr>
          <a:xfrm>
            <a:off x="4754880" y="3429000"/>
            <a:ext cx="1691640" cy="50292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sim.fifo</a:t>
            </a:r>
            <a:endParaRPr lang="en-US" sz="1200" dirty="0"/>
          </a:p>
        </p:txBody>
      </p:sp>
      <p:sp>
        <p:nvSpPr>
          <p:cNvPr id="17" name="nd200"/>
          <p:cNvSpPr/>
          <p:nvPr/>
        </p:nvSpPr>
        <p:spPr>
          <a:xfrm>
            <a:off x="4754880" y="4206240"/>
            <a:ext cx="1691640" cy="502920"/>
          </a:xfrm>
          <a:prstGeom prst="roundRect">
            <a:avLst>
              <a:gd name="adj" fmla="val 18182"/>
            </a:avLst>
          </a:prstGeom>
          <a:solidFill>
            <a:srgbClr val="C9D1D9"/>
          </a:solidFill>
          <a:ln w="12700">
            <a:solidFill>
              <a:srgbClr val="C9D1D9"/>
            </a:solidFill>
            <a:prstDash val="solid"/>
          </a:ln>
        </p:spPr>
      </p:sp>
      <p:sp>
        <p:nvSpPr>
          <p:cNvPr id="18" name="t201"/>
          <p:cNvSpPr txBox="1"/>
          <p:nvPr/>
        </p:nvSpPr>
        <p:spPr>
          <a:xfrm>
            <a:off x="4754880" y="4206240"/>
            <a:ext cx="16916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cov.merge</a:t>
            </a:r>
            <a:endParaRPr lang="en-US" sz="1200" dirty="0"/>
          </a:p>
        </p:txBody>
      </p:sp>
      <p:sp>
        <p:nvSpPr>
          <p:cNvPr id="19" name="e202"/>
          <p:cNvSpPr/>
          <p:nvPr/>
        </p:nvSpPr>
        <p:spPr>
          <a:xfrm>
            <a:off x="2514600" y="2350008"/>
            <a:ext cx="274320" cy="0"/>
          </a:xfrm>
          <a:prstGeom prst="line">
            <a:avLst/>
          </a:prstGeom>
          <a:noFill/>
          <a:ln w="12700">
            <a:solidFill>
              <a:schemeClr val="accent3"/>
            </a:solidFill>
            <a:prstDash val="solid"/>
          </a:ln>
        </p:spPr>
      </p:sp>
      <p:sp>
        <p:nvSpPr>
          <p:cNvPr id="20" name="e203"/>
          <p:cNvSpPr/>
          <p:nvPr/>
        </p:nvSpPr>
        <p:spPr>
          <a:xfrm>
            <a:off x="2514600" y="2350008"/>
            <a:ext cx="274320" cy="914400"/>
          </a:xfrm>
          <a:prstGeom prst="line">
            <a:avLst/>
          </a:prstGeom>
          <a:noFill/>
          <a:ln w="12700">
            <a:solidFill>
              <a:schemeClr val="accent3"/>
            </a:solidFill>
            <a:prstDash val="solid"/>
          </a:ln>
        </p:spPr>
      </p:sp>
      <p:sp>
        <p:nvSpPr>
          <p:cNvPr id="21" name="e204"/>
          <p:cNvSpPr/>
          <p:nvPr/>
        </p:nvSpPr>
        <p:spPr>
          <a:xfrm flipV="1">
            <a:off x="4480560" y="2121408"/>
            <a:ext cx="274320" cy="228600"/>
          </a:xfrm>
          <a:prstGeom prst="line">
            <a:avLst/>
          </a:prstGeom>
          <a:noFill/>
          <a:ln w="12700">
            <a:solidFill>
              <a:schemeClr val="accent3"/>
            </a:solidFill>
            <a:prstDash val="solid"/>
          </a:ln>
        </p:spPr>
      </p:sp>
      <p:sp>
        <p:nvSpPr>
          <p:cNvPr id="22" name="e205"/>
          <p:cNvSpPr/>
          <p:nvPr/>
        </p:nvSpPr>
        <p:spPr>
          <a:xfrm>
            <a:off x="4480560" y="2350008"/>
            <a:ext cx="274320" cy="548640"/>
          </a:xfrm>
          <a:prstGeom prst="line">
            <a:avLst/>
          </a:prstGeom>
          <a:noFill/>
          <a:ln w="12700">
            <a:solidFill>
              <a:schemeClr val="accent3"/>
            </a:solidFill>
            <a:prstDash val="solid"/>
          </a:ln>
        </p:spPr>
      </p:sp>
      <p:sp>
        <p:nvSpPr>
          <p:cNvPr id="23" name="e206"/>
          <p:cNvSpPr/>
          <p:nvPr/>
        </p:nvSpPr>
        <p:spPr>
          <a:xfrm>
            <a:off x="4480560" y="3264408"/>
            <a:ext cx="274320" cy="411480"/>
          </a:xfrm>
          <a:prstGeom prst="line">
            <a:avLst/>
          </a:prstGeom>
          <a:noFill/>
          <a:ln w="12700">
            <a:solidFill>
              <a:schemeClr val="accent3"/>
            </a:solidFill>
            <a:prstDash val="solid"/>
          </a:ln>
        </p:spPr>
      </p:sp>
      <p:sp>
        <p:nvSpPr>
          <p:cNvPr id="24" name="e207"/>
          <p:cNvSpPr/>
          <p:nvPr/>
        </p:nvSpPr>
        <p:spPr>
          <a:xfrm>
            <a:off x="4480560" y="3264408"/>
            <a:ext cx="274320" cy="1188720"/>
          </a:xfrm>
          <a:prstGeom prst="line">
            <a:avLst/>
          </a:prstGeom>
          <a:noFill/>
          <a:ln w="12700">
            <a:solidFill>
              <a:schemeClr val="accent3"/>
            </a:solidFill>
            <a:prstDash val="solid"/>
          </a:ln>
        </p:spPr>
      </p:sp>
      <p:sp>
        <p:nvSpPr>
          <p:cNvPr id="25" name="pb0"/>
          <p:cNvSpPr/>
          <p:nvPr/>
        </p:nvSpPr>
        <p:spPr>
          <a:xfrm>
            <a:off x="822960" y="4937760"/>
            <a:ext cx="5760720" cy="274320"/>
          </a:xfrm>
          <a:prstGeom prst="roundRect">
            <a:avLst>
              <a:gd name="adj" fmla="val 50000"/>
            </a:avLst>
          </a:prstGeom>
          <a:solidFill>
            <a:srgbClr val="D5DBE1"/>
          </a:solidFill>
          <a:ln w="12700">
            <a:solidFill>
              <a:srgbClr val="D5DBE1"/>
            </a:solidFill>
            <a:prstDash val="solid"/>
          </a:ln>
        </p:spPr>
      </p:sp>
      <p:sp>
        <p:nvSpPr>
          <p:cNvPr id="26" name="pb1"/>
          <p:cNvSpPr/>
          <p:nvPr/>
        </p:nvSpPr>
        <p:spPr>
          <a:xfrm>
            <a:off x="822960" y="4937760"/>
            <a:ext cx="3520440" cy="274320"/>
          </a:xfrm>
          <a:prstGeom prst="roundRect">
            <a:avLst>
              <a:gd name="adj" fmla="val 50000"/>
            </a:avLst>
          </a:prstGeom>
          <a:solidFill>
            <a:schemeClr val="accent2"/>
          </a:solidFill>
          <a:ln w="12700">
            <a:solidFill>
              <a:schemeClr val="accent2"/>
            </a:solidFill>
            <a:prstDash val="solid"/>
          </a:ln>
        </p:spPr>
      </p:sp>
      <p:sp>
        <p:nvSpPr>
          <p:cNvPr id="27" name="t208"/>
          <p:cNvSpPr txBox="1"/>
          <p:nvPr/>
        </p:nvSpPr>
        <p:spPr>
          <a:xfrm>
            <a:off x="822960" y="5230368"/>
            <a:ext cx="5760720" cy="274320"/>
          </a:xfrm>
          <a:prstGeom prst="rect">
            <a:avLst/>
          </a:prstGeom>
          <a:noFill/>
          <a:ln/>
        </p:spPr>
        <p:txBody>
          <a:bodyPr wrap="square" lIns="0" tIns="0" rIns="0" bIns="0" rtlCol="0" anchor="t"/>
          <a:lstStyle/>
          <a:p>
            <a:pPr indent="0" marL="0">
              <a:buNone/>
            </a:pPr>
            <a:r>
              <a:rPr lang="en-US" sz="1200" dirty="0">
                <a:solidFill>
                  <a:schemeClr val="tx2"/>
                </a:solidFill>
              </a:rPr>
              <a:t>~61%  ·  sim.tx seed 42</a:t>
            </a:r>
            <a:endParaRPr lang="en-US" sz="1200" dirty="0"/>
          </a:p>
        </p:txBody>
      </p:sp>
      <p:sp>
        <p:nvSpPr>
          <p:cNvPr id="28" name="t209"/>
          <p:cNvSpPr txBox="1"/>
          <p:nvPr/>
        </p:nvSpPr>
        <p:spPr>
          <a:xfrm>
            <a:off x="7178040" y="1325880"/>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Started by you or the agent</a:t>
            </a:r>
            <a:endParaRPr lang="en-US" sz="1600" dirty="0"/>
          </a:p>
        </p:txBody>
      </p:sp>
      <p:sp>
        <p:nvSpPr>
          <p:cNvPr id="29" name="t210"/>
          <p:cNvSpPr txBox="1"/>
          <p:nvPr/>
        </p:nvSpPr>
        <p:spPr>
          <a:xfrm>
            <a:off x="7178040" y="1691640"/>
            <a:ext cx="4480560" cy="640080"/>
          </a:xfrm>
          <a:prstGeom prst="rect">
            <a:avLst/>
          </a:prstGeom>
          <a:noFill/>
          <a:ln/>
        </p:spPr>
        <p:txBody>
          <a:bodyPr wrap="square" lIns="0" tIns="0" rIns="0" bIns="0" rtlCol="0" anchor="t"/>
          <a:lstStyle/>
          <a:p>
            <a:pPr indent="0" marL="0">
              <a:buNone/>
            </a:pPr>
            <a:r>
              <a:rPr lang="en-US" sz="1300" dirty="0">
                <a:solidFill>
                  <a:schemeClr val="tx2"/>
                </a:solidFill>
              </a:rPr>
              <a:t>wpk job start -- dfm run regress. It outlives the shell and the step</a:t>
            </a:r>
            <a:endParaRPr lang="en-US" sz="1300" dirty="0"/>
          </a:p>
        </p:txBody>
      </p:sp>
      <p:sp>
        <p:nvSpPr>
          <p:cNvPr id="30" name="t211"/>
          <p:cNvSpPr txBox="1"/>
          <p:nvPr/>
        </p:nvSpPr>
        <p:spPr>
          <a:xfrm>
            <a:off x="7178040" y="2395728"/>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Progress from any tool</a:t>
            </a:r>
            <a:endParaRPr lang="en-US" sz="1600" dirty="0"/>
          </a:p>
        </p:txBody>
      </p:sp>
      <p:sp>
        <p:nvSpPr>
          <p:cNvPr id="31" name="t212"/>
          <p:cNvSpPr txBox="1"/>
          <p:nvPr/>
        </p:nvSpPr>
        <p:spPr>
          <a:xfrm>
            <a:off x="7178040" y="2761488"/>
            <a:ext cx="4480560" cy="640080"/>
          </a:xfrm>
          <a:prstGeom prst="rect">
            <a:avLst/>
          </a:prstGeom>
          <a:noFill/>
          <a:ln/>
        </p:spPr>
        <p:txBody>
          <a:bodyPr wrap="square" lIns="0" tIns="0" rIns="0" bIns="0" rtlCol="0" anchor="t"/>
          <a:lstStyle/>
          <a:p>
            <a:pPr indent="0" marL="0">
              <a:buNone/>
            </a:pPr>
            <a:r>
              <a:rPr lang="en-US" sz="1300" dirty="0">
                <a:solidFill>
                  <a:schemeClr val="tx2"/>
                </a:solidFill>
              </a:rPr>
              <a:t>append JSON lines to $WPK_PROGRESS, or let a wpk adapter read the tool</a:t>
            </a:r>
            <a:endParaRPr lang="en-US" sz="1300" dirty="0"/>
          </a:p>
        </p:txBody>
      </p:sp>
      <p:sp>
        <p:nvSpPr>
          <p:cNvPr id="32" name="t213"/>
          <p:cNvSpPr txBox="1"/>
          <p:nvPr/>
        </p:nvSpPr>
        <p:spPr>
          <a:xfrm>
            <a:off x="7178040" y="3465576"/>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dv-flow-mgr as it is</a:t>
            </a:r>
            <a:endParaRPr lang="en-US" sz="1600" dirty="0"/>
          </a:p>
        </p:txBody>
      </p:sp>
      <p:sp>
        <p:nvSpPr>
          <p:cNvPr id="33" name="t214"/>
          <p:cNvSpPr txBox="1"/>
          <p:nvPr/>
        </p:nvSpPr>
        <p:spPr>
          <a:xfrm>
            <a:off x="7178040" y="3831336"/>
            <a:ext cx="4480560" cy="640080"/>
          </a:xfrm>
          <a:prstGeom prst="rect">
            <a:avLst/>
          </a:prstGeom>
          <a:noFill/>
          <a:ln/>
        </p:spPr>
        <p:txBody>
          <a:bodyPr wrap="square" lIns="0" tIns="0" rIns="0" bIns="0" rtlCol="0" anchor="t"/>
          <a:lstStyle/>
          <a:p>
            <a:pPr indent="0" marL="0">
              <a:buNone/>
            </a:pPr>
            <a:r>
              <a:rPr lang="en-US" sz="1300" dirty="0">
                <a:solidFill>
                  <a:schemeClr val="tx2"/>
                </a:solidFill>
              </a:rPr>
              <a:t>graph from dfm graph; state from its log and exec_data.json; no change upstream</a:t>
            </a:r>
            <a:endParaRPr lang="en-US" sz="1300" dirty="0"/>
          </a:p>
        </p:txBody>
      </p:sp>
      <p:sp>
        <p:nvSpPr>
          <p:cNvPr id="34" name="t215"/>
          <p:cNvSpPr txBox="1"/>
          <p:nvPr/>
        </p:nvSpPr>
        <p:spPr>
          <a:xfrm>
            <a:off x="7178040" y="4535424"/>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agent waits, not burns</a:t>
            </a:r>
            <a:endParaRPr lang="en-US" sz="1600" dirty="0"/>
          </a:p>
        </p:txBody>
      </p:sp>
      <p:sp>
        <p:nvSpPr>
          <p:cNvPr id="35" name="t216"/>
          <p:cNvSpPr txBox="1"/>
          <p:nvPr/>
        </p:nvSpPr>
        <p:spPr>
          <a:xfrm>
            <a:off x="7178040" y="4901184"/>
            <a:ext cx="4480560" cy="640080"/>
          </a:xfrm>
          <a:prstGeom prst="rect">
            <a:avLst/>
          </a:prstGeom>
          <a:noFill/>
          <a:ln/>
        </p:spPr>
        <p:txBody>
          <a:bodyPr wrap="square" lIns="0" tIns="0" rIns="0" bIns="0" rtlCol="0" anchor="t"/>
          <a:lstStyle/>
          <a:p>
            <a:pPr indent="0" marL="0">
              <a:buNone/>
            </a:pPr>
            <a:r>
              <a:rPr lang="en-US" sz="1300" dirty="0">
                <a:solidFill>
                  <a:schemeClr val="tx2"/>
                </a:solidFill>
              </a:rPr>
              <a:t>resume: wait job:3. The packet sleeps and wakes with the exit code and log tail</a:t>
            </a:r>
            <a:endParaRPr lang="en-US" sz="1300" dirty="0"/>
          </a:p>
        </p:txBody>
      </p:sp>
      <p:sp>
        <p:nvSpPr>
          <p:cNvPr id="36" name="pill217"/>
          <p:cNvSpPr/>
          <p:nvPr/>
        </p:nvSpPr>
        <p:spPr>
          <a:xfrm>
            <a:off x="7178040" y="5669280"/>
            <a:ext cx="4480560" cy="292608"/>
          </a:xfrm>
          <a:prstGeom prst="roundRect">
            <a:avLst>
              <a:gd name="adj" fmla="val 50000"/>
            </a:avLst>
          </a:prstGeom>
          <a:solidFill>
            <a:schemeClr val="tx2"/>
          </a:solidFill>
          <a:ln w="12700">
            <a:solidFill>
              <a:schemeClr val="tx2"/>
            </a:solidFill>
            <a:prstDash val="solid"/>
          </a:ln>
        </p:spPr>
      </p:sp>
      <p:sp>
        <p:nvSpPr>
          <p:cNvPr id="37" name="t218"/>
          <p:cNvSpPr txBox="1"/>
          <p:nvPr/>
        </p:nvSpPr>
        <p:spPr>
          <a:xfrm>
            <a:off x="7178040" y="5669280"/>
            <a:ext cx="4480560" cy="292608"/>
          </a:xfrm>
          <a:prstGeom prst="rect">
            <a:avLst/>
          </a:prstGeom>
          <a:noFill/>
          <a:ln/>
        </p:spPr>
        <p:txBody>
          <a:bodyPr wrap="square" lIns="0" tIns="0" rIns="0" bIns="0" rtlCol="0" anchor="ctr"/>
          <a:lstStyle/>
          <a:p>
            <a:pPr algn="ctr" indent="0" marL="0">
              <a:buNone/>
            </a:pPr>
            <a:r>
              <a:rPr lang="en-US" sz="1100" b="1" dirty="0">
                <a:solidFill>
                  <a:schemeClr val="bg1"/>
                </a:solidFill>
              </a:rPr>
              <a:t>Heavy jobs: SLURM backend, licence pools</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Review and steer from VS Code</a:t>
            </a:r>
            <a:endParaRPr lang="en-US" sz="3400" dirty="0"/>
          </a:p>
        </p:txBody>
      </p:sp>
      <p:sp>
        <p:nvSpPr>
          <p:cNvPr id="3" name="card219"/>
          <p:cNvSpPr/>
          <p:nvPr/>
        </p:nvSpPr>
        <p:spPr>
          <a:xfrm>
            <a:off x="548640" y="1371600"/>
            <a:ext cx="5422392" cy="1737360"/>
          </a:xfrm>
          <a:prstGeom prst="roundRect">
            <a:avLst>
              <a:gd name="adj" fmla="val 4211"/>
            </a:avLst>
          </a:prstGeom>
          <a:solidFill>
            <a:schemeClr val="bg2"/>
          </a:solidFill>
          <a:ln w="9525">
            <a:solidFill>
              <a:schemeClr val="bg2"/>
            </a:solidFill>
            <a:prstDash val="solid"/>
          </a:ln>
        </p:spPr>
      </p:sp>
      <p:sp>
        <p:nvSpPr>
          <p:cNvPr id="4" name="ic220"/>
          <p:cNvSpPr/>
          <p:nvPr/>
        </p:nvSpPr>
        <p:spPr>
          <a:xfrm>
            <a:off x="822960" y="1691640"/>
            <a:ext cx="777240" cy="777240"/>
          </a:xfrm>
          <a:prstGeom prst="ellipse">
            <a:avLst/>
          </a:prstGeom>
          <a:solidFill>
            <a:schemeClr val="accent2"/>
          </a:solidFill>
          <a:ln w="12700">
            <a:solidFill>
              <a:schemeClr val="accent2"/>
            </a:solidFill>
            <a:prstDash val="solid"/>
          </a:ln>
        </p:spPr>
      </p:sp>
      <p:pic>
        <p:nvPicPr>
          <p:cNvPr id="5" name="icimg221"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222"/>
          <p:cNvSpPr txBox="1"/>
          <p:nvPr/>
        </p:nvSpPr>
        <p:spPr>
          <a:xfrm>
            <a:off x="1828800" y="1600200"/>
            <a:ext cx="3931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Open in VS Code</a:t>
            </a:r>
            <a:endParaRPr lang="en-US" sz="1800" dirty="0"/>
          </a:p>
        </p:txBody>
      </p:sp>
      <p:sp>
        <p:nvSpPr>
          <p:cNvPr id="7" name="t223"/>
          <p:cNvSpPr txBox="1"/>
          <p:nvPr/>
        </p:nvSpPr>
        <p:spPr>
          <a:xfrm>
            <a:off x="1828800" y="2029968"/>
            <a:ext cx="3931920" cy="1005840"/>
          </a:xfrm>
          <a:prstGeom prst="rect">
            <a:avLst/>
          </a:prstGeom>
          <a:noFill/>
          <a:ln/>
        </p:spPr>
        <p:txBody>
          <a:bodyPr wrap="square" lIns="0" tIns="0" rIns="0" bIns="0" rtlCol="0" anchor="t"/>
          <a:lstStyle/>
          <a:p>
            <a:pPr indent="0" marL="0">
              <a:buNone/>
            </a:pPr>
            <a:r>
              <a:rPr lang="en-US" sz="1400" dirty="0">
                <a:solidFill>
                  <a:schemeClr val="tx2"/>
                </a:solidFill>
              </a:rPr>
              <a:t>Remote-SSH to the host that holds the packet, with its worktrees, plan and tasks. Read-only while the runner owns it</a:t>
            </a:r>
            <a:endParaRPr lang="en-US" sz="1400" dirty="0"/>
          </a:p>
        </p:txBody>
      </p:sp>
      <p:sp>
        <p:nvSpPr>
          <p:cNvPr id="8" name="card224"/>
          <p:cNvSpPr/>
          <p:nvPr/>
        </p:nvSpPr>
        <p:spPr>
          <a:xfrm>
            <a:off x="6217920" y="1371600"/>
            <a:ext cx="5422392" cy="1737360"/>
          </a:xfrm>
          <a:prstGeom prst="roundRect">
            <a:avLst>
              <a:gd name="adj" fmla="val 4211"/>
            </a:avLst>
          </a:prstGeom>
          <a:solidFill>
            <a:schemeClr val="bg2"/>
          </a:solidFill>
          <a:ln w="9525">
            <a:solidFill>
              <a:schemeClr val="bg2"/>
            </a:solidFill>
            <a:prstDash val="solid"/>
          </a:ln>
        </p:spPr>
      </p:sp>
      <p:sp>
        <p:nvSpPr>
          <p:cNvPr id="9" name="ic225"/>
          <p:cNvSpPr/>
          <p:nvPr/>
        </p:nvSpPr>
        <p:spPr>
          <a:xfrm>
            <a:off x="6492240" y="1691640"/>
            <a:ext cx="777240" cy="777240"/>
          </a:xfrm>
          <a:prstGeom prst="ellipse">
            <a:avLst/>
          </a:prstGeom>
          <a:solidFill>
            <a:schemeClr val="accent2"/>
          </a:solidFill>
          <a:ln w="12700">
            <a:solidFill>
              <a:schemeClr val="accent2"/>
            </a:solidFill>
            <a:prstDash val="solid"/>
          </a:ln>
        </p:spPr>
      </p:sp>
      <p:pic>
        <p:nvPicPr>
          <p:cNvPr id="10" name="icimg226" descr="preencoded.png">    </p:cNvPr>
          <p:cNvPicPr>
            <a:picLocks noChangeAspect="1"/>
          </p:cNvPicPr>
          <p:nvPr/>
        </p:nvPicPr>
        <p:blipFill>
          <a:blip r:embed="rId2"/>
          <a:stretch>
            <a:fillRect/>
          </a:stretch>
        </p:blipFill>
        <p:spPr>
          <a:xfrm>
            <a:off x="6686550" y="1885950"/>
            <a:ext cx="388620" cy="388620"/>
          </a:xfrm>
          <a:prstGeom prst="rect">
            <a:avLst/>
          </a:prstGeom>
        </p:spPr>
      </p:pic>
      <p:sp>
        <p:nvSpPr>
          <p:cNvPr id="11" name="t227"/>
          <p:cNvSpPr txBox="1"/>
          <p:nvPr/>
        </p:nvSpPr>
        <p:spPr>
          <a:xfrm>
            <a:off x="7498080" y="1600200"/>
            <a:ext cx="3931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Review</a:t>
            </a:r>
            <a:endParaRPr lang="en-US" sz="1800" dirty="0"/>
          </a:p>
        </p:txBody>
      </p:sp>
      <p:sp>
        <p:nvSpPr>
          <p:cNvPr id="12" name="t228"/>
          <p:cNvSpPr txBox="1"/>
          <p:nvPr/>
        </p:nvSpPr>
        <p:spPr>
          <a:xfrm>
            <a:off x="7498080" y="2029968"/>
            <a:ext cx="3931920" cy="1005840"/>
          </a:xfrm>
          <a:prstGeom prst="rect">
            <a:avLst/>
          </a:prstGeom>
          <a:noFill/>
          <a:ln/>
        </p:spPr>
        <p:txBody>
          <a:bodyPr wrap="square" lIns="0" tIns="0" rIns="0" bIns="0" rtlCol="0" anchor="t"/>
          <a:lstStyle/>
          <a:p>
            <a:pPr indent="0" marL="0">
              <a:buNone/>
            </a:pPr>
            <a:r>
              <a:rPr lang="en-US" sz="1400" dirty="0">
                <a:solidFill>
                  <a:schemeClr val="tx2"/>
                </a:solidFill>
              </a:rPr>
              <a:t>the runner's commits since your hand-off, as one diff; or open the code as it was at step N</a:t>
            </a:r>
            <a:endParaRPr lang="en-US" sz="1400" dirty="0"/>
          </a:p>
        </p:txBody>
      </p:sp>
      <p:sp>
        <p:nvSpPr>
          <p:cNvPr id="13" name="card229"/>
          <p:cNvSpPr/>
          <p:nvPr/>
        </p:nvSpPr>
        <p:spPr>
          <a:xfrm>
            <a:off x="548640" y="3337560"/>
            <a:ext cx="5422392" cy="1737360"/>
          </a:xfrm>
          <a:prstGeom prst="roundRect">
            <a:avLst>
              <a:gd name="adj" fmla="val 4211"/>
            </a:avLst>
          </a:prstGeom>
          <a:solidFill>
            <a:schemeClr val="bg2"/>
          </a:solidFill>
          <a:ln w="9525">
            <a:solidFill>
              <a:schemeClr val="bg2"/>
            </a:solidFill>
            <a:prstDash val="solid"/>
          </a:ln>
        </p:spPr>
      </p:sp>
      <p:sp>
        <p:nvSpPr>
          <p:cNvPr id="14" name="ic230"/>
          <p:cNvSpPr/>
          <p:nvPr/>
        </p:nvSpPr>
        <p:spPr>
          <a:xfrm>
            <a:off x="822960" y="3657600"/>
            <a:ext cx="777240" cy="777240"/>
          </a:xfrm>
          <a:prstGeom prst="ellipse">
            <a:avLst/>
          </a:prstGeom>
          <a:solidFill>
            <a:schemeClr val="accent1"/>
          </a:solidFill>
          <a:ln w="12700">
            <a:solidFill>
              <a:schemeClr val="accent1"/>
            </a:solidFill>
            <a:prstDash val="solid"/>
          </a:ln>
        </p:spPr>
      </p:sp>
      <p:pic>
        <p:nvPicPr>
          <p:cNvPr id="15" name="icimg231" descr="preencoded.png">    </p:cNvPr>
          <p:cNvPicPr>
            <a:picLocks noChangeAspect="1"/>
          </p:cNvPicPr>
          <p:nvPr/>
        </p:nvPicPr>
        <p:blipFill>
          <a:blip r:embed="rId3"/>
          <a:stretch>
            <a:fillRect/>
          </a:stretch>
        </p:blipFill>
        <p:spPr>
          <a:xfrm>
            <a:off x="1017270" y="3851910"/>
            <a:ext cx="388620" cy="388620"/>
          </a:xfrm>
          <a:prstGeom prst="rect">
            <a:avLst/>
          </a:prstGeom>
        </p:spPr>
      </p:pic>
      <p:sp>
        <p:nvSpPr>
          <p:cNvPr id="16" name="t232"/>
          <p:cNvSpPr txBox="1"/>
          <p:nvPr/>
        </p:nvSpPr>
        <p:spPr>
          <a:xfrm>
            <a:off x="1828800" y="3566160"/>
            <a:ext cx="3931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Continue the conversation</a:t>
            </a:r>
            <a:endParaRPr lang="en-US" sz="1800" dirty="0"/>
          </a:p>
        </p:txBody>
      </p:sp>
      <p:sp>
        <p:nvSpPr>
          <p:cNvPr id="17" name="t233"/>
          <p:cNvSpPr txBox="1"/>
          <p:nvPr/>
        </p:nvSpPr>
        <p:spPr>
          <a:xfrm>
            <a:off x="1828800" y="3995928"/>
            <a:ext cx="3931920" cy="1005840"/>
          </a:xfrm>
          <a:prstGeom prst="rect">
            <a:avLst/>
          </a:prstGeom>
          <a:noFill/>
          <a:ln/>
        </p:spPr>
        <p:txBody>
          <a:bodyPr wrap="square" lIns="0" tIns="0" rIns="0" bIns="0" rtlCol="0" anchor="t"/>
          <a:lstStyle/>
          <a:p>
            <a:pPr indent="0" marL="0">
              <a:buNone/>
            </a:pPr>
            <a:r>
              <a:rPr lang="en-US" sz="1400" dirty="0">
                <a:solidFill>
                  <a:schemeClr val="tx2"/>
                </a:solidFill>
              </a:rPr>
              <a:t>resume the step's session in a fork and ask why it did that; send what you learn as a note</a:t>
            </a:r>
            <a:endParaRPr lang="en-US" sz="1400" dirty="0"/>
          </a:p>
        </p:txBody>
      </p:sp>
      <p:sp>
        <p:nvSpPr>
          <p:cNvPr id="18" name="card234"/>
          <p:cNvSpPr/>
          <p:nvPr/>
        </p:nvSpPr>
        <p:spPr>
          <a:xfrm>
            <a:off x="6217920" y="3337560"/>
            <a:ext cx="5422392" cy="1737360"/>
          </a:xfrm>
          <a:prstGeom prst="roundRect">
            <a:avLst>
              <a:gd name="adj" fmla="val 4211"/>
            </a:avLst>
          </a:prstGeom>
          <a:solidFill>
            <a:schemeClr val="bg2"/>
          </a:solidFill>
          <a:ln w="9525">
            <a:solidFill>
              <a:schemeClr val="bg2"/>
            </a:solidFill>
            <a:prstDash val="solid"/>
          </a:ln>
        </p:spPr>
      </p:sp>
      <p:sp>
        <p:nvSpPr>
          <p:cNvPr id="19" name="ic235"/>
          <p:cNvSpPr/>
          <p:nvPr/>
        </p:nvSpPr>
        <p:spPr>
          <a:xfrm>
            <a:off x="6492240" y="3657600"/>
            <a:ext cx="777240" cy="777240"/>
          </a:xfrm>
          <a:prstGeom prst="ellipse">
            <a:avLst/>
          </a:prstGeom>
          <a:solidFill>
            <a:schemeClr val="accent1"/>
          </a:solidFill>
          <a:ln w="12700">
            <a:solidFill>
              <a:schemeClr val="accent1"/>
            </a:solidFill>
            <a:prstDash val="solid"/>
          </a:ln>
        </p:spPr>
      </p:sp>
      <p:pic>
        <p:nvPicPr>
          <p:cNvPr id="20" name="icimg236" descr="preencoded.png">    </p:cNvPr>
          <p:cNvPicPr>
            <a:picLocks noChangeAspect="1"/>
          </p:cNvPicPr>
          <p:nvPr/>
        </p:nvPicPr>
        <p:blipFill>
          <a:blip r:embed="rId4"/>
          <a:stretch>
            <a:fillRect/>
          </a:stretch>
        </p:blipFill>
        <p:spPr>
          <a:xfrm>
            <a:off x="6686550" y="3851910"/>
            <a:ext cx="388620" cy="388620"/>
          </a:xfrm>
          <a:prstGeom prst="rect">
            <a:avLst/>
          </a:prstGeom>
        </p:spPr>
      </p:pic>
      <p:sp>
        <p:nvSpPr>
          <p:cNvPr id="21" name="t237"/>
          <p:cNvSpPr txBox="1"/>
          <p:nvPr/>
        </p:nvSpPr>
        <p:spPr>
          <a:xfrm>
            <a:off x="7498080" y="3566160"/>
            <a:ext cx="3931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Status bar</a:t>
            </a:r>
            <a:endParaRPr lang="en-US" sz="1800" dirty="0"/>
          </a:p>
        </p:txBody>
      </p:sp>
      <p:sp>
        <p:nvSpPr>
          <p:cNvPr id="22" name="t238"/>
          <p:cNvSpPr txBox="1"/>
          <p:nvPr/>
        </p:nvSpPr>
        <p:spPr>
          <a:xfrm>
            <a:off x="7498080" y="3995928"/>
            <a:ext cx="3931920" cy="1005840"/>
          </a:xfrm>
          <a:prstGeom prst="rect">
            <a:avLst/>
          </a:prstGeom>
          <a:noFill/>
          <a:ln/>
        </p:spPr>
        <p:txBody>
          <a:bodyPr wrap="square" lIns="0" tIns="0" rIns="0" bIns="0" rtlCol="0" anchor="t"/>
          <a:lstStyle/>
          <a:p>
            <a:pPr indent="0" marL="0">
              <a:buNone/>
            </a:pPr>
            <a:r>
              <a:rPr lang="en-US" sz="1400" dirty="0">
                <a:solidFill>
                  <a:schemeClr val="tx2"/>
                </a:solidFill>
              </a:rPr>
              <a:t>this packet's owner and state, and the Needs-you count across every packet</a:t>
            </a:r>
            <a:endParaRPr lang="en-US" sz="1400" dirty="0"/>
          </a:p>
        </p:txBody>
      </p:sp>
      <p:sp>
        <p:nvSpPr>
          <p:cNvPr id="23" name="card239"/>
          <p:cNvSpPr/>
          <p:nvPr/>
        </p:nvSpPr>
        <p:spPr>
          <a:xfrm>
            <a:off x="548640" y="5440680"/>
            <a:ext cx="11094415" cy="685800"/>
          </a:xfrm>
          <a:prstGeom prst="roundRect">
            <a:avLst>
              <a:gd name="adj" fmla="val 10667"/>
            </a:avLst>
          </a:prstGeom>
          <a:solidFill>
            <a:schemeClr val="tx1"/>
          </a:solidFill>
          <a:ln w="9525">
            <a:solidFill>
              <a:schemeClr val="tx1"/>
            </a:solidFill>
            <a:prstDash val="solid"/>
          </a:ln>
        </p:spPr>
      </p:sp>
      <p:sp>
        <p:nvSpPr>
          <p:cNvPr id="24" name="t240"/>
          <p:cNvSpPr txBox="1"/>
          <p:nvPr/>
        </p:nvSpPr>
        <p:spPr>
          <a:xfrm>
            <a:off x="822960" y="5623560"/>
            <a:ext cx="10637215" cy="365760"/>
          </a:xfrm>
          <a:prstGeom prst="rect">
            <a:avLst/>
          </a:prstGeom>
          <a:noFill/>
          <a:ln/>
        </p:spPr>
        <p:txBody>
          <a:bodyPr wrap="square" lIns="0" tIns="0" rIns="0" bIns="0" rtlCol="0" anchor="t"/>
          <a:lstStyle/>
          <a:p>
            <a:pPr indent="0" marL="0">
              <a:buNone/>
            </a:pPr>
            <a:r>
              <a:rPr lang="en-US" sz="1300" dirty="0">
                <a:solidFill>
                  <a:srgbClr val="E8A33D"/>
                </a:solidFill>
                <a:latin typeface="Courier New" pitchFamily="34" charset="0"/>
                <a:ea typeface="Courier New" pitchFamily="34" charset="-122"/>
                <a:cs typeface="Courier New" pitchFamily="34" charset="-120"/>
              </a:rPr>
              <a:t>vscode://vscode-remote/ssh-remote+a9550/…/dvs-enh/packets/7f3c…/.wpk/packet.code-workspace</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Your week, as a member of a team</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Packets are how work moves between people, and between CI and people.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Step into the bug: from CI failure to open packet</a:t>
            </a:r>
            <a:endParaRPr lang="en-US" sz="3400" dirty="0"/>
          </a:p>
        </p:txBody>
      </p:sp>
      <p:sp>
        <p:nvSpPr>
          <p:cNvPr id="3" name="card241"/>
          <p:cNvSpPr/>
          <p:nvPr/>
        </p:nvSpPr>
        <p:spPr>
          <a:xfrm>
            <a:off x="548640" y="1463040"/>
            <a:ext cx="2011680" cy="3291840"/>
          </a:xfrm>
          <a:prstGeom prst="roundRect">
            <a:avLst>
              <a:gd name="adj" fmla="val 3636"/>
            </a:avLst>
          </a:prstGeom>
          <a:solidFill>
            <a:schemeClr val="bg2"/>
          </a:solidFill>
          <a:ln w="9525">
            <a:solidFill>
              <a:schemeClr val="bg2"/>
            </a:solidFill>
            <a:prstDash val="solid"/>
          </a:ln>
        </p:spPr>
      </p:sp>
      <p:sp>
        <p:nvSpPr>
          <p:cNvPr id="4" name="ic242"/>
          <p:cNvSpPr/>
          <p:nvPr/>
        </p:nvSpPr>
        <p:spPr>
          <a:xfrm>
            <a:off x="1165860" y="1691640"/>
            <a:ext cx="777240" cy="777240"/>
          </a:xfrm>
          <a:prstGeom prst="ellipse">
            <a:avLst/>
          </a:prstGeom>
          <a:solidFill>
            <a:schemeClr val="accent4"/>
          </a:solidFill>
          <a:ln w="12700">
            <a:solidFill>
              <a:schemeClr val="accent4"/>
            </a:solidFill>
            <a:prstDash val="solid"/>
          </a:ln>
        </p:spPr>
      </p:sp>
      <p:pic>
        <p:nvPicPr>
          <p:cNvPr id="5" name="icimg243" descr="preencoded.png">    </p:cNvPr>
          <p:cNvPicPr>
            <a:picLocks noChangeAspect="1"/>
          </p:cNvPicPr>
          <p:nvPr/>
        </p:nvPicPr>
        <p:blipFill>
          <a:blip r:embed="rId1"/>
          <a:stretch>
            <a:fillRect/>
          </a:stretch>
        </p:blipFill>
        <p:spPr>
          <a:xfrm>
            <a:off x="1360170" y="1885950"/>
            <a:ext cx="388620" cy="388620"/>
          </a:xfrm>
          <a:prstGeom prst="rect">
            <a:avLst/>
          </a:prstGeom>
        </p:spPr>
      </p:pic>
      <p:sp>
        <p:nvSpPr>
          <p:cNvPr id="6" name="t244"/>
          <p:cNvSpPr txBox="1"/>
          <p:nvPr/>
        </p:nvSpPr>
        <p:spPr>
          <a:xfrm>
            <a:off x="685800" y="2606040"/>
            <a:ext cx="173736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Cambria" pitchFamily="34" charset="0"/>
                <a:ea typeface="Cambria" pitchFamily="34" charset="-122"/>
                <a:cs typeface="Cambria" pitchFamily="34" charset="-120"/>
              </a:rPr>
              <a:t>CI fails</a:t>
            </a:r>
            <a:endParaRPr lang="en-US" sz="1700" dirty="0"/>
          </a:p>
        </p:txBody>
      </p:sp>
      <p:sp>
        <p:nvSpPr>
          <p:cNvPr id="7" name="t245"/>
          <p:cNvSpPr txBox="1"/>
          <p:nvPr/>
        </p:nvSpPr>
        <p:spPr>
          <a:xfrm>
            <a:off x="731520" y="3063240"/>
            <a:ext cx="1645920" cy="1645920"/>
          </a:xfrm>
          <a:prstGeom prst="rect">
            <a:avLst/>
          </a:prstGeom>
          <a:noFill/>
          <a:ln/>
        </p:spPr>
        <p:txBody>
          <a:bodyPr wrap="square" lIns="0" tIns="0" rIns="0" bIns="0" rtlCol="0" anchor="t"/>
          <a:lstStyle/>
          <a:p>
            <a:pPr indent="0" marL="0">
              <a:buNone/>
            </a:pPr>
            <a:r>
              <a:rPr lang="en-US" sz="1300" dirty="0">
                <a:solidFill>
                  <a:schemeClr val="tx2"/>
                </a:solidFill>
              </a:rPr>
              <a:t>ci/run.sh calls wpk export --from-ci: repo, commit, test, seed, command, log</a:t>
            </a:r>
            <a:endParaRPr lang="en-US" sz="1300" dirty="0"/>
          </a:p>
        </p:txBody>
      </p:sp>
      <p:sp>
        <p:nvSpPr>
          <p:cNvPr id="8" name="arr246"/>
          <p:cNvSpPr/>
          <p:nvPr/>
        </p:nvSpPr>
        <p:spPr>
          <a:xfrm>
            <a:off x="2578608" y="2926080"/>
            <a:ext cx="219456" cy="274320"/>
          </a:xfrm>
          <a:prstGeom prst="rightArrow">
            <a:avLst/>
          </a:prstGeom>
          <a:solidFill>
            <a:schemeClr val="accent3"/>
          </a:solidFill>
          <a:ln w="12700">
            <a:solidFill>
              <a:schemeClr val="accent3"/>
            </a:solidFill>
            <a:prstDash val="solid"/>
          </a:ln>
        </p:spPr>
      </p:sp>
      <p:sp>
        <p:nvSpPr>
          <p:cNvPr id="9" name="card247"/>
          <p:cNvSpPr/>
          <p:nvPr/>
        </p:nvSpPr>
        <p:spPr>
          <a:xfrm>
            <a:off x="2816352" y="1463040"/>
            <a:ext cx="2011680" cy="3291840"/>
          </a:xfrm>
          <a:prstGeom prst="roundRect">
            <a:avLst>
              <a:gd name="adj" fmla="val 3636"/>
            </a:avLst>
          </a:prstGeom>
          <a:solidFill>
            <a:schemeClr val="bg2"/>
          </a:solidFill>
          <a:ln w="9525">
            <a:solidFill>
              <a:schemeClr val="bg2"/>
            </a:solidFill>
            <a:prstDash val="solid"/>
          </a:ln>
        </p:spPr>
      </p:sp>
      <p:sp>
        <p:nvSpPr>
          <p:cNvPr id="10" name="ic248"/>
          <p:cNvSpPr/>
          <p:nvPr/>
        </p:nvSpPr>
        <p:spPr>
          <a:xfrm>
            <a:off x="3433572" y="1691640"/>
            <a:ext cx="777240" cy="777240"/>
          </a:xfrm>
          <a:prstGeom prst="ellipse">
            <a:avLst/>
          </a:prstGeom>
          <a:solidFill>
            <a:schemeClr val="accent2"/>
          </a:solidFill>
          <a:ln w="12700">
            <a:solidFill>
              <a:schemeClr val="accent2"/>
            </a:solidFill>
            <a:prstDash val="solid"/>
          </a:ln>
        </p:spPr>
      </p:sp>
      <p:pic>
        <p:nvPicPr>
          <p:cNvPr id="11" name="icimg249" descr="preencoded.png">    </p:cNvPr>
          <p:cNvPicPr>
            <a:picLocks noChangeAspect="1"/>
          </p:cNvPicPr>
          <p:nvPr/>
        </p:nvPicPr>
        <p:blipFill>
          <a:blip r:embed="rId2"/>
          <a:stretch>
            <a:fillRect/>
          </a:stretch>
        </p:blipFill>
        <p:spPr>
          <a:xfrm>
            <a:off x="3627882" y="1885950"/>
            <a:ext cx="388620" cy="388620"/>
          </a:xfrm>
          <a:prstGeom prst="rect">
            <a:avLst/>
          </a:prstGeom>
        </p:spPr>
      </p:pic>
      <p:sp>
        <p:nvSpPr>
          <p:cNvPr id="12" name="t250"/>
          <p:cNvSpPr txBox="1"/>
          <p:nvPr/>
        </p:nvSpPr>
        <p:spPr>
          <a:xfrm>
            <a:off x="2953512" y="2606040"/>
            <a:ext cx="173736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Cambria" pitchFamily="34" charset="0"/>
                <a:ea typeface="Cambria" pitchFamily="34" charset="-122"/>
                <a:cs typeface="Cambria" pitchFamily="34" charset="-120"/>
              </a:rPr>
              <a:t>A bundle</a:t>
            </a:r>
            <a:endParaRPr lang="en-US" sz="1700" dirty="0"/>
          </a:p>
        </p:txBody>
      </p:sp>
      <p:sp>
        <p:nvSpPr>
          <p:cNvPr id="13" name="t251"/>
          <p:cNvSpPr txBox="1"/>
          <p:nvPr/>
        </p:nvSpPr>
        <p:spPr>
          <a:xfrm>
            <a:off x="2999232" y="3063240"/>
            <a:ext cx="1645920" cy="1645920"/>
          </a:xfrm>
          <a:prstGeom prst="rect">
            <a:avLst/>
          </a:prstGeom>
          <a:noFill/>
          <a:ln/>
        </p:spPr>
        <p:txBody>
          <a:bodyPr wrap="square" lIns="0" tIns="0" rIns="0" bIns="0" rtlCol="0" anchor="t"/>
          <a:lstStyle/>
          <a:p>
            <a:pPr indent="0" marL="0">
              <a:buNone/>
            </a:pPr>
            <a:r>
              <a:rPr lang="en-US" sz="1300" dirty="0">
                <a:solidFill>
                  <a:schemeClr val="tx2"/>
                </a:solidFill>
              </a:rPr>
              <a:t>uploaded with the run's artifacts, on Forgejo and GitHub alike</a:t>
            </a:r>
            <a:endParaRPr lang="en-US" sz="1300" dirty="0"/>
          </a:p>
        </p:txBody>
      </p:sp>
      <p:sp>
        <p:nvSpPr>
          <p:cNvPr id="14" name="arr252"/>
          <p:cNvSpPr/>
          <p:nvPr/>
        </p:nvSpPr>
        <p:spPr>
          <a:xfrm>
            <a:off x="4846320" y="2926080"/>
            <a:ext cx="219456" cy="274320"/>
          </a:xfrm>
          <a:prstGeom prst="rightArrow">
            <a:avLst/>
          </a:prstGeom>
          <a:solidFill>
            <a:schemeClr val="accent3"/>
          </a:solidFill>
          <a:ln w="12700">
            <a:solidFill>
              <a:schemeClr val="accent3"/>
            </a:solidFill>
            <a:prstDash val="solid"/>
          </a:ln>
        </p:spPr>
      </p:sp>
      <p:sp>
        <p:nvSpPr>
          <p:cNvPr id="15" name="card253"/>
          <p:cNvSpPr/>
          <p:nvPr/>
        </p:nvSpPr>
        <p:spPr>
          <a:xfrm>
            <a:off x="5084064" y="1463040"/>
            <a:ext cx="2011680" cy="3291840"/>
          </a:xfrm>
          <a:prstGeom prst="roundRect">
            <a:avLst>
              <a:gd name="adj" fmla="val 3636"/>
            </a:avLst>
          </a:prstGeom>
          <a:solidFill>
            <a:schemeClr val="bg2"/>
          </a:solidFill>
          <a:ln w="9525">
            <a:solidFill>
              <a:schemeClr val="bg2"/>
            </a:solidFill>
            <a:prstDash val="solid"/>
          </a:ln>
        </p:spPr>
      </p:sp>
      <p:sp>
        <p:nvSpPr>
          <p:cNvPr id="16" name="ic254"/>
          <p:cNvSpPr/>
          <p:nvPr/>
        </p:nvSpPr>
        <p:spPr>
          <a:xfrm>
            <a:off x="5701284" y="1691640"/>
            <a:ext cx="777240" cy="777240"/>
          </a:xfrm>
          <a:prstGeom prst="ellipse">
            <a:avLst/>
          </a:prstGeom>
          <a:solidFill>
            <a:schemeClr val="accent2"/>
          </a:solidFill>
          <a:ln w="12700">
            <a:solidFill>
              <a:schemeClr val="accent2"/>
            </a:solidFill>
            <a:prstDash val="solid"/>
          </a:ln>
        </p:spPr>
      </p:sp>
      <p:pic>
        <p:nvPicPr>
          <p:cNvPr id="17" name="icimg255" descr="preencoded.png">    </p:cNvPr>
          <p:cNvPicPr>
            <a:picLocks noChangeAspect="1"/>
          </p:cNvPicPr>
          <p:nvPr/>
        </p:nvPicPr>
        <p:blipFill>
          <a:blip r:embed="rId3"/>
          <a:stretch>
            <a:fillRect/>
          </a:stretch>
        </p:blipFill>
        <p:spPr>
          <a:xfrm>
            <a:off x="5895594" y="1885950"/>
            <a:ext cx="388620" cy="388620"/>
          </a:xfrm>
          <a:prstGeom prst="rect">
            <a:avLst/>
          </a:prstGeom>
        </p:spPr>
      </p:pic>
      <p:sp>
        <p:nvSpPr>
          <p:cNvPr id="18" name="t256"/>
          <p:cNvSpPr txBox="1"/>
          <p:nvPr/>
        </p:nvSpPr>
        <p:spPr>
          <a:xfrm>
            <a:off x="5221224" y="2606040"/>
            <a:ext cx="173736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Cambria" pitchFamily="34" charset="0"/>
                <a:ea typeface="Cambria" pitchFamily="34" charset="-122"/>
                <a:cs typeface="Cambria" pitchFamily="34" charset="-120"/>
              </a:rPr>
              <a:t>A card</a:t>
            </a:r>
            <a:endParaRPr lang="en-US" sz="1700" dirty="0"/>
          </a:p>
        </p:txBody>
      </p:sp>
      <p:sp>
        <p:nvSpPr>
          <p:cNvPr id="19" name="t257"/>
          <p:cNvSpPr txBox="1"/>
          <p:nvPr/>
        </p:nvSpPr>
        <p:spPr>
          <a:xfrm>
            <a:off x="5266944" y="3063240"/>
            <a:ext cx="1645920" cy="1645920"/>
          </a:xfrm>
          <a:prstGeom prst="rect">
            <a:avLst/>
          </a:prstGeom>
          <a:noFill/>
          <a:ln/>
        </p:spPr>
        <p:txBody>
          <a:bodyPr wrap="square" lIns="0" tIns="0" rIns="0" bIns="0" rtlCol="0" anchor="t"/>
          <a:lstStyle/>
          <a:p>
            <a:pPr indent="0" marL="0">
              <a:buNone/>
            </a:pPr>
            <a:r>
              <a:rPr lang="en-US" sz="1300" dirty="0">
                <a:solidFill>
                  <a:schemeClr val="tx2"/>
                </a:solidFill>
              </a:rPr>
              <a:t>"uart_rx_overrun seed 42 failed at abc123" on the owner's board</a:t>
            </a:r>
            <a:endParaRPr lang="en-US" sz="1300" dirty="0"/>
          </a:p>
        </p:txBody>
      </p:sp>
      <p:sp>
        <p:nvSpPr>
          <p:cNvPr id="20" name="arr258"/>
          <p:cNvSpPr/>
          <p:nvPr/>
        </p:nvSpPr>
        <p:spPr>
          <a:xfrm>
            <a:off x="7114032" y="2926080"/>
            <a:ext cx="219456" cy="274320"/>
          </a:xfrm>
          <a:prstGeom prst="rightArrow">
            <a:avLst/>
          </a:prstGeom>
          <a:solidFill>
            <a:schemeClr val="accent3"/>
          </a:solidFill>
          <a:ln w="12700">
            <a:solidFill>
              <a:schemeClr val="accent3"/>
            </a:solidFill>
            <a:prstDash val="solid"/>
          </a:ln>
        </p:spPr>
      </p:sp>
      <p:sp>
        <p:nvSpPr>
          <p:cNvPr id="21" name="card259"/>
          <p:cNvSpPr/>
          <p:nvPr/>
        </p:nvSpPr>
        <p:spPr>
          <a:xfrm>
            <a:off x="7351776" y="1463040"/>
            <a:ext cx="2011680" cy="3291840"/>
          </a:xfrm>
          <a:prstGeom prst="roundRect">
            <a:avLst>
              <a:gd name="adj" fmla="val 3636"/>
            </a:avLst>
          </a:prstGeom>
          <a:solidFill>
            <a:schemeClr val="accent6"/>
          </a:solidFill>
          <a:ln w="9525">
            <a:solidFill>
              <a:schemeClr val="accent6"/>
            </a:solidFill>
            <a:prstDash val="solid"/>
          </a:ln>
        </p:spPr>
      </p:sp>
      <p:sp>
        <p:nvSpPr>
          <p:cNvPr id="22" name="ic260"/>
          <p:cNvSpPr/>
          <p:nvPr/>
        </p:nvSpPr>
        <p:spPr>
          <a:xfrm>
            <a:off x="7968996" y="1691640"/>
            <a:ext cx="777240" cy="777240"/>
          </a:xfrm>
          <a:prstGeom prst="ellipse">
            <a:avLst/>
          </a:prstGeom>
          <a:solidFill>
            <a:schemeClr val="accent2"/>
          </a:solidFill>
          <a:ln w="12700">
            <a:solidFill>
              <a:schemeClr val="accent2"/>
            </a:solidFill>
            <a:prstDash val="solid"/>
          </a:ln>
        </p:spPr>
      </p:sp>
      <p:pic>
        <p:nvPicPr>
          <p:cNvPr id="23" name="icimg261" descr="preencoded.png">    </p:cNvPr>
          <p:cNvPicPr>
            <a:picLocks noChangeAspect="1"/>
          </p:cNvPicPr>
          <p:nvPr/>
        </p:nvPicPr>
        <p:blipFill>
          <a:blip r:embed="rId4"/>
          <a:stretch>
            <a:fillRect/>
          </a:stretch>
        </p:blipFill>
        <p:spPr>
          <a:xfrm>
            <a:off x="8163306" y="1885950"/>
            <a:ext cx="388620" cy="388620"/>
          </a:xfrm>
          <a:prstGeom prst="rect">
            <a:avLst/>
          </a:prstGeom>
        </p:spPr>
      </p:pic>
      <p:sp>
        <p:nvSpPr>
          <p:cNvPr id="24" name="t262"/>
          <p:cNvSpPr txBox="1"/>
          <p:nvPr/>
        </p:nvSpPr>
        <p:spPr>
          <a:xfrm>
            <a:off x="7488936" y="2606040"/>
            <a:ext cx="173736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Cambria" pitchFamily="34" charset="0"/>
                <a:ea typeface="Cambria" pitchFamily="34" charset="-122"/>
                <a:cs typeface="Cambria" pitchFamily="34" charset="-120"/>
              </a:rPr>
              <a:t>Open</a:t>
            </a:r>
            <a:endParaRPr lang="en-US" sz="1700" dirty="0"/>
          </a:p>
        </p:txBody>
      </p:sp>
      <p:sp>
        <p:nvSpPr>
          <p:cNvPr id="25" name="t263"/>
          <p:cNvSpPr txBox="1"/>
          <p:nvPr/>
        </p:nvSpPr>
        <p:spPr>
          <a:xfrm>
            <a:off x="7534656" y="3063240"/>
            <a:ext cx="1645920" cy="1645920"/>
          </a:xfrm>
          <a:prstGeom prst="rect">
            <a:avLst/>
          </a:prstGeom>
          <a:noFill/>
          <a:ln/>
        </p:spPr>
        <p:txBody>
          <a:bodyPr wrap="square" lIns="0" tIns="0" rIns="0" bIns="0" rtlCol="0" anchor="t"/>
          <a:lstStyle/>
          <a:p>
            <a:pPr indent="0" marL="0">
              <a:buNone/>
            </a:pPr>
            <a:r>
              <a:rPr lang="en-US" sz="1300" dirty="0">
                <a:solidFill>
                  <a:schemeClr val="tx2"/>
                </a:solidFill>
              </a:rPr>
              <a:t>worktree at abc123, recipe run; the smoke check is the reproduction</a:t>
            </a:r>
            <a:endParaRPr lang="en-US" sz="1300" dirty="0"/>
          </a:p>
        </p:txBody>
      </p:sp>
      <p:sp>
        <p:nvSpPr>
          <p:cNvPr id="26" name="arr264"/>
          <p:cNvSpPr/>
          <p:nvPr/>
        </p:nvSpPr>
        <p:spPr>
          <a:xfrm>
            <a:off x="9381744" y="2926080"/>
            <a:ext cx="219456" cy="274320"/>
          </a:xfrm>
          <a:prstGeom prst="rightArrow">
            <a:avLst/>
          </a:prstGeom>
          <a:solidFill>
            <a:schemeClr val="accent3"/>
          </a:solidFill>
          <a:ln w="12700">
            <a:solidFill>
              <a:schemeClr val="accent3"/>
            </a:solidFill>
            <a:prstDash val="solid"/>
          </a:ln>
        </p:spPr>
      </p:sp>
      <p:sp>
        <p:nvSpPr>
          <p:cNvPr id="27" name="card265"/>
          <p:cNvSpPr/>
          <p:nvPr/>
        </p:nvSpPr>
        <p:spPr>
          <a:xfrm>
            <a:off x="9619488" y="1463040"/>
            <a:ext cx="2011680" cy="3291840"/>
          </a:xfrm>
          <a:prstGeom prst="roundRect">
            <a:avLst>
              <a:gd name="adj" fmla="val 3636"/>
            </a:avLst>
          </a:prstGeom>
          <a:solidFill>
            <a:schemeClr val="bg2"/>
          </a:solidFill>
          <a:ln w="9525">
            <a:solidFill>
              <a:schemeClr val="bg2"/>
            </a:solidFill>
            <a:prstDash val="solid"/>
          </a:ln>
        </p:spPr>
      </p:sp>
      <p:sp>
        <p:nvSpPr>
          <p:cNvPr id="28" name="ic266"/>
          <p:cNvSpPr/>
          <p:nvPr/>
        </p:nvSpPr>
        <p:spPr>
          <a:xfrm>
            <a:off x="10236708" y="1691640"/>
            <a:ext cx="777240" cy="777240"/>
          </a:xfrm>
          <a:prstGeom prst="ellipse">
            <a:avLst/>
          </a:prstGeom>
          <a:solidFill>
            <a:schemeClr val="accent2"/>
          </a:solidFill>
          <a:ln w="12700">
            <a:solidFill>
              <a:schemeClr val="accent2"/>
            </a:solidFill>
            <a:prstDash val="solid"/>
          </a:ln>
        </p:spPr>
      </p:sp>
      <p:pic>
        <p:nvPicPr>
          <p:cNvPr id="29" name="icimg267" descr="preencoded.png">    </p:cNvPr>
          <p:cNvPicPr>
            <a:picLocks noChangeAspect="1"/>
          </p:cNvPicPr>
          <p:nvPr/>
        </p:nvPicPr>
        <p:blipFill>
          <a:blip r:embed="rId5"/>
          <a:stretch>
            <a:fillRect/>
          </a:stretch>
        </p:blipFill>
        <p:spPr>
          <a:xfrm>
            <a:off x="10431018" y="1885950"/>
            <a:ext cx="388620" cy="388620"/>
          </a:xfrm>
          <a:prstGeom prst="rect">
            <a:avLst/>
          </a:prstGeom>
        </p:spPr>
      </p:pic>
      <p:sp>
        <p:nvSpPr>
          <p:cNvPr id="30" name="t268"/>
          <p:cNvSpPr txBox="1"/>
          <p:nvPr/>
        </p:nvSpPr>
        <p:spPr>
          <a:xfrm>
            <a:off x="9756648" y="2606040"/>
            <a:ext cx="1737360" cy="411480"/>
          </a:xfrm>
          <a:prstGeom prst="rect">
            <a:avLst/>
          </a:prstGeom>
          <a:noFill/>
          <a:ln/>
        </p:spPr>
        <p:txBody>
          <a:bodyPr wrap="square" lIns="0" tIns="0" rIns="0" bIns="0" rtlCol="0" anchor="t"/>
          <a:lstStyle/>
          <a:p>
            <a:pPr algn="ctr" indent="0" marL="0">
              <a:buNone/>
            </a:pPr>
            <a:r>
              <a:rPr lang="en-US" sz="1700" b="1" dirty="0">
                <a:solidFill>
                  <a:schemeClr val="tx1"/>
                </a:solidFill>
                <a:latin typeface="Cambria" pitchFamily="34" charset="0"/>
                <a:ea typeface="Cambria" pitchFamily="34" charset="-122"/>
                <a:cs typeface="Cambria" pitchFamily="34" charset="-120"/>
              </a:rPr>
              <a:t>Work it</a:t>
            </a:r>
            <a:endParaRPr lang="en-US" sz="1700" dirty="0"/>
          </a:p>
        </p:txBody>
      </p:sp>
      <p:sp>
        <p:nvSpPr>
          <p:cNvPr id="31" name="t269"/>
          <p:cNvSpPr txBox="1"/>
          <p:nvPr/>
        </p:nvSpPr>
        <p:spPr>
          <a:xfrm>
            <a:off x="9802368" y="3063240"/>
            <a:ext cx="1645920" cy="1645920"/>
          </a:xfrm>
          <a:prstGeom prst="rect">
            <a:avLst/>
          </a:prstGeom>
          <a:noFill/>
          <a:ln/>
        </p:spPr>
        <p:txBody>
          <a:bodyPr wrap="square" lIns="0" tIns="0" rIns="0" bIns="0" rtlCol="0" anchor="t"/>
          <a:lstStyle/>
          <a:p>
            <a:pPr indent="0" marL="0">
              <a:buNone/>
            </a:pPr>
            <a:r>
              <a:rPr lang="en-US" sz="1300" dirty="0">
                <a:solidFill>
                  <a:schemeClr val="tx2"/>
                </a:solidFill>
              </a:rPr>
              <a:t>agent: find the root cause. Or VS Code at the failing line. Or assign it</a:t>
            </a:r>
            <a:endParaRPr lang="en-US" sz="1300" dirty="0"/>
          </a:p>
        </p:txBody>
      </p:sp>
      <p:sp>
        <p:nvSpPr>
          <p:cNvPr id="32" name="card270"/>
          <p:cNvSpPr/>
          <p:nvPr/>
        </p:nvSpPr>
        <p:spPr>
          <a:xfrm>
            <a:off x="548640" y="5029200"/>
            <a:ext cx="11094415" cy="1051560"/>
          </a:xfrm>
          <a:prstGeom prst="roundRect">
            <a:avLst>
              <a:gd name="adj" fmla="val 6957"/>
            </a:avLst>
          </a:prstGeom>
          <a:solidFill>
            <a:schemeClr val="tx1"/>
          </a:solidFill>
          <a:ln w="9525">
            <a:solidFill>
              <a:schemeClr val="tx1"/>
            </a:solidFill>
            <a:prstDash val="solid"/>
          </a:ln>
        </p:spPr>
      </p:sp>
      <p:sp>
        <p:nvSpPr>
          <p:cNvPr id="33" name="t271"/>
          <p:cNvSpPr txBox="1"/>
          <p:nvPr/>
        </p:nvSpPr>
        <p:spPr>
          <a:xfrm>
            <a:off x="868680" y="5029200"/>
            <a:ext cx="10454335" cy="1051560"/>
          </a:xfrm>
          <a:prstGeom prst="rect">
            <a:avLst/>
          </a:prstGeom>
          <a:noFill/>
          <a:ln/>
        </p:spPr>
        <p:txBody>
          <a:bodyPr wrap="square" lIns="0" tIns="0" rIns="0" bIns="0" rtlCol="0" anchor="ctr"/>
          <a:lstStyle/>
          <a:p>
            <a:pPr indent="0" marL="0">
              <a:buNone/>
            </a:pPr>
            <a:r>
              <a:rPr lang="en-US" sz="1600" b="1" dirty="0">
                <a:solidFill>
                  <a:srgbClr val="E8A33D"/>
                </a:solidFill>
              </a:rPr>
              <a:t>"Reproduced in 3 minutes" or "did not reproduce" </a:t>
            </a:r>
            <a:pPr indent="0" marL="0">
              <a:buNone/>
            </a:pPr>
            <a:r>
              <a:rPr lang="en-US" sz="1600" dirty="0">
                <a:solidFill>
                  <a:srgbClr val="FFFFFF"/>
                </a:solidFill>
              </a:rPr>
              <a:t>is the first thing you learn, before anyone reads a log. First on featherweight-ip, then dv-solve, pyvsc and pyhdl-if.</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Assign, don't brief: the work arrives with its context</a:t>
            </a:r>
            <a:endParaRPr lang="en-US" sz="3400" dirty="0"/>
          </a:p>
        </p:txBody>
      </p:sp>
      <p:sp>
        <p:nvSpPr>
          <p:cNvPr id="3" name="card272"/>
          <p:cNvSpPr/>
          <p:nvPr/>
        </p:nvSpPr>
        <p:spPr>
          <a:xfrm>
            <a:off x="548640" y="1371600"/>
            <a:ext cx="5120640" cy="4709160"/>
          </a:xfrm>
          <a:prstGeom prst="roundRect">
            <a:avLst>
              <a:gd name="adj" fmla="val 1553"/>
            </a:avLst>
          </a:prstGeom>
          <a:solidFill>
            <a:schemeClr val="accent6"/>
          </a:solidFill>
          <a:ln w="9525">
            <a:solidFill>
              <a:schemeClr val="accent6"/>
            </a:solidFill>
            <a:prstDash val="solid"/>
          </a:ln>
        </p:spPr>
      </p:sp>
      <p:sp>
        <p:nvSpPr>
          <p:cNvPr id="4" name="pill273"/>
          <p:cNvSpPr/>
          <p:nvPr/>
        </p:nvSpPr>
        <p:spPr>
          <a:xfrm>
            <a:off x="868680" y="1600200"/>
            <a:ext cx="2377440" cy="292608"/>
          </a:xfrm>
          <a:prstGeom prst="roundRect">
            <a:avLst>
              <a:gd name="adj" fmla="val 50000"/>
            </a:avLst>
          </a:prstGeom>
          <a:solidFill>
            <a:schemeClr val="accent2"/>
          </a:solidFill>
          <a:ln w="12700">
            <a:solidFill>
              <a:schemeClr val="accent2"/>
            </a:solidFill>
            <a:prstDash val="solid"/>
          </a:ln>
        </p:spPr>
      </p:sp>
      <p:sp>
        <p:nvSpPr>
          <p:cNvPr id="5" name="t274"/>
          <p:cNvSpPr txBox="1"/>
          <p:nvPr/>
        </p:nvSpPr>
        <p:spPr>
          <a:xfrm>
            <a:off x="868680" y="160020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Travels with the packet</a:t>
            </a:r>
            <a:endParaRPr lang="en-US" sz="1100" dirty="0"/>
          </a:p>
        </p:txBody>
      </p:sp>
      <p:sp>
        <p:nvSpPr>
          <p:cNvPr id="6" name="t275"/>
          <p:cNvSpPr txBox="1"/>
          <p:nvPr/>
        </p:nvSpPr>
        <p:spPr>
          <a:xfrm>
            <a:off x="868680" y="2103120"/>
            <a:ext cx="4480560"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The instruction, plan, outline and notes</a:t>
            </a:r>
            <a:endParaRPr lang="en-US" sz="1500" dirty="0"/>
          </a:p>
          <a:p>
            <a:pPr marL="342900" indent="-342900">
              <a:spcAft>
                <a:spcPts val="1000"/>
              </a:spcAft>
              <a:buSzPct val="100000"/>
              <a:buChar char="•"/>
            </a:pPr>
            <a:r>
              <a:rPr lang="en-US" sz="1500" dirty="0">
                <a:solidFill>
                  <a:schemeClr val="tx1"/>
                </a:solidFill>
              </a:rPr>
              <a:t>Every step's summary, diff and cost</a:t>
            </a:r>
            <a:endParaRPr lang="en-US" sz="1500" dirty="0"/>
          </a:p>
          <a:p>
            <a:pPr marL="342900" indent="-342900">
              <a:spcAft>
                <a:spcPts val="1000"/>
              </a:spcAft>
              <a:buSzPct val="100000"/>
              <a:buChar char="•"/>
            </a:pPr>
            <a:r>
              <a:rPr lang="en-US" sz="1500" dirty="0">
                <a:solidFill>
                  <a:schemeClr val="tx1"/>
                </a:solidFill>
              </a:rPr>
              <a:t>Questions and the answers given</a:t>
            </a:r>
            <a:endParaRPr lang="en-US" sz="1500" dirty="0"/>
          </a:p>
          <a:p>
            <a:pPr marL="342900" indent="-342900">
              <a:spcAft>
                <a:spcPts val="1000"/>
              </a:spcAft>
              <a:buSzPct val="100000"/>
              <a:buChar char="•"/>
            </a:pPr>
            <a:r>
              <a:rPr lang="en-US" sz="1500" dirty="0">
                <a:solidFill>
                  <a:schemeClr val="tx1"/>
                </a:solidFill>
              </a:rPr>
              <a:t>The recipe: repos at their commits, unpushed work as a git bundle</a:t>
            </a:r>
            <a:endParaRPr lang="en-US" sz="1500" dirty="0"/>
          </a:p>
          <a:p>
            <a:pPr marL="342900" indent="-342900">
              <a:spcAft>
                <a:spcPts val="1000"/>
              </a:spcAft>
              <a:buSzPct val="100000"/>
              <a:buChar char="•"/>
            </a:pPr>
            <a:r>
              <a:rPr lang="en-US" sz="1500" dirty="0">
                <a:solidFill>
                  <a:schemeClr val="tx1"/>
                </a:solidFill>
              </a:rPr>
              <a:t>Your note: "RX path looks wrong after step 9"</a:t>
            </a:r>
            <a:endParaRPr lang="en-US" sz="1500" dirty="0"/>
          </a:p>
        </p:txBody>
      </p:sp>
      <p:sp>
        <p:nvSpPr>
          <p:cNvPr id="7" name="card276"/>
          <p:cNvSpPr/>
          <p:nvPr/>
        </p:nvSpPr>
        <p:spPr>
          <a:xfrm>
            <a:off x="5943600" y="1371600"/>
            <a:ext cx="5696712" cy="4709160"/>
          </a:xfrm>
          <a:prstGeom prst="roundRect">
            <a:avLst>
              <a:gd name="adj" fmla="val 1553"/>
            </a:avLst>
          </a:prstGeom>
          <a:solidFill>
            <a:schemeClr val="bg2"/>
          </a:solidFill>
          <a:ln w="9525">
            <a:solidFill>
              <a:schemeClr val="bg2"/>
            </a:solidFill>
            <a:prstDash val="solid"/>
          </a:ln>
        </p:spPr>
      </p:sp>
      <p:sp>
        <p:nvSpPr>
          <p:cNvPr id="8" name="pill277"/>
          <p:cNvSpPr/>
          <p:nvPr/>
        </p:nvSpPr>
        <p:spPr>
          <a:xfrm>
            <a:off x="6263640" y="1600200"/>
            <a:ext cx="3017520" cy="292608"/>
          </a:xfrm>
          <a:prstGeom prst="roundRect">
            <a:avLst>
              <a:gd name="adj" fmla="val 50000"/>
            </a:avLst>
          </a:prstGeom>
          <a:solidFill>
            <a:schemeClr val="accent3"/>
          </a:solidFill>
          <a:ln w="12700">
            <a:solidFill>
              <a:schemeClr val="accent3"/>
            </a:solidFill>
            <a:prstDash val="solid"/>
          </a:ln>
        </p:spPr>
      </p:sp>
      <p:sp>
        <p:nvSpPr>
          <p:cNvPr id="9" name="t278"/>
          <p:cNvSpPr txBox="1"/>
          <p:nvPr/>
        </p:nvSpPr>
        <p:spPr>
          <a:xfrm>
            <a:off x="6263640" y="1600200"/>
            <a:ext cx="3017520" cy="292608"/>
          </a:xfrm>
          <a:prstGeom prst="rect">
            <a:avLst/>
          </a:prstGeom>
          <a:noFill/>
          <a:ln/>
        </p:spPr>
        <p:txBody>
          <a:bodyPr wrap="square" lIns="0" tIns="0" rIns="0" bIns="0" rtlCol="0" anchor="ctr"/>
          <a:lstStyle/>
          <a:p>
            <a:pPr algn="ctr" indent="0" marL="0">
              <a:buNone/>
            </a:pPr>
            <a:r>
              <a:rPr lang="en-US" sz="1100" b="1" dirty="0">
                <a:solidFill>
                  <a:schemeClr val="bg1"/>
                </a:solidFill>
              </a:rPr>
              <a:t>Stays with you, unless you choose</a:t>
            </a:r>
            <a:endParaRPr lang="en-US" sz="1100" dirty="0"/>
          </a:p>
        </p:txBody>
      </p:sp>
      <p:sp>
        <p:nvSpPr>
          <p:cNvPr id="10" name="t279"/>
          <p:cNvSpPr txBox="1"/>
          <p:nvPr/>
        </p:nvSpPr>
        <p:spPr>
          <a:xfrm>
            <a:off x="6263640" y="2103120"/>
            <a:ext cx="502920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Step transcripts: the full conversations, where IP and secrets end up. Listed by hash; requested, and you approve</a:t>
            </a:r>
            <a:endParaRPr lang="en-US" sz="1500" dirty="0"/>
          </a:p>
          <a:p>
            <a:pPr marL="342900" indent="-342900">
              <a:spcAft>
                <a:spcPts val="1000"/>
              </a:spcAft>
              <a:buSzPct val="100000"/>
              <a:buChar char="•"/>
            </a:pPr>
            <a:r>
              <a:rPr lang="en-US" sz="1500" dirty="0">
                <a:solidFill>
                  <a:schemeClr val="tx1"/>
                </a:solidFill>
              </a:rPr>
              <a:t>Builds, sim output and waves: rebuilt by the recipe, or named files you add on purpose</a:t>
            </a:r>
            <a:endParaRPr lang="en-US" sz="1500" dirty="0"/>
          </a:p>
          <a:p>
            <a:pPr marL="342900" indent="-342900">
              <a:spcAft>
                <a:spcPts val="1000"/>
              </a:spcAft>
              <a:buSzPct val="100000"/>
              <a:buChar char="•"/>
            </a:pPr>
            <a:r>
              <a:rPr lang="en-US" sz="1500" dirty="0">
                <a:solidFill>
                  <a:schemeClr val="tx1"/>
                </a:solidFill>
              </a:rPr>
              <a:t>Export shows every outside path it refers to before anything leaves</a:t>
            </a:r>
            <a:endParaRPr lang="en-US" sz="1500" dirty="0"/>
          </a:p>
        </p:txBody>
      </p:sp>
      <p:sp>
        <p:nvSpPr>
          <p:cNvPr id="11" name="card280"/>
          <p:cNvSpPr/>
          <p:nvPr/>
        </p:nvSpPr>
        <p:spPr>
          <a:xfrm>
            <a:off x="6263640" y="4892040"/>
            <a:ext cx="5029200" cy="914400"/>
          </a:xfrm>
          <a:prstGeom prst="roundRect">
            <a:avLst>
              <a:gd name="adj" fmla="val 8000"/>
            </a:avLst>
          </a:prstGeom>
          <a:solidFill>
            <a:schemeClr val="tx1"/>
          </a:solidFill>
          <a:ln w="9525">
            <a:solidFill>
              <a:schemeClr val="tx1"/>
            </a:solidFill>
            <a:prstDash val="solid"/>
          </a:ln>
        </p:spPr>
      </p:sp>
      <p:sp>
        <p:nvSpPr>
          <p:cNvPr id="12" name="t281"/>
          <p:cNvSpPr txBox="1"/>
          <p:nvPr/>
        </p:nvSpPr>
        <p:spPr>
          <a:xfrm>
            <a:off x="6537960" y="5074920"/>
            <a:ext cx="4572000" cy="594360"/>
          </a:xfrm>
          <a:prstGeom prst="rect">
            <a:avLst/>
          </a:prstGeom>
          <a:noFill/>
          <a:ln/>
        </p:spPr>
        <p:txBody>
          <a:bodyPr wrap="square" lIns="0" tIns="0" rIns="0" bIns="0" rtlCol="0" anchor="t"/>
          <a:lstStyle/>
          <a:p>
            <a:pPr indent="0" marL="0">
              <a:buNone/>
            </a:pPr>
            <a:r>
              <a:rPr lang="en-US" sz="1300" dirty="0">
                <a:solidFill>
                  <a:srgbClr val="E8A33D"/>
                </a:solidFill>
                <a:latin typeface="Courier New" pitchFamily="34" charset="0"/>
                <a:ea typeface="Courier New" pitchFamily="34" charset="-122"/>
                <a:cs typeface="Courier New" pitchFamily="34" charset="-120"/>
              </a:rPr>
              <a:t>$ wpk assign uart-rx rtl-owner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-m "RX path looks wrong after step 9"</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Link up as a team; add a hub when it pays</a:t>
            </a:r>
            <a:endParaRPr lang="en-US" sz="3400" dirty="0"/>
          </a:p>
        </p:txBody>
      </p:sp>
      <p:sp>
        <p:nvSpPr>
          <p:cNvPr id="3" name="card282"/>
          <p:cNvSpPr/>
          <p:nvPr/>
        </p:nvSpPr>
        <p:spPr>
          <a:xfrm>
            <a:off x="548640" y="1325880"/>
            <a:ext cx="5394960" cy="3977640"/>
          </a:xfrm>
          <a:prstGeom prst="roundRect">
            <a:avLst>
              <a:gd name="adj" fmla="val 1839"/>
            </a:avLst>
          </a:prstGeom>
          <a:solidFill>
            <a:schemeClr val="bg2"/>
          </a:solidFill>
          <a:ln w="9525">
            <a:solidFill>
              <a:schemeClr val="bg2"/>
            </a:solidFill>
            <a:prstDash val="solid"/>
          </a:ln>
        </p:spPr>
      </p:sp>
      <p:sp>
        <p:nvSpPr>
          <p:cNvPr id="4" name="pill283"/>
          <p:cNvSpPr/>
          <p:nvPr/>
        </p:nvSpPr>
        <p:spPr>
          <a:xfrm>
            <a:off x="822960" y="1508760"/>
            <a:ext cx="2377440" cy="292608"/>
          </a:xfrm>
          <a:prstGeom prst="roundRect">
            <a:avLst>
              <a:gd name="adj" fmla="val 50000"/>
            </a:avLst>
          </a:prstGeom>
          <a:solidFill>
            <a:schemeClr val="accent2"/>
          </a:solidFill>
          <a:ln w="12700">
            <a:solidFill>
              <a:schemeClr val="accent2"/>
            </a:solidFill>
            <a:prstDash val="solid"/>
          </a:ln>
        </p:spPr>
      </p:sp>
      <p:sp>
        <p:nvSpPr>
          <p:cNvPr id="5" name="t284"/>
          <p:cNvSpPr txBox="1"/>
          <p:nvPr/>
        </p:nvSpPr>
        <p:spPr>
          <a:xfrm>
            <a:off x="822960" y="150876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Small team: links</a:t>
            </a:r>
            <a:endParaRPr lang="en-US" sz="1100" dirty="0"/>
          </a:p>
        </p:txBody>
      </p:sp>
      <p:sp>
        <p:nvSpPr>
          <p:cNvPr id="6" name="card285"/>
          <p:cNvSpPr/>
          <p:nvPr/>
        </p:nvSpPr>
        <p:spPr>
          <a:xfrm>
            <a:off x="6245352" y="1325880"/>
            <a:ext cx="5394960" cy="3977640"/>
          </a:xfrm>
          <a:prstGeom prst="roundRect">
            <a:avLst>
              <a:gd name="adj" fmla="val 1839"/>
            </a:avLst>
          </a:prstGeom>
          <a:solidFill>
            <a:schemeClr val="bg2"/>
          </a:solidFill>
          <a:ln w="9525">
            <a:solidFill>
              <a:schemeClr val="bg2"/>
            </a:solidFill>
            <a:prstDash val="solid"/>
          </a:ln>
        </p:spPr>
      </p:sp>
      <p:sp>
        <p:nvSpPr>
          <p:cNvPr id="7" name="pill286"/>
          <p:cNvSpPr/>
          <p:nvPr/>
        </p:nvSpPr>
        <p:spPr>
          <a:xfrm>
            <a:off x="6519672" y="1508760"/>
            <a:ext cx="2377440" cy="292608"/>
          </a:xfrm>
          <a:prstGeom prst="roundRect">
            <a:avLst>
              <a:gd name="adj" fmla="val 50000"/>
            </a:avLst>
          </a:prstGeom>
          <a:solidFill>
            <a:schemeClr val="accent1"/>
          </a:solidFill>
          <a:ln w="12700">
            <a:solidFill>
              <a:schemeClr val="accent1"/>
            </a:solidFill>
            <a:prstDash val="solid"/>
          </a:ln>
        </p:spPr>
      </p:sp>
      <p:sp>
        <p:nvSpPr>
          <p:cNvPr id="8" name="t287"/>
          <p:cNvSpPr txBox="1"/>
          <p:nvPr/>
        </p:nvSpPr>
        <p:spPr>
          <a:xfrm>
            <a:off x="6519672" y="150876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Organization: a hub</a:t>
            </a:r>
            <a:endParaRPr lang="en-US" sz="1100" dirty="0"/>
          </a:p>
        </p:txBody>
      </p:sp>
      <p:sp>
        <p:nvSpPr>
          <p:cNvPr id="9" name="seg288"/>
          <p:cNvSpPr/>
          <p:nvPr/>
        </p:nvSpPr>
        <p:spPr>
          <a:xfrm>
            <a:off x="1965960" y="2514600"/>
            <a:ext cx="2560320" cy="0"/>
          </a:xfrm>
          <a:prstGeom prst="line">
            <a:avLst/>
          </a:prstGeom>
          <a:noFill/>
          <a:ln w="25400">
            <a:solidFill>
              <a:schemeClr val="accent2"/>
            </a:solidFill>
            <a:prstDash val="solid"/>
          </a:ln>
        </p:spPr>
      </p:sp>
      <p:sp>
        <p:nvSpPr>
          <p:cNvPr id="10" name="seg289"/>
          <p:cNvSpPr/>
          <p:nvPr/>
        </p:nvSpPr>
        <p:spPr>
          <a:xfrm flipV="1">
            <a:off x="3246120" y="2514600"/>
            <a:ext cx="1280160" cy="1280160"/>
          </a:xfrm>
          <a:prstGeom prst="line">
            <a:avLst/>
          </a:prstGeom>
          <a:noFill/>
          <a:ln w="25400">
            <a:solidFill>
              <a:schemeClr val="accent2"/>
            </a:solidFill>
            <a:prstDash val="solid"/>
          </a:ln>
        </p:spPr>
      </p:sp>
      <p:sp>
        <p:nvSpPr>
          <p:cNvPr id="11" name="seg290"/>
          <p:cNvSpPr/>
          <p:nvPr/>
        </p:nvSpPr>
        <p:spPr>
          <a:xfrm>
            <a:off x="1965960" y="2514600"/>
            <a:ext cx="1280160" cy="1280160"/>
          </a:xfrm>
          <a:prstGeom prst="line">
            <a:avLst/>
          </a:prstGeom>
          <a:noFill/>
          <a:ln w="25400">
            <a:solidFill>
              <a:schemeClr val="accent2"/>
            </a:solidFill>
            <a:prstDash val="solid"/>
          </a:ln>
        </p:spPr>
      </p:sp>
      <p:sp>
        <p:nvSpPr>
          <p:cNvPr id="12" name="ic291"/>
          <p:cNvSpPr/>
          <p:nvPr/>
        </p:nvSpPr>
        <p:spPr>
          <a:xfrm>
            <a:off x="1600200" y="2148840"/>
            <a:ext cx="731520" cy="731520"/>
          </a:xfrm>
          <a:prstGeom prst="ellipse">
            <a:avLst/>
          </a:prstGeom>
          <a:solidFill>
            <a:schemeClr val="tx2"/>
          </a:solidFill>
          <a:ln w="12700">
            <a:solidFill>
              <a:schemeClr val="tx2"/>
            </a:solidFill>
            <a:prstDash val="solid"/>
          </a:ln>
        </p:spPr>
      </p:sp>
      <p:pic>
        <p:nvPicPr>
          <p:cNvPr id="13" name="icimg292" descr="preencoded.png">    </p:cNvPr>
          <p:cNvPicPr>
            <a:picLocks noChangeAspect="1"/>
          </p:cNvPicPr>
          <p:nvPr/>
        </p:nvPicPr>
        <p:blipFill>
          <a:blip r:embed="rId1"/>
          <a:stretch>
            <a:fillRect/>
          </a:stretch>
        </p:blipFill>
        <p:spPr>
          <a:xfrm>
            <a:off x="1783080" y="2331720"/>
            <a:ext cx="365760" cy="365760"/>
          </a:xfrm>
          <a:prstGeom prst="rect">
            <a:avLst/>
          </a:prstGeom>
        </p:spPr>
      </p:pic>
      <p:sp>
        <p:nvSpPr>
          <p:cNvPr id="14" name="ic293"/>
          <p:cNvSpPr/>
          <p:nvPr/>
        </p:nvSpPr>
        <p:spPr>
          <a:xfrm>
            <a:off x="4160520" y="2148840"/>
            <a:ext cx="731520" cy="731520"/>
          </a:xfrm>
          <a:prstGeom prst="ellipse">
            <a:avLst/>
          </a:prstGeom>
          <a:solidFill>
            <a:schemeClr val="tx2"/>
          </a:solidFill>
          <a:ln w="12700">
            <a:solidFill>
              <a:schemeClr val="tx2"/>
            </a:solidFill>
            <a:prstDash val="solid"/>
          </a:ln>
        </p:spPr>
      </p:sp>
      <p:pic>
        <p:nvPicPr>
          <p:cNvPr id="15" name="icimg294" descr="preencoded.png">    </p:cNvPr>
          <p:cNvPicPr>
            <a:picLocks noChangeAspect="1"/>
          </p:cNvPicPr>
          <p:nvPr/>
        </p:nvPicPr>
        <p:blipFill>
          <a:blip r:embed="rId2"/>
          <a:stretch>
            <a:fillRect/>
          </a:stretch>
        </p:blipFill>
        <p:spPr>
          <a:xfrm>
            <a:off x="4343400" y="2331720"/>
            <a:ext cx="365760" cy="365760"/>
          </a:xfrm>
          <a:prstGeom prst="rect">
            <a:avLst/>
          </a:prstGeom>
        </p:spPr>
      </p:pic>
      <p:sp>
        <p:nvSpPr>
          <p:cNvPr id="16" name="ic295"/>
          <p:cNvSpPr/>
          <p:nvPr/>
        </p:nvSpPr>
        <p:spPr>
          <a:xfrm>
            <a:off x="2880360" y="3429000"/>
            <a:ext cx="731520" cy="731520"/>
          </a:xfrm>
          <a:prstGeom prst="ellipse">
            <a:avLst/>
          </a:prstGeom>
          <a:solidFill>
            <a:schemeClr val="tx2"/>
          </a:solidFill>
          <a:ln w="12700">
            <a:solidFill>
              <a:schemeClr val="tx2"/>
            </a:solidFill>
            <a:prstDash val="solid"/>
          </a:ln>
        </p:spPr>
      </p:sp>
      <p:pic>
        <p:nvPicPr>
          <p:cNvPr id="17" name="icimg296" descr="preencoded.png">    </p:cNvPr>
          <p:cNvPicPr>
            <a:picLocks noChangeAspect="1"/>
          </p:cNvPicPr>
          <p:nvPr/>
        </p:nvPicPr>
        <p:blipFill>
          <a:blip r:embed="rId3"/>
          <a:stretch>
            <a:fillRect/>
          </a:stretch>
        </p:blipFill>
        <p:spPr>
          <a:xfrm>
            <a:off x="3063240" y="3611880"/>
            <a:ext cx="365760" cy="365760"/>
          </a:xfrm>
          <a:prstGeom prst="rect">
            <a:avLst/>
          </a:prstGeom>
        </p:spPr>
      </p:pic>
      <p:sp>
        <p:nvSpPr>
          <p:cNvPr id="18" name="t297"/>
          <p:cNvSpPr txBox="1"/>
          <p:nvPr/>
        </p:nvSpPr>
        <p:spPr>
          <a:xfrm>
            <a:off x="822960" y="4434840"/>
            <a:ext cx="4846320" cy="77724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wpk link add &lt;teammate&gt;</a:t>
            </a:r>
            <a:endParaRPr lang="en-US" sz="1300" dirty="0"/>
          </a:p>
          <a:p>
            <a:pPr indent="0" marL="0">
              <a:buNone/>
            </a:pPr>
            <a:r>
              <a:rPr lang="en-US" sz="1300" dirty="0">
                <a:solidFill>
                  <a:schemeClr val="tx2"/>
                </a:solidFill>
              </a:rPr>
              <a:t>both sides agree; each shares what it chooses. No server</a:t>
            </a:r>
            <a:endParaRPr lang="en-US" sz="1300" dirty="0"/>
          </a:p>
        </p:txBody>
      </p:sp>
      <p:sp>
        <p:nvSpPr>
          <p:cNvPr id="19" name="seg298"/>
          <p:cNvSpPr/>
          <p:nvPr/>
        </p:nvSpPr>
        <p:spPr>
          <a:xfrm>
            <a:off x="8942832" y="2286000"/>
            <a:ext cx="0" cy="868680"/>
          </a:xfrm>
          <a:prstGeom prst="line">
            <a:avLst/>
          </a:prstGeom>
          <a:noFill/>
          <a:ln w="25400">
            <a:solidFill>
              <a:schemeClr val="accent1"/>
            </a:solidFill>
            <a:prstDash val="solid"/>
          </a:ln>
        </p:spPr>
      </p:sp>
      <p:sp>
        <p:nvSpPr>
          <p:cNvPr id="20" name="seg299"/>
          <p:cNvSpPr/>
          <p:nvPr/>
        </p:nvSpPr>
        <p:spPr>
          <a:xfrm flipV="1">
            <a:off x="8942832" y="2720340"/>
            <a:ext cx="1583787" cy="434340"/>
          </a:xfrm>
          <a:prstGeom prst="line">
            <a:avLst/>
          </a:prstGeom>
          <a:noFill/>
          <a:ln w="25400">
            <a:solidFill>
              <a:schemeClr val="accent1"/>
            </a:solidFill>
            <a:prstDash val="solid"/>
          </a:ln>
        </p:spPr>
      </p:sp>
      <p:sp>
        <p:nvSpPr>
          <p:cNvPr id="21" name="seg300"/>
          <p:cNvSpPr/>
          <p:nvPr/>
        </p:nvSpPr>
        <p:spPr>
          <a:xfrm>
            <a:off x="8942832" y="3154680"/>
            <a:ext cx="1583787" cy="434340"/>
          </a:xfrm>
          <a:prstGeom prst="line">
            <a:avLst/>
          </a:prstGeom>
          <a:noFill/>
          <a:ln w="25400">
            <a:solidFill>
              <a:schemeClr val="accent1"/>
            </a:solidFill>
            <a:prstDash val="solid"/>
          </a:ln>
        </p:spPr>
      </p:sp>
      <p:sp>
        <p:nvSpPr>
          <p:cNvPr id="22" name="seg301"/>
          <p:cNvSpPr/>
          <p:nvPr/>
        </p:nvSpPr>
        <p:spPr>
          <a:xfrm>
            <a:off x="8942832" y="3154680"/>
            <a:ext cx="0" cy="868680"/>
          </a:xfrm>
          <a:prstGeom prst="line">
            <a:avLst/>
          </a:prstGeom>
          <a:noFill/>
          <a:ln w="25400">
            <a:solidFill>
              <a:schemeClr val="accent1"/>
            </a:solidFill>
            <a:prstDash val="solid"/>
          </a:ln>
        </p:spPr>
      </p:sp>
      <p:sp>
        <p:nvSpPr>
          <p:cNvPr id="23" name="seg302"/>
          <p:cNvSpPr/>
          <p:nvPr/>
        </p:nvSpPr>
        <p:spPr>
          <a:xfrm flipV="1">
            <a:off x="7359045" y="3154680"/>
            <a:ext cx="1583787" cy="434340"/>
          </a:xfrm>
          <a:prstGeom prst="line">
            <a:avLst/>
          </a:prstGeom>
          <a:noFill/>
          <a:ln w="25400">
            <a:solidFill>
              <a:schemeClr val="accent1"/>
            </a:solidFill>
            <a:prstDash val="solid"/>
          </a:ln>
        </p:spPr>
      </p:sp>
      <p:sp>
        <p:nvSpPr>
          <p:cNvPr id="24" name="seg303"/>
          <p:cNvSpPr/>
          <p:nvPr/>
        </p:nvSpPr>
        <p:spPr>
          <a:xfrm>
            <a:off x="7359045" y="2720340"/>
            <a:ext cx="1583787" cy="434340"/>
          </a:xfrm>
          <a:prstGeom prst="line">
            <a:avLst/>
          </a:prstGeom>
          <a:noFill/>
          <a:ln w="25400">
            <a:solidFill>
              <a:schemeClr val="accent1"/>
            </a:solidFill>
            <a:prstDash val="solid"/>
          </a:ln>
        </p:spPr>
      </p:sp>
      <p:sp>
        <p:nvSpPr>
          <p:cNvPr id="25" name="ic304"/>
          <p:cNvSpPr/>
          <p:nvPr/>
        </p:nvSpPr>
        <p:spPr>
          <a:xfrm>
            <a:off x="8485632" y="2697480"/>
            <a:ext cx="914400" cy="914400"/>
          </a:xfrm>
          <a:prstGeom prst="ellipse">
            <a:avLst/>
          </a:prstGeom>
          <a:solidFill>
            <a:schemeClr val="accent1"/>
          </a:solidFill>
          <a:ln w="12700">
            <a:solidFill>
              <a:schemeClr val="accent1"/>
            </a:solidFill>
            <a:prstDash val="solid"/>
          </a:ln>
        </p:spPr>
      </p:sp>
      <p:pic>
        <p:nvPicPr>
          <p:cNvPr id="26" name="icimg305" descr="preencoded.png">    </p:cNvPr>
          <p:cNvPicPr>
            <a:picLocks noChangeAspect="1"/>
          </p:cNvPicPr>
          <p:nvPr/>
        </p:nvPicPr>
        <p:blipFill>
          <a:blip r:embed="rId4"/>
          <a:stretch>
            <a:fillRect/>
          </a:stretch>
        </p:blipFill>
        <p:spPr>
          <a:xfrm>
            <a:off x="8714232" y="2926080"/>
            <a:ext cx="457200" cy="457200"/>
          </a:xfrm>
          <a:prstGeom prst="rect">
            <a:avLst/>
          </a:prstGeom>
        </p:spPr>
      </p:pic>
      <p:sp>
        <p:nvSpPr>
          <p:cNvPr id="27" name="ic306"/>
          <p:cNvSpPr/>
          <p:nvPr/>
        </p:nvSpPr>
        <p:spPr>
          <a:xfrm>
            <a:off x="8668512" y="2011680"/>
            <a:ext cx="548640" cy="548640"/>
          </a:xfrm>
          <a:prstGeom prst="ellipse">
            <a:avLst/>
          </a:prstGeom>
          <a:solidFill>
            <a:schemeClr val="tx2"/>
          </a:solidFill>
          <a:ln w="12700">
            <a:solidFill>
              <a:schemeClr val="tx2"/>
            </a:solidFill>
            <a:prstDash val="solid"/>
          </a:ln>
        </p:spPr>
      </p:sp>
      <p:pic>
        <p:nvPicPr>
          <p:cNvPr id="28" name="icimg307" descr="preencoded.png">    </p:cNvPr>
          <p:cNvPicPr>
            <a:picLocks noChangeAspect="1"/>
          </p:cNvPicPr>
          <p:nvPr/>
        </p:nvPicPr>
        <p:blipFill>
          <a:blip r:embed="rId5"/>
          <a:stretch>
            <a:fillRect/>
          </a:stretch>
        </p:blipFill>
        <p:spPr>
          <a:xfrm>
            <a:off x="8805672" y="2148840"/>
            <a:ext cx="274320" cy="274320"/>
          </a:xfrm>
          <a:prstGeom prst="rect">
            <a:avLst/>
          </a:prstGeom>
        </p:spPr>
      </p:pic>
      <p:sp>
        <p:nvSpPr>
          <p:cNvPr id="29" name="ic308"/>
          <p:cNvSpPr/>
          <p:nvPr/>
        </p:nvSpPr>
        <p:spPr>
          <a:xfrm>
            <a:off x="10252299" y="2446020"/>
            <a:ext cx="548640" cy="548640"/>
          </a:xfrm>
          <a:prstGeom prst="ellipse">
            <a:avLst/>
          </a:prstGeom>
          <a:solidFill>
            <a:schemeClr val="tx2"/>
          </a:solidFill>
          <a:ln w="12700">
            <a:solidFill>
              <a:schemeClr val="tx2"/>
            </a:solidFill>
            <a:prstDash val="solid"/>
          </a:ln>
        </p:spPr>
      </p:sp>
      <p:pic>
        <p:nvPicPr>
          <p:cNvPr id="30" name="icimg309" descr="preencoded.png">    </p:cNvPr>
          <p:cNvPicPr>
            <a:picLocks noChangeAspect="1"/>
          </p:cNvPicPr>
          <p:nvPr/>
        </p:nvPicPr>
        <p:blipFill>
          <a:blip r:embed="rId6"/>
          <a:stretch>
            <a:fillRect/>
          </a:stretch>
        </p:blipFill>
        <p:spPr>
          <a:xfrm>
            <a:off x="10389459" y="2583180"/>
            <a:ext cx="274320" cy="274320"/>
          </a:xfrm>
          <a:prstGeom prst="rect">
            <a:avLst/>
          </a:prstGeom>
        </p:spPr>
      </p:pic>
      <p:sp>
        <p:nvSpPr>
          <p:cNvPr id="31" name="ic310"/>
          <p:cNvSpPr/>
          <p:nvPr/>
        </p:nvSpPr>
        <p:spPr>
          <a:xfrm>
            <a:off x="10252299" y="3314700"/>
            <a:ext cx="548640" cy="548640"/>
          </a:xfrm>
          <a:prstGeom prst="ellipse">
            <a:avLst/>
          </a:prstGeom>
          <a:solidFill>
            <a:schemeClr val="tx2"/>
          </a:solidFill>
          <a:ln w="12700">
            <a:solidFill>
              <a:schemeClr val="tx2"/>
            </a:solidFill>
            <a:prstDash val="solid"/>
          </a:ln>
        </p:spPr>
      </p:sp>
      <p:pic>
        <p:nvPicPr>
          <p:cNvPr id="32" name="icimg311" descr="preencoded.png">    </p:cNvPr>
          <p:cNvPicPr>
            <a:picLocks noChangeAspect="1"/>
          </p:cNvPicPr>
          <p:nvPr/>
        </p:nvPicPr>
        <p:blipFill>
          <a:blip r:embed="rId7"/>
          <a:stretch>
            <a:fillRect/>
          </a:stretch>
        </p:blipFill>
        <p:spPr>
          <a:xfrm>
            <a:off x="10389459" y="3451860"/>
            <a:ext cx="274320" cy="274320"/>
          </a:xfrm>
          <a:prstGeom prst="rect">
            <a:avLst/>
          </a:prstGeom>
        </p:spPr>
      </p:pic>
      <p:sp>
        <p:nvSpPr>
          <p:cNvPr id="33" name="ic312"/>
          <p:cNvSpPr/>
          <p:nvPr/>
        </p:nvSpPr>
        <p:spPr>
          <a:xfrm>
            <a:off x="8668512" y="3749040"/>
            <a:ext cx="548640" cy="548640"/>
          </a:xfrm>
          <a:prstGeom prst="ellipse">
            <a:avLst/>
          </a:prstGeom>
          <a:solidFill>
            <a:schemeClr val="tx2"/>
          </a:solidFill>
          <a:ln w="12700">
            <a:solidFill>
              <a:schemeClr val="tx2"/>
            </a:solidFill>
            <a:prstDash val="solid"/>
          </a:ln>
        </p:spPr>
      </p:sp>
      <p:pic>
        <p:nvPicPr>
          <p:cNvPr id="34" name="icimg313" descr="preencoded.png">    </p:cNvPr>
          <p:cNvPicPr>
            <a:picLocks noChangeAspect="1"/>
          </p:cNvPicPr>
          <p:nvPr/>
        </p:nvPicPr>
        <p:blipFill>
          <a:blip r:embed="rId8"/>
          <a:stretch>
            <a:fillRect/>
          </a:stretch>
        </p:blipFill>
        <p:spPr>
          <a:xfrm>
            <a:off x="8805672" y="3886200"/>
            <a:ext cx="274320" cy="274320"/>
          </a:xfrm>
          <a:prstGeom prst="rect">
            <a:avLst/>
          </a:prstGeom>
        </p:spPr>
      </p:pic>
      <p:sp>
        <p:nvSpPr>
          <p:cNvPr id="35" name="ic314"/>
          <p:cNvSpPr/>
          <p:nvPr/>
        </p:nvSpPr>
        <p:spPr>
          <a:xfrm>
            <a:off x="7084725" y="3314700"/>
            <a:ext cx="548640" cy="548640"/>
          </a:xfrm>
          <a:prstGeom prst="ellipse">
            <a:avLst/>
          </a:prstGeom>
          <a:solidFill>
            <a:schemeClr val="tx2"/>
          </a:solidFill>
          <a:ln w="12700">
            <a:solidFill>
              <a:schemeClr val="tx2"/>
            </a:solidFill>
            <a:prstDash val="solid"/>
          </a:ln>
        </p:spPr>
      </p:sp>
      <p:pic>
        <p:nvPicPr>
          <p:cNvPr id="36" name="icimg315" descr="preencoded.png">    </p:cNvPr>
          <p:cNvPicPr>
            <a:picLocks noChangeAspect="1"/>
          </p:cNvPicPr>
          <p:nvPr/>
        </p:nvPicPr>
        <p:blipFill>
          <a:blip r:embed="rId9"/>
          <a:stretch>
            <a:fillRect/>
          </a:stretch>
        </p:blipFill>
        <p:spPr>
          <a:xfrm>
            <a:off x="7221885" y="3451860"/>
            <a:ext cx="274320" cy="274320"/>
          </a:xfrm>
          <a:prstGeom prst="rect">
            <a:avLst/>
          </a:prstGeom>
        </p:spPr>
      </p:pic>
      <p:sp>
        <p:nvSpPr>
          <p:cNvPr id="37" name="ic316"/>
          <p:cNvSpPr/>
          <p:nvPr/>
        </p:nvSpPr>
        <p:spPr>
          <a:xfrm>
            <a:off x="7084725" y="2446020"/>
            <a:ext cx="548640" cy="548640"/>
          </a:xfrm>
          <a:prstGeom prst="ellipse">
            <a:avLst/>
          </a:prstGeom>
          <a:solidFill>
            <a:schemeClr val="tx2"/>
          </a:solidFill>
          <a:ln w="12700">
            <a:solidFill>
              <a:schemeClr val="tx2"/>
            </a:solidFill>
            <a:prstDash val="solid"/>
          </a:ln>
        </p:spPr>
      </p:sp>
      <p:pic>
        <p:nvPicPr>
          <p:cNvPr id="38" name="icimg317" descr="preencoded.png">    </p:cNvPr>
          <p:cNvPicPr>
            <a:picLocks noChangeAspect="1"/>
          </p:cNvPicPr>
          <p:nvPr/>
        </p:nvPicPr>
        <p:blipFill>
          <a:blip r:embed="rId10"/>
          <a:stretch>
            <a:fillRect/>
          </a:stretch>
        </p:blipFill>
        <p:spPr>
          <a:xfrm>
            <a:off x="7221885" y="2583180"/>
            <a:ext cx="274320" cy="274320"/>
          </a:xfrm>
          <a:prstGeom prst="rect">
            <a:avLst/>
          </a:prstGeom>
        </p:spPr>
      </p:pic>
      <p:sp>
        <p:nvSpPr>
          <p:cNvPr id="39" name="t318"/>
          <p:cNvSpPr txBox="1"/>
          <p:nvPr/>
        </p:nvSpPr>
        <p:spPr>
          <a:xfrm>
            <a:off x="6519672" y="4434840"/>
            <a:ext cx="4846320" cy="77724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wpk link add https://hub.example.com</a:t>
            </a:r>
            <a:endParaRPr lang="en-US" sz="1300" dirty="0"/>
          </a:p>
          <a:p>
            <a:pPr indent="0" marL="0">
              <a:buNone/>
            </a:pPr>
            <a:r>
              <a:rPr lang="en-US" sz="1300" dirty="0">
                <a:solidFill>
                  <a:schemeClr val="tx2"/>
                </a:solidFill>
              </a:rPr>
              <a:t>the same command; nothing in a packet changes. The hub runs nothing</a:t>
            </a:r>
            <a:endParaRPr lang="en-US" sz="1300" dirty="0"/>
          </a:p>
        </p:txBody>
      </p:sp>
      <p:sp>
        <p:nvSpPr>
          <p:cNvPr id="40" name="card319"/>
          <p:cNvSpPr/>
          <p:nvPr/>
        </p:nvSpPr>
        <p:spPr>
          <a:xfrm>
            <a:off x="548640" y="5486400"/>
            <a:ext cx="11094415" cy="685800"/>
          </a:xfrm>
          <a:prstGeom prst="roundRect">
            <a:avLst>
              <a:gd name="adj" fmla="val 10667"/>
            </a:avLst>
          </a:prstGeom>
          <a:solidFill>
            <a:schemeClr val="tx1"/>
          </a:solidFill>
          <a:ln w="9525">
            <a:solidFill>
              <a:schemeClr val="tx1"/>
            </a:solidFill>
            <a:prstDash val="solid"/>
          </a:ln>
        </p:spPr>
      </p:sp>
      <p:sp>
        <p:nvSpPr>
          <p:cNvPr id="41" name="t320"/>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500" b="1" dirty="0">
                <a:solidFill>
                  <a:srgbClr val="E8A33D"/>
                </a:solidFill>
              </a:rPr>
              <a:t>Links are not logins: </a:t>
            </a:r>
            <a:pPr indent="0" marL="0">
              <a:buNone/>
            </a:pPr>
            <a:r>
              <a:rPr lang="en-US" sz="1500" dirty="0">
                <a:solidFill>
                  <a:srgbClr val="FFFFFF"/>
                </a:solidFill>
              </a:rPr>
              <a:t>a teammate or a hub reads what you share and drops bundles in your inbox. It never runs anything of yours.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Shared, scarce resources are scheduled, not fought over</a:t>
            </a:r>
            <a:endParaRPr lang="en-US" sz="3400" dirty="0"/>
          </a:p>
        </p:txBody>
      </p:sp>
      <p:sp>
        <p:nvSpPr>
          <p:cNvPr id="3" name="t321"/>
          <p:cNvSpPr txBox="1"/>
          <p:nvPr/>
        </p:nvSpPr>
        <p:spPr>
          <a:xfrm>
            <a:off x="548640" y="1463040"/>
            <a:ext cx="1371600" cy="45720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agent</a:t>
            </a:r>
            <a:endParaRPr lang="en-US" sz="1600" dirty="0"/>
          </a:p>
        </p:txBody>
      </p:sp>
      <p:sp>
        <p:nvSpPr>
          <p:cNvPr id="4" name="rb322"/>
          <p:cNvSpPr/>
          <p:nvPr/>
        </p:nvSpPr>
        <p:spPr>
          <a:xfrm>
            <a:off x="2011680" y="1554480"/>
            <a:ext cx="4206240" cy="292608"/>
          </a:xfrm>
          <a:prstGeom prst="roundRect">
            <a:avLst>
              <a:gd name="adj" fmla="val 50000"/>
            </a:avLst>
          </a:prstGeom>
          <a:solidFill>
            <a:srgbClr val="D5DBE1"/>
          </a:solidFill>
          <a:ln w="12700">
            <a:solidFill>
              <a:srgbClr val="D5DBE1"/>
            </a:solidFill>
            <a:prstDash val="solid"/>
          </a:ln>
        </p:spPr>
      </p:sp>
      <p:sp>
        <p:nvSpPr>
          <p:cNvPr id="5" name="rb323"/>
          <p:cNvSpPr/>
          <p:nvPr/>
        </p:nvSpPr>
        <p:spPr>
          <a:xfrm>
            <a:off x="2011680" y="1554480"/>
            <a:ext cx="2804160" cy="292608"/>
          </a:xfrm>
          <a:prstGeom prst="roundRect">
            <a:avLst>
              <a:gd name="adj" fmla="val 50000"/>
            </a:avLst>
          </a:prstGeom>
          <a:solidFill>
            <a:schemeClr val="accent2"/>
          </a:solidFill>
          <a:ln w="12700">
            <a:solidFill>
              <a:schemeClr val="accent2"/>
            </a:solidFill>
            <a:prstDash val="solid"/>
          </a:ln>
        </p:spPr>
      </p:sp>
      <p:sp>
        <p:nvSpPr>
          <p:cNvPr id="6" name="t324"/>
          <p:cNvSpPr txBox="1"/>
          <p:nvPr/>
        </p:nvSpPr>
        <p:spPr>
          <a:xfrm>
            <a:off x="6355080" y="1463040"/>
            <a:ext cx="914400" cy="457200"/>
          </a:xfrm>
          <a:prstGeom prst="rect">
            <a:avLst/>
          </a:prstGeom>
          <a:noFill/>
          <a:ln/>
        </p:spPr>
        <p:txBody>
          <a:bodyPr wrap="square" lIns="0" tIns="0" rIns="0" bIns="0" rtlCol="0" anchor="ctr"/>
          <a:lstStyle/>
          <a:p>
            <a:pPr indent="0" marL="0">
              <a:buNone/>
            </a:pPr>
            <a:r>
              <a:rPr lang="en-US" sz="1400" dirty="0">
                <a:solidFill>
                  <a:schemeClr val="tx2"/>
                </a:solidFill>
              </a:rPr>
              <a:t>2 / 3</a:t>
            </a:r>
            <a:endParaRPr lang="en-US" sz="1400" dirty="0"/>
          </a:p>
        </p:txBody>
      </p:sp>
      <p:sp>
        <p:nvSpPr>
          <p:cNvPr id="7" name="t325"/>
          <p:cNvSpPr txBox="1"/>
          <p:nvPr/>
        </p:nvSpPr>
        <p:spPr>
          <a:xfrm>
            <a:off x="548640" y="2377440"/>
            <a:ext cx="1371600" cy="45720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xcelium</a:t>
            </a:r>
            <a:endParaRPr lang="en-US" sz="1600" dirty="0"/>
          </a:p>
        </p:txBody>
      </p:sp>
      <p:sp>
        <p:nvSpPr>
          <p:cNvPr id="8" name="rb326"/>
          <p:cNvSpPr/>
          <p:nvPr/>
        </p:nvSpPr>
        <p:spPr>
          <a:xfrm>
            <a:off x="2011680" y="2468880"/>
            <a:ext cx="4206240" cy="292608"/>
          </a:xfrm>
          <a:prstGeom prst="roundRect">
            <a:avLst>
              <a:gd name="adj" fmla="val 50000"/>
            </a:avLst>
          </a:prstGeom>
          <a:solidFill>
            <a:srgbClr val="D5DBE1"/>
          </a:solidFill>
          <a:ln w="12700">
            <a:solidFill>
              <a:srgbClr val="D5DBE1"/>
            </a:solidFill>
            <a:prstDash val="solid"/>
          </a:ln>
        </p:spPr>
      </p:sp>
      <p:sp>
        <p:nvSpPr>
          <p:cNvPr id="9" name="rb327"/>
          <p:cNvSpPr/>
          <p:nvPr/>
        </p:nvSpPr>
        <p:spPr>
          <a:xfrm>
            <a:off x="2011680" y="2468880"/>
            <a:ext cx="4206240" cy="292608"/>
          </a:xfrm>
          <a:prstGeom prst="roundRect">
            <a:avLst>
              <a:gd name="adj" fmla="val 50000"/>
            </a:avLst>
          </a:prstGeom>
          <a:solidFill>
            <a:schemeClr val="accent4"/>
          </a:solidFill>
          <a:ln w="12700">
            <a:solidFill>
              <a:schemeClr val="accent4"/>
            </a:solidFill>
            <a:prstDash val="solid"/>
          </a:ln>
        </p:spPr>
      </p:sp>
      <p:sp>
        <p:nvSpPr>
          <p:cNvPr id="10" name="t328"/>
          <p:cNvSpPr txBox="1"/>
          <p:nvPr/>
        </p:nvSpPr>
        <p:spPr>
          <a:xfrm>
            <a:off x="6355080" y="2377440"/>
            <a:ext cx="914400" cy="457200"/>
          </a:xfrm>
          <a:prstGeom prst="rect">
            <a:avLst/>
          </a:prstGeom>
          <a:noFill/>
          <a:ln/>
        </p:spPr>
        <p:txBody>
          <a:bodyPr wrap="square" lIns="0" tIns="0" rIns="0" bIns="0" rtlCol="0" anchor="ctr"/>
          <a:lstStyle/>
          <a:p>
            <a:pPr indent="0" marL="0">
              <a:buNone/>
            </a:pPr>
            <a:r>
              <a:rPr lang="en-US" sz="1400" dirty="0">
                <a:solidFill>
                  <a:schemeClr val="tx2"/>
                </a:solidFill>
              </a:rPr>
              <a:t>4 / 4</a:t>
            </a:r>
            <a:endParaRPr lang="en-US" sz="1400" dirty="0"/>
          </a:p>
        </p:txBody>
      </p:sp>
      <p:sp>
        <p:nvSpPr>
          <p:cNvPr id="11" name="t329"/>
          <p:cNvSpPr txBox="1"/>
          <p:nvPr/>
        </p:nvSpPr>
        <p:spPr>
          <a:xfrm>
            <a:off x="548640" y="3291840"/>
            <a:ext cx="1371600" cy="45720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jasper</a:t>
            </a:r>
            <a:endParaRPr lang="en-US" sz="1600" dirty="0"/>
          </a:p>
        </p:txBody>
      </p:sp>
      <p:sp>
        <p:nvSpPr>
          <p:cNvPr id="12" name="rb330"/>
          <p:cNvSpPr/>
          <p:nvPr/>
        </p:nvSpPr>
        <p:spPr>
          <a:xfrm>
            <a:off x="2011680" y="3383280"/>
            <a:ext cx="4206240" cy="292608"/>
          </a:xfrm>
          <a:prstGeom prst="roundRect">
            <a:avLst>
              <a:gd name="adj" fmla="val 50000"/>
            </a:avLst>
          </a:prstGeom>
          <a:solidFill>
            <a:srgbClr val="D5DBE1"/>
          </a:solidFill>
          <a:ln w="12700">
            <a:solidFill>
              <a:srgbClr val="D5DBE1"/>
            </a:solidFill>
            <a:prstDash val="solid"/>
          </a:ln>
        </p:spPr>
      </p:sp>
      <p:sp>
        <p:nvSpPr>
          <p:cNvPr id="13" name="rb331"/>
          <p:cNvSpPr/>
          <p:nvPr/>
        </p:nvSpPr>
        <p:spPr>
          <a:xfrm>
            <a:off x="2011680" y="3383280"/>
            <a:ext cx="2103120" cy="292608"/>
          </a:xfrm>
          <a:prstGeom prst="roundRect">
            <a:avLst>
              <a:gd name="adj" fmla="val 50000"/>
            </a:avLst>
          </a:prstGeom>
          <a:solidFill>
            <a:schemeClr val="accent2"/>
          </a:solidFill>
          <a:ln w="12700">
            <a:solidFill>
              <a:schemeClr val="accent2"/>
            </a:solidFill>
            <a:prstDash val="solid"/>
          </a:ln>
        </p:spPr>
      </p:sp>
      <p:sp>
        <p:nvSpPr>
          <p:cNvPr id="14" name="t332"/>
          <p:cNvSpPr txBox="1"/>
          <p:nvPr/>
        </p:nvSpPr>
        <p:spPr>
          <a:xfrm>
            <a:off x="6355080" y="3291840"/>
            <a:ext cx="914400" cy="457200"/>
          </a:xfrm>
          <a:prstGeom prst="rect">
            <a:avLst/>
          </a:prstGeom>
          <a:noFill/>
          <a:ln/>
        </p:spPr>
        <p:txBody>
          <a:bodyPr wrap="square" lIns="0" tIns="0" rIns="0" bIns="0" rtlCol="0" anchor="ctr"/>
          <a:lstStyle/>
          <a:p>
            <a:pPr indent="0" marL="0">
              <a:buNone/>
            </a:pPr>
            <a:r>
              <a:rPr lang="en-US" sz="1400" dirty="0">
                <a:solidFill>
                  <a:schemeClr val="tx2"/>
                </a:solidFill>
              </a:rPr>
              <a:t>1 / 2</a:t>
            </a:r>
            <a:endParaRPr lang="en-US" sz="1400" dirty="0"/>
          </a:p>
        </p:txBody>
      </p:sp>
      <p:sp>
        <p:nvSpPr>
          <p:cNvPr id="15" name="t333"/>
          <p:cNvSpPr txBox="1"/>
          <p:nvPr/>
        </p:nvSpPr>
        <p:spPr>
          <a:xfrm>
            <a:off x="548640" y="4206240"/>
            <a:ext cx="1371600" cy="45720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cpu</a:t>
            </a:r>
            <a:endParaRPr lang="en-US" sz="1600" dirty="0"/>
          </a:p>
        </p:txBody>
      </p:sp>
      <p:sp>
        <p:nvSpPr>
          <p:cNvPr id="16" name="rb334"/>
          <p:cNvSpPr/>
          <p:nvPr/>
        </p:nvSpPr>
        <p:spPr>
          <a:xfrm>
            <a:off x="2011680" y="4297680"/>
            <a:ext cx="4206240" cy="292608"/>
          </a:xfrm>
          <a:prstGeom prst="roundRect">
            <a:avLst>
              <a:gd name="adj" fmla="val 50000"/>
            </a:avLst>
          </a:prstGeom>
          <a:solidFill>
            <a:srgbClr val="D5DBE1"/>
          </a:solidFill>
          <a:ln w="12700">
            <a:solidFill>
              <a:srgbClr val="D5DBE1"/>
            </a:solidFill>
            <a:prstDash val="solid"/>
          </a:ln>
        </p:spPr>
      </p:sp>
      <p:sp>
        <p:nvSpPr>
          <p:cNvPr id="17" name="rb335"/>
          <p:cNvSpPr/>
          <p:nvPr/>
        </p:nvSpPr>
        <p:spPr>
          <a:xfrm>
            <a:off x="2011680" y="4297680"/>
            <a:ext cx="2628900" cy="292608"/>
          </a:xfrm>
          <a:prstGeom prst="roundRect">
            <a:avLst>
              <a:gd name="adj" fmla="val 50000"/>
            </a:avLst>
          </a:prstGeom>
          <a:solidFill>
            <a:schemeClr val="accent2"/>
          </a:solidFill>
          <a:ln w="12700">
            <a:solidFill>
              <a:schemeClr val="accent2"/>
            </a:solidFill>
            <a:prstDash val="solid"/>
          </a:ln>
        </p:spPr>
      </p:sp>
      <p:sp>
        <p:nvSpPr>
          <p:cNvPr id="18" name="t336"/>
          <p:cNvSpPr txBox="1"/>
          <p:nvPr/>
        </p:nvSpPr>
        <p:spPr>
          <a:xfrm>
            <a:off x="6355080" y="4206240"/>
            <a:ext cx="914400" cy="457200"/>
          </a:xfrm>
          <a:prstGeom prst="rect">
            <a:avLst/>
          </a:prstGeom>
          <a:noFill/>
          <a:ln/>
        </p:spPr>
        <p:txBody>
          <a:bodyPr wrap="square" lIns="0" tIns="0" rIns="0" bIns="0" rtlCol="0" anchor="ctr"/>
          <a:lstStyle/>
          <a:p>
            <a:pPr indent="0" marL="0">
              <a:buNone/>
            </a:pPr>
            <a:r>
              <a:rPr lang="en-US" sz="1400" dirty="0">
                <a:solidFill>
                  <a:schemeClr val="tx2"/>
                </a:solidFill>
              </a:rPr>
              <a:t>20 / 32</a:t>
            </a:r>
            <a:endParaRPr lang="en-US" sz="1400" dirty="0"/>
          </a:p>
        </p:txBody>
      </p:sp>
      <p:sp>
        <p:nvSpPr>
          <p:cNvPr id="19" name="card337"/>
          <p:cNvSpPr/>
          <p:nvPr/>
        </p:nvSpPr>
        <p:spPr>
          <a:xfrm>
            <a:off x="548640" y="5257800"/>
            <a:ext cx="6172200" cy="777240"/>
          </a:xfrm>
          <a:prstGeom prst="roundRect">
            <a:avLst>
              <a:gd name="adj" fmla="val 9412"/>
            </a:avLst>
          </a:prstGeom>
          <a:solidFill>
            <a:schemeClr val="accent5"/>
          </a:solidFill>
          <a:ln w="9525">
            <a:solidFill>
              <a:schemeClr val="accent5"/>
            </a:solidFill>
            <a:prstDash val="solid"/>
          </a:ln>
        </p:spPr>
      </p:sp>
      <p:sp>
        <p:nvSpPr>
          <p:cNvPr id="20" name="t338"/>
          <p:cNvSpPr txBox="1"/>
          <p:nvPr/>
        </p:nvSpPr>
        <p:spPr>
          <a:xfrm>
            <a:off x="822960" y="5257800"/>
            <a:ext cx="5669280" cy="77724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chi-sim  </a:t>
            </a:r>
            <a:pPr indent="0" marL="0">
              <a:buNone/>
            </a:pPr>
            <a:r>
              <a:rPr lang="en-US" sz="1500" dirty="0">
                <a:solidFill>
                  <a:schemeClr val="tx1"/>
                </a:solidFill>
              </a:rPr>
              <a:t>waiting for xcelium (4 of 4 in use)</a:t>
            </a:r>
            <a:endParaRPr lang="en-US" sz="1500" dirty="0"/>
          </a:p>
        </p:txBody>
      </p:sp>
      <p:sp>
        <p:nvSpPr>
          <p:cNvPr id="21" name="card339"/>
          <p:cNvSpPr/>
          <p:nvPr/>
        </p:nvSpPr>
        <p:spPr>
          <a:xfrm>
            <a:off x="7178040" y="1371600"/>
            <a:ext cx="4462272" cy="4663440"/>
          </a:xfrm>
          <a:prstGeom prst="roundRect">
            <a:avLst>
              <a:gd name="adj" fmla="val 1639"/>
            </a:avLst>
          </a:prstGeom>
          <a:solidFill>
            <a:schemeClr val="bg2"/>
          </a:solidFill>
          <a:ln w="9525">
            <a:solidFill>
              <a:schemeClr val="bg2"/>
            </a:solidFill>
            <a:prstDash val="solid"/>
          </a:ln>
        </p:spPr>
      </p:sp>
      <p:sp>
        <p:nvSpPr>
          <p:cNvPr id="22" name="t340"/>
          <p:cNvSpPr txBox="1"/>
          <p:nvPr/>
        </p:nvSpPr>
        <p:spPr>
          <a:xfrm>
            <a:off x="7452360" y="1554480"/>
            <a:ext cx="3931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How it works</a:t>
            </a:r>
            <a:endParaRPr lang="en-US" sz="1800" dirty="0"/>
          </a:p>
        </p:txBody>
      </p:sp>
      <p:sp>
        <p:nvSpPr>
          <p:cNvPr id="23" name="t341"/>
          <p:cNvSpPr txBox="1"/>
          <p:nvPr/>
        </p:nvSpPr>
        <p:spPr>
          <a:xfrm>
            <a:off x="7452360" y="2057400"/>
            <a:ext cx="3931920"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Name pools in config: agent = 3, xcelium = 4</a:t>
            </a:r>
            <a:endParaRPr lang="en-US" sz="1500" dirty="0"/>
          </a:p>
          <a:p>
            <a:pPr marL="342900" indent="-342900">
              <a:spcAft>
                <a:spcPts val="1000"/>
              </a:spcAft>
              <a:buSzPct val="100000"/>
              <a:buChar char="•"/>
            </a:pPr>
            <a:r>
              <a:rPr lang="en-US" sz="1500" dirty="0">
                <a:solidFill>
                  <a:schemeClr val="tx1"/>
                </a:solidFill>
              </a:rPr>
              <a:t>A step uses an agent slot; a job declares what it needs</a:t>
            </a:r>
            <a:endParaRPr lang="en-US" sz="1500" dirty="0"/>
          </a:p>
          <a:p>
            <a:pPr marL="342900" indent="-342900">
              <a:spcAft>
                <a:spcPts val="1000"/>
              </a:spcAft>
              <a:buSzPct val="100000"/>
              <a:buChar char="•"/>
            </a:pPr>
            <a:r>
              <a:rPr lang="en-US" sz="1500" dirty="0">
                <a:solidFill>
                  <a:schemeClr val="tx1"/>
                </a:solidFill>
              </a:rPr>
              <a:t>Work starts only when its needs are free; the card says what it waits for</a:t>
            </a:r>
            <a:endParaRPr lang="en-US" sz="1500" dirty="0"/>
          </a:p>
          <a:p>
            <a:pPr marL="342900" indent="-342900">
              <a:spcAft>
                <a:spcPts val="1000"/>
              </a:spcAft>
              <a:buSzPct val="100000"/>
              <a:buChar char="•"/>
            </a:pPr>
            <a:r>
              <a:rPr lang="en-US" sz="1500" dirty="0">
                <a:solidFill>
                  <a:schemeClr val="tx1"/>
                </a:solidFill>
              </a:rPr>
              <a:t>Heavy jobs go to SLURM, with pools mapped to its licences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 team's week in packets</a:t>
            </a:r>
            <a:endParaRPr lang="en-US" sz="3400" dirty="0"/>
          </a:p>
        </p:txBody>
      </p:sp>
      <p:sp>
        <p:nvSpPr>
          <p:cNvPr id="3" name="card342"/>
          <p:cNvSpPr/>
          <p:nvPr/>
        </p:nvSpPr>
        <p:spPr>
          <a:xfrm>
            <a:off x="548640" y="1325880"/>
            <a:ext cx="1005840" cy="731520"/>
          </a:xfrm>
          <a:prstGeom prst="roundRect">
            <a:avLst>
              <a:gd name="adj" fmla="val 10000"/>
            </a:avLst>
          </a:prstGeom>
          <a:solidFill>
            <a:schemeClr val="tx2"/>
          </a:solidFill>
          <a:ln w="9525">
            <a:solidFill>
              <a:schemeClr val="tx2"/>
            </a:solidFill>
            <a:prstDash val="solid"/>
          </a:ln>
        </p:spPr>
      </p:sp>
      <p:sp>
        <p:nvSpPr>
          <p:cNvPr id="4" name="t343"/>
          <p:cNvSpPr txBox="1"/>
          <p:nvPr/>
        </p:nvSpPr>
        <p:spPr>
          <a:xfrm>
            <a:off x="548640" y="1325880"/>
            <a:ext cx="1005840" cy="7315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Mon</a:t>
            </a:r>
            <a:endParaRPr lang="en-US" sz="1800" dirty="0"/>
          </a:p>
        </p:txBody>
      </p:sp>
      <p:sp>
        <p:nvSpPr>
          <p:cNvPr id="5" name="card344"/>
          <p:cNvSpPr/>
          <p:nvPr/>
        </p:nvSpPr>
        <p:spPr>
          <a:xfrm>
            <a:off x="1737360" y="1325880"/>
            <a:ext cx="6675120" cy="731520"/>
          </a:xfrm>
          <a:prstGeom prst="roundRect">
            <a:avLst>
              <a:gd name="adj" fmla="val 10000"/>
            </a:avLst>
          </a:prstGeom>
          <a:solidFill>
            <a:schemeClr val="bg2"/>
          </a:solidFill>
          <a:ln w="9525">
            <a:solidFill>
              <a:schemeClr val="bg2"/>
            </a:solidFill>
            <a:prstDash val="solid"/>
          </a:ln>
        </p:spPr>
      </p:sp>
      <p:sp>
        <p:nvSpPr>
          <p:cNvPr id="6" name="t345"/>
          <p:cNvSpPr txBox="1"/>
          <p:nvPr/>
        </p:nvSpPr>
        <p:spPr>
          <a:xfrm>
            <a:off x="1965960" y="1325880"/>
            <a:ext cx="6309360" cy="731520"/>
          </a:xfrm>
          <a:prstGeom prst="rect">
            <a:avLst/>
          </a:prstGeom>
          <a:noFill/>
          <a:ln/>
        </p:spPr>
        <p:txBody>
          <a:bodyPr wrap="square" lIns="0" tIns="0" rIns="0" bIns="0" rtlCol="0" anchor="ctr"/>
          <a:lstStyle/>
          <a:p>
            <a:pPr indent="0" marL="0">
              <a:buNone/>
            </a:pPr>
            <a:r>
              <a:rPr lang="en-US" sz="1400" dirty="0">
                <a:solidFill>
                  <a:schemeClr val="tx1"/>
                </a:solidFill>
              </a:rPr>
              <a:t>Nightly CI fails 3 tests. Three packets appear on the owners' boards, each reproducing itself</a:t>
            </a:r>
            <a:endParaRPr lang="en-US" sz="1400" dirty="0"/>
          </a:p>
        </p:txBody>
      </p:sp>
      <p:sp>
        <p:nvSpPr>
          <p:cNvPr id="7" name="card346"/>
          <p:cNvSpPr/>
          <p:nvPr/>
        </p:nvSpPr>
        <p:spPr>
          <a:xfrm>
            <a:off x="548640" y="2212848"/>
            <a:ext cx="1005840" cy="731520"/>
          </a:xfrm>
          <a:prstGeom prst="roundRect">
            <a:avLst>
              <a:gd name="adj" fmla="val 10000"/>
            </a:avLst>
          </a:prstGeom>
          <a:solidFill>
            <a:schemeClr val="accent2"/>
          </a:solidFill>
          <a:ln w="9525">
            <a:solidFill>
              <a:schemeClr val="accent2"/>
            </a:solidFill>
            <a:prstDash val="solid"/>
          </a:ln>
        </p:spPr>
      </p:sp>
      <p:sp>
        <p:nvSpPr>
          <p:cNvPr id="8" name="t347"/>
          <p:cNvSpPr txBox="1"/>
          <p:nvPr/>
        </p:nvSpPr>
        <p:spPr>
          <a:xfrm>
            <a:off x="548640" y="2212848"/>
            <a:ext cx="1005840" cy="7315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Tue</a:t>
            </a:r>
            <a:endParaRPr lang="en-US" sz="1800" dirty="0"/>
          </a:p>
        </p:txBody>
      </p:sp>
      <p:sp>
        <p:nvSpPr>
          <p:cNvPr id="9" name="card348"/>
          <p:cNvSpPr/>
          <p:nvPr/>
        </p:nvSpPr>
        <p:spPr>
          <a:xfrm>
            <a:off x="1737360" y="2212848"/>
            <a:ext cx="6675120" cy="731520"/>
          </a:xfrm>
          <a:prstGeom prst="roundRect">
            <a:avLst>
              <a:gd name="adj" fmla="val 10000"/>
            </a:avLst>
          </a:prstGeom>
          <a:solidFill>
            <a:schemeClr val="bg2"/>
          </a:solidFill>
          <a:ln w="9525">
            <a:solidFill>
              <a:schemeClr val="bg2"/>
            </a:solidFill>
            <a:prstDash val="solid"/>
          </a:ln>
        </p:spPr>
      </p:sp>
      <p:sp>
        <p:nvSpPr>
          <p:cNvPr id="10" name="t349"/>
          <p:cNvSpPr txBox="1"/>
          <p:nvPr/>
        </p:nvSpPr>
        <p:spPr>
          <a:xfrm>
            <a:off x="1965960" y="2212848"/>
            <a:ext cx="6309360" cy="731520"/>
          </a:xfrm>
          <a:prstGeom prst="rect">
            <a:avLst/>
          </a:prstGeom>
          <a:noFill/>
          <a:ln/>
        </p:spPr>
        <p:txBody>
          <a:bodyPr wrap="square" lIns="0" tIns="0" rIns="0" bIns="0" rtlCol="0" anchor="ctr"/>
          <a:lstStyle/>
          <a:p>
            <a:pPr indent="0" marL="0">
              <a:buNone/>
            </a:pPr>
            <a:r>
              <a:rPr lang="en-US" sz="1400" dirty="0">
                <a:solidFill>
                  <a:schemeClr val="tx1"/>
                </a:solidFill>
              </a:rPr>
              <a:t>Your runner finds the cause of two overnight. You review in VS Code and push the fix</a:t>
            </a:r>
            <a:endParaRPr lang="en-US" sz="1400" dirty="0"/>
          </a:p>
        </p:txBody>
      </p:sp>
      <p:sp>
        <p:nvSpPr>
          <p:cNvPr id="11" name="card350"/>
          <p:cNvSpPr/>
          <p:nvPr/>
        </p:nvSpPr>
        <p:spPr>
          <a:xfrm>
            <a:off x="548640" y="3099816"/>
            <a:ext cx="1005840" cy="731520"/>
          </a:xfrm>
          <a:prstGeom prst="roundRect">
            <a:avLst>
              <a:gd name="adj" fmla="val 10000"/>
            </a:avLst>
          </a:prstGeom>
          <a:solidFill>
            <a:schemeClr val="tx2"/>
          </a:solidFill>
          <a:ln w="9525">
            <a:solidFill>
              <a:schemeClr val="tx2"/>
            </a:solidFill>
            <a:prstDash val="solid"/>
          </a:ln>
        </p:spPr>
      </p:sp>
      <p:sp>
        <p:nvSpPr>
          <p:cNvPr id="12" name="t351"/>
          <p:cNvSpPr txBox="1"/>
          <p:nvPr/>
        </p:nvSpPr>
        <p:spPr>
          <a:xfrm>
            <a:off x="548640" y="3099816"/>
            <a:ext cx="1005840" cy="7315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Wed</a:t>
            </a:r>
            <a:endParaRPr lang="en-US" sz="1800" dirty="0"/>
          </a:p>
        </p:txBody>
      </p:sp>
      <p:sp>
        <p:nvSpPr>
          <p:cNvPr id="13" name="card352"/>
          <p:cNvSpPr/>
          <p:nvPr/>
        </p:nvSpPr>
        <p:spPr>
          <a:xfrm>
            <a:off x="1737360" y="3099816"/>
            <a:ext cx="6675120" cy="731520"/>
          </a:xfrm>
          <a:prstGeom prst="roundRect">
            <a:avLst>
              <a:gd name="adj" fmla="val 10000"/>
            </a:avLst>
          </a:prstGeom>
          <a:solidFill>
            <a:schemeClr val="bg2"/>
          </a:solidFill>
          <a:ln w="9525">
            <a:solidFill>
              <a:schemeClr val="bg2"/>
            </a:solidFill>
            <a:prstDash val="solid"/>
          </a:ln>
        </p:spPr>
      </p:sp>
      <p:sp>
        <p:nvSpPr>
          <p:cNvPr id="14" name="t353"/>
          <p:cNvSpPr txBox="1"/>
          <p:nvPr/>
        </p:nvSpPr>
        <p:spPr>
          <a:xfrm>
            <a:off x="1965960" y="3099816"/>
            <a:ext cx="6309360" cy="731520"/>
          </a:xfrm>
          <a:prstGeom prst="rect">
            <a:avLst/>
          </a:prstGeom>
          <a:noFill/>
          <a:ln/>
        </p:spPr>
        <p:txBody>
          <a:bodyPr wrap="square" lIns="0" tIns="0" rIns="0" bIns="0" rtlCol="0" anchor="ctr"/>
          <a:lstStyle/>
          <a:p>
            <a:pPr indent="0" marL="0">
              <a:buNone/>
            </a:pPr>
            <a:r>
              <a:rPr lang="en-US" sz="1400" dirty="0">
                <a:solidFill>
                  <a:schemeClr val="tx1"/>
                </a:solidFill>
              </a:rPr>
              <a:t>The third is RTL. You assign it to the RTL owner with a note; they open it at the failing commit</a:t>
            </a:r>
            <a:endParaRPr lang="en-US" sz="1400" dirty="0"/>
          </a:p>
        </p:txBody>
      </p:sp>
      <p:sp>
        <p:nvSpPr>
          <p:cNvPr id="15" name="card354"/>
          <p:cNvSpPr/>
          <p:nvPr/>
        </p:nvSpPr>
        <p:spPr>
          <a:xfrm>
            <a:off x="548640" y="3986784"/>
            <a:ext cx="1005840" cy="731520"/>
          </a:xfrm>
          <a:prstGeom prst="roundRect">
            <a:avLst>
              <a:gd name="adj" fmla="val 10000"/>
            </a:avLst>
          </a:prstGeom>
          <a:solidFill>
            <a:schemeClr val="accent2"/>
          </a:solidFill>
          <a:ln w="9525">
            <a:solidFill>
              <a:schemeClr val="accent2"/>
            </a:solidFill>
            <a:prstDash val="solid"/>
          </a:ln>
        </p:spPr>
      </p:sp>
      <p:sp>
        <p:nvSpPr>
          <p:cNvPr id="16" name="t355"/>
          <p:cNvSpPr txBox="1"/>
          <p:nvPr/>
        </p:nvSpPr>
        <p:spPr>
          <a:xfrm>
            <a:off x="548640" y="3986784"/>
            <a:ext cx="1005840" cy="7315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Thu</a:t>
            </a:r>
            <a:endParaRPr lang="en-US" sz="1800" dirty="0"/>
          </a:p>
        </p:txBody>
      </p:sp>
      <p:sp>
        <p:nvSpPr>
          <p:cNvPr id="17" name="card356"/>
          <p:cNvSpPr/>
          <p:nvPr/>
        </p:nvSpPr>
        <p:spPr>
          <a:xfrm>
            <a:off x="1737360" y="3986784"/>
            <a:ext cx="6675120" cy="731520"/>
          </a:xfrm>
          <a:prstGeom prst="roundRect">
            <a:avLst>
              <a:gd name="adj" fmla="val 10000"/>
            </a:avLst>
          </a:prstGeom>
          <a:solidFill>
            <a:schemeClr val="bg2"/>
          </a:solidFill>
          <a:ln w="9525">
            <a:solidFill>
              <a:schemeClr val="bg2"/>
            </a:solidFill>
            <a:prstDash val="solid"/>
          </a:ln>
        </p:spPr>
      </p:sp>
      <p:sp>
        <p:nvSpPr>
          <p:cNvPr id="18" name="t357"/>
          <p:cNvSpPr txBox="1"/>
          <p:nvPr/>
        </p:nvSpPr>
        <p:spPr>
          <a:xfrm>
            <a:off x="1965960" y="3986784"/>
            <a:ext cx="6309360" cy="731520"/>
          </a:xfrm>
          <a:prstGeom prst="rect">
            <a:avLst/>
          </a:prstGeom>
          <a:noFill/>
          <a:ln/>
        </p:spPr>
        <p:txBody>
          <a:bodyPr wrap="square" lIns="0" tIns="0" rIns="0" bIns="0" rtlCol="0" anchor="ctr"/>
          <a:lstStyle/>
          <a:p>
            <a:pPr indent="0" marL="0">
              <a:buNone/>
            </a:pPr>
            <a:r>
              <a:rPr lang="en-US" sz="1400" dirty="0">
                <a:solidFill>
                  <a:schemeClr val="tx1"/>
                </a:solidFill>
              </a:rPr>
              <a:t>The lead's hub board shows who holds what, and what has waited longest</a:t>
            </a:r>
            <a:endParaRPr lang="en-US" sz="1400" dirty="0"/>
          </a:p>
        </p:txBody>
      </p:sp>
      <p:sp>
        <p:nvSpPr>
          <p:cNvPr id="19" name="card358"/>
          <p:cNvSpPr/>
          <p:nvPr/>
        </p:nvSpPr>
        <p:spPr>
          <a:xfrm>
            <a:off x="548640" y="4873752"/>
            <a:ext cx="1005840" cy="731520"/>
          </a:xfrm>
          <a:prstGeom prst="roundRect">
            <a:avLst>
              <a:gd name="adj" fmla="val 10000"/>
            </a:avLst>
          </a:prstGeom>
          <a:solidFill>
            <a:schemeClr val="tx2"/>
          </a:solidFill>
          <a:ln w="9525">
            <a:solidFill>
              <a:schemeClr val="tx2"/>
            </a:solidFill>
            <a:prstDash val="solid"/>
          </a:ln>
        </p:spPr>
      </p:sp>
      <p:sp>
        <p:nvSpPr>
          <p:cNvPr id="20" name="t359"/>
          <p:cNvSpPr txBox="1"/>
          <p:nvPr/>
        </p:nvSpPr>
        <p:spPr>
          <a:xfrm>
            <a:off x="548640" y="4873752"/>
            <a:ext cx="1005840" cy="7315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Fri</a:t>
            </a:r>
            <a:endParaRPr lang="en-US" sz="1800" dirty="0"/>
          </a:p>
        </p:txBody>
      </p:sp>
      <p:sp>
        <p:nvSpPr>
          <p:cNvPr id="21" name="card360"/>
          <p:cNvSpPr/>
          <p:nvPr/>
        </p:nvSpPr>
        <p:spPr>
          <a:xfrm>
            <a:off x="1737360" y="4873752"/>
            <a:ext cx="6675120" cy="731520"/>
          </a:xfrm>
          <a:prstGeom prst="roundRect">
            <a:avLst>
              <a:gd name="adj" fmla="val 10000"/>
            </a:avLst>
          </a:prstGeom>
          <a:solidFill>
            <a:schemeClr val="bg2"/>
          </a:solidFill>
          <a:ln w="9525">
            <a:solidFill>
              <a:schemeClr val="bg2"/>
            </a:solidFill>
            <a:prstDash val="solid"/>
          </a:ln>
        </p:spPr>
      </p:sp>
      <p:sp>
        <p:nvSpPr>
          <p:cNvPr id="22" name="t361"/>
          <p:cNvSpPr txBox="1"/>
          <p:nvPr/>
        </p:nvSpPr>
        <p:spPr>
          <a:xfrm>
            <a:off x="1965960" y="4873752"/>
            <a:ext cx="6309360" cy="731520"/>
          </a:xfrm>
          <a:prstGeom prst="rect">
            <a:avLst/>
          </a:prstGeom>
          <a:noFill/>
          <a:ln/>
        </p:spPr>
        <p:txBody>
          <a:bodyPr wrap="square" lIns="0" tIns="0" rIns="0" bIns="0" rtlCol="0" anchor="ctr"/>
          <a:lstStyle/>
          <a:p>
            <a:pPr indent="0" marL="0">
              <a:buNone/>
            </a:pPr>
            <a:r>
              <a:rPr lang="en-US" sz="1400" dirty="0">
                <a:solidFill>
                  <a:schemeClr val="tx1"/>
                </a:solidFill>
              </a:rPr>
              <a:t>A plan packet finishes batch 3; you give it batch 4 and go home. It runs over the weekend</a:t>
            </a:r>
            <a:endParaRPr lang="en-US" sz="1400" dirty="0"/>
          </a:p>
        </p:txBody>
      </p:sp>
      <p:sp>
        <p:nvSpPr>
          <p:cNvPr id="23" name="card362"/>
          <p:cNvSpPr/>
          <p:nvPr/>
        </p:nvSpPr>
        <p:spPr>
          <a:xfrm>
            <a:off x="8595360" y="1325880"/>
            <a:ext cx="3044952" cy="4279392"/>
          </a:xfrm>
          <a:prstGeom prst="roundRect">
            <a:avLst>
              <a:gd name="adj" fmla="val 2402"/>
            </a:avLst>
          </a:prstGeom>
          <a:solidFill>
            <a:schemeClr val="tx1"/>
          </a:solidFill>
          <a:ln w="9525">
            <a:solidFill>
              <a:schemeClr val="tx1"/>
            </a:solidFill>
            <a:prstDash val="solid"/>
          </a:ln>
        </p:spPr>
      </p:sp>
      <p:sp>
        <p:nvSpPr>
          <p:cNvPr id="24" name="t363"/>
          <p:cNvSpPr txBox="1"/>
          <p:nvPr/>
        </p:nvSpPr>
        <p:spPr>
          <a:xfrm>
            <a:off x="8823960" y="1508760"/>
            <a:ext cx="2606040" cy="68580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What the team can measure</a:t>
            </a:r>
            <a:endParaRPr lang="en-US" sz="1700" dirty="0"/>
          </a:p>
        </p:txBody>
      </p:sp>
      <p:sp>
        <p:nvSpPr>
          <p:cNvPr id="25" name="t364"/>
          <p:cNvSpPr txBox="1"/>
          <p:nvPr/>
        </p:nvSpPr>
        <p:spPr>
          <a:xfrm>
            <a:off x="8823960" y="2286000"/>
            <a:ext cx="260604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cost of a triage</a:t>
            </a:r>
            <a:endParaRPr lang="en-US" sz="1400" dirty="0"/>
          </a:p>
          <a:p>
            <a:pPr marL="342900" indent="-342900">
              <a:spcAft>
                <a:spcPts val="800"/>
              </a:spcAft>
              <a:buSzPct val="100000"/>
              <a:buChar char="•"/>
            </a:pPr>
            <a:r>
              <a:rPr lang="en-US" sz="1400" dirty="0">
                <a:solidFill>
                  <a:srgbClr val="FFFFFF"/>
                </a:solidFill>
              </a:rPr>
              <a:t>time from failure to root cause</a:t>
            </a:r>
            <a:endParaRPr lang="en-US" sz="1400" dirty="0"/>
          </a:p>
          <a:p>
            <a:pPr marL="342900" indent="-342900">
              <a:spcAft>
                <a:spcPts val="800"/>
              </a:spcAft>
              <a:buSzPct val="100000"/>
              <a:buChar char="•"/>
            </a:pPr>
            <a:r>
              <a:rPr lang="en-US" sz="1400" dirty="0">
                <a:solidFill>
                  <a:srgbClr val="FFFFFF"/>
                </a:solidFill>
              </a:rPr>
              <a:t>how often the agent reproduced the bug</a:t>
            </a:r>
            <a:endParaRPr lang="en-US" sz="1400" dirty="0"/>
          </a:p>
          <a:p>
            <a:pPr marL="342900" indent="-342900">
              <a:spcAft>
                <a:spcPts val="800"/>
              </a:spcAft>
              <a:buSzPct val="100000"/>
              <a:buChar char="•"/>
            </a:pPr>
            <a:r>
              <a:rPr lang="en-US" sz="1400" dirty="0">
                <a:solidFill>
                  <a:srgbClr val="FFFFFF"/>
                </a:solidFill>
              </a:rPr>
              <a:t>what waits on people, and for how long</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Grow without migrating</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One user, a small team, an organization, the internet. Each step up is configuration, not a migration.</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Four scales, one protocol</a:t>
            </a:r>
            <a:endParaRPr lang="en-US" sz="3400" dirty="0"/>
          </a:p>
        </p:txBody>
      </p:sp>
      <p:sp>
        <p:nvSpPr>
          <p:cNvPr id="3" name="card365"/>
          <p:cNvSpPr/>
          <p:nvPr/>
        </p:nvSpPr>
        <p:spPr>
          <a:xfrm>
            <a:off x="548640" y="3703320"/>
            <a:ext cx="2606040" cy="2377440"/>
          </a:xfrm>
          <a:prstGeom prst="roundRect">
            <a:avLst>
              <a:gd name="adj" fmla="val 3077"/>
            </a:avLst>
          </a:prstGeom>
          <a:solidFill>
            <a:schemeClr val="accent6"/>
          </a:solidFill>
          <a:ln w="9525">
            <a:solidFill>
              <a:schemeClr val="accent6"/>
            </a:solidFill>
            <a:prstDash val="solid"/>
          </a:ln>
        </p:spPr>
      </p:sp>
      <p:sp>
        <p:nvSpPr>
          <p:cNvPr id="4" name="ic366"/>
          <p:cNvSpPr/>
          <p:nvPr/>
        </p:nvSpPr>
        <p:spPr>
          <a:xfrm>
            <a:off x="777240" y="3931920"/>
            <a:ext cx="685800" cy="685800"/>
          </a:xfrm>
          <a:prstGeom prst="ellipse">
            <a:avLst/>
          </a:prstGeom>
          <a:solidFill>
            <a:schemeClr val="accent2"/>
          </a:solidFill>
          <a:ln w="12700">
            <a:solidFill>
              <a:schemeClr val="accent2"/>
            </a:solidFill>
            <a:prstDash val="solid"/>
          </a:ln>
        </p:spPr>
      </p:sp>
      <p:pic>
        <p:nvPicPr>
          <p:cNvPr id="5" name="icimg367" descr="preencoded.png">    </p:cNvPr>
          <p:cNvPicPr>
            <a:picLocks noChangeAspect="1"/>
          </p:cNvPicPr>
          <p:nvPr/>
        </p:nvPicPr>
        <p:blipFill>
          <a:blip r:embed="rId1"/>
          <a:stretch>
            <a:fillRect/>
          </a:stretch>
        </p:blipFill>
        <p:spPr>
          <a:xfrm>
            <a:off x="948690" y="4103370"/>
            <a:ext cx="342900" cy="342900"/>
          </a:xfrm>
          <a:prstGeom prst="rect">
            <a:avLst/>
          </a:prstGeom>
        </p:spPr>
      </p:pic>
      <p:sp>
        <p:nvSpPr>
          <p:cNvPr id="6" name="t368"/>
          <p:cNvSpPr txBox="1"/>
          <p:nvPr/>
        </p:nvSpPr>
        <p:spPr>
          <a:xfrm>
            <a:off x="777240" y="4709160"/>
            <a:ext cx="214884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One user</a:t>
            </a:r>
            <a:endParaRPr lang="en-US" sz="1700" dirty="0"/>
          </a:p>
        </p:txBody>
      </p:sp>
      <p:sp>
        <p:nvSpPr>
          <p:cNvPr id="7" name="t369"/>
          <p:cNvSpPr txBox="1"/>
          <p:nvPr/>
        </p:nvSpPr>
        <p:spPr>
          <a:xfrm>
            <a:off x="777240" y="5074920"/>
            <a:ext cx="2148840" cy="32004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wpk dash</a:t>
            </a:r>
            <a:endParaRPr lang="en-US" sz="1300" dirty="0"/>
          </a:p>
        </p:txBody>
      </p:sp>
      <p:sp>
        <p:nvSpPr>
          <p:cNvPr id="8" name="t370"/>
          <p:cNvSpPr txBox="1"/>
          <p:nvPr/>
        </p:nvSpPr>
        <p:spPr>
          <a:xfrm>
            <a:off x="777240" y="5422392"/>
            <a:ext cx="2148840" cy="640080"/>
          </a:xfrm>
          <a:prstGeom prst="rect">
            <a:avLst/>
          </a:prstGeom>
          <a:noFill/>
          <a:ln/>
        </p:spPr>
        <p:txBody>
          <a:bodyPr wrap="square" lIns="0" tIns="0" rIns="0" bIns="0" rtlCol="0" anchor="t"/>
          <a:lstStyle/>
          <a:p>
            <a:pPr indent="0" marL="0">
              <a:buNone/>
            </a:pPr>
            <a:r>
              <a:rPr lang="en-US" sz="1300" dirty="0">
                <a:solidFill>
                  <a:schemeClr val="tx2"/>
                </a:solidFill>
              </a:rPr>
              <a:t>board, runner, sessions, jobs, VS Code. No account, no server</a:t>
            </a:r>
            <a:endParaRPr lang="en-US" sz="1300" dirty="0"/>
          </a:p>
        </p:txBody>
      </p:sp>
      <p:sp>
        <p:nvSpPr>
          <p:cNvPr id="9" name="card371"/>
          <p:cNvSpPr/>
          <p:nvPr/>
        </p:nvSpPr>
        <p:spPr>
          <a:xfrm>
            <a:off x="3376879" y="3063240"/>
            <a:ext cx="2606040" cy="3017520"/>
          </a:xfrm>
          <a:prstGeom prst="roundRect">
            <a:avLst>
              <a:gd name="adj" fmla="val 2807"/>
            </a:avLst>
          </a:prstGeom>
          <a:solidFill>
            <a:schemeClr val="bg2"/>
          </a:solidFill>
          <a:ln w="9525">
            <a:solidFill>
              <a:schemeClr val="bg2"/>
            </a:solidFill>
            <a:prstDash val="solid"/>
          </a:ln>
        </p:spPr>
      </p:sp>
      <p:sp>
        <p:nvSpPr>
          <p:cNvPr id="10" name="ic372"/>
          <p:cNvSpPr/>
          <p:nvPr/>
        </p:nvSpPr>
        <p:spPr>
          <a:xfrm>
            <a:off x="3605479" y="3291840"/>
            <a:ext cx="685800" cy="685800"/>
          </a:xfrm>
          <a:prstGeom prst="ellipse">
            <a:avLst/>
          </a:prstGeom>
          <a:solidFill>
            <a:schemeClr val="accent1"/>
          </a:solidFill>
          <a:ln w="12700">
            <a:solidFill>
              <a:schemeClr val="accent1"/>
            </a:solidFill>
            <a:prstDash val="solid"/>
          </a:ln>
        </p:spPr>
      </p:sp>
      <p:pic>
        <p:nvPicPr>
          <p:cNvPr id="11" name="icimg373" descr="preencoded.png">    </p:cNvPr>
          <p:cNvPicPr>
            <a:picLocks noChangeAspect="1"/>
          </p:cNvPicPr>
          <p:nvPr/>
        </p:nvPicPr>
        <p:blipFill>
          <a:blip r:embed="rId2"/>
          <a:stretch>
            <a:fillRect/>
          </a:stretch>
        </p:blipFill>
        <p:spPr>
          <a:xfrm>
            <a:off x="3776929" y="3463290"/>
            <a:ext cx="342900" cy="342900"/>
          </a:xfrm>
          <a:prstGeom prst="rect">
            <a:avLst/>
          </a:prstGeom>
        </p:spPr>
      </p:pic>
      <p:sp>
        <p:nvSpPr>
          <p:cNvPr id="12" name="t374"/>
          <p:cNvSpPr txBox="1"/>
          <p:nvPr/>
        </p:nvSpPr>
        <p:spPr>
          <a:xfrm>
            <a:off x="3605479" y="4069080"/>
            <a:ext cx="214884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Small team</a:t>
            </a:r>
            <a:endParaRPr lang="en-US" sz="1700" dirty="0"/>
          </a:p>
        </p:txBody>
      </p:sp>
      <p:sp>
        <p:nvSpPr>
          <p:cNvPr id="13" name="t375"/>
          <p:cNvSpPr txBox="1"/>
          <p:nvPr/>
        </p:nvSpPr>
        <p:spPr>
          <a:xfrm>
            <a:off x="3605479" y="4434840"/>
            <a:ext cx="214884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wpk link add</a:t>
            </a:r>
            <a:endParaRPr lang="en-US" sz="1300" dirty="0"/>
          </a:p>
        </p:txBody>
      </p:sp>
      <p:sp>
        <p:nvSpPr>
          <p:cNvPr id="14" name="t376"/>
          <p:cNvSpPr txBox="1"/>
          <p:nvPr/>
        </p:nvSpPr>
        <p:spPr>
          <a:xfrm>
            <a:off x="3605479" y="4782312"/>
            <a:ext cx="2148840" cy="640080"/>
          </a:xfrm>
          <a:prstGeom prst="rect">
            <a:avLst/>
          </a:prstGeom>
          <a:noFill/>
          <a:ln/>
        </p:spPr>
        <p:txBody>
          <a:bodyPr wrap="square" lIns="0" tIns="0" rIns="0" bIns="0" rtlCol="0" anchor="t"/>
          <a:lstStyle/>
          <a:p>
            <a:pPr indent="0" marL="0">
              <a:buNone/>
            </a:pPr>
            <a:r>
              <a:rPr lang="en-US" sz="1300" dirty="0">
                <a:solidFill>
                  <a:schemeClr val="tx2"/>
                </a:solidFill>
              </a:rPr>
              <a:t>teammates' boards, assign directly. No server</a:t>
            </a:r>
            <a:endParaRPr lang="en-US" sz="1300" dirty="0"/>
          </a:p>
        </p:txBody>
      </p:sp>
      <p:sp>
        <p:nvSpPr>
          <p:cNvPr id="15" name="card377"/>
          <p:cNvSpPr/>
          <p:nvPr/>
        </p:nvSpPr>
        <p:spPr>
          <a:xfrm>
            <a:off x="6205118" y="2423160"/>
            <a:ext cx="2606040" cy="3657600"/>
          </a:xfrm>
          <a:prstGeom prst="roundRect">
            <a:avLst>
              <a:gd name="adj" fmla="val 2807"/>
            </a:avLst>
          </a:prstGeom>
          <a:solidFill>
            <a:schemeClr val="accent6"/>
          </a:solidFill>
          <a:ln w="9525">
            <a:solidFill>
              <a:schemeClr val="accent6"/>
            </a:solidFill>
            <a:prstDash val="solid"/>
          </a:ln>
        </p:spPr>
      </p:sp>
      <p:sp>
        <p:nvSpPr>
          <p:cNvPr id="16" name="ic378"/>
          <p:cNvSpPr/>
          <p:nvPr/>
        </p:nvSpPr>
        <p:spPr>
          <a:xfrm>
            <a:off x="6433718" y="2651760"/>
            <a:ext cx="685800" cy="685800"/>
          </a:xfrm>
          <a:prstGeom prst="ellipse">
            <a:avLst/>
          </a:prstGeom>
          <a:solidFill>
            <a:schemeClr val="accent4"/>
          </a:solidFill>
          <a:ln w="12700">
            <a:solidFill>
              <a:schemeClr val="accent4"/>
            </a:solidFill>
            <a:prstDash val="solid"/>
          </a:ln>
        </p:spPr>
      </p:sp>
      <p:pic>
        <p:nvPicPr>
          <p:cNvPr id="17" name="icimg379" descr="preencoded.png">    </p:cNvPr>
          <p:cNvPicPr>
            <a:picLocks noChangeAspect="1"/>
          </p:cNvPicPr>
          <p:nvPr/>
        </p:nvPicPr>
        <p:blipFill>
          <a:blip r:embed="rId3"/>
          <a:stretch>
            <a:fillRect/>
          </a:stretch>
        </p:blipFill>
        <p:spPr>
          <a:xfrm>
            <a:off x="6605168" y="2823210"/>
            <a:ext cx="342900" cy="342900"/>
          </a:xfrm>
          <a:prstGeom prst="rect">
            <a:avLst/>
          </a:prstGeom>
        </p:spPr>
      </p:pic>
      <p:sp>
        <p:nvSpPr>
          <p:cNvPr id="18" name="t380"/>
          <p:cNvSpPr txBox="1"/>
          <p:nvPr/>
        </p:nvSpPr>
        <p:spPr>
          <a:xfrm>
            <a:off x="6433718" y="3429000"/>
            <a:ext cx="214884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Organization</a:t>
            </a:r>
            <a:endParaRPr lang="en-US" sz="1700" dirty="0"/>
          </a:p>
        </p:txBody>
      </p:sp>
      <p:sp>
        <p:nvSpPr>
          <p:cNvPr id="19" name="t381"/>
          <p:cNvSpPr txBox="1"/>
          <p:nvPr/>
        </p:nvSpPr>
        <p:spPr>
          <a:xfrm>
            <a:off x="6433718" y="3794760"/>
            <a:ext cx="2148840" cy="320040"/>
          </a:xfrm>
          <a:prstGeom prst="rect">
            <a:avLst/>
          </a:prstGeom>
          <a:noFill/>
          <a:ln/>
        </p:spPr>
        <p:txBody>
          <a:bodyPr wrap="square" lIns="0" tIns="0" rIns="0" bIns="0" rtlCol="0" anchor="t"/>
          <a:lstStyle/>
          <a:p>
            <a:pPr indent="0" marL="0">
              <a:buNone/>
            </a:pPr>
            <a:r>
              <a:rPr lang="en-US" sz="1300" b="1" dirty="0">
                <a:solidFill>
                  <a:schemeClr val="accent4"/>
                </a:solidFill>
                <a:latin typeface="Courier New" pitchFamily="34" charset="0"/>
                <a:ea typeface="Courier New" pitchFamily="34" charset="-122"/>
                <a:cs typeface="Courier New" pitchFamily="34" charset="-120"/>
              </a:rPr>
              <a:t>wpk hub</a:t>
            </a:r>
            <a:endParaRPr lang="en-US" sz="1300" dirty="0"/>
          </a:p>
        </p:txBody>
      </p:sp>
      <p:sp>
        <p:nvSpPr>
          <p:cNvPr id="20" name="t382"/>
          <p:cNvSpPr txBox="1"/>
          <p:nvPr/>
        </p:nvSpPr>
        <p:spPr>
          <a:xfrm>
            <a:off x="6433718" y="4142232"/>
            <a:ext cx="2148840" cy="640080"/>
          </a:xfrm>
          <a:prstGeom prst="rect">
            <a:avLst/>
          </a:prstGeom>
          <a:noFill/>
          <a:ln/>
        </p:spPr>
        <p:txBody>
          <a:bodyPr wrap="square" lIns="0" tIns="0" rIns="0" bIns="0" rtlCol="0" anchor="t"/>
          <a:lstStyle/>
          <a:p>
            <a:pPr indent="0" marL="0">
              <a:buNone/>
            </a:pPr>
            <a:r>
              <a:rPr lang="en-US" sz="1300" dirty="0">
                <a:solidFill>
                  <a:schemeClr val="tx2"/>
                </a:solidFill>
              </a:rPr>
              <a:t>directory, bundle store, CI intake, policy, audit</a:t>
            </a:r>
            <a:endParaRPr lang="en-US" sz="1300" dirty="0"/>
          </a:p>
        </p:txBody>
      </p:sp>
      <p:sp>
        <p:nvSpPr>
          <p:cNvPr id="21" name="card383"/>
          <p:cNvSpPr/>
          <p:nvPr/>
        </p:nvSpPr>
        <p:spPr>
          <a:xfrm>
            <a:off x="9033358" y="1783080"/>
            <a:ext cx="2606040" cy="4297680"/>
          </a:xfrm>
          <a:prstGeom prst="roundRect">
            <a:avLst>
              <a:gd name="adj" fmla="val 2807"/>
            </a:avLst>
          </a:prstGeom>
          <a:solidFill>
            <a:schemeClr val="bg2"/>
          </a:solidFill>
          <a:ln w="9525">
            <a:solidFill>
              <a:schemeClr val="bg2"/>
            </a:solidFill>
            <a:prstDash val="solid"/>
          </a:ln>
        </p:spPr>
      </p:sp>
      <p:sp>
        <p:nvSpPr>
          <p:cNvPr id="22" name="ic384"/>
          <p:cNvSpPr/>
          <p:nvPr/>
        </p:nvSpPr>
        <p:spPr>
          <a:xfrm>
            <a:off x="9261958" y="2011680"/>
            <a:ext cx="685800" cy="685800"/>
          </a:xfrm>
          <a:prstGeom prst="ellipse">
            <a:avLst/>
          </a:prstGeom>
          <a:solidFill>
            <a:schemeClr val="tx2"/>
          </a:solidFill>
          <a:ln w="12700">
            <a:solidFill>
              <a:schemeClr val="tx2"/>
            </a:solidFill>
            <a:prstDash val="solid"/>
          </a:ln>
        </p:spPr>
      </p:sp>
      <p:pic>
        <p:nvPicPr>
          <p:cNvPr id="23" name="icimg385" descr="preencoded.png">    </p:cNvPr>
          <p:cNvPicPr>
            <a:picLocks noChangeAspect="1"/>
          </p:cNvPicPr>
          <p:nvPr/>
        </p:nvPicPr>
        <p:blipFill>
          <a:blip r:embed="rId4"/>
          <a:stretch>
            <a:fillRect/>
          </a:stretch>
        </p:blipFill>
        <p:spPr>
          <a:xfrm>
            <a:off x="9433408" y="2183130"/>
            <a:ext cx="342900" cy="342900"/>
          </a:xfrm>
          <a:prstGeom prst="rect">
            <a:avLst/>
          </a:prstGeom>
        </p:spPr>
      </p:pic>
      <p:sp>
        <p:nvSpPr>
          <p:cNvPr id="24" name="t386"/>
          <p:cNvSpPr txBox="1"/>
          <p:nvPr/>
        </p:nvSpPr>
        <p:spPr>
          <a:xfrm>
            <a:off x="9261958" y="2788920"/>
            <a:ext cx="214884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Across organizations</a:t>
            </a:r>
            <a:endParaRPr lang="en-US" sz="1700" dirty="0"/>
          </a:p>
        </p:txBody>
      </p:sp>
      <p:sp>
        <p:nvSpPr>
          <p:cNvPr id="25" name="t387"/>
          <p:cNvSpPr txBox="1"/>
          <p:nvPr/>
        </p:nvSpPr>
        <p:spPr>
          <a:xfrm>
            <a:off x="9261958" y="3154680"/>
            <a:ext cx="2148840" cy="32004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wpk report</a:t>
            </a:r>
            <a:endParaRPr lang="en-US" sz="1300" dirty="0"/>
          </a:p>
        </p:txBody>
      </p:sp>
      <p:sp>
        <p:nvSpPr>
          <p:cNvPr id="26" name="t388"/>
          <p:cNvSpPr txBox="1"/>
          <p:nvPr/>
        </p:nvSpPr>
        <p:spPr>
          <a:xfrm>
            <a:off x="9261958" y="3502152"/>
            <a:ext cx="2148840" cy="640080"/>
          </a:xfrm>
          <a:prstGeom prst="rect">
            <a:avLst/>
          </a:prstGeom>
          <a:noFill/>
          <a:ln/>
        </p:spPr>
        <p:txBody>
          <a:bodyPr wrap="square" lIns="0" tIns="0" rIns="0" bIns="0" rtlCol="0" anchor="t"/>
          <a:lstStyle/>
          <a:p>
            <a:pPr indent="0" marL="0">
              <a:buNone/>
            </a:pPr>
            <a:r>
              <a:rPr lang="en-US" sz="1300" dirty="0">
                <a:solidFill>
                  <a:schemeClr val="tx2"/>
                </a:solidFill>
              </a:rPr>
              <a:t>bug reports that reproduce; questions come back</a:t>
            </a:r>
            <a:endParaRPr lang="en-US" sz="1300" dirty="0"/>
          </a:p>
        </p:txBody>
      </p:sp>
      <p:sp>
        <p:nvSpPr>
          <p:cNvPr id="27" name="t389"/>
          <p:cNvSpPr txBox="1"/>
          <p:nvPr/>
        </p:nvSpPr>
        <p:spPr>
          <a:xfrm>
            <a:off x="548640" y="1325880"/>
            <a:ext cx="512064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Each scale is worth having on its own</a:t>
            </a:r>
            <a:endParaRPr lang="en-US" sz="1500" dirty="0"/>
          </a:p>
          <a:p>
            <a:pPr marL="342900" indent="-342900">
              <a:spcAft>
                <a:spcPts val="600"/>
              </a:spcAft>
              <a:buSzPct val="100000"/>
              <a:buChar char="•"/>
            </a:pPr>
            <a:r>
              <a:rPr lang="en-US" sz="1500" dirty="0">
                <a:solidFill>
                  <a:schemeClr val="tx2"/>
                </a:solidFill>
              </a:rPr>
              <a:t>Moving up adds configuration; packets never change</a:t>
            </a:r>
            <a:endParaRPr lang="en-US" sz="1500" dirty="0"/>
          </a:p>
          <a:p>
            <a:pPr marL="342900" indent="-342900">
              <a:spcAft>
                <a:spcPts val="600"/>
              </a:spcAft>
              <a:buSzPct val="100000"/>
              <a:buChar char="•"/>
            </a:pPr>
            <a:r>
              <a:rPr lang="en-US" sz="1500" dirty="0">
                <a:solidFill>
                  <a:schemeClr val="tx2"/>
                </a:solidFill>
              </a:rPr>
              <a:t>Nothing depends on the scale above it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One REST API; what differs is the caller's scope</a:t>
            </a:r>
            <a:endParaRPr lang="en-US" sz="3400" dirty="0"/>
          </a:p>
        </p:txBody>
      </p:sp>
      <p:sp>
        <p:nvSpPr>
          <p:cNvPr id="3" name="card390"/>
          <p:cNvSpPr/>
          <p:nvPr/>
        </p:nvSpPr>
        <p:spPr>
          <a:xfrm>
            <a:off x="548640" y="1325880"/>
            <a:ext cx="5852160" cy="3931920"/>
          </a:xfrm>
          <a:prstGeom prst="roundRect">
            <a:avLst>
              <a:gd name="adj" fmla="val 1860"/>
            </a:avLst>
          </a:prstGeom>
          <a:solidFill>
            <a:schemeClr val="tx1"/>
          </a:solidFill>
          <a:ln w="9525">
            <a:solidFill>
              <a:schemeClr val="tx1"/>
            </a:solidFill>
            <a:prstDash val="solid"/>
          </a:ln>
        </p:spPr>
      </p:sp>
      <p:sp>
        <p:nvSpPr>
          <p:cNvPr id="4" name="t391"/>
          <p:cNvSpPr txBox="1"/>
          <p:nvPr/>
        </p:nvSpPr>
        <p:spPr>
          <a:xfrm>
            <a:off x="822960" y="1508760"/>
            <a:ext cx="5394960" cy="3611880"/>
          </a:xfrm>
          <a:prstGeom prst="rect">
            <a:avLst/>
          </a:prstGeom>
          <a:noFill/>
          <a:ln/>
        </p:spPr>
        <p:txBody>
          <a:bodyPr wrap="square" lIns="0" tIns="0" rIns="0" bIns="0" rtlCol="0" anchor="t"/>
          <a:lstStyle/>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GET  /api/v1/packets?state=HELD</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GET  /api/v1/packets/{wpid}</a:t>
            </a:r>
            <a:endParaRPr lang="en-US" sz="1300" dirty="0"/>
          </a:p>
          <a:p>
            <a:pPr indent="0" marL="0">
              <a:spcAft>
                <a:spcPts val="900"/>
              </a:spcAft>
              <a:buNone/>
            </a:pPr>
            <a:r>
              <a:rPr lang="en-US" sz="1300" dirty="0">
                <a:solidFill>
                  <a:srgbClr val="E8A33D"/>
                </a:solidFill>
                <a:latin typeface="Courier New" pitchFamily="34" charset="0"/>
                <a:ea typeface="Courier New" pitchFamily="34" charset="-122"/>
                <a:cs typeface="Courier New" pitchFamily="34" charset="-120"/>
              </a:rPr>
              <a:t>PUT  /api/v1/packets/{wpid}/owner</a:t>
            </a:r>
            <a:endParaRPr lang="en-US" sz="1300" dirty="0"/>
          </a:p>
          <a:p>
            <a:pPr indent="0" marL="0">
              <a:spcAft>
                <a:spcPts val="900"/>
              </a:spcAft>
              <a:buNone/>
            </a:pPr>
            <a:r>
              <a:rPr lang="en-US" sz="1300" dirty="0">
                <a:solidFill>
                  <a:srgbClr val="B8C2CC"/>
                </a:solidFill>
                <a:latin typeface="Courier New" pitchFamily="34" charset="0"/>
                <a:ea typeface="Courier New" pitchFamily="34" charset="-122"/>
                <a:cs typeface="Courier New" pitchFamily="34" charset="-120"/>
              </a:rPr>
              <a:t>       {"to": "runner", "note": "…"}</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POST /api/v1/packets/{wpid}/answers</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POST /api/v1/packets/{wpid}/jobs</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GET  /api/v1/packets/{wpid}/bundle?profile=team</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POST /api/v1/inbox</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GET  /api/v1/events            (SSE)</a:t>
            </a:r>
            <a:endParaRPr lang="en-US" sz="1300" dirty="0"/>
          </a:p>
          <a:p>
            <a:pPr indent="0" marL="0">
              <a:spcAft>
                <a:spcPts val="900"/>
              </a:spcAft>
              <a:buNone/>
            </a:pPr>
            <a:r>
              <a:rPr lang="en-US" sz="1300" dirty="0">
                <a:solidFill>
                  <a:srgbClr val="FFFFFF"/>
                </a:solidFill>
                <a:latin typeface="Courier New" pitchFamily="34" charset="0"/>
                <a:ea typeface="Courier New" pitchFamily="34" charset="-122"/>
                <a:cs typeface="Courier New" pitchFamily="34" charset="-120"/>
              </a:rPr>
              <a:t>POST /api/v1/reports           (intake)</a:t>
            </a:r>
            <a:endParaRPr lang="en-US" sz="1300" dirty="0"/>
          </a:p>
        </p:txBody>
      </p:sp>
      <p:sp>
        <p:nvSpPr>
          <p:cNvPr id="5" name="t392"/>
          <p:cNvSpPr txBox="1"/>
          <p:nvPr/>
        </p:nvSpPr>
        <p:spPr>
          <a:xfrm>
            <a:off x="548640" y="5440680"/>
            <a:ext cx="5852160" cy="640080"/>
          </a:xfrm>
          <a:prstGeom prst="rect">
            <a:avLst/>
          </a:prstGeom>
          <a:noFill/>
          <a:ln/>
        </p:spPr>
        <p:txBody>
          <a:bodyPr wrap="square" lIns="0" tIns="0" rIns="0" bIns="0" rtlCol="0" anchor="t"/>
          <a:lstStyle/>
          <a:p>
            <a:pPr indent="0" marL="0">
              <a:buNone/>
            </a:pPr>
            <a:r>
              <a:rPr lang="en-US" sz="1400" i="1" dirty="0">
                <a:solidFill>
                  <a:schemeClr val="tx2"/>
                </a:solidFill>
              </a:rPr>
              <a:t>Every action is a function, a CLI command and an endpoint. Retries are safe; stale edits are refused.</a:t>
            </a:r>
            <a:endParaRPr lang="en-US" sz="1400" dirty="0"/>
          </a:p>
        </p:txBody>
      </p:sp>
      <p:sp>
        <p:nvSpPr>
          <p:cNvPr id="6" name="card393"/>
          <p:cNvSpPr/>
          <p:nvPr/>
        </p:nvSpPr>
        <p:spPr>
          <a:xfrm>
            <a:off x="6675120" y="1325880"/>
            <a:ext cx="4965192" cy="676656"/>
          </a:xfrm>
          <a:prstGeom prst="roundRect">
            <a:avLst>
              <a:gd name="adj" fmla="val 10811"/>
            </a:avLst>
          </a:prstGeom>
          <a:solidFill>
            <a:schemeClr val="bg2"/>
          </a:solidFill>
          <a:ln w="9525">
            <a:solidFill>
              <a:schemeClr val="bg2"/>
            </a:solidFill>
            <a:prstDash val="solid"/>
          </a:ln>
        </p:spPr>
      </p:sp>
      <p:sp>
        <p:nvSpPr>
          <p:cNvPr id="7" name="pill394"/>
          <p:cNvSpPr/>
          <p:nvPr/>
        </p:nvSpPr>
        <p:spPr>
          <a:xfrm>
            <a:off x="6812280" y="1517904"/>
            <a:ext cx="914400" cy="292608"/>
          </a:xfrm>
          <a:prstGeom prst="roundRect">
            <a:avLst>
              <a:gd name="adj" fmla="val 50000"/>
            </a:avLst>
          </a:prstGeom>
          <a:solidFill>
            <a:schemeClr val="tx2"/>
          </a:solidFill>
          <a:ln w="12700">
            <a:solidFill>
              <a:schemeClr val="tx2"/>
            </a:solidFill>
            <a:prstDash val="solid"/>
          </a:ln>
        </p:spPr>
      </p:sp>
      <p:sp>
        <p:nvSpPr>
          <p:cNvPr id="8" name="t395"/>
          <p:cNvSpPr txBox="1"/>
          <p:nvPr/>
        </p:nvSpPr>
        <p:spPr>
          <a:xfrm>
            <a:off x="6812280" y="1517904"/>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owner</a:t>
            </a:r>
            <a:endParaRPr lang="en-US" sz="1100" dirty="0"/>
          </a:p>
        </p:txBody>
      </p:sp>
      <p:sp>
        <p:nvSpPr>
          <p:cNvPr id="9" name="t396"/>
          <p:cNvSpPr txBox="1"/>
          <p:nvPr/>
        </p:nvSpPr>
        <p:spPr>
          <a:xfrm>
            <a:off x="7909560" y="1325880"/>
            <a:ext cx="3611880" cy="676656"/>
          </a:xfrm>
          <a:prstGeom prst="rect">
            <a:avLst/>
          </a:prstGeom>
          <a:noFill/>
          <a:ln/>
        </p:spPr>
        <p:txBody>
          <a:bodyPr wrap="square" lIns="0" tIns="0" rIns="0" bIns="0" rtlCol="0" anchor="ctr"/>
          <a:lstStyle/>
          <a:p>
            <a:pPr indent="0" marL="0">
              <a:buNone/>
            </a:pPr>
            <a:r>
              <a:rPr lang="en-US" sz="1300" b="1" dirty="0">
                <a:solidFill>
                  <a:schemeClr val="tx1"/>
                </a:solidFill>
              </a:rPr>
              <a:t>you, your other hosts, the local socket</a:t>
            </a:r>
            <a:endParaRPr lang="en-US" sz="1300" dirty="0"/>
          </a:p>
          <a:p>
            <a:pPr indent="0" marL="0">
              <a:buNone/>
            </a:pPr>
            <a:r>
              <a:rPr lang="en-US" sz="1300" dirty="0">
                <a:solidFill>
                  <a:schemeClr val="tx2"/>
                </a:solidFill>
              </a:rPr>
              <a:t>everything</a:t>
            </a:r>
            <a:endParaRPr lang="en-US" sz="1300" dirty="0"/>
          </a:p>
        </p:txBody>
      </p:sp>
      <p:sp>
        <p:nvSpPr>
          <p:cNvPr id="10" name="card397"/>
          <p:cNvSpPr/>
          <p:nvPr/>
        </p:nvSpPr>
        <p:spPr>
          <a:xfrm>
            <a:off x="6675120" y="2112264"/>
            <a:ext cx="4965192" cy="676656"/>
          </a:xfrm>
          <a:prstGeom prst="roundRect">
            <a:avLst>
              <a:gd name="adj" fmla="val 10811"/>
            </a:avLst>
          </a:prstGeom>
          <a:solidFill>
            <a:schemeClr val="bg2"/>
          </a:solidFill>
          <a:ln w="9525">
            <a:solidFill>
              <a:schemeClr val="bg2"/>
            </a:solidFill>
            <a:prstDash val="solid"/>
          </a:ln>
        </p:spPr>
      </p:sp>
      <p:sp>
        <p:nvSpPr>
          <p:cNvPr id="11" name="pill398"/>
          <p:cNvSpPr/>
          <p:nvPr/>
        </p:nvSpPr>
        <p:spPr>
          <a:xfrm>
            <a:off x="6812280" y="2304288"/>
            <a:ext cx="914400" cy="292608"/>
          </a:xfrm>
          <a:prstGeom prst="roundRect">
            <a:avLst>
              <a:gd name="adj" fmla="val 50000"/>
            </a:avLst>
          </a:prstGeom>
          <a:solidFill>
            <a:schemeClr val="accent3"/>
          </a:solidFill>
          <a:ln w="12700">
            <a:solidFill>
              <a:schemeClr val="accent3"/>
            </a:solidFill>
            <a:prstDash val="solid"/>
          </a:ln>
        </p:spPr>
      </p:sp>
      <p:sp>
        <p:nvSpPr>
          <p:cNvPr id="12" name="t399"/>
          <p:cNvSpPr txBox="1"/>
          <p:nvPr/>
        </p:nvSpPr>
        <p:spPr>
          <a:xfrm>
            <a:off x="6812280" y="2304288"/>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3" name="t400"/>
          <p:cNvSpPr txBox="1"/>
          <p:nvPr/>
        </p:nvSpPr>
        <p:spPr>
          <a:xfrm>
            <a:off x="7909560" y="2112264"/>
            <a:ext cx="3611880" cy="676656"/>
          </a:xfrm>
          <a:prstGeom prst="rect">
            <a:avLst/>
          </a:prstGeom>
          <a:noFill/>
          <a:ln/>
        </p:spPr>
        <p:txBody>
          <a:bodyPr wrap="square" lIns="0" tIns="0" rIns="0" bIns="0" rtlCol="0" anchor="ctr"/>
          <a:lstStyle/>
          <a:p>
            <a:pPr indent="0" marL="0">
              <a:buNone/>
            </a:pPr>
            <a:r>
              <a:rPr lang="en-US" sz="1300" b="1" dirty="0">
                <a:solidFill>
                  <a:schemeClr val="tx1"/>
                </a:solidFill>
              </a:rPr>
              <a:t>dashboards and scripts</a:t>
            </a:r>
            <a:endParaRPr lang="en-US" sz="1300" dirty="0"/>
          </a:p>
          <a:p>
            <a:pPr indent="0" marL="0">
              <a:buNone/>
            </a:pPr>
            <a:r>
              <a:rPr lang="en-US" sz="1300" dirty="0">
                <a:solidFill>
                  <a:schemeClr val="tx2"/>
                </a:solidFill>
              </a:rPr>
              <a:t>every read except transcripts</a:t>
            </a:r>
            <a:endParaRPr lang="en-US" sz="1300" dirty="0"/>
          </a:p>
        </p:txBody>
      </p:sp>
      <p:sp>
        <p:nvSpPr>
          <p:cNvPr id="14" name="card401"/>
          <p:cNvSpPr/>
          <p:nvPr/>
        </p:nvSpPr>
        <p:spPr>
          <a:xfrm>
            <a:off x="6675120" y="2898648"/>
            <a:ext cx="4965192" cy="676656"/>
          </a:xfrm>
          <a:prstGeom prst="roundRect">
            <a:avLst>
              <a:gd name="adj" fmla="val 10811"/>
            </a:avLst>
          </a:prstGeom>
          <a:solidFill>
            <a:schemeClr val="bg2"/>
          </a:solidFill>
          <a:ln w="9525">
            <a:solidFill>
              <a:schemeClr val="bg2"/>
            </a:solidFill>
            <a:prstDash val="solid"/>
          </a:ln>
        </p:spPr>
      </p:sp>
      <p:sp>
        <p:nvSpPr>
          <p:cNvPr id="15" name="pill402"/>
          <p:cNvSpPr/>
          <p:nvPr/>
        </p:nvSpPr>
        <p:spPr>
          <a:xfrm>
            <a:off x="6812280" y="3090672"/>
            <a:ext cx="914400" cy="292608"/>
          </a:xfrm>
          <a:prstGeom prst="roundRect">
            <a:avLst>
              <a:gd name="adj" fmla="val 50000"/>
            </a:avLst>
          </a:prstGeom>
          <a:solidFill>
            <a:schemeClr val="accent3"/>
          </a:solidFill>
          <a:ln w="12700">
            <a:solidFill>
              <a:schemeClr val="accent3"/>
            </a:solidFill>
            <a:prstDash val="solid"/>
          </a:ln>
        </p:spPr>
      </p:sp>
      <p:sp>
        <p:nvSpPr>
          <p:cNvPr id="16" name="t403"/>
          <p:cNvSpPr txBox="1"/>
          <p:nvPr/>
        </p:nvSpPr>
        <p:spPr>
          <a:xfrm>
            <a:off x="6812280" y="3090672"/>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ci</a:t>
            </a:r>
            <a:endParaRPr lang="en-US" sz="1100" dirty="0"/>
          </a:p>
        </p:txBody>
      </p:sp>
      <p:sp>
        <p:nvSpPr>
          <p:cNvPr id="17" name="t404"/>
          <p:cNvSpPr txBox="1"/>
          <p:nvPr/>
        </p:nvSpPr>
        <p:spPr>
          <a:xfrm>
            <a:off x="7909560" y="2898648"/>
            <a:ext cx="3611880" cy="676656"/>
          </a:xfrm>
          <a:prstGeom prst="rect">
            <a:avLst/>
          </a:prstGeom>
          <a:noFill/>
          <a:ln/>
        </p:spPr>
        <p:txBody>
          <a:bodyPr wrap="square" lIns="0" tIns="0" rIns="0" bIns="0" rtlCol="0" anchor="ctr"/>
          <a:lstStyle/>
          <a:p>
            <a:pPr indent="0" marL="0">
              <a:buNone/>
            </a:pPr>
            <a:r>
              <a:rPr lang="en-US" sz="1300" b="1" dirty="0">
                <a:solidFill>
                  <a:schemeClr val="tx1"/>
                </a:solidFill>
              </a:rPr>
              <a:t>a CI job</a:t>
            </a:r>
            <a:endParaRPr lang="en-US" sz="1300" dirty="0"/>
          </a:p>
          <a:p>
            <a:pPr indent="0" marL="0">
              <a:buNone/>
            </a:pPr>
            <a:r>
              <a:rPr lang="en-US" sz="1300" dirty="0">
                <a:solidFill>
                  <a:schemeClr val="tx2"/>
                </a:solidFill>
              </a:rPr>
              <a:t>deliver CI bundles</a:t>
            </a:r>
            <a:endParaRPr lang="en-US" sz="1300" dirty="0"/>
          </a:p>
        </p:txBody>
      </p:sp>
      <p:sp>
        <p:nvSpPr>
          <p:cNvPr id="18" name="card405"/>
          <p:cNvSpPr/>
          <p:nvPr/>
        </p:nvSpPr>
        <p:spPr>
          <a:xfrm>
            <a:off x="6675120" y="3685032"/>
            <a:ext cx="4965192" cy="676656"/>
          </a:xfrm>
          <a:prstGeom prst="roundRect">
            <a:avLst>
              <a:gd name="adj" fmla="val 10811"/>
            </a:avLst>
          </a:prstGeom>
          <a:solidFill>
            <a:schemeClr val="bg2"/>
          </a:solidFill>
          <a:ln w="9525">
            <a:solidFill>
              <a:schemeClr val="bg2"/>
            </a:solidFill>
            <a:prstDash val="solid"/>
          </a:ln>
        </p:spPr>
      </p:sp>
      <p:sp>
        <p:nvSpPr>
          <p:cNvPr id="19" name="pill406"/>
          <p:cNvSpPr/>
          <p:nvPr/>
        </p:nvSpPr>
        <p:spPr>
          <a:xfrm>
            <a:off x="6812280" y="3877056"/>
            <a:ext cx="914400" cy="292608"/>
          </a:xfrm>
          <a:prstGeom prst="roundRect">
            <a:avLst>
              <a:gd name="adj" fmla="val 50000"/>
            </a:avLst>
          </a:prstGeom>
          <a:solidFill>
            <a:schemeClr val="accent2"/>
          </a:solidFill>
          <a:ln w="12700">
            <a:solidFill>
              <a:schemeClr val="accent2"/>
            </a:solidFill>
            <a:prstDash val="solid"/>
          </a:ln>
        </p:spPr>
      </p:sp>
      <p:sp>
        <p:nvSpPr>
          <p:cNvPr id="20" name="t407"/>
          <p:cNvSpPr txBox="1"/>
          <p:nvPr/>
        </p:nvSpPr>
        <p:spPr>
          <a:xfrm>
            <a:off x="6812280" y="3877056"/>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peer</a:t>
            </a:r>
            <a:endParaRPr lang="en-US" sz="1100" dirty="0"/>
          </a:p>
        </p:txBody>
      </p:sp>
      <p:sp>
        <p:nvSpPr>
          <p:cNvPr id="21" name="t408"/>
          <p:cNvSpPr txBox="1"/>
          <p:nvPr/>
        </p:nvSpPr>
        <p:spPr>
          <a:xfrm>
            <a:off x="7909560" y="3685032"/>
            <a:ext cx="3611880" cy="676656"/>
          </a:xfrm>
          <a:prstGeom prst="rect">
            <a:avLst/>
          </a:prstGeom>
          <a:noFill/>
          <a:ln/>
        </p:spPr>
        <p:txBody>
          <a:bodyPr wrap="square" lIns="0" tIns="0" rIns="0" bIns="0" rtlCol="0" anchor="ctr"/>
          <a:lstStyle/>
          <a:p>
            <a:pPr indent="0" marL="0">
              <a:buNone/>
            </a:pPr>
            <a:r>
              <a:rPr lang="en-US" sz="1300" b="1" dirty="0">
                <a:solidFill>
                  <a:schemeClr val="tx1"/>
                </a:solidFill>
              </a:rPr>
              <a:t>a teammate or a hub, over a link</a:t>
            </a:r>
            <a:endParaRPr lang="en-US" sz="1300" dirty="0"/>
          </a:p>
          <a:p>
            <a:pPr indent="0" marL="0">
              <a:buNone/>
            </a:pPr>
            <a:r>
              <a:rPr lang="en-US" sz="1300" dirty="0">
                <a:solidFill>
                  <a:schemeClr val="tx2"/>
                </a:solidFill>
              </a:rPr>
              <a:t>shared summaries, inbox, requests</a:t>
            </a:r>
            <a:endParaRPr lang="en-US" sz="1300" dirty="0"/>
          </a:p>
        </p:txBody>
      </p:sp>
      <p:sp>
        <p:nvSpPr>
          <p:cNvPr id="22" name="card409"/>
          <p:cNvSpPr/>
          <p:nvPr/>
        </p:nvSpPr>
        <p:spPr>
          <a:xfrm>
            <a:off x="6675120" y="4471416"/>
            <a:ext cx="4965192" cy="676656"/>
          </a:xfrm>
          <a:prstGeom prst="roundRect">
            <a:avLst>
              <a:gd name="adj" fmla="val 10811"/>
            </a:avLst>
          </a:prstGeom>
          <a:solidFill>
            <a:schemeClr val="bg2"/>
          </a:solidFill>
          <a:ln w="9525">
            <a:solidFill>
              <a:schemeClr val="bg2"/>
            </a:solidFill>
            <a:prstDash val="solid"/>
          </a:ln>
        </p:spPr>
      </p:sp>
      <p:sp>
        <p:nvSpPr>
          <p:cNvPr id="23" name="pill410"/>
          <p:cNvSpPr/>
          <p:nvPr/>
        </p:nvSpPr>
        <p:spPr>
          <a:xfrm>
            <a:off x="6812280" y="4663440"/>
            <a:ext cx="914400" cy="292608"/>
          </a:xfrm>
          <a:prstGeom prst="roundRect">
            <a:avLst>
              <a:gd name="adj" fmla="val 50000"/>
            </a:avLst>
          </a:prstGeom>
          <a:solidFill>
            <a:schemeClr val="accent1"/>
          </a:solidFill>
          <a:ln w="12700">
            <a:solidFill>
              <a:schemeClr val="accent1"/>
            </a:solidFill>
            <a:prstDash val="solid"/>
          </a:ln>
        </p:spPr>
      </p:sp>
      <p:sp>
        <p:nvSpPr>
          <p:cNvPr id="24" name="t411"/>
          <p:cNvSpPr txBox="1"/>
          <p:nvPr/>
        </p:nvSpPr>
        <p:spPr>
          <a:xfrm>
            <a:off x="6812280" y="4663440"/>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public</a:t>
            </a:r>
            <a:endParaRPr lang="en-US" sz="1100" dirty="0"/>
          </a:p>
        </p:txBody>
      </p:sp>
      <p:sp>
        <p:nvSpPr>
          <p:cNvPr id="25" name="t412"/>
          <p:cNvSpPr txBox="1"/>
          <p:nvPr/>
        </p:nvSpPr>
        <p:spPr>
          <a:xfrm>
            <a:off x="7909560" y="4471416"/>
            <a:ext cx="3611880" cy="676656"/>
          </a:xfrm>
          <a:prstGeom prst="rect">
            <a:avLst/>
          </a:prstGeom>
          <a:noFill/>
          <a:ln/>
        </p:spPr>
        <p:txBody>
          <a:bodyPr wrap="square" lIns="0" tIns="0" rIns="0" bIns="0" rtlCol="0" anchor="ctr"/>
          <a:lstStyle/>
          <a:p>
            <a:pPr indent="0" marL="0">
              <a:buNone/>
            </a:pPr>
            <a:r>
              <a:rPr lang="en-US" sz="1300" b="1" dirty="0">
                <a:solidFill>
                  <a:schemeClr val="tx1"/>
                </a:solidFill>
              </a:rPr>
              <a:t>anyone, at an intake</a:t>
            </a:r>
            <a:endParaRPr lang="en-US" sz="1300" dirty="0"/>
          </a:p>
          <a:p>
            <a:pPr indent="0" marL="0">
              <a:buNone/>
            </a:pPr>
            <a:r>
              <a:rPr lang="en-US" sz="1300" dirty="0">
                <a:solidFill>
                  <a:schemeClr val="tx2"/>
                </a:solidFill>
              </a:rPr>
              <a:t>submit a report</a:t>
            </a:r>
            <a:endParaRPr lang="en-US" sz="1300" dirty="0"/>
          </a:p>
        </p:txBody>
      </p:sp>
      <p:sp>
        <p:nvSpPr>
          <p:cNvPr id="26" name="t413"/>
          <p:cNvSpPr txBox="1"/>
          <p:nvPr/>
        </p:nvSpPr>
        <p:spPr>
          <a:xfrm>
            <a:off x="6675120" y="5349240"/>
            <a:ext cx="4965192" cy="731520"/>
          </a:xfrm>
          <a:prstGeom prst="rect">
            <a:avLst/>
          </a:prstGeom>
          <a:noFill/>
          <a:ln/>
        </p:spPr>
        <p:txBody>
          <a:bodyPr wrap="square" lIns="0" tIns="0" rIns="0" bIns="0" rtlCol="0" anchor="t"/>
          <a:lstStyle/>
          <a:p>
            <a:pPr indent="0" marL="0">
              <a:buNone/>
            </a:pPr>
            <a:r>
              <a:rPr lang="en-US" sz="1400" i="1" dirty="0">
                <a:solidFill>
                  <a:schemeClr val="tx2"/>
                </a:solidFill>
              </a:rPr>
              <a:t>Nothing below owner starts a step, opens a shell or changes a packet.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 bug report is a stripped packet</a:t>
            </a:r>
            <a:endParaRPr lang="en-US" sz="3400" dirty="0"/>
          </a:p>
        </p:txBody>
      </p:sp>
      <p:sp>
        <p:nvSpPr>
          <p:cNvPr id="3" name="card414"/>
          <p:cNvSpPr/>
          <p:nvPr/>
        </p:nvSpPr>
        <p:spPr>
          <a:xfrm>
            <a:off x="548640" y="1325880"/>
            <a:ext cx="3383280" cy="3611880"/>
          </a:xfrm>
          <a:prstGeom prst="roundRect">
            <a:avLst>
              <a:gd name="adj" fmla="val 2162"/>
            </a:avLst>
          </a:prstGeom>
          <a:solidFill>
            <a:schemeClr val="bg2"/>
          </a:solidFill>
          <a:ln w="9525">
            <a:solidFill>
              <a:schemeClr val="bg2"/>
            </a:solidFill>
            <a:prstDash val="solid"/>
          </a:ln>
        </p:spPr>
      </p:sp>
      <p:sp>
        <p:nvSpPr>
          <p:cNvPr id="4" name="ic415"/>
          <p:cNvSpPr/>
          <p:nvPr/>
        </p:nvSpPr>
        <p:spPr>
          <a:xfrm>
            <a:off x="777240" y="1554480"/>
            <a:ext cx="685800" cy="685800"/>
          </a:xfrm>
          <a:prstGeom prst="ellipse">
            <a:avLst/>
          </a:prstGeom>
          <a:solidFill>
            <a:schemeClr val="accent4"/>
          </a:solidFill>
          <a:ln w="12700">
            <a:solidFill>
              <a:schemeClr val="accent4"/>
            </a:solidFill>
            <a:prstDash val="solid"/>
          </a:ln>
        </p:spPr>
      </p:sp>
      <p:pic>
        <p:nvPicPr>
          <p:cNvPr id="5" name="icimg416" descr="preencoded.png">    </p:cNvPr>
          <p:cNvPicPr>
            <a:picLocks noChangeAspect="1"/>
          </p:cNvPicPr>
          <p:nvPr/>
        </p:nvPicPr>
        <p:blipFill>
          <a:blip r:embed="rId1"/>
          <a:stretch>
            <a:fillRect/>
          </a:stretch>
        </p:blipFill>
        <p:spPr>
          <a:xfrm>
            <a:off x="948690" y="1725930"/>
            <a:ext cx="342900" cy="342900"/>
          </a:xfrm>
          <a:prstGeom prst="rect">
            <a:avLst/>
          </a:prstGeom>
        </p:spPr>
      </p:pic>
      <p:sp>
        <p:nvSpPr>
          <p:cNvPr id="6" name="t417"/>
          <p:cNvSpPr txBox="1"/>
          <p:nvPr/>
        </p:nvSpPr>
        <p:spPr>
          <a:xfrm>
            <a:off x="1600200" y="1664208"/>
            <a:ext cx="21945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Reporter</a:t>
            </a:r>
            <a:endParaRPr lang="en-US" sz="1800" dirty="0"/>
          </a:p>
        </p:txBody>
      </p:sp>
      <p:sp>
        <p:nvSpPr>
          <p:cNvPr id="7" name="t418"/>
          <p:cNvSpPr txBox="1"/>
          <p:nvPr/>
        </p:nvSpPr>
        <p:spPr>
          <a:xfrm>
            <a:off x="777240" y="2423160"/>
            <a:ext cx="3017520" cy="320040"/>
          </a:xfrm>
          <a:prstGeom prst="rect">
            <a:avLst/>
          </a:prstGeom>
          <a:noFill/>
          <a:ln/>
        </p:spPr>
        <p:txBody>
          <a:bodyPr wrap="square" lIns="0" tIns="0" rIns="0" bIns="0" rtlCol="0" anchor="t"/>
          <a:lstStyle/>
          <a:p>
            <a:pPr indent="0" marL="0">
              <a:buNone/>
            </a:pPr>
            <a:r>
              <a:rPr lang="en-US" sz="1300" b="1" dirty="0">
                <a:solidFill>
                  <a:schemeClr val="accent4"/>
                </a:solidFill>
                <a:latin typeface="Courier New" pitchFamily="34" charset="0"/>
                <a:ea typeface="Courier New" pitchFamily="34" charset="-122"/>
                <a:cs typeface="Courier New" pitchFamily="34" charset="-120"/>
              </a:rPr>
              <a:t>wpk report uart-rx</a:t>
            </a:r>
            <a:endParaRPr lang="en-US" sz="1300" dirty="0"/>
          </a:p>
        </p:txBody>
      </p:sp>
      <p:sp>
        <p:nvSpPr>
          <p:cNvPr id="8" name="t419"/>
          <p:cNvSpPr txBox="1"/>
          <p:nvPr/>
        </p:nvSpPr>
        <p:spPr>
          <a:xfrm>
            <a:off x="777240" y="2834640"/>
            <a:ext cx="2971800" cy="2011680"/>
          </a:xfrm>
          <a:prstGeom prst="rect">
            <a:avLst/>
          </a:prstGeom>
          <a:noFill/>
          <a:ln/>
        </p:spPr>
        <p:txBody>
          <a:bodyPr wrap="square" lIns="0" tIns="0" rIns="0" bIns="0" rtlCol="0" anchor="t"/>
          <a:lstStyle/>
          <a:p>
            <a:pPr indent="0" marL="0">
              <a:spcAft>
                <a:spcPts val="800"/>
              </a:spcAft>
              <a:buNone/>
            </a:pPr>
            <a:r>
              <a:rPr lang="en-US" sz="1300" b="1" dirty="0">
                <a:solidFill>
                  <a:schemeClr val="tx2"/>
                </a:solidFill>
              </a:rPr>
              <a:t>Carries: </a:t>
            </a:r>
            <a:pPr indent="0" marL="0">
              <a:spcAft>
                <a:spcPts val="800"/>
              </a:spcAft>
              <a:buNone/>
            </a:pPr>
            <a:r>
              <a:rPr lang="en-US" sz="1300" dirty="0">
                <a:solidFill>
                  <a:schemeClr val="tx2"/>
                </a:solidFill>
              </a:rPr>
              <a:t>what is wrong, the recipe, the failing command, tool versions, the log tail</a:t>
            </a:r>
            <a:endParaRPr lang="en-US" sz="1300" dirty="0"/>
          </a:p>
          <a:p>
            <a:pPr indent="0" marL="0">
              <a:spcAft>
                <a:spcPts val="800"/>
              </a:spcAft>
              <a:buNone/>
            </a:pPr>
            <a:r>
              <a:rPr lang="en-US" sz="1300" b="1" dirty="0">
                <a:solidFill>
                  <a:schemeClr val="tx2"/>
                </a:solidFill>
              </a:rPr>
              <a:t>Leaves out: </a:t>
            </a:r>
            <a:pPr indent="0" marL="0">
              <a:spcAft>
                <a:spcPts val="800"/>
              </a:spcAft>
              <a:buNone/>
            </a:pPr>
            <a:r>
              <a:rPr lang="en-US" sz="1300" dirty="0">
                <a:solidFill>
                  <a:schemeClr val="tx2"/>
                </a:solidFill>
              </a:rPr>
              <a:t>history, transcripts, paths</a:t>
            </a:r>
            <a:endParaRPr lang="en-US" sz="1300" dirty="0"/>
          </a:p>
        </p:txBody>
      </p:sp>
      <p:sp>
        <p:nvSpPr>
          <p:cNvPr id="9" name="card420"/>
          <p:cNvSpPr/>
          <p:nvPr/>
        </p:nvSpPr>
        <p:spPr>
          <a:xfrm>
            <a:off x="4434840" y="1325880"/>
            <a:ext cx="3337560" cy="1024128"/>
          </a:xfrm>
          <a:prstGeom prst="roundRect">
            <a:avLst>
              <a:gd name="adj" fmla="val 7143"/>
            </a:avLst>
          </a:prstGeom>
          <a:solidFill>
            <a:schemeClr val="accent6"/>
          </a:solidFill>
          <a:ln w="9525">
            <a:solidFill>
              <a:schemeClr val="accent6"/>
            </a:solidFill>
            <a:prstDash val="solid"/>
          </a:ln>
        </p:spPr>
      </p:sp>
      <p:sp>
        <p:nvSpPr>
          <p:cNvPr id="10" name="t421"/>
          <p:cNvSpPr txBox="1"/>
          <p:nvPr/>
        </p:nvSpPr>
        <p:spPr>
          <a:xfrm>
            <a:off x="4663440" y="1463040"/>
            <a:ext cx="2926080" cy="365760"/>
          </a:xfrm>
          <a:prstGeom prst="rect">
            <a:avLst/>
          </a:prstGeom>
          <a:noFill/>
          <a:ln/>
        </p:spPr>
        <p:txBody>
          <a:bodyPr wrap="square" lIns="0" tIns="0" rIns="0" bIns="0" rtlCol="0" anchor="t"/>
          <a:lstStyle/>
          <a:p>
            <a:pPr indent="0" marL="0">
              <a:buNone/>
            </a:pPr>
            <a:r>
              <a:rPr lang="en-US" sz="1600" b="1" dirty="0">
                <a:solidFill>
                  <a:schemeClr val="tx1"/>
                </a:solidFill>
              </a:rPr>
              <a:t>A file on an issue</a:t>
            </a:r>
            <a:endParaRPr lang="en-US" sz="1600" dirty="0"/>
          </a:p>
        </p:txBody>
      </p:sp>
      <p:sp>
        <p:nvSpPr>
          <p:cNvPr id="11" name="t422"/>
          <p:cNvSpPr txBox="1"/>
          <p:nvPr/>
        </p:nvSpPr>
        <p:spPr>
          <a:xfrm>
            <a:off x="4663440" y="1847088"/>
            <a:ext cx="2926080" cy="411480"/>
          </a:xfrm>
          <a:prstGeom prst="rect">
            <a:avLst/>
          </a:prstGeom>
          <a:noFill/>
          <a:ln/>
        </p:spPr>
        <p:txBody>
          <a:bodyPr wrap="square" lIns="0" tIns="0" rIns="0" bIns="0" rtlCol="0" anchor="t"/>
          <a:lstStyle/>
          <a:p>
            <a:pPr indent="0" marL="0">
              <a:buNone/>
            </a:pPr>
            <a:r>
              <a:rPr lang="en-US" sz="1300" dirty="0">
                <a:solidFill>
                  <a:schemeClr val="tx2"/>
                </a:solidFill>
              </a:rPr>
              <a:t>needs nothing on either side</a:t>
            </a:r>
            <a:endParaRPr lang="en-US" sz="1300" dirty="0"/>
          </a:p>
        </p:txBody>
      </p:sp>
      <p:sp>
        <p:nvSpPr>
          <p:cNvPr id="12" name="card423"/>
          <p:cNvSpPr/>
          <p:nvPr/>
        </p:nvSpPr>
        <p:spPr>
          <a:xfrm>
            <a:off x="4434840" y="2624328"/>
            <a:ext cx="3337560" cy="1024128"/>
          </a:xfrm>
          <a:prstGeom prst="roundRect">
            <a:avLst>
              <a:gd name="adj" fmla="val 7143"/>
            </a:avLst>
          </a:prstGeom>
          <a:solidFill>
            <a:schemeClr val="bg2"/>
          </a:solidFill>
          <a:ln w="9525">
            <a:solidFill>
              <a:schemeClr val="bg2"/>
            </a:solidFill>
            <a:prstDash val="solid"/>
          </a:ln>
        </p:spPr>
      </p:sp>
      <p:sp>
        <p:nvSpPr>
          <p:cNvPr id="13" name="t424"/>
          <p:cNvSpPr txBox="1"/>
          <p:nvPr/>
        </p:nvSpPr>
        <p:spPr>
          <a:xfrm>
            <a:off x="4663440" y="2761488"/>
            <a:ext cx="2926080" cy="365760"/>
          </a:xfrm>
          <a:prstGeom prst="rect">
            <a:avLst/>
          </a:prstGeom>
          <a:noFill/>
          <a:ln/>
        </p:spPr>
        <p:txBody>
          <a:bodyPr wrap="square" lIns="0" tIns="0" rIns="0" bIns="0" rtlCol="0" anchor="t"/>
          <a:lstStyle/>
          <a:p>
            <a:pPr indent="0" marL="0">
              <a:buNone/>
            </a:pPr>
            <a:r>
              <a:rPr lang="en-US" sz="1600" b="1" dirty="0">
                <a:solidFill>
                  <a:schemeClr val="tx1"/>
                </a:solidFill>
              </a:rPr>
              <a:t>A public intake</a:t>
            </a:r>
            <a:endParaRPr lang="en-US" sz="1600" dirty="0"/>
          </a:p>
        </p:txBody>
      </p:sp>
      <p:sp>
        <p:nvSpPr>
          <p:cNvPr id="14" name="t425"/>
          <p:cNvSpPr txBox="1"/>
          <p:nvPr/>
        </p:nvSpPr>
        <p:spPr>
          <a:xfrm>
            <a:off x="4663440" y="3145536"/>
            <a:ext cx="2926080" cy="411480"/>
          </a:xfrm>
          <a:prstGeom prst="rect">
            <a:avLst/>
          </a:prstGeom>
          <a:noFill/>
          <a:ln/>
        </p:spPr>
        <p:txBody>
          <a:bodyPr wrap="square" lIns="0" tIns="0" rIns="0" bIns="0" rtlCol="0" anchor="t"/>
          <a:lstStyle/>
          <a:p>
            <a:pPr indent="0" marL="0">
              <a:buNone/>
            </a:pPr>
            <a:r>
              <a:rPr lang="en-US" sz="1300" dirty="0">
                <a:solidFill>
                  <a:schemeClr val="tx2"/>
                </a:solidFill>
              </a:rPr>
              <a:t>the project's .wpk/intake.toml</a:t>
            </a:r>
            <a:endParaRPr lang="en-US" sz="1300" dirty="0"/>
          </a:p>
        </p:txBody>
      </p:sp>
      <p:sp>
        <p:nvSpPr>
          <p:cNvPr id="15" name="card426"/>
          <p:cNvSpPr/>
          <p:nvPr/>
        </p:nvSpPr>
        <p:spPr>
          <a:xfrm>
            <a:off x="4434840" y="3922776"/>
            <a:ext cx="3337560" cy="1024128"/>
          </a:xfrm>
          <a:prstGeom prst="roundRect">
            <a:avLst>
              <a:gd name="adj" fmla="val 7143"/>
            </a:avLst>
          </a:prstGeom>
          <a:solidFill>
            <a:schemeClr val="bg2"/>
          </a:solidFill>
          <a:ln w="9525">
            <a:solidFill>
              <a:schemeClr val="bg2"/>
            </a:solidFill>
            <a:prstDash val="solid"/>
          </a:ln>
        </p:spPr>
      </p:sp>
      <p:sp>
        <p:nvSpPr>
          <p:cNvPr id="16" name="t427"/>
          <p:cNvSpPr txBox="1"/>
          <p:nvPr/>
        </p:nvSpPr>
        <p:spPr>
          <a:xfrm>
            <a:off x="4663440" y="4059936"/>
            <a:ext cx="2926080" cy="365760"/>
          </a:xfrm>
          <a:prstGeom prst="rect">
            <a:avLst/>
          </a:prstGeom>
          <a:noFill/>
          <a:ln/>
        </p:spPr>
        <p:txBody>
          <a:bodyPr wrap="square" lIns="0" tIns="0" rIns="0" bIns="0" rtlCol="0" anchor="t"/>
          <a:lstStyle/>
          <a:p>
            <a:pPr indent="0" marL="0">
              <a:buNone/>
            </a:pPr>
            <a:r>
              <a:rPr lang="en-US" sz="1600" b="1" dirty="0">
                <a:solidFill>
                  <a:schemeClr val="tx1"/>
                </a:solidFill>
              </a:rPr>
              <a:t>Hub to hub</a:t>
            </a:r>
            <a:endParaRPr lang="en-US" sz="1600" dirty="0"/>
          </a:p>
        </p:txBody>
      </p:sp>
      <p:sp>
        <p:nvSpPr>
          <p:cNvPr id="17" name="t428"/>
          <p:cNvSpPr txBox="1"/>
          <p:nvPr/>
        </p:nvSpPr>
        <p:spPr>
          <a:xfrm>
            <a:off x="4663440" y="4443984"/>
            <a:ext cx="2926080" cy="411480"/>
          </a:xfrm>
          <a:prstGeom prst="rect">
            <a:avLst/>
          </a:prstGeom>
          <a:noFill/>
          <a:ln/>
        </p:spPr>
        <p:txBody>
          <a:bodyPr wrap="square" lIns="0" tIns="0" rIns="0" bIns="0" rtlCol="0" anchor="t"/>
          <a:lstStyle/>
          <a:p>
            <a:pPr indent="0" marL="0">
              <a:buNone/>
            </a:pPr>
            <a:r>
              <a:rPr lang="en-US" sz="1300" dirty="0">
                <a:solidFill>
                  <a:schemeClr val="tx2"/>
                </a:solidFill>
              </a:rPr>
              <a:t>partners, customers and vendors</a:t>
            </a:r>
            <a:endParaRPr lang="en-US" sz="1300" dirty="0"/>
          </a:p>
        </p:txBody>
      </p:sp>
      <p:sp>
        <p:nvSpPr>
          <p:cNvPr id="18" name="arr429"/>
          <p:cNvSpPr/>
          <p:nvPr/>
        </p:nvSpPr>
        <p:spPr>
          <a:xfrm>
            <a:off x="4005072" y="2971800"/>
            <a:ext cx="365760" cy="320040"/>
          </a:xfrm>
          <a:prstGeom prst="rightArrow">
            <a:avLst/>
          </a:prstGeom>
          <a:solidFill>
            <a:schemeClr val="accent3"/>
          </a:solidFill>
          <a:ln w="12700">
            <a:solidFill>
              <a:schemeClr val="accent3"/>
            </a:solidFill>
            <a:prstDash val="solid"/>
          </a:ln>
        </p:spPr>
      </p:sp>
      <p:sp>
        <p:nvSpPr>
          <p:cNvPr id="19" name="arr430"/>
          <p:cNvSpPr/>
          <p:nvPr/>
        </p:nvSpPr>
        <p:spPr>
          <a:xfrm>
            <a:off x="7836408" y="2971800"/>
            <a:ext cx="365760" cy="320040"/>
          </a:xfrm>
          <a:prstGeom prst="rightArrow">
            <a:avLst/>
          </a:prstGeom>
          <a:solidFill>
            <a:schemeClr val="accent3"/>
          </a:solidFill>
          <a:ln w="12700">
            <a:solidFill>
              <a:schemeClr val="accent3"/>
            </a:solidFill>
            <a:prstDash val="solid"/>
          </a:ln>
        </p:spPr>
      </p:sp>
      <p:sp>
        <p:nvSpPr>
          <p:cNvPr id="20" name="card431"/>
          <p:cNvSpPr/>
          <p:nvPr/>
        </p:nvSpPr>
        <p:spPr>
          <a:xfrm>
            <a:off x="8275320" y="1325880"/>
            <a:ext cx="3364992" cy="3611880"/>
          </a:xfrm>
          <a:prstGeom prst="roundRect">
            <a:avLst>
              <a:gd name="adj" fmla="val 2174"/>
            </a:avLst>
          </a:prstGeom>
          <a:solidFill>
            <a:schemeClr val="bg2"/>
          </a:solidFill>
          <a:ln w="9525">
            <a:solidFill>
              <a:schemeClr val="bg2"/>
            </a:solidFill>
            <a:prstDash val="solid"/>
          </a:ln>
        </p:spPr>
      </p:sp>
      <p:sp>
        <p:nvSpPr>
          <p:cNvPr id="21" name="ic432"/>
          <p:cNvSpPr/>
          <p:nvPr/>
        </p:nvSpPr>
        <p:spPr>
          <a:xfrm>
            <a:off x="8503920" y="1554480"/>
            <a:ext cx="685800" cy="685800"/>
          </a:xfrm>
          <a:prstGeom prst="ellipse">
            <a:avLst/>
          </a:prstGeom>
          <a:solidFill>
            <a:schemeClr val="accent2"/>
          </a:solidFill>
          <a:ln w="12700">
            <a:solidFill>
              <a:schemeClr val="accent2"/>
            </a:solidFill>
            <a:prstDash val="solid"/>
          </a:ln>
        </p:spPr>
      </p:sp>
      <p:pic>
        <p:nvPicPr>
          <p:cNvPr id="22" name="icimg433" descr="preencoded.png">    </p:cNvPr>
          <p:cNvPicPr>
            <a:picLocks noChangeAspect="1"/>
          </p:cNvPicPr>
          <p:nvPr/>
        </p:nvPicPr>
        <p:blipFill>
          <a:blip r:embed="rId2"/>
          <a:stretch>
            <a:fillRect/>
          </a:stretch>
        </p:blipFill>
        <p:spPr>
          <a:xfrm>
            <a:off x="8675370" y="1725930"/>
            <a:ext cx="342900" cy="342900"/>
          </a:xfrm>
          <a:prstGeom prst="rect">
            <a:avLst/>
          </a:prstGeom>
        </p:spPr>
      </p:pic>
      <p:sp>
        <p:nvSpPr>
          <p:cNvPr id="23" name="t434"/>
          <p:cNvSpPr txBox="1"/>
          <p:nvPr/>
        </p:nvSpPr>
        <p:spPr>
          <a:xfrm>
            <a:off x="9326880" y="1664208"/>
            <a:ext cx="21945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Maintainer</a:t>
            </a:r>
            <a:endParaRPr lang="en-US" sz="1800" dirty="0"/>
          </a:p>
        </p:txBody>
      </p:sp>
      <p:sp>
        <p:nvSpPr>
          <p:cNvPr id="24" name="t435"/>
          <p:cNvSpPr txBox="1"/>
          <p:nvPr/>
        </p:nvSpPr>
        <p:spPr>
          <a:xfrm>
            <a:off x="8503920" y="2423160"/>
            <a:ext cx="3017520" cy="32004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wpk import bug.wpk</a:t>
            </a:r>
            <a:endParaRPr lang="en-US" sz="1300" dirty="0"/>
          </a:p>
        </p:txBody>
      </p:sp>
      <p:sp>
        <p:nvSpPr>
          <p:cNvPr id="25" name="t436"/>
          <p:cNvSpPr txBox="1"/>
          <p:nvPr/>
        </p:nvSpPr>
        <p:spPr>
          <a:xfrm>
            <a:off x="8503920" y="2834640"/>
            <a:ext cx="2971800" cy="2011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arrives held, as data</a:t>
            </a:r>
            <a:endParaRPr lang="en-US" sz="1300" dirty="0"/>
          </a:p>
          <a:p>
            <a:pPr marL="342900" indent="-342900">
              <a:spcAft>
                <a:spcPts val="400"/>
              </a:spcAft>
              <a:buSzPct val="100000"/>
              <a:buChar char="•"/>
            </a:pPr>
            <a:r>
              <a:rPr lang="en-US" sz="1300" dirty="0">
                <a:solidFill>
                  <a:schemeClr val="tx2"/>
                </a:solidFill>
              </a:rPr>
              <a:t>its text is never an instruction to the agent</a:t>
            </a:r>
            <a:endParaRPr lang="en-US" sz="1300" dirty="0"/>
          </a:p>
          <a:p>
            <a:pPr marL="342900" indent="-342900">
              <a:spcAft>
                <a:spcPts val="400"/>
              </a:spcAft>
              <a:buSzPct val="100000"/>
              <a:buChar char="•"/>
            </a:pPr>
            <a:r>
              <a:rPr lang="en-US" sz="1300" dirty="0">
                <a:solidFill>
                  <a:schemeClr val="tx2"/>
                </a:solidFill>
              </a:rPr>
              <a:t>runs only when you say, in a sandbox</a:t>
            </a:r>
            <a:endParaRPr lang="en-US" sz="1300" dirty="0"/>
          </a:p>
          <a:p>
            <a:pPr marL="342900" indent="-342900">
              <a:spcAft>
                <a:spcPts val="400"/>
              </a:spcAft>
              <a:buSzPct val="100000"/>
              <a:buChar char="•"/>
            </a:pPr>
            <a:r>
              <a:rPr lang="en-US" sz="1300" dirty="0">
                <a:solidFill>
                  <a:schemeClr val="tx2"/>
                </a:solidFill>
              </a:rPr>
              <a:t>reproduces, or says it did not</a:t>
            </a:r>
            <a:endParaRPr lang="en-US" sz="1300" dirty="0"/>
          </a:p>
        </p:txBody>
      </p:sp>
      <p:sp>
        <p:nvSpPr>
          <p:cNvPr id="26" name="ret"/>
          <p:cNvSpPr/>
          <p:nvPr/>
        </p:nvSpPr>
        <p:spPr>
          <a:xfrm>
            <a:off x="914400" y="5166360"/>
            <a:ext cx="10362895" cy="365760"/>
          </a:xfrm>
          <a:prstGeom prst="leftArrow">
            <a:avLst/>
          </a:prstGeom>
          <a:solidFill>
            <a:schemeClr val="accent1"/>
          </a:solidFill>
          <a:ln w="12700">
            <a:solidFill>
              <a:schemeClr val="accent1"/>
            </a:solidFill>
            <a:prstDash val="solid"/>
          </a:ln>
        </p:spPr>
      </p:sp>
      <p:sp>
        <p:nvSpPr>
          <p:cNvPr id="27" name="t437"/>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i="1" dirty="0">
                <a:solidFill>
                  <a:schemeClr val="tx2"/>
                </a:solidFill>
              </a:rPr>
              <a:t>State and questions come back to the reporter's board: received · reproduced · fixed in &lt;commit&gt;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Getting there</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Eight releases, ordered by the scales, each ending with a live check on real work.</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Eight releases, ordered by the scales</a:t>
            </a:r>
            <a:endParaRPr lang="en-US" sz="3400" dirty="0"/>
          </a:p>
        </p:txBody>
      </p:sp>
      <p:sp>
        <p:nvSpPr>
          <p:cNvPr id="3" name="card438"/>
          <p:cNvSpPr/>
          <p:nvPr/>
        </p:nvSpPr>
        <p:spPr>
          <a:xfrm>
            <a:off x="548640" y="1280160"/>
            <a:ext cx="731520" cy="493776"/>
          </a:xfrm>
          <a:prstGeom prst="roundRect">
            <a:avLst>
              <a:gd name="adj" fmla="val 14815"/>
            </a:avLst>
          </a:prstGeom>
          <a:solidFill>
            <a:schemeClr val="accent2"/>
          </a:solidFill>
          <a:ln w="9525">
            <a:solidFill>
              <a:schemeClr val="accent2"/>
            </a:solidFill>
            <a:prstDash val="solid"/>
          </a:ln>
        </p:spPr>
      </p:sp>
      <p:sp>
        <p:nvSpPr>
          <p:cNvPr id="4" name="t439"/>
          <p:cNvSpPr txBox="1"/>
          <p:nvPr/>
        </p:nvSpPr>
        <p:spPr>
          <a:xfrm>
            <a:off x="548640" y="1280160"/>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R1</a:t>
            </a:r>
            <a:endParaRPr lang="en-US" sz="1700" dirty="0"/>
          </a:p>
        </p:txBody>
      </p:sp>
      <p:sp>
        <p:nvSpPr>
          <p:cNvPr id="5" name="card440"/>
          <p:cNvSpPr/>
          <p:nvPr/>
        </p:nvSpPr>
        <p:spPr>
          <a:xfrm>
            <a:off x="1417320" y="1280160"/>
            <a:ext cx="10225735" cy="493776"/>
          </a:xfrm>
          <a:prstGeom prst="roundRect">
            <a:avLst>
              <a:gd name="adj" fmla="val 14815"/>
            </a:avLst>
          </a:prstGeom>
          <a:solidFill>
            <a:schemeClr val="bg2"/>
          </a:solidFill>
          <a:ln w="9525">
            <a:solidFill>
              <a:schemeClr val="bg2"/>
            </a:solidFill>
            <a:prstDash val="solid"/>
          </a:ln>
        </p:spPr>
      </p:sp>
      <p:sp>
        <p:nvSpPr>
          <p:cNvPr id="6" name="t441"/>
          <p:cNvSpPr txBox="1"/>
          <p:nvPr/>
        </p:nvSpPr>
        <p:spPr>
          <a:xfrm>
            <a:off x="1600200" y="1280160"/>
            <a:ext cx="1600200" cy="493776"/>
          </a:xfrm>
          <a:prstGeom prst="rect">
            <a:avLst/>
          </a:prstGeom>
          <a:noFill/>
          <a:ln/>
        </p:spPr>
        <p:txBody>
          <a:bodyPr wrap="square" lIns="0" tIns="0" rIns="0" bIns="0" rtlCol="0" anchor="ctr"/>
          <a:lstStyle/>
          <a:p>
            <a:pPr indent="0" marL="0">
              <a:buNone/>
            </a:pPr>
            <a:r>
              <a:rPr lang="en-US" sz="1300" b="1" dirty="0">
                <a:solidFill>
                  <a:schemeClr val="accent2"/>
                </a:solidFill>
              </a:rPr>
              <a:t>One user</a:t>
            </a:r>
            <a:endParaRPr lang="en-US" sz="1300" dirty="0"/>
          </a:p>
        </p:txBody>
      </p:sp>
      <p:sp>
        <p:nvSpPr>
          <p:cNvPr id="7" name="t442"/>
          <p:cNvSpPr txBox="1"/>
          <p:nvPr/>
        </p:nvSpPr>
        <p:spPr>
          <a:xfrm>
            <a:off x="3246120" y="1280160"/>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Trustworthy ownership</a:t>
            </a:r>
            <a:endParaRPr lang="en-US" sz="1400" dirty="0"/>
          </a:p>
        </p:txBody>
      </p:sp>
      <p:sp>
        <p:nvSpPr>
          <p:cNvPr id="8" name="t443"/>
          <p:cNvSpPr txBox="1"/>
          <p:nvPr/>
        </p:nvSpPr>
        <p:spPr>
          <a:xfrm>
            <a:off x="5806440" y="1280160"/>
            <a:ext cx="5653735" cy="493776"/>
          </a:xfrm>
          <a:prstGeom prst="rect">
            <a:avLst/>
          </a:prstGeom>
          <a:noFill/>
          <a:ln/>
        </p:spPr>
        <p:txBody>
          <a:bodyPr wrap="square" lIns="0" tIns="0" rIns="0" bIns="0" rtlCol="0" anchor="ctr"/>
          <a:lstStyle/>
          <a:p>
            <a:pPr indent="0" marL="0">
              <a:buNone/>
            </a:pPr>
            <a:r>
              <a:rPr lang="en-US" sz="1300" dirty="0">
                <a:solidFill>
                  <a:schemeClr val="tx2"/>
                </a:solidFill>
              </a:rPr>
              <a:t>wpk dash is the entry point; v0.3 states, take; atomic work repos</a:t>
            </a:r>
            <a:endParaRPr lang="en-US" sz="1300" dirty="0"/>
          </a:p>
        </p:txBody>
      </p:sp>
      <p:sp>
        <p:nvSpPr>
          <p:cNvPr id="9" name="card444"/>
          <p:cNvSpPr/>
          <p:nvPr/>
        </p:nvSpPr>
        <p:spPr>
          <a:xfrm>
            <a:off x="548640" y="1865376"/>
            <a:ext cx="731520" cy="493776"/>
          </a:xfrm>
          <a:prstGeom prst="roundRect">
            <a:avLst>
              <a:gd name="adj" fmla="val 14815"/>
            </a:avLst>
          </a:prstGeom>
          <a:solidFill>
            <a:schemeClr val="accent2"/>
          </a:solidFill>
          <a:ln w="9525">
            <a:solidFill>
              <a:schemeClr val="accent2"/>
            </a:solidFill>
            <a:prstDash val="solid"/>
          </a:ln>
        </p:spPr>
      </p:sp>
      <p:sp>
        <p:nvSpPr>
          <p:cNvPr id="10" name="t445"/>
          <p:cNvSpPr txBox="1"/>
          <p:nvPr/>
        </p:nvSpPr>
        <p:spPr>
          <a:xfrm>
            <a:off x="548640" y="1865376"/>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R2</a:t>
            </a:r>
            <a:endParaRPr lang="en-US" sz="1700" dirty="0"/>
          </a:p>
        </p:txBody>
      </p:sp>
      <p:sp>
        <p:nvSpPr>
          <p:cNvPr id="11" name="card446"/>
          <p:cNvSpPr/>
          <p:nvPr/>
        </p:nvSpPr>
        <p:spPr>
          <a:xfrm>
            <a:off x="1417320" y="1865376"/>
            <a:ext cx="10225735" cy="493776"/>
          </a:xfrm>
          <a:prstGeom prst="roundRect">
            <a:avLst>
              <a:gd name="adj" fmla="val 14815"/>
            </a:avLst>
          </a:prstGeom>
          <a:solidFill>
            <a:schemeClr val="bg1"/>
          </a:solidFill>
          <a:ln w="9525">
            <a:solidFill>
              <a:srgbClr val="E3E7EB"/>
            </a:solidFill>
            <a:prstDash val="solid"/>
          </a:ln>
        </p:spPr>
      </p:sp>
      <p:sp>
        <p:nvSpPr>
          <p:cNvPr id="12" name="t447"/>
          <p:cNvSpPr txBox="1"/>
          <p:nvPr/>
        </p:nvSpPr>
        <p:spPr>
          <a:xfrm>
            <a:off x="1600200" y="1865376"/>
            <a:ext cx="1600200" cy="493776"/>
          </a:xfrm>
          <a:prstGeom prst="rect">
            <a:avLst/>
          </a:prstGeom>
          <a:noFill/>
          <a:ln/>
        </p:spPr>
        <p:txBody>
          <a:bodyPr wrap="square" lIns="0" tIns="0" rIns="0" bIns="0" rtlCol="0" anchor="ctr"/>
          <a:lstStyle/>
          <a:p>
            <a:pPr indent="0" marL="0">
              <a:buNone/>
            </a:pPr>
            <a:r>
              <a:rPr lang="en-US" sz="1300" b="1" dirty="0">
                <a:solidFill>
                  <a:schemeClr val="accent2"/>
                </a:solidFill>
              </a:rPr>
              <a:t>One user</a:t>
            </a:r>
            <a:endParaRPr lang="en-US" sz="1300" dirty="0"/>
          </a:p>
        </p:txBody>
      </p:sp>
      <p:sp>
        <p:nvSpPr>
          <p:cNvPr id="13" name="t448"/>
          <p:cNvSpPr txBox="1"/>
          <p:nvPr/>
        </p:nvSpPr>
        <p:spPr>
          <a:xfrm>
            <a:off x="3246120" y="1865376"/>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IDE and sessions</a:t>
            </a:r>
            <a:endParaRPr lang="en-US" sz="1400" dirty="0"/>
          </a:p>
        </p:txBody>
      </p:sp>
      <p:sp>
        <p:nvSpPr>
          <p:cNvPr id="14" name="t449"/>
          <p:cNvSpPr txBox="1"/>
          <p:nvPr/>
        </p:nvSpPr>
        <p:spPr>
          <a:xfrm>
            <a:off x="5806440" y="1865376"/>
            <a:ext cx="5653735" cy="493776"/>
          </a:xfrm>
          <a:prstGeom prst="rect">
            <a:avLst/>
          </a:prstGeom>
          <a:noFill/>
          <a:ln/>
        </p:spPr>
        <p:txBody>
          <a:bodyPr wrap="square" lIns="0" tIns="0" rIns="0" bIns="0" rtlCol="0" anchor="ctr"/>
          <a:lstStyle/>
          <a:p>
            <a:pPr indent="0" marL="0">
              <a:buNone/>
            </a:pPr>
            <a:r>
              <a:rPr lang="en-US" sz="1300" dirty="0">
                <a:solidFill>
                  <a:schemeClr val="tx2"/>
                </a:solidFill>
              </a:rPr>
              <a:t>Open in VS Code; one shell on every surface</a:t>
            </a:r>
            <a:endParaRPr lang="en-US" sz="1300" dirty="0"/>
          </a:p>
        </p:txBody>
      </p:sp>
      <p:sp>
        <p:nvSpPr>
          <p:cNvPr id="15" name="card450"/>
          <p:cNvSpPr/>
          <p:nvPr/>
        </p:nvSpPr>
        <p:spPr>
          <a:xfrm>
            <a:off x="548640" y="2450592"/>
            <a:ext cx="731520" cy="493776"/>
          </a:xfrm>
          <a:prstGeom prst="roundRect">
            <a:avLst>
              <a:gd name="adj" fmla="val 14815"/>
            </a:avLst>
          </a:prstGeom>
          <a:solidFill>
            <a:schemeClr val="accent2"/>
          </a:solidFill>
          <a:ln w="9525">
            <a:solidFill>
              <a:schemeClr val="accent2"/>
            </a:solidFill>
            <a:prstDash val="solid"/>
          </a:ln>
        </p:spPr>
      </p:sp>
      <p:sp>
        <p:nvSpPr>
          <p:cNvPr id="16" name="t451"/>
          <p:cNvSpPr txBox="1"/>
          <p:nvPr/>
        </p:nvSpPr>
        <p:spPr>
          <a:xfrm>
            <a:off x="548640" y="2450592"/>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R3</a:t>
            </a:r>
            <a:endParaRPr lang="en-US" sz="1700" dirty="0"/>
          </a:p>
        </p:txBody>
      </p:sp>
      <p:sp>
        <p:nvSpPr>
          <p:cNvPr id="17" name="card452"/>
          <p:cNvSpPr/>
          <p:nvPr/>
        </p:nvSpPr>
        <p:spPr>
          <a:xfrm>
            <a:off x="1417320" y="2450592"/>
            <a:ext cx="10225735" cy="493776"/>
          </a:xfrm>
          <a:prstGeom prst="roundRect">
            <a:avLst>
              <a:gd name="adj" fmla="val 14815"/>
            </a:avLst>
          </a:prstGeom>
          <a:solidFill>
            <a:schemeClr val="bg2"/>
          </a:solidFill>
          <a:ln w="9525">
            <a:solidFill>
              <a:schemeClr val="bg2"/>
            </a:solidFill>
            <a:prstDash val="solid"/>
          </a:ln>
        </p:spPr>
      </p:sp>
      <p:sp>
        <p:nvSpPr>
          <p:cNvPr id="18" name="t453"/>
          <p:cNvSpPr txBox="1"/>
          <p:nvPr/>
        </p:nvSpPr>
        <p:spPr>
          <a:xfrm>
            <a:off x="1600200" y="2450592"/>
            <a:ext cx="1600200" cy="493776"/>
          </a:xfrm>
          <a:prstGeom prst="rect">
            <a:avLst/>
          </a:prstGeom>
          <a:noFill/>
          <a:ln/>
        </p:spPr>
        <p:txBody>
          <a:bodyPr wrap="square" lIns="0" tIns="0" rIns="0" bIns="0" rtlCol="0" anchor="ctr"/>
          <a:lstStyle/>
          <a:p>
            <a:pPr indent="0" marL="0">
              <a:buNone/>
            </a:pPr>
            <a:r>
              <a:rPr lang="en-US" sz="1300" b="1" dirty="0">
                <a:solidFill>
                  <a:schemeClr val="accent2"/>
                </a:solidFill>
              </a:rPr>
              <a:t>One user</a:t>
            </a:r>
            <a:endParaRPr lang="en-US" sz="1300" dirty="0"/>
          </a:p>
        </p:txBody>
      </p:sp>
      <p:sp>
        <p:nvSpPr>
          <p:cNvPr id="19" name="t454"/>
          <p:cNvSpPr txBox="1"/>
          <p:nvPr/>
        </p:nvSpPr>
        <p:spPr>
          <a:xfrm>
            <a:off x="3246120" y="2450592"/>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Jobs and the REST API</a:t>
            </a:r>
            <a:endParaRPr lang="en-US" sz="1400" dirty="0"/>
          </a:p>
        </p:txBody>
      </p:sp>
      <p:sp>
        <p:nvSpPr>
          <p:cNvPr id="20" name="t455"/>
          <p:cNvSpPr txBox="1"/>
          <p:nvPr/>
        </p:nvSpPr>
        <p:spPr>
          <a:xfrm>
            <a:off x="5806440" y="2450592"/>
            <a:ext cx="5653735" cy="493776"/>
          </a:xfrm>
          <a:prstGeom prst="rect">
            <a:avLst/>
          </a:prstGeom>
          <a:noFill/>
          <a:ln/>
        </p:spPr>
        <p:txBody>
          <a:bodyPr wrap="square" lIns="0" tIns="0" rIns="0" bIns="0" rtlCol="0" anchor="ctr"/>
          <a:lstStyle/>
          <a:p>
            <a:pPr indent="0" marL="0">
              <a:buNone/>
            </a:pPr>
            <a:r>
              <a:rPr lang="en-US" sz="1300" dirty="0">
                <a:solidFill>
                  <a:schemeClr val="tx2"/>
                </a:solidFill>
              </a:rPr>
              <a:t>progress, dv-flow-mgr graph, wait for job; /api/v1; notifications</a:t>
            </a:r>
            <a:endParaRPr lang="en-US" sz="1300" dirty="0"/>
          </a:p>
        </p:txBody>
      </p:sp>
      <p:sp>
        <p:nvSpPr>
          <p:cNvPr id="21" name="card456"/>
          <p:cNvSpPr/>
          <p:nvPr/>
        </p:nvSpPr>
        <p:spPr>
          <a:xfrm>
            <a:off x="548640" y="3035808"/>
            <a:ext cx="731520" cy="493776"/>
          </a:xfrm>
          <a:prstGeom prst="roundRect">
            <a:avLst>
              <a:gd name="adj" fmla="val 14815"/>
            </a:avLst>
          </a:prstGeom>
          <a:solidFill>
            <a:schemeClr val="accent2"/>
          </a:solidFill>
          <a:ln w="9525">
            <a:solidFill>
              <a:schemeClr val="accent2"/>
            </a:solidFill>
            <a:prstDash val="solid"/>
          </a:ln>
        </p:spPr>
      </p:sp>
      <p:sp>
        <p:nvSpPr>
          <p:cNvPr id="22" name="t457"/>
          <p:cNvSpPr txBox="1"/>
          <p:nvPr/>
        </p:nvSpPr>
        <p:spPr>
          <a:xfrm>
            <a:off x="548640" y="3035808"/>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R4</a:t>
            </a:r>
            <a:endParaRPr lang="en-US" sz="1700" dirty="0"/>
          </a:p>
        </p:txBody>
      </p:sp>
      <p:sp>
        <p:nvSpPr>
          <p:cNvPr id="23" name="card458"/>
          <p:cNvSpPr/>
          <p:nvPr/>
        </p:nvSpPr>
        <p:spPr>
          <a:xfrm>
            <a:off x="1417320" y="3035808"/>
            <a:ext cx="10225735" cy="493776"/>
          </a:xfrm>
          <a:prstGeom prst="roundRect">
            <a:avLst>
              <a:gd name="adj" fmla="val 14815"/>
            </a:avLst>
          </a:prstGeom>
          <a:solidFill>
            <a:schemeClr val="bg1"/>
          </a:solidFill>
          <a:ln w="9525">
            <a:solidFill>
              <a:srgbClr val="E3E7EB"/>
            </a:solidFill>
            <a:prstDash val="solid"/>
          </a:ln>
        </p:spPr>
      </p:sp>
      <p:sp>
        <p:nvSpPr>
          <p:cNvPr id="24" name="t459"/>
          <p:cNvSpPr txBox="1"/>
          <p:nvPr/>
        </p:nvSpPr>
        <p:spPr>
          <a:xfrm>
            <a:off x="1600200" y="3035808"/>
            <a:ext cx="1600200" cy="493776"/>
          </a:xfrm>
          <a:prstGeom prst="rect">
            <a:avLst/>
          </a:prstGeom>
          <a:noFill/>
          <a:ln/>
        </p:spPr>
        <p:txBody>
          <a:bodyPr wrap="square" lIns="0" tIns="0" rIns="0" bIns="0" rtlCol="0" anchor="ctr"/>
          <a:lstStyle/>
          <a:p>
            <a:pPr indent="0" marL="0">
              <a:buNone/>
            </a:pPr>
            <a:r>
              <a:rPr lang="en-US" sz="1300" b="1" dirty="0">
                <a:solidFill>
                  <a:schemeClr val="accent2"/>
                </a:solidFill>
              </a:rPr>
              <a:t>One user</a:t>
            </a:r>
            <a:endParaRPr lang="en-US" sz="1300" dirty="0"/>
          </a:p>
        </p:txBody>
      </p:sp>
      <p:sp>
        <p:nvSpPr>
          <p:cNvPr id="25" name="t460"/>
          <p:cNvSpPr txBox="1"/>
          <p:nvPr/>
        </p:nvSpPr>
        <p:spPr>
          <a:xfrm>
            <a:off x="3246120" y="3035808"/>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Step into the bug</a:t>
            </a:r>
            <a:endParaRPr lang="en-US" sz="1400" dirty="0"/>
          </a:p>
        </p:txBody>
      </p:sp>
      <p:sp>
        <p:nvSpPr>
          <p:cNvPr id="26" name="t461"/>
          <p:cNvSpPr txBox="1"/>
          <p:nvPr/>
        </p:nvSpPr>
        <p:spPr>
          <a:xfrm>
            <a:off x="5806440" y="3035808"/>
            <a:ext cx="5653735" cy="493776"/>
          </a:xfrm>
          <a:prstGeom prst="rect">
            <a:avLst/>
          </a:prstGeom>
          <a:noFill/>
          <a:ln/>
        </p:spPr>
        <p:txBody>
          <a:bodyPr wrap="square" lIns="0" tIns="0" rIns="0" bIns="0" rtlCol="0" anchor="ctr"/>
          <a:lstStyle/>
          <a:p>
            <a:pPr indent="0" marL="0">
              <a:buNone/>
            </a:pPr>
            <a:r>
              <a:rPr lang="en-US" sz="1300" dirty="0">
                <a:solidFill>
                  <a:schemeClr val="tx2"/>
                </a:solidFill>
              </a:rPr>
              <a:t>export and import, CI bundles, templates, reports as files, extension</a:t>
            </a:r>
            <a:endParaRPr lang="en-US" sz="1300" dirty="0"/>
          </a:p>
        </p:txBody>
      </p:sp>
      <p:sp>
        <p:nvSpPr>
          <p:cNvPr id="27" name="card462"/>
          <p:cNvSpPr/>
          <p:nvPr/>
        </p:nvSpPr>
        <p:spPr>
          <a:xfrm>
            <a:off x="548640" y="3621024"/>
            <a:ext cx="731520" cy="493776"/>
          </a:xfrm>
          <a:prstGeom prst="roundRect">
            <a:avLst>
              <a:gd name="adj" fmla="val 14815"/>
            </a:avLst>
          </a:prstGeom>
          <a:solidFill>
            <a:schemeClr val="accent1"/>
          </a:solidFill>
          <a:ln w="9525">
            <a:solidFill>
              <a:schemeClr val="accent1"/>
            </a:solidFill>
            <a:prstDash val="solid"/>
          </a:ln>
        </p:spPr>
      </p:sp>
      <p:sp>
        <p:nvSpPr>
          <p:cNvPr id="28" name="t463"/>
          <p:cNvSpPr txBox="1"/>
          <p:nvPr/>
        </p:nvSpPr>
        <p:spPr>
          <a:xfrm>
            <a:off x="548640" y="3621024"/>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R5</a:t>
            </a:r>
            <a:endParaRPr lang="en-US" sz="1700" dirty="0"/>
          </a:p>
        </p:txBody>
      </p:sp>
      <p:sp>
        <p:nvSpPr>
          <p:cNvPr id="29" name="card464"/>
          <p:cNvSpPr/>
          <p:nvPr/>
        </p:nvSpPr>
        <p:spPr>
          <a:xfrm>
            <a:off x="1417320" y="3621024"/>
            <a:ext cx="10225735" cy="493776"/>
          </a:xfrm>
          <a:prstGeom prst="roundRect">
            <a:avLst>
              <a:gd name="adj" fmla="val 14815"/>
            </a:avLst>
          </a:prstGeom>
          <a:solidFill>
            <a:schemeClr val="bg2"/>
          </a:solidFill>
          <a:ln w="9525">
            <a:solidFill>
              <a:schemeClr val="bg2"/>
            </a:solidFill>
            <a:prstDash val="solid"/>
          </a:ln>
        </p:spPr>
      </p:sp>
      <p:sp>
        <p:nvSpPr>
          <p:cNvPr id="30" name="t465"/>
          <p:cNvSpPr txBox="1"/>
          <p:nvPr/>
        </p:nvSpPr>
        <p:spPr>
          <a:xfrm>
            <a:off x="1600200" y="3621024"/>
            <a:ext cx="1600200" cy="493776"/>
          </a:xfrm>
          <a:prstGeom prst="rect">
            <a:avLst/>
          </a:prstGeom>
          <a:noFill/>
          <a:ln/>
        </p:spPr>
        <p:txBody>
          <a:bodyPr wrap="square" lIns="0" tIns="0" rIns="0" bIns="0" rtlCol="0" anchor="ctr"/>
          <a:lstStyle/>
          <a:p>
            <a:pPr indent="0" marL="0">
              <a:buNone/>
            </a:pPr>
            <a:r>
              <a:rPr lang="en-US" sz="1300" b="1" dirty="0">
                <a:solidFill>
                  <a:schemeClr val="accent1"/>
                </a:solidFill>
              </a:rPr>
              <a:t>Small team</a:t>
            </a:r>
            <a:endParaRPr lang="en-US" sz="1300" dirty="0"/>
          </a:p>
        </p:txBody>
      </p:sp>
      <p:sp>
        <p:nvSpPr>
          <p:cNvPr id="31" name="t466"/>
          <p:cNvSpPr txBox="1"/>
          <p:nvPr/>
        </p:nvSpPr>
        <p:spPr>
          <a:xfrm>
            <a:off x="3246120" y="3621024"/>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Link up</a:t>
            </a:r>
            <a:endParaRPr lang="en-US" sz="1400" dirty="0"/>
          </a:p>
        </p:txBody>
      </p:sp>
      <p:sp>
        <p:nvSpPr>
          <p:cNvPr id="32" name="t467"/>
          <p:cNvSpPr txBox="1"/>
          <p:nvPr/>
        </p:nvSpPr>
        <p:spPr>
          <a:xfrm>
            <a:off x="5806440" y="3621024"/>
            <a:ext cx="5653735" cy="493776"/>
          </a:xfrm>
          <a:prstGeom prst="rect">
            <a:avLst/>
          </a:prstGeom>
          <a:noFill/>
          <a:ln/>
        </p:spPr>
        <p:txBody>
          <a:bodyPr wrap="square" lIns="0" tIns="0" rIns="0" bIns="0" rtlCol="0" anchor="ctr"/>
          <a:lstStyle/>
          <a:p>
            <a:pPr indent="0" marL="0">
              <a:buNone/>
            </a:pPr>
            <a:r>
              <a:rPr lang="en-US" sz="1300" dirty="0">
                <a:solidFill>
                  <a:schemeClr val="tx2"/>
                </a:solidFill>
              </a:rPr>
              <a:t>links, the peer scope, assign directly, one board across your hosts</a:t>
            </a:r>
            <a:endParaRPr lang="en-US" sz="1300" dirty="0"/>
          </a:p>
        </p:txBody>
      </p:sp>
      <p:sp>
        <p:nvSpPr>
          <p:cNvPr id="33" name="card468"/>
          <p:cNvSpPr/>
          <p:nvPr/>
        </p:nvSpPr>
        <p:spPr>
          <a:xfrm>
            <a:off x="548640" y="4206240"/>
            <a:ext cx="731520" cy="493776"/>
          </a:xfrm>
          <a:prstGeom prst="roundRect">
            <a:avLst>
              <a:gd name="adj" fmla="val 14815"/>
            </a:avLst>
          </a:prstGeom>
          <a:solidFill>
            <a:schemeClr val="accent4"/>
          </a:solidFill>
          <a:ln w="9525">
            <a:solidFill>
              <a:schemeClr val="accent4"/>
            </a:solidFill>
            <a:prstDash val="solid"/>
          </a:ln>
        </p:spPr>
      </p:sp>
      <p:sp>
        <p:nvSpPr>
          <p:cNvPr id="34" name="t469"/>
          <p:cNvSpPr txBox="1"/>
          <p:nvPr/>
        </p:nvSpPr>
        <p:spPr>
          <a:xfrm>
            <a:off x="548640" y="4206240"/>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R6</a:t>
            </a:r>
            <a:endParaRPr lang="en-US" sz="1700" dirty="0"/>
          </a:p>
        </p:txBody>
      </p:sp>
      <p:sp>
        <p:nvSpPr>
          <p:cNvPr id="35" name="card470"/>
          <p:cNvSpPr/>
          <p:nvPr/>
        </p:nvSpPr>
        <p:spPr>
          <a:xfrm>
            <a:off x="1417320" y="4206240"/>
            <a:ext cx="10225735" cy="493776"/>
          </a:xfrm>
          <a:prstGeom prst="roundRect">
            <a:avLst>
              <a:gd name="adj" fmla="val 14815"/>
            </a:avLst>
          </a:prstGeom>
          <a:solidFill>
            <a:schemeClr val="bg1"/>
          </a:solidFill>
          <a:ln w="9525">
            <a:solidFill>
              <a:srgbClr val="E3E7EB"/>
            </a:solidFill>
            <a:prstDash val="solid"/>
          </a:ln>
        </p:spPr>
      </p:sp>
      <p:sp>
        <p:nvSpPr>
          <p:cNvPr id="36" name="t471"/>
          <p:cNvSpPr txBox="1"/>
          <p:nvPr/>
        </p:nvSpPr>
        <p:spPr>
          <a:xfrm>
            <a:off x="1600200" y="4206240"/>
            <a:ext cx="1600200" cy="493776"/>
          </a:xfrm>
          <a:prstGeom prst="rect">
            <a:avLst/>
          </a:prstGeom>
          <a:noFill/>
          <a:ln/>
        </p:spPr>
        <p:txBody>
          <a:bodyPr wrap="square" lIns="0" tIns="0" rIns="0" bIns="0" rtlCol="0" anchor="ctr"/>
          <a:lstStyle/>
          <a:p>
            <a:pPr indent="0" marL="0">
              <a:buNone/>
            </a:pPr>
            <a:r>
              <a:rPr lang="en-US" sz="1300" b="1" dirty="0">
                <a:solidFill>
                  <a:schemeClr val="accent4"/>
                </a:solidFill>
              </a:rPr>
              <a:t>Organization</a:t>
            </a:r>
            <a:endParaRPr lang="en-US" sz="1300" dirty="0"/>
          </a:p>
        </p:txBody>
      </p:sp>
      <p:sp>
        <p:nvSpPr>
          <p:cNvPr id="37" name="t472"/>
          <p:cNvSpPr txBox="1"/>
          <p:nvPr/>
        </p:nvSpPr>
        <p:spPr>
          <a:xfrm>
            <a:off x="3246120" y="4206240"/>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The hub</a:t>
            </a:r>
            <a:endParaRPr lang="en-US" sz="1400" dirty="0"/>
          </a:p>
        </p:txBody>
      </p:sp>
      <p:sp>
        <p:nvSpPr>
          <p:cNvPr id="38" name="t473"/>
          <p:cNvSpPr txBox="1"/>
          <p:nvPr/>
        </p:nvSpPr>
        <p:spPr>
          <a:xfrm>
            <a:off x="5806440" y="4206240"/>
            <a:ext cx="5653735" cy="493776"/>
          </a:xfrm>
          <a:prstGeom prst="rect">
            <a:avLst/>
          </a:prstGeom>
          <a:noFill/>
          <a:ln/>
        </p:spPr>
        <p:txBody>
          <a:bodyPr wrap="square" lIns="0" tIns="0" rIns="0" bIns="0" rtlCol="0" anchor="ctr"/>
          <a:lstStyle/>
          <a:p>
            <a:pPr indent="0" marL="0">
              <a:buNone/>
            </a:pPr>
            <a:r>
              <a:rPr lang="en-US" sz="1300" dirty="0">
                <a:solidFill>
                  <a:schemeClr val="tx2"/>
                </a:solidFill>
              </a:rPr>
              <a:t>directory, store and relay, CI intake, sign-in, policy, audit</a:t>
            </a:r>
            <a:endParaRPr lang="en-US" sz="1300" dirty="0"/>
          </a:p>
        </p:txBody>
      </p:sp>
      <p:sp>
        <p:nvSpPr>
          <p:cNvPr id="39" name="card474"/>
          <p:cNvSpPr/>
          <p:nvPr/>
        </p:nvSpPr>
        <p:spPr>
          <a:xfrm>
            <a:off x="548640" y="4791456"/>
            <a:ext cx="731520" cy="493776"/>
          </a:xfrm>
          <a:prstGeom prst="roundRect">
            <a:avLst>
              <a:gd name="adj" fmla="val 14815"/>
            </a:avLst>
          </a:prstGeom>
          <a:solidFill>
            <a:schemeClr val="tx2"/>
          </a:solidFill>
          <a:ln w="9525">
            <a:solidFill>
              <a:schemeClr val="tx2"/>
            </a:solidFill>
            <a:prstDash val="solid"/>
          </a:ln>
        </p:spPr>
      </p:sp>
      <p:sp>
        <p:nvSpPr>
          <p:cNvPr id="40" name="t475"/>
          <p:cNvSpPr txBox="1"/>
          <p:nvPr/>
        </p:nvSpPr>
        <p:spPr>
          <a:xfrm>
            <a:off x="548640" y="4791456"/>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R7</a:t>
            </a:r>
            <a:endParaRPr lang="en-US" sz="1700" dirty="0"/>
          </a:p>
        </p:txBody>
      </p:sp>
      <p:sp>
        <p:nvSpPr>
          <p:cNvPr id="41" name="card476"/>
          <p:cNvSpPr/>
          <p:nvPr/>
        </p:nvSpPr>
        <p:spPr>
          <a:xfrm>
            <a:off x="1417320" y="4791456"/>
            <a:ext cx="10225735" cy="493776"/>
          </a:xfrm>
          <a:prstGeom prst="roundRect">
            <a:avLst>
              <a:gd name="adj" fmla="val 14815"/>
            </a:avLst>
          </a:prstGeom>
          <a:solidFill>
            <a:schemeClr val="bg2"/>
          </a:solidFill>
          <a:ln w="9525">
            <a:solidFill>
              <a:schemeClr val="bg2"/>
            </a:solidFill>
            <a:prstDash val="solid"/>
          </a:ln>
        </p:spPr>
      </p:sp>
      <p:sp>
        <p:nvSpPr>
          <p:cNvPr id="42" name="t477"/>
          <p:cNvSpPr txBox="1"/>
          <p:nvPr/>
        </p:nvSpPr>
        <p:spPr>
          <a:xfrm>
            <a:off x="1600200" y="4791456"/>
            <a:ext cx="1600200" cy="493776"/>
          </a:xfrm>
          <a:prstGeom prst="rect">
            <a:avLst/>
          </a:prstGeom>
          <a:noFill/>
          <a:ln/>
        </p:spPr>
        <p:txBody>
          <a:bodyPr wrap="square" lIns="0" tIns="0" rIns="0" bIns="0" rtlCol="0" anchor="ctr"/>
          <a:lstStyle/>
          <a:p>
            <a:pPr indent="0" marL="0">
              <a:buNone/>
            </a:pPr>
            <a:r>
              <a:rPr lang="en-US" sz="1300" b="1" dirty="0">
                <a:solidFill>
                  <a:schemeClr val="tx2"/>
                </a:solidFill>
              </a:rPr>
              <a:t>Between orgs</a:t>
            </a:r>
            <a:endParaRPr lang="en-US" sz="1300" dirty="0"/>
          </a:p>
        </p:txBody>
      </p:sp>
      <p:sp>
        <p:nvSpPr>
          <p:cNvPr id="43" name="t478"/>
          <p:cNvSpPr txBox="1"/>
          <p:nvPr/>
        </p:nvSpPr>
        <p:spPr>
          <a:xfrm>
            <a:off x="3246120" y="4791456"/>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Across organizations</a:t>
            </a:r>
            <a:endParaRPr lang="en-US" sz="1400" dirty="0"/>
          </a:p>
        </p:txBody>
      </p:sp>
      <p:sp>
        <p:nvSpPr>
          <p:cNvPr id="44" name="t479"/>
          <p:cNvSpPr txBox="1"/>
          <p:nvPr/>
        </p:nvSpPr>
        <p:spPr>
          <a:xfrm>
            <a:off x="5806440" y="4791456"/>
            <a:ext cx="5653735" cy="493776"/>
          </a:xfrm>
          <a:prstGeom prst="rect">
            <a:avLst/>
          </a:prstGeom>
          <a:noFill/>
          <a:ln/>
        </p:spPr>
        <p:txBody>
          <a:bodyPr wrap="square" lIns="0" tIns="0" rIns="0" bIns="0" rtlCol="0" anchor="ctr"/>
          <a:lstStyle/>
          <a:p>
            <a:pPr indent="0" marL="0">
              <a:buNone/>
            </a:pPr>
            <a:r>
              <a:rPr lang="en-US" sz="1300" dirty="0">
                <a:solidFill>
                  <a:schemeClr val="tx2"/>
                </a:solidFill>
              </a:rPr>
              <a:t>public intake, hub to hub, signed reports, sandboxed reproduction</a:t>
            </a:r>
            <a:endParaRPr lang="en-US" sz="1300" dirty="0"/>
          </a:p>
        </p:txBody>
      </p:sp>
      <p:sp>
        <p:nvSpPr>
          <p:cNvPr id="45" name="card480"/>
          <p:cNvSpPr/>
          <p:nvPr/>
        </p:nvSpPr>
        <p:spPr>
          <a:xfrm>
            <a:off x="548640" y="5376672"/>
            <a:ext cx="731520" cy="493776"/>
          </a:xfrm>
          <a:prstGeom prst="roundRect">
            <a:avLst>
              <a:gd name="adj" fmla="val 14815"/>
            </a:avLst>
          </a:prstGeom>
          <a:solidFill>
            <a:schemeClr val="accent3"/>
          </a:solidFill>
          <a:ln w="9525">
            <a:solidFill>
              <a:schemeClr val="accent3"/>
            </a:solidFill>
            <a:prstDash val="solid"/>
          </a:ln>
        </p:spPr>
      </p:sp>
      <p:sp>
        <p:nvSpPr>
          <p:cNvPr id="46" name="t481"/>
          <p:cNvSpPr txBox="1"/>
          <p:nvPr/>
        </p:nvSpPr>
        <p:spPr>
          <a:xfrm>
            <a:off x="548640" y="5376672"/>
            <a:ext cx="731520" cy="493776"/>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R8</a:t>
            </a:r>
            <a:endParaRPr lang="en-US" sz="1700" dirty="0"/>
          </a:p>
        </p:txBody>
      </p:sp>
      <p:sp>
        <p:nvSpPr>
          <p:cNvPr id="47" name="card482"/>
          <p:cNvSpPr/>
          <p:nvPr/>
        </p:nvSpPr>
        <p:spPr>
          <a:xfrm>
            <a:off x="1417320" y="5376672"/>
            <a:ext cx="10225735" cy="493776"/>
          </a:xfrm>
          <a:prstGeom prst="roundRect">
            <a:avLst>
              <a:gd name="adj" fmla="val 14815"/>
            </a:avLst>
          </a:prstGeom>
          <a:solidFill>
            <a:schemeClr val="bg1"/>
          </a:solidFill>
          <a:ln w="9525">
            <a:solidFill>
              <a:srgbClr val="E3E7EB"/>
            </a:solidFill>
            <a:prstDash val="solid"/>
          </a:ln>
        </p:spPr>
      </p:sp>
      <p:sp>
        <p:nvSpPr>
          <p:cNvPr id="48" name="t483"/>
          <p:cNvSpPr txBox="1"/>
          <p:nvPr/>
        </p:nvSpPr>
        <p:spPr>
          <a:xfrm>
            <a:off x="1600200" y="5376672"/>
            <a:ext cx="1600200" cy="493776"/>
          </a:xfrm>
          <a:prstGeom prst="rect">
            <a:avLst/>
          </a:prstGeom>
          <a:noFill/>
          <a:ln/>
        </p:spPr>
        <p:txBody>
          <a:bodyPr wrap="square" lIns="0" tIns="0" rIns="0" bIns="0" rtlCol="0" anchor="ctr"/>
          <a:lstStyle/>
          <a:p>
            <a:pPr indent="0" marL="0">
              <a:buNone/>
            </a:pPr>
            <a:r>
              <a:rPr lang="en-US" sz="1300" b="1" dirty="0">
                <a:solidFill>
                  <a:schemeClr val="accent3"/>
                </a:solidFill>
              </a:rPr>
              <a:t>Any scale</a:t>
            </a:r>
            <a:endParaRPr lang="en-US" sz="1300" dirty="0"/>
          </a:p>
        </p:txBody>
      </p:sp>
      <p:sp>
        <p:nvSpPr>
          <p:cNvPr id="49" name="t484"/>
          <p:cNvSpPr txBox="1"/>
          <p:nvPr/>
        </p:nvSpPr>
        <p:spPr>
          <a:xfrm>
            <a:off x="3246120" y="5376672"/>
            <a:ext cx="2514600" cy="493776"/>
          </a:xfrm>
          <a:prstGeom prst="rect">
            <a:avLst/>
          </a:prstGeom>
          <a:noFill/>
          <a:ln/>
        </p:spPr>
        <p:txBody>
          <a:bodyPr wrap="square" lIns="0" tIns="0" rIns="0" bIns="0" rtlCol="0" anchor="ctr"/>
          <a:lstStyle/>
          <a:p>
            <a:pPr indent="0" marL="0">
              <a:buNone/>
            </a:pPr>
            <a:r>
              <a:rPr lang="en-US" sz="1400" b="1" dirty="0">
                <a:solidFill>
                  <a:schemeClr val="tx1"/>
                </a:solidFill>
              </a:rPr>
              <a:t>Browser IDE, scale-out</a:t>
            </a:r>
            <a:endParaRPr lang="en-US" sz="1400" dirty="0"/>
          </a:p>
        </p:txBody>
      </p:sp>
      <p:sp>
        <p:nvSpPr>
          <p:cNvPr id="50" name="t485"/>
          <p:cNvSpPr txBox="1"/>
          <p:nvPr/>
        </p:nvSpPr>
        <p:spPr>
          <a:xfrm>
            <a:off x="5806440" y="5376672"/>
            <a:ext cx="5653735" cy="493776"/>
          </a:xfrm>
          <a:prstGeom prst="rect">
            <a:avLst/>
          </a:prstGeom>
          <a:noFill/>
          <a:ln/>
        </p:spPr>
        <p:txBody>
          <a:bodyPr wrap="square" lIns="0" tIns="0" rIns="0" bIns="0" rtlCol="0" anchor="ctr"/>
          <a:lstStyle/>
          <a:p>
            <a:pPr indent="0" marL="0">
              <a:buNone/>
            </a:pPr>
            <a:r>
              <a:rPr lang="en-US" sz="1300" dirty="0">
                <a:solidFill>
                  <a:schemeClr val="tx2"/>
                </a:solidFill>
              </a:rPr>
              <a:t>TLS, web VS Code, SLURM, licence pools</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800" b="1" dirty="0">
                <a:solidFill>
                  <a:schemeClr val="bg1"/>
                </a:solidFill>
              </a:rPr>
              <a:t>Decisions for review</a:t>
            </a:r>
            <a:endParaRPr lang="en-US" sz="3800" dirty="0"/>
          </a:p>
        </p:txBody>
      </p:sp>
      <p:sp>
        <p:nvSpPr>
          <p:cNvPr id="3" name="card486"/>
          <p:cNvSpPr/>
          <p:nvPr/>
        </p:nvSpPr>
        <p:spPr>
          <a:xfrm>
            <a:off x="548640" y="1417320"/>
            <a:ext cx="5422392" cy="960120"/>
          </a:xfrm>
          <a:prstGeom prst="roundRect">
            <a:avLst>
              <a:gd name="adj" fmla="val 7619"/>
            </a:avLst>
          </a:prstGeom>
          <a:solidFill>
            <a:schemeClr val="tx2"/>
          </a:solidFill>
          <a:ln w="9525">
            <a:solidFill>
              <a:schemeClr val="tx2"/>
            </a:solidFill>
            <a:prstDash val="solid"/>
          </a:ln>
        </p:spPr>
      </p:sp>
      <p:sp>
        <p:nvSpPr>
          <p:cNvPr id="4" name="t487"/>
          <p:cNvSpPr txBox="1"/>
          <p:nvPr/>
        </p:nvSpPr>
        <p:spPr>
          <a:xfrm>
            <a:off x="777240" y="141732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D1</a:t>
            </a:r>
            <a:endParaRPr lang="en-US" sz="2200" dirty="0"/>
          </a:p>
        </p:txBody>
      </p:sp>
      <p:sp>
        <p:nvSpPr>
          <p:cNvPr id="5" name="t488"/>
          <p:cNvSpPr txBox="1"/>
          <p:nvPr/>
        </p:nvSpPr>
        <p:spPr>
          <a:xfrm>
            <a:off x="1691640" y="1545336"/>
            <a:ext cx="4114800" cy="365760"/>
          </a:xfrm>
          <a:prstGeom prst="rect">
            <a:avLst/>
          </a:prstGeom>
          <a:noFill/>
          <a:ln/>
        </p:spPr>
        <p:txBody>
          <a:bodyPr wrap="square" lIns="0" tIns="0" rIns="0" bIns="0" rtlCol="0" anchor="t"/>
          <a:lstStyle/>
          <a:p>
            <a:pPr indent="0" marL="0">
              <a:buNone/>
            </a:pPr>
            <a:r>
              <a:rPr lang="en-US" sz="1600" b="1" dirty="0">
                <a:solidFill>
                  <a:schemeClr val="bg1"/>
                </a:solidFill>
              </a:rPr>
              <a:t>Transcripts in a bundle</a:t>
            </a:r>
            <a:endParaRPr lang="en-US" sz="1600" dirty="0"/>
          </a:p>
        </p:txBody>
      </p:sp>
      <p:sp>
        <p:nvSpPr>
          <p:cNvPr id="6" name="t489"/>
          <p:cNvSpPr txBox="1"/>
          <p:nvPr/>
        </p:nvSpPr>
        <p:spPr>
          <a:xfrm>
            <a:off x="1691640" y="192024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out; listed by hash; fetched on approval</a:t>
            </a:r>
            <a:endParaRPr lang="en-US" sz="1300" dirty="0"/>
          </a:p>
        </p:txBody>
      </p:sp>
      <p:sp>
        <p:nvSpPr>
          <p:cNvPr id="7" name="card490"/>
          <p:cNvSpPr/>
          <p:nvPr/>
        </p:nvSpPr>
        <p:spPr>
          <a:xfrm>
            <a:off x="6217920" y="1417320"/>
            <a:ext cx="5422392" cy="960120"/>
          </a:xfrm>
          <a:prstGeom prst="roundRect">
            <a:avLst>
              <a:gd name="adj" fmla="val 7619"/>
            </a:avLst>
          </a:prstGeom>
          <a:solidFill>
            <a:schemeClr val="tx2"/>
          </a:solidFill>
          <a:ln w="9525">
            <a:solidFill>
              <a:schemeClr val="tx2"/>
            </a:solidFill>
            <a:prstDash val="solid"/>
          </a:ln>
        </p:spPr>
      </p:sp>
      <p:sp>
        <p:nvSpPr>
          <p:cNvPr id="8" name="t491"/>
          <p:cNvSpPr txBox="1"/>
          <p:nvPr/>
        </p:nvSpPr>
        <p:spPr>
          <a:xfrm>
            <a:off x="6446520" y="141732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D2</a:t>
            </a:r>
            <a:endParaRPr lang="en-US" sz="2200" dirty="0"/>
          </a:p>
        </p:txBody>
      </p:sp>
      <p:sp>
        <p:nvSpPr>
          <p:cNvPr id="9" name="t492"/>
          <p:cNvSpPr txBox="1"/>
          <p:nvPr/>
        </p:nvSpPr>
        <p:spPr>
          <a:xfrm>
            <a:off x="7360920" y="1545336"/>
            <a:ext cx="4114800" cy="365760"/>
          </a:xfrm>
          <a:prstGeom prst="rect">
            <a:avLst/>
          </a:prstGeom>
          <a:noFill/>
          <a:ln/>
        </p:spPr>
        <p:txBody>
          <a:bodyPr wrap="square" lIns="0" tIns="0" rIns="0" bIns="0" rtlCol="0" anchor="t"/>
          <a:lstStyle/>
          <a:p>
            <a:pPr indent="0" marL="0">
              <a:buNone/>
            </a:pPr>
            <a:r>
              <a:rPr lang="en-US" sz="1600" b="1" dirty="0">
                <a:solidFill>
                  <a:schemeClr val="bg1"/>
                </a:solidFill>
              </a:rPr>
              <a:t>Person-to-person verb</a:t>
            </a:r>
            <a:endParaRPr lang="en-US" sz="1600" dirty="0"/>
          </a:p>
        </p:txBody>
      </p:sp>
      <p:sp>
        <p:nvSpPr>
          <p:cNvPr id="10" name="t493"/>
          <p:cNvSpPr txBox="1"/>
          <p:nvPr/>
        </p:nvSpPr>
        <p:spPr>
          <a:xfrm>
            <a:off x="7360920" y="192024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assign (or transfer)</a:t>
            </a:r>
            <a:endParaRPr lang="en-US" sz="1300" dirty="0"/>
          </a:p>
        </p:txBody>
      </p:sp>
      <p:sp>
        <p:nvSpPr>
          <p:cNvPr id="11" name="card494"/>
          <p:cNvSpPr/>
          <p:nvPr/>
        </p:nvSpPr>
        <p:spPr>
          <a:xfrm>
            <a:off x="548640" y="2514600"/>
            <a:ext cx="5422392" cy="960120"/>
          </a:xfrm>
          <a:prstGeom prst="roundRect">
            <a:avLst>
              <a:gd name="adj" fmla="val 7619"/>
            </a:avLst>
          </a:prstGeom>
          <a:solidFill>
            <a:schemeClr val="tx2"/>
          </a:solidFill>
          <a:ln w="9525">
            <a:solidFill>
              <a:schemeClr val="tx2"/>
            </a:solidFill>
            <a:prstDash val="solid"/>
          </a:ln>
        </p:spPr>
      </p:sp>
      <p:sp>
        <p:nvSpPr>
          <p:cNvPr id="12" name="t495"/>
          <p:cNvSpPr txBox="1"/>
          <p:nvPr/>
        </p:nvSpPr>
        <p:spPr>
          <a:xfrm>
            <a:off x="777240" y="251460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D5</a:t>
            </a:r>
            <a:endParaRPr lang="en-US" sz="2200" dirty="0"/>
          </a:p>
        </p:txBody>
      </p:sp>
      <p:sp>
        <p:nvSpPr>
          <p:cNvPr id="13" name="t496"/>
          <p:cNvSpPr txBox="1"/>
          <p:nvPr/>
        </p:nvSpPr>
        <p:spPr>
          <a:xfrm>
            <a:off x="1691640" y="2642616"/>
            <a:ext cx="4114800" cy="365760"/>
          </a:xfrm>
          <a:prstGeom prst="rect">
            <a:avLst/>
          </a:prstGeom>
          <a:noFill/>
          <a:ln/>
        </p:spPr>
        <p:txBody>
          <a:bodyPr wrap="square" lIns="0" tIns="0" rIns="0" bIns="0" rtlCol="0" anchor="t"/>
          <a:lstStyle/>
          <a:p>
            <a:pPr indent="0" marL="0">
              <a:buNone/>
            </a:pPr>
            <a:r>
              <a:rPr lang="en-US" sz="1600" b="1" dirty="0">
                <a:solidFill>
                  <a:schemeClr val="bg1"/>
                </a:solidFill>
              </a:rPr>
              <a:t>What others see</a:t>
            </a:r>
            <a:endParaRPr lang="en-US" sz="1600" dirty="0"/>
          </a:p>
        </p:txBody>
      </p:sp>
      <p:sp>
        <p:nvSpPr>
          <p:cNvPr id="14" name="t497"/>
          <p:cNvSpPr txBox="1"/>
          <p:nvPr/>
        </p:nvSpPr>
        <p:spPr>
          <a:xfrm>
            <a:off x="1691640" y="301752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state, title, owner, waiting time</a:t>
            </a:r>
            <a:endParaRPr lang="en-US" sz="1300" dirty="0"/>
          </a:p>
        </p:txBody>
      </p:sp>
      <p:sp>
        <p:nvSpPr>
          <p:cNvPr id="15" name="card498"/>
          <p:cNvSpPr/>
          <p:nvPr/>
        </p:nvSpPr>
        <p:spPr>
          <a:xfrm>
            <a:off x="6217920" y="2514600"/>
            <a:ext cx="5422392" cy="960120"/>
          </a:xfrm>
          <a:prstGeom prst="roundRect">
            <a:avLst>
              <a:gd name="adj" fmla="val 7619"/>
            </a:avLst>
          </a:prstGeom>
          <a:solidFill>
            <a:schemeClr val="tx2"/>
          </a:solidFill>
          <a:ln w="9525">
            <a:solidFill>
              <a:schemeClr val="tx2"/>
            </a:solidFill>
            <a:prstDash val="solid"/>
          </a:ln>
        </p:spPr>
      </p:sp>
      <p:sp>
        <p:nvSpPr>
          <p:cNvPr id="16" name="t499"/>
          <p:cNvSpPr txBox="1"/>
          <p:nvPr/>
        </p:nvSpPr>
        <p:spPr>
          <a:xfrm>
            <a:off x="6446520" y="251460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D8</a:t>
            </a:r>
            <a:endParaRPr lang="en-US" sz="2200" dirty="0"/>
          </a:p>
        </p:txBody>
      </p:sp>
      <p:sp>
        <p:nvSpPr>
          <p:cNvPr id="17" name="t500"/>
          <p:cNvSpPr txBox="1"/>
          <p:nvPr/>
        </p:nvSpPr>
        <p:spPr>
          <a:xfrm>
            <a:off x="7360920" y="2642616"/>
            <a:ext cx="4114800" cy="365760"/>
          </a:xfrm>
          <a:prstGeom prst="rect">
            <a:avLst/>
          </a:prstGeom>
          <a:noFill/>
          <a:ln/>
        </p:spPr>
        <p:txBody>
          <a:bodyPr wrap="square" lIns="0" tIns="0" rIns="0" bIns="0" rtlCol="0" anchor="t"/>
          <a:lstStyle/>
          <a:p>
            <a:pPr indent="0" marL="0">
              <a:buNone/>
            </a:pPr>
            <a:r>
              <a:rPr lang="en-US" sz="1600" b="1" dirty="0">
                <a:solidFill>
                  <a:schemeClr val="bg1"/>
                </a:solidFill>
              </a:rPr>
              <a:t>Link identity off a tailnet</a:t>
            </a:r>
            <a:endParaRPr lang="en-US" sz="1600" dirty="0"/>
          </a:p>
        </p:txBody>
      </p:sp>
      <p:sp>
        <p:nvSpPr>
          <p:cNvPr id="18" name="t501"/>
          <p:cNvSpPr txBox="1"/>
          <p:nvPr/>
        </p:nvSpPr>
        <p:spPr>
          <a:xfrm>
            <a:off x="7360920" y="301752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one-time code, then exchanged keys</a:t>
            </a:r>
            <a:endParaRPr lang="en-US" sz="1300" dirty="0"/>
          </a:p>
        </p:txBody>
      </p:sp>
      <p:sp>
        <p:nvSpPr>
          <p:cNvPr id="19" name="card502"/>
          <p:cNvSpPr/>
          <p:nvPr/>
        </p:nvSpPr>
        <p:spPr>
          <a:xfrm>
            <a:off x="548640" y="3611880"/>
            <a:ext cx="5422392" cy="960120"/>
          </a:xfrm>
          <a:prstGeom prst="roundRect">
            <a:avLst>
              <a:gd name="adj" fmla="val 7619"/>
            </a:avLst>
          </a:prstGeom>
          <a:solidFill>
            <a:schemeClr val="tx2"/>
          </a:solidFill>
          <a:ln w="9525">
            <a:solidFill>
              <a:schemeClr val="tx2"/>
            </a:solidFill>
            <a:prstDash val="solid"/>
          </a:ln>
        </p:spPr>
      </p:sp>
      <p:sp>
        <p:nvSpPr>
          <p:cNvPr id="20" name="t503"/>
          <p:cNvSpPr txBox="1"/>
          <p:nvPr/>
        </p:nvSpPr>
        <p:spPr>
          <a:xfrm>
            <a:off x="777240" y="361188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D9</a:t>
            </a:r>
            <a:endParaRPr lang="en-US" sz="2200" dirty="0"/>
          </a:p>
        </p:txBody>
      </p:sp>
      <p:sp>
        <p:nvSpPr>
          <p:cNvPr id="21" name="t504"/>
          <p:cNvSpPr txBox="1"/>
          <p:nvPr/>
        </p:nvSpPr>
        <p:spPr>
          <a:xfrm>
            <a:off x="1691640" y="3739896"/>
            <a:ext cx="4114800" cy="365760"/>
          </a:xfrm>
          <a:prstGeom prst="rect">
            <a:avLst/>
          </a:prstGeom>
          <a:noFill/>
          <a:ln/>
        </p:spPr>
        <p:txBody>
          <a:bodyPr wrap="square" lIns="0" tIns="0" rIns="0" bIns="0" rtlCol="0" anchor="t"/>
          <a:lstStyle/>
          <a:p>
            <a:pPr indent="0" marL="0">
              <a:buNone/>
            </a:pPr>
            <a:r>
              <a:rPr lang="en-US" sz="1600" b="1" dirty="0">
                <a:solidFill>
                  <a:schemeClr val="bg1"/>
                </a:solidFill>
              </a:rPr>
              <a:t>wpk dash runs the runner</a:t>
            </a:r>
            <a:endParaRPr lang="en-US" sz="1600" dirty="0"/>
          </a:p>
        </p:txBody>
      </p:sp>
      <p:sp>
        <p:nvSpPr>
          <p:cNvPr id="22" name="t505"/>
          <p:cNvSpPr txBox="1"/>
          <p:nvPr/>
        </p:nvSpPr>
        <p:spPr>
          <a:xfrm>
            <a:off x="1691640" y="411480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yes; --no-run to only view</a:t>
            </a:r>
            <a:endParaRPr lang="en-US" sz="1300" dirty="0"/>
          </a:p>
        </p:txBody>
      </p:sp>
      <p:sp>
        <p:nvSpPr>
          <p:cNvPr id="23" name="card506"/>
          <p:cNvSpPr/>
          <p:nvPr/>
        </p:nvSpPr>
        <p:spPr>
          <a:xfrm>
            <a:off x="6217920" y="3611880"/>
            <a:ext cx="5422392" cy="960120"/>
          </a:xfrm>
          <a:prstGeom prst="roundRect">
            <a:avLst>
              <a:gd name="adj" fmla="val 7619"/>
            </a:avLst>
          </a:prstGeom>
          <a:solidFill>
            <a:schemeClr val="tx2"/>
          </a:solidFill>
          <a:ln w="9525">
            <a:solidFill>
              <a:schemeClr val="tx2"/>
            </a:solidFill>
            <a:prstDash val="solid"/>
          </a:ln>
        </p:spPr>
      </p:sp>
      <p:sp>
        <p:nvSpPr>
          <p:cNvPr id="24" name="t507"/>
          <p:cNvSpPr txBox="1"/>
          <p:nvPr/>
        </p:nvSpPr>
        <p:spPr>
          <a:xfrm>
            <a:off x="6446520" y="361188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D10</a:t>
            </a:r>
            <a:endParaRPr lang="en-US" sz="2200" dirty="0"/>
          </a:p>
        </p:txBody>
      </p:sp>
      <p:sp>
        <p:nvSpPr>
          <p:cNvPr id="25" name="t508"/>
          <p:cNvSpPr txBox="1"/>
          <p:nvPr/>
        </p:nvSpPr>
        <p:spPr>
          <a:xfrm>
            <a:off x="7360920" y="3739896"/>
            <a:ext cx="4114800" cy="365760"/>
          </a:xfrm>
          <a:prstGeom prst="rect">
            <a:avLst/>
          </a:prstGeom>
          <a:noFill/>
          <a:ln/>
        </p:spPr>
        <p:txBody>
          <a:bodyPr wrap="square" lIns="0" tIns="0" rIns="0" bIns="0" rtlCol="0" anchor="t"/>
          <a:lstStyle/>
          <a:p>
            <a:pPr indent="0" marL="0">
              <a:buNone/>
            </a:pPr>
            <a:r>
              <a:rPr lang="en-US" sz="1600" b="1" dirty="0">
                <a:solidFill>
                  <a:schemeClr val="bg1"/>
                </a:solidFill>
              </a:rPr>
              <a:t>Running a received report</a:t>
            </a:r>
            <a:endParaRPr lang="en-US" sz="1600" dirty="0"/>
          </a:p>
        </p:txBody>
      </p:sp>
      <p:sp>
        <p:nvSpPr>
          <p:cNvPr id="26" name="t509"/>
          <p:cNvSpPr txBox="1"/>
          <p:nvPr/>
        </p:nvSpPr>
        <p:spPr>
          <a:xfrm>
            <a:off x="7360920" y="411480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on request, in a sandbox</a:t>
            </a:r>
            <a:endParaRPr lang="en-US" sz="1300" dirty="0"/>
          </a:p>
        </p:txBody>
      </p:sp>
      <p:sp>
        <p:nvSpPr>
          <p:cNvPr id="27" name="card510"/>
          <p:cNvSpPr/>
          <p:nvPr/>
        </p:nvSpPr>
        <p:spPr>
          <a:xfrm>
            <a:off x="548640" y="4709160"/>
            <a:ext cx="5422392" cy="960120"/>
          </a:xfrm>
          <a:prstGeom prst="roundRect">
            <a:avLst>
              <a:gd name="adj" fmla="val 7619"/>
            </a:avLst>
          </a:prstGeom>
          <a:solidFill>
            <a:schemeClr val="tx2"/>
          </a:solidFill>
          <a:ln w="9525">
            <a:solidFill>
              <a:schemeClr val="tx2"/>
            </a:solidFill>
            <a:prstDash val="solid"/>
          </a:ln>
        </p:spPr>
      </p:sp>
      <p:sp>
        <p:nvSpPr>
          <p:cNvPr id="28" name="t511"/>
          <p:cNvSpPr txBox="1"/>
          <p:nvPr/>
        </p:nvSpPr>
        <p:spPr>
          <a:xfrm>
            <a:off x="777240" y="470916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D11</a:t>
            </a:r>
            <a:endParaRPr lang="en-US" sz="2200" dirty="0"/>
          </a:p>
        </p:txBody>
      </p:sp>
      <p:sp>
        <p:nvSpPr>
          <p:cNvPr id="29" name="t512"/>
          <p:cNvSpPr txBox="1"/>
          <p:nvPr/>
        </p:nvSpPr>
        <p:spPr>
          <a:xfrm>
            <a:off x="1691640" y="4837176"/>
            <a:ext cx="4114800" cy="365760"/>
          </a:xfrm>
          <a:prstGeom prst="rect">
            <a:avLst/>
          </a:prstGeom>
          <a:noFill/>
          <a:ln/>
        </p:spPr>
        <p:txBody>
          <a:bodyPr wrap="square" lIns="0" tIns="0" rIns="0" bIns="0" rtlCol="0" anchor="t"/>
          <a:lstStyle/>
          <a:p>
            <a:pPr indent="0" marL="0">
              <a:buNone/>
            </a:pPr>
            <a:r>
              <a:rPr lang="en-US" sz="1600" b="1" dirty="0">
                <a:solidFill>
                  <a:schemeClr val="bg1"/>
                </a:solidFill>
              </a:rPr>
              <a:t>Signing reports</a:t>
            </a:r>
            <a:endParaRPr lang="en-US" sz="1600" dirty="0"/>
          </a:p>
        </p:txBody>
      </p:sp>
      <p:sp>
        <p:nvSpPr>
          <p:cNvPr id="30" name="t513"/>
          <p:cNvSpPr txBox="1"/>
          <p:nvPr/>
        </p:nvSpPr>
        <p:spPr>
          <a:xfrm>
            <a:off x="1691640" y="521208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a key per daemon or hub</a:t>
            </a:r>
            <a:endParaRPr lang="en-US" sz="1300" dirty="0"/>
          </a:p>
        </p:txBody>
      </p:sp>
      <p:sp>
        <p:nvSpPr>
          <p:cNvPr id="31" name="card514"/>
          <p:cNvSpPr/>
          <p:nvPr/>
        </p:nvSpPr>
        <p:spPr>
          <a:xfrm>
            <a:off x="6217920" y="4709160"/>
            <a:ext cx="5422392" cy="960120"/>
          </a:xfrm>
          <a:prstGeom prst="roundRect">
            <a:avLst>
              <a:gd name="adj" fmla="val 7619"/>
            </a:avLst>
          </a:prstGeom>
          <a:solidFill>
            <a:schemeClr val="tx2"/>
          </a:solidFill>
          <a:ln w="9525">
            <a:solidFill>
              <a:schemeClr val="tx2"/>
            </a:solidFill>
            <a:prstDash val="solid"/>
          </a:ln>
        </p:spPr>
      </p:sp>
      <p:sp>
        <p:nvSpPr>
          <p:cNvPr id="32" name="t515"/>
          <p:cNvSpPr txBox="1"/>
          <p:nvPr/>
        </p:nvSpPr>
        <p:spPr>
          <a:xfrm>
            <a:off x="6446520" y="4709160"/>
            <a:ext cx="822960" cy="9601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D3</a:t>
            </a:r>
            <a:endParaRPr lang="en-US" sz="2200" dirty="0"/>
          </a:p>
        </p:txBody>
      </p:sp>
      <p:sp>
        <p:nvSpPr>
          <p:cNvPr id="33" name="t516"/>
          <p:cNvSpPr txBox="1"/>
          <p:nvPr/>
        </p:nvSpPr>
        <p:spPr>
          <a:xfrm>
            <a:off x="7360920" y="4837176"/>
            <a:ext cx="4114800" cy="365760"/>
          </a:xfrm>
          <a:prstGeom prst="rect">
            <a:avLst/>
          </a:prstGeom>
          <a:noFill/>
          <a:ln/>
        </p:spPr>
        <p:txBody>
          <a:bodyPr wrap="square" lIns="0" tIns="0" rIns="0" bIns="0" rtlCol="0" anchor="t"/>
          <a:lstStyle/>
          <a:p>
            <a:pPr indent="0" marL="0">
              <a:buNone/>
            </a:pPr>
            <a:r>
              <a:rPr lang="en-US" sz="1600" b="1" dirty="0">
                <a:solidFill>
                  <a:schemeClr val="bg1"/>
                </a:solidFill>
              </a:rPr>
              <a:t>First CI test</a:t>
            </a:r>
            <a:endParaRPr lang="en-US" sz="1600" dirty="0"/>
          </a:p>
        </p:txBody>
      </p:sp>
      <p:sp>
        <p:nvSpPr>
          <p:cNvPr id="34" name="t517"/>
          <p:cNvSpPr txBox="1"/>
          <p:nvPr/>
        </p:nvSpPr>
        <p:spPr>
          <a:xfrm>
            <a:off x="7360920" y="5212080"/>
            <a:ext cx="4114800" cy="365760"/>
          </a:xfrm>
          <a:prstGeom prst="rect">
            <a:avLst/>
          </a:prstGeom>
          <a:noFill/>
          <a:ln/>
        </p:spPr>
        <p:txBody>
          <a:bodyPr wrap="square" lIns="0" tIns="0" rIns="0" bIns="0" rtlCol="0" anchor="t"/>
          <a:lstStyle/>
          <a:p>
            <a:pPr indent="0" marL="0">
              <a:buNone/>
            </a:pPr>
            <a:r>
              <a:rPr lang="en-US" sz="1300" dirty="0">
                <a:solidFill>
                  <a:srgbClr val="B8C2CC"/>
                </a:solidFill>
              </a:rPr>
              <a:t>default: fw-uart16550, a seeded sim test</a:t>
            </a:r>
            <a:endParaRPr lang="en-US" sz="1300" dirty="0"/>
          </a:p>
        </p:txBody>
      </p:sp>
      <p:sp>
        <p:nvSpPr>
          <p:cNvPr id="35" name="t518"/>
          <p:cNvSpPr txBox="1"/>
          <p:nvPr/>
        </p:nvSpPr>
        <p:spPr>
          <a:xfrm>
            <a:off x="548640" y="5943600"/>
            <a:ext cx="7315200" cy="320040"/>
          </a:xfrm>
          <a:prstGeom prst="rect">
            <a:avLst/>
          </a:prstGeom>
          <a:noFill/>
          <a:ln/>
        </p:spPr>
        <p:txBody>
          <a:bodyPr wrap="square" lIns="0" tIns="0" rIns="0" bIns="0" rtlCol="0" anchor="t"/>
          <a:lstStyle/>
          <a:p>
            <a:pPr indent="0" marL="0">
              <a:buNone/>
            </a:pPr>
            <a:r>
              <a:rPr lang="en-US" sz="1200" dirty="0">
                <a:solidFill>
                  <a:schemeClr val="accent3"/>
                </a:solidFill>
              </a:rPr>
              <a:t>Details: docs/product.md §13 · D4, D6, D7 are in the document</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Phosphor">
  <a:themeElements>
    <a:clrScheme name="Phosphor">
      <a:dk1>
        <a:srgbClr val="1C2128"/>
      </a:dk1>
      <a:lt1>
        <a:srgbClr val="FFFFFF"/>
      </a:lt1>
      <a:dk2>
        <a:srgbClr val="33414F"/>
      </a:dk2>
      <a:lt2>
        <a:srgbClr val="EEF1F4"/>
      </a:lt2>
      <a:accent1>
        <a:srgbClr val="E8A33D"/>
      </a:accent1>
      <a:accent2>
        <a:srgbClr val="2A9D8F"/>
      </a:accent2>
      <a:accent3>
        <a:srgbClr val="6B7B8C"/>
      </a:accent3>
      <a:accent4>
        <a:srgbClr val="C8553D"/>
      </a:accent4>
      <a:accent5>
        <a:srgbClr val="F6E3C1"/>
      </a:accent5>
      <a:accent6>
        <a:srgbClr val="D5ECE9"/>
      </a:accent6>
      <a:hlink>
        <a:srgbClr val="2A9D8F"/>
      </a:hlink>
      <a:folHlink>
        <a:srgbClr val="6B7B8C"/>
      </a:folHlink>
    </a:clrScheme>
    <a:fontScheme name="Phosph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work-packet: what your work looks like</dc:title>
  <dc:subject>PptxGenJS Presentation</dc:subject>
  <dc:creator>Matthew Ballance</dc:creator>
  <cp:lastModifiedBy>Matthew Ballance</cp:lastModifiedBy>
  <cp:revision>1</cp:revision>
  <dcterms:created xsi:type="dcterms:W3CDTF">2026-10-25T03:20:38Z</dcterms:created>
  <dcterms:modified xsi:type="dcterms:W3CDTF">2026-10-25T03:20:38Z</dcterms:modified>
</cp:coreProperties>
</file>